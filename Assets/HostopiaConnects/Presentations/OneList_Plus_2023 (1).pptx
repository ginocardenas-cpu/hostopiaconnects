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69" r:id="rId4"/>
    <p:sldId id="259" r:id="rId5"/>
    <p:sldId id="272" r:id="rId6"/>
    <p:sldId id="260" r:id="rId7"/>
    <p:sldId id="262" r:id="rId8"/>
    <p:sldId id="263" r:id="rId9"/>
    <p:sldId id="270" r:id="rId10"/>
    <p:sldId id="273" r:id="rId11"/>
    <p:sldId id="284" r:id="rId12"/>
    <p:sldId id="274" r:id="rId13"/>
    <p:sldId id="281" r:id="rId14"/>
    <p:sldId id="280" r:id="rId15"/>
    <p:sldId id="267" r:id="rId16"/>
    <p:sldId id="265" r:id="rId17"/>
    <p:sldId id="268" r:id="rId18"/>
    <p:sldId id="266" r:id="rId19"/>
    <p:sldId id="275" r:id="rId20"/>
    <p:sldId id="276" r:id="rId21"/>
    <p:sldId id="277" r:id="rId22"/>
    <p:sldId id="278"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6D3259-CF3E-D329-B8C3-F2B7395A897E}" name="Vargas, Cortney" initials="VC" userId="S::T439940@deluxe.com::ba41c71c-9a45-47f0-95f7-0967895932d5" providerId="AD"/>
  <p188:author id="{A880EFBF-274D-51B0-A953-351C793B2B3C}" name="Wrona, Stephanie" initials="WS" userId="S::t432519@deluxe.com::0ab473a4-c78a-452f-9b46-bdfce4a952fb" providerId="AD"/>
  <p188:author id="{AF5DB4CA-26AF-87BE-6D7D-5BFB296D56B9}" name="Shujaat, Faizan" initials="SF" userId="S::t466308@deluxe.com::59b06e4e-8241-483d-8369-73d547e8d72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0AD47"/>
    <a:srgbClr val="2CAD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492E5B-89E9-4357-973D-211ED502E4C7}" v="51" dt="2023-07-09T18:51:08.8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0" d="100"/>
          <a:sy n="100" d="100"/>
        </p:scale>
        <p:origin x="8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263D6E-FC6B-476C-B7EA-3A5019901561}" type="datetimeFigureOut">
              <a:rPr lang="en-US" smtClean="0"/>
              <a:t>7/9/2023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21D89-F7BE-4A30-B883-9740DAD80204}" type="slidenum">
              <a:rPr lang="en-US" smtClean="0"/>
              <a:t>‹#›</a:t>
            </a:fld>
            <a:endParaRPr lang="en-US"/>
          </a:p>
        </p:txBody>
      </p:sp>
    </p:spTree>
    <p:extLst>
      <p:ext uri="{BB962C8B-B14F-4D97-AF65-F5344CB8AC3E}">
        <p14:creationId xmlns:p14="http://schemas.microsoft.com/office/powerpoint/2010/main" val="162599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a:t>
            </a:fld>
            <a:endParaRPr lang="en-US"/>
          </a:p>
        </p:txBody>
      </p:sp>
    </p:spTree>
    <p:extLst>
      <p:ext uri="{BB962C8B-B14F-4D97-AF65-F5344CB8AC3E}">
        <p14:creationId xmlns:p14="http://schemas.microsoft.com/office/powerpoint/2010/main" val="2457568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a:t>
            </a:fld>
            <a:endParaRPr lang="en-US"/>
          </a:p>
        </p:txBody>
      </p:sp>
    </p:spTree>
    <p:extLst>
      <p:ext uri="{BB962C8B-B14F-4D97-AF65-F5344CB8AC3E}">
        <p14:creationId xmlns:p14="http://schemas.microsoft.com/office/powerpoint/2010/main" val="380043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3</a:t>
            </a:fld>
            <a:endParaRPr lang="en-US"/>
          </a:p>
        </p:txBody>
      </p:sp>
    </p:spTree>
    <p:extLst>
      <p:ext uri="{BB962C8B-B14F-4D97-AF65-F5344CB8AC3E}">
        <p14:creationId xmlns:p14="http://schemas.microsoft.com/office/powerpoint/2010/main" val="2350320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4</a:t>
            </a:fld>
            <a:endParaRPr lang="en-US"/>
          </a:p>
        </p:txBody>
      </p:sp>
    </p:spTree>
    <p:extLst>
      <p:ext uri="{BB962C8B-B14F-4D97-AF65-F5344CB8AC3E}">
        <p14:creationId xmlns:p14="http://schemas.microsoft.com/office/powerpoint/2010/main" val="3783951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5</a:t>
            </a:fld>
            <a:endParaRPr lang="en-US"/>
          </a:p>
        </p:txBody>
      </p:sp>
    </p:spTree>
    <p:extLst>
      <p:ext uri="{BB962C8B-B14F-4D97-AF65-F5344CB8AC3E}">
        <p14:creationId xmlns:p14="http://schemas.microsoft.com/office/powerpoint/2010/main" val="251464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6</a:t>
            </a:fld>
            <a:endParaRPr lang="en-US"/>
          </a:p>
        </p:txBody>
      </p:sp>
    </p:spTree>
    <p:extLst>
      <p:ext uri="{BB962C8B-B14F-4D97-AF65-F5344CB8AC3E}">
        <p14:creationId xmlns:p14="http://schemas.microsoft.com/office/powerpoint/2010/main" val="1287430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18</a:t>
            </a:fld>
            <a:endParaRPr lang="en-US"/>
          </a:p>
        </p:txBody>
      </p:sp>
    </p:spTree>
    <p:extLst>
      <p:ext uri="{BB962C8B-B14F-4D97-AF65-F5344CB8AC3E}">
        <p14:creationId xmlns:p14="http://schemas.microsoft.com/office/powerpoint/2010/main" val="2602795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20</a:t>
            </a:fld>
            <a:endParaRPr lang="en-US"/>
          </a:p>
        </p:txBody>
      </p:sp>
    </p:spTree>
    <p:extLst>
      <p:ext uri="{BB962C8B-B14F-4D97-AF65-F5344CB8AC3E}">
        <p14:creationId xmlns:p14="http://schemas.microsoft.com/office/powerpoint/2010/main" val="670546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22</a:t>
            </a:fld>
            <a:endParaRPr lang="en-US"/>
          </a:p>
        </p:txBody>
      </p:sp>
    </p:spTree>
    <p:extLst>
      <p:ext uri="{BB962C8B-B14F-4D97-AF65-F5344CB8AC3E}">
        <p14:creationId xmlns:p14="http://schemas.microsoft.com/office/powerpoint/2010/main" val="396808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23</a:t>
            </a:fld>
            <a:endParaRPr lang="en-US"/>
          </a:p>
        </p:txBody>
      </p:sp>
    </p:spTree>
    <p:extLst>
      <p:ext uri="{BB962C8B-B14F-4D97-AF65-F5344CB8AC3E}">
        <p14:creationId xmlns:p14="http://schemas.microsoft.com/office/powerpoint/2010/main" val="1047089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9847-DA81-ED5C-D168-41B0B4C876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0D067F-E0E6-F4B3-AA9E-1C7FD4961D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FCD895-F0EE-0454-D274-87C83DAAA4DF}"/>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1A52C02-6EE3-6AA7-10F1-F57408319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01FA4-3F5A-0CA7-2EF5-E93FF49225E9}"/>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7512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FBD4D-DE77-5C33-C1E1-4B77626BB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41061D-A7C8-E47A-6BD7-28BBD1404F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D2CD9-C9F6-971F-444C-84E3ACA3E3F4}"/>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5CF0053D-D9F9-6C93-DB61-DD0C5BF9C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048C4C-1CFB-6731-5BE7-6E0C67C232FF}"/>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437296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D5FA-7430-A0E9-9204-2DA9271086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1AE264-5292-10AF-E868-2E032F927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B35EF2-B302-B5B9-8B9F-727F6EDC15CF}"/>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A3EE28E0-5A6A-1748-CB59-AC2A11E19B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329AA-A0E3-6824-E151-05EC9C030700}"/>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025570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FBC72-4898-C9E1-D71E-69FEECCD2F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199CBB-4C28-A03A-FB74-67FA943059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BE389D-DC7E-8813-BB52-6EBE37E85F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40443E-1020-96BD-CE62-19C06EF8EB97}"/>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6" name="Footer Placeholder 5">
            <a:extLst>
              <a:ext uri="{FF2B5EF4-FFF2-40B4-BE49-F238E27FC236}">
                <a16:creationId xmlns:a16="http://schemas.microsoft.com/office/drawing/2014/main" id="{A816DB42-C9BF-932A-9FE8-6A8C963389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CEFB8-0FC9-A74B-F7CC-065508ED89AC}"/>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245822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D5F8C-F35A-841B-48D4-299E2B3AE6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DB4A19-1C71-0405-F9C0-3E5DE16143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B2E7BD-45AE-1354-D3EA-488BD4C6CC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F36374-CEE3-F022-C133-33DF7C42B1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1C7106-FD18-1FCC-2308-F0951857C0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7333EF-42DA-D9AD-8308-BF943E9AA544}"/>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8" name="Footer Placeholder 7">
            <a:extLst>
              <a:ext uri="{FF2B5EF4-FFF2-40B4-BE49-F238E27FC236}">
                <a16:creationId xmlns:a16="http://schemas.microsoft.com/office/drawing/2014/main" id="{CFAE569B-3F07-0041-197E-8C9A5F01E5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4F6900-B4B0-5602-44B9-A4E3E7A5C596}"/>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2207057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1EFD0-76AD-B4D5-C4EE-A1DF38D323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7EDE83-CF83-FFCE-51A3-DD09BB6A0BCD}"/>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4" name="Footer Placeholder 3">
            <a:extLst>
              <a:ext uri="{FF2B5EF4-FFF2-40B4-BE49-F238E27FC236}">
                <a16:creationId xmlns:a16="http://schemas.microsoft.com/office/drawing/2014/main" id="{BD123C39-995E-B7FD-4658-2CB460DCCF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31B6DB-0B7C-762F-CA25-4A0D98774180}"/>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79123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5DCEAA-A644-4994-2E63-F30C8FC4169E}"/>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3" name="Footer Placeholder 2">
            <a:extLst>
              <a:ext uri="{FF2B5EF4-FFF2-40B4-BE49-F238E27FC236}">
                <a16:creationId xmlns:a16="http://schemas.microsoft.com/office/drawing/2014/main" id="{4A6C8464-0B34-4462-2E9D-F254D7DE60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8FFE00-F847-3BC3-F773-E8B82FB44F0E}"/>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2538922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C7BC-D35E-771A-E398-3FE3C2522A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ABDAE3-10B8-7EAF-F45F-6FDC991B73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5F1857-D357-A4D5-0A9E-E551665833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05924F-1805-02A0-5538-BD6163026710}"/>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6" name="Footer Placeholder 5">
            <a:extLst>
              <a:ext uri="{FF2B5EF4-FFF2-40B4-BE49-F238E27FC236}">
                <a16:creationId xmlns:a16="http://schemas.microsoft.com/office/drawing/2014/main" id="{0870AA4A-0D75-31F1-6A94-9859F72E7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C51255-A517-36F3-5AD6-4DE890E481FA}"/>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1555583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CDC71-BA24-422E-CCA0-C2CDFAE9C9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0476F5-7A92-DB79-1B6E-EC2060F70E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AA7ECC-4591-D76B-62CF-97C00E2B7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5384F8-CCAF-C3E2-2FCB-35F802C952CE}"/>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6" name="Footer Placeholder 5">
            <a:extLst>
              <a:ext uri="{FF2B5EF4-FFF2-40B4-BE49-F238E27FC236}">
                <a16:creationId xmlns:a16="http://schemas.microsoft.com/office/drawing/2014/main" id="{8E6C3DC7-38B8-709D-D73C-78CB667A8A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5081AF-88A8-AC00-A035-D1B0009B0A54}"/>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56347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A0A4-60C5-EEF5-3F9B-9D5719568D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055DB7-8070-FC0F-DB07-05FBF8732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3B21CD-DAFB-645F-4B8A-FC8E0B4888B3}"/>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E62D2747-3AD4-AA39-CFE1-68B0D98E25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0DCF72-FC75-7385-FE90-36BC526B1035}"/>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2237234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BF7A0C-450F-2157-43E8-B1552F78B0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71BF46-1889-2DC0-2B0B-6BFCF6B822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6DCFC0-D57B-7E00-A7AA-A05C4BE9E7C7}"/>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3EC197E6-5990-2B10-9EF9-010F13555A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2C436-797C-25BB-FB7B-4862DB21B1FD}"/>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1641922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9D32D7-C89C-996C-FD67-E140DD583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9C94FC-427F-F8E1-F09D-8C8087D4A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F26E8-989A-28B3-F80A-EB24AA36E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8243039-64B4-63D2-FAA7-514095D30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AE4C7A-8A5C-E747-DDEF-95A9C1FFA0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B7DFA0-4D9A-4002-B4D9-D990D290019E}" type="slidenum">
              <a:rPr lang="en-US" smtClean="0"/>
              <a:t>‹#›</a:t>
            </a:fld>
            <a:endParaRPr lang="en-US"/>
          </a:p>
        </p:txBody>
      </p:sp>
      <p:sp>
        <p:nvSpPr>
          <p:cNvPr id="8" name="TextBox 7">
            <a:extLst>
              <a:ext uri="{FF2B5EF4-FFF2-40B4-BE49-F238E27FC236}">
                <a16:creationId xmlns:a16="http://schemas.microsoft.com/office/drawing/2014/main" id="{248E54A4-C7C2-B6A8-FB3A-03C6649A3867}"/>
              </a:ext>
            </a:extLst>
          </p:cNvPr>
          <p:cNvSpPr txBox="1"/>
          <p:nvPr userDrawn="1">
            <p:extLst>
              <p:ext uri="{1162E1C5-73C7-4A58-AE30-91384D911F3F}">
                <p184:classification xmlns:p184="http://schemas.microsoft.com/office/powerpoint/2018/4/main" val="ftr"/>
              </p:ext>
            </p:extLst>
          </p:nvPr>
        </p:nvSpPr>
        <p:spPr>
          <a:xfrm>
            <a:off x="5893562" y="6705600"/>
            <a:ext cx="46196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a:t>
            </a:r>
          </a:p>
        </p:txBody>
      </p:sp>
    </p:spTree>
    <p:extLst>
      <p:ext uri="{BB962C8B-B14F-4D97-AF65-F5344CB8AC3E}">
        <p14:creationId xmlns:p14="http://schemas.microsoft.com/office/powerpoint/2010/main" val="3158090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brightlocal.com/research/local-consumer-review-surve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ge.com/news/press-releases/ge-capital-retail-banks-second-annual-shopper-study-outlines-digital-path-major" TargetMode="External"/><Relationship Id="rId5" Type="http://schemas.openxmlformats.org/officeDocument/2006/relationships/hyperlink" Target="https://support.google.com/business/answer/10515606?hl=en#:~:text=Customers%20are%202.7%20times%20more,with%20a%20complete%20Business%20Profile." TargetMode="External"/><Relationship Id="rId4" Type="http://schemas.openxmlformats.org/officeDocument/2006/relationships/hyperlink" Target="https://www.smamarketing.net/blog/80-seo-statistic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3D6B2D-04E2-FEDA-6E81-829D960118D8}"/>
              </a:ext>
            </a:extLst>
          </p:cNvPr>
          <p:cNvSpPr>
            <a:spLocks noGrp="1"/>
          </p:cNvSpPr>
          <p:nvPr>
            <p:ph type="ctrTitle"/>
          </p:nvPr>
        </p:nvSpPr>
        <p:spPr>
          <a:xfrm>
            <a:off x="970908" y="1220919"/>
            <a:ext cx="5425781" cy="2387600"/>
          </a:xfrm>
        </p:spPr>
        <p:txBody>
          <a:bodyPr>
            <a:normAutofit/>
          </a:bodyPr>
          <a:lstStyle/>
          <a:p>
            <a:pPr algn="l"/>
            <a:r>
              <a:rPr lang="en-US" sz="5400" b="1">
                <a:solidFill>
                  <a:srgbClr val="70AD47"/>
                </a:solidFill>
                <a:latin typeface="Arial" panose="020B0604020202020204" pitchFamily="34" charset="0"/>
                <a:cs typeface="Arial" panose="020B0604020202020204" pitchFamily="34" charset="0"/>
              </a:rPr>
              <a:t>OneList</a:t>
            </a:r>
            <a:br>
              <a:rPr lang="en-US" sz="5400" b="1">
                <a:solidFill>
                  <a:srgbClr val="70AD47"/>
                </a:solidFill>
                <a:latin typeface="Arial" panose="020B0604020202020204" pitchFamily="34" charset="0"/>
                <a:cs typeface="Arial" panose="020B0604020202020204" pitchFamily="34" charset="0"/>
              </a:rPr>
            </a:br>
            <a:r>
              <a:rPr lang="en-US" sz="5400" b="1">
                <a:solidFill>
                  <a:srgbClr val="70AD47"/>
                </a:solidFill>
                <a:latin typeface="Arial" panose="020B0604020202020204" pitchFamily="34" charset="0"/>
                <a:cs typeface="Arial" panose="020B0604020202020204" pitchFamily="34" charset="0"/>
              </a:rPr>
              <a:t>Plus</a:t>
            </a:r>
          </a:p>
        </p:txBody>
      </p:sp>
      <p:sp>
        <p:nvSpPr>
          <p:cNvPr id="3" name="Subtitle 2">
            <a:extLst>
              <a:ext uri="{FF2B5EF4-FFF2-40B4-BE49-F238E27FC236}">
                <a16:creationId xmlns:a16="http://schemas.microsoft.com/office/drawing/2014/main" id="{B908F796-3D75-659C-A611-BD58C9DC6D0B}"/>
              </a:ext>
            </a:extLst>
          </p:cNvPr>
          <p:cNvSpPr>
            <a:spLocks noGrp="1"/>
          </p:cNvSpPr>
          <p:nvPr>
            <p:ph type="subTitle" idx="1"/>
          </p:nvPr>
        </p:nvSpPr>
        <p:spPr>
          <a:xfrm>
            <a:off x="970909" y="3700594"/>
            <a:ext cx="3550292" cy="1655762"/>
          </a:xfrm>
        </p:spPr>
        <p:txBody>
          <a:bodyPr>
            <a:normAutofit/>
          </a:bodyPr>
          <a:lstStyle/>
          <a:p>
            <a:pPr algn="l"/>
            <a:r>
              <a:rPr lang="en-US" sz="1400" b="1">
                <a:effectLst/>
                <a:latin typeface="Arial" panose="020B0604020202020204" pitchFamily="34" charset="0"/>
                <a:ea typeface="MS Mincho" panose="02020609040205080304" pitchFamily="49" charset="-128"/>
              </a:rPr>
              <a:t>Get listed and help your business get found online with OneList Plus.</a:t>
            </a:r>
          </a:p>
        </p:txBody>
      </p:sp>
      <p:sp>
        <p:nvSpPr>
          <p:cNvPr id="46" name="Freeform: Shape 3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Block Arc 4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eeform: Shape 4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a:p>
        </p:txBody>
      </p:sp>
      <p:cxnSp>
        <p:nvCxnSpPr>
          <p:cNvPr id="47" name="Straight Connector 4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9" name="Freeform: Shape 4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51" name="Arc 5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Freeform: Shape 5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293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a:solidFill>
                  <a:srgbClr val="70AD47"/>
                </a:solidFill>
                <a:effectLst/>
                <a:latin typeface="Arial" panose="020B0604020202020204" pitchFamily="34" charset="0"/>
                <a:cs typeface="Arial" panose="020B0604020202020204" pitchFamily="34" charset="0"/>
              </a:rPr>
              <a:t>Agenda</a:t>
            </a:r>
          </a:p>
        </p:txBody>
      </p:sp>
      <p:grpSp>
        <p:nvGrpSpPr>
          <p:cNvPr id="15" name="Group 14">
            <a:extLst>
              <a:ext uri="{FF2B5EF4-FFF2-40B4-BE49-F238E27FC236}">
                <a16:creationId xmlns:a16="http://schemas.microsoft.com/office/drawing/2014/main" id="{330CC5C3-C35C-56DD-1CCB-213E8B1CBF58}"/>
              </a:ext>
            </a:extLst>
          </p:cNvPr>
          <p:cNvGrpSpPr/>
          <p:nvPr/>
        </p:nvGrpSpPr>
        <p:grpSpPr>
          <a:xfrm>
            <a:off x="845421" y="3919603"/>
            <a:ext cx="2370489" cy="720000"/>
            <a:chOff x="100682" y="2684598"/>
            <a:chExt cx="2370489" cy="720000"/>
          </a:xfrm>
        </p:grpSpPr>
        <p:sp>
          <p:nvSpPr>
            <p:cNvPr id="25" name="Rectangle 24">
              <a:extLst>
                <a:ext uri="{FF2B5EF4-FFF2-40B4-BE49-F238E27FC236}">
                  <a16:creationId xmlns:a16="http://schemas.microsoft.com/office/drawing/2014/main" id="{4277FBCA-71F5-7367-917F-E2269C3668EE}"/>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6" name="TextBox 25">
              <a:extLst>
                <a:ext uri="{FF2B5EF4-FFF2-40B4-BE49-F238E27FC236}">
                  <a16:creationId xmlns:a16="http://schemas.microsoft.com/office/drawing/2014/main" id="{57C0549D-AF63-37B6-B3E4-6D02D78A6195}"/>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algn="ctr" defTabSz="711200">
                <a:spcBef>
                  <a:spcPct val="0"/>
                </a:spcBef>
                <a:spcAft>
                  <a:spcPct val="35000"/>
                </a:spcAft>
                <a:defRPr cap="all"/>
              </a:pPr>
              <a:r>
                <a:rPr lang="en-US" b="0" i="0" kern="1200" cap="none">
                  <a:solidFill>
                    <a:srgbClr val="374151"/>
                  </a:solidFill>
                  <a:effectLst/>
                  <a:latin typeface="Arial"/>
                  <a:cs typeface="Arial"/>
                </a:rPr>
                <a:t>Importance Of </a:t>
              </a:r>
              <a:br>
                <a:rPr lang="en-US">
                  <a:solidFill>
                    <a:srgbClr val="374151"/>
                  </a:solidFill>
                  <a:latin typeface="Arial"/>
                  <a:cs typeface="Arial"/>
                </a:rPr>
              </a:br>
              <a:r>
                <a:rPr lang="en-US" b="0" i="0" kern="1200" cap="none">
                  <a:solidFill>
                    <a:srgbClr val="374151"/>
                  </a:solidFill>
                  <a:effectLst/>
                  <a:latin typeface="Arial"/>
                  <a:cs typeface="Arial"/>
                </a:rPr>
                <a:t>Directory Listing</a:t>
              </a:r>
              <a:endParaRPr lang="en-US" kern="1200" cap="none">
                <a:solidFill>
                  <a:srgbClr val="24282B"/>
                </a:solidFill>
                <a:latin typeface="Arial"/>
                <a:cs typeface="Arial"/>
              </a:endParaRPr>
            </a:p>
          </p:txBody>
        </p:sp>
      </p:grpSp>
      <p:grpSp>
        <p:nvGrpSpPr>
          <p:cNvPr id="16" name="Group 15">
            <a:extLst>
              <a:ext uri="{FF2B5EF4-FFF2-40B4-BE49-F238E27FC236}">
                <a16:creationId xmlns:a16="http://schemas.microsoft.com/office/drawing/2014/main" id="{EB97E42A-2168-EE60-127E-A86C139A183F}"/>
              </a:ext>
            </a:extLst>
          </p:cNvPr>
          <p:cNvGrpSpPr/>
          <p:nvPr/>
        </p:nvGrpSpPr>
        <p:grpSpPr>
          <a:xfrm>
            <a:off x="3630746" y="3919603"/>
            <a:ext cx="2370489" cy="720000"/>
            <a:chOff x="2886007" y="2684598"/>
            <a:chExt cx="2370489" cy="720000"/>
          </a:xfrm>
        </p:grpSpPr>
        <p:sp>
          <p:nvSpPr>
            <p:cNvPr id="23" name="Rectangle 22">
              <a:extLst>
                <a:ext uri="{FF2B5EF4-FFF2-40B4-BE49-F238E27FC236}">
                  <a16:creationId xmlns:a16="http://schemas.microsoft.com/office/drawing/2014/main" id="{C72990FB-DE43-7032-61F9-AF5F76786CE5}"/>
                </a:ext>
              </a:extLst>
            </p:cNvPr>
            <p:cNvSpPr/>
            <p:nvPr/>
          </p:nvSpPr>
          <p:spPr>
            <a:xfrm>
              <a:off x="2886007"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4" name="TextBox 23">
              <a:extLst>
                <a:ext uri="{FF2B5EF4-FFF2-40B4-BE49-F238E27FC236}">
                  <a16:creationId xmlns:a16="http://schemas.microsoft.com/office/drawing/2014/main" id="{63D9458C-0C1C-9C20-5BA4-9099C59553B4}"/>
                </a:ext>
              </a:extLst>
            </p:cNvPr>
            <p:cNvSpPr txBox="1"/>
            <p:nvPr/>
          </p:nvSpPr>
          <p:spPr>
            <a:xfrm>
              <a:off x="2886007"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b="0" i="0" kern="1200" cap="none">
                  <a:solidFill>
                    <a:srgbClr val="374151"/>
                  </a:solidFill>
                  <a:effectLst/>
                  <a:latin typeface="Arial" panose="020B0604020202020204" pitchFamily="34" charset="0"/>
                  <a:cs typeface="Arial" panose="020B0604020202020204" pitchFamily="34" charset="0"/>
                </a:rPr>
                <a:t>OneList Plus</a:t>
              </a:r>
              <a:endParaRPr lang="en-US" kern="1200" cap="none">
                <a:solidFill>
                  <a:srgbClr val="24282B"/>
                </a:solidFill>
                <a:latin typeface="Arial" panose="020B0604020202020204" pitchFamily="34" charset="0"/>
                <a:cs typeface="Arial" panose="020B0604020202020204" pitchFamily="34" charset="0"/>
              </a:endParaRPr>
            </a:p>
          </p:txBody>
        </p:sp>
      </p:grpSp>
      <p:grpSp>
        <p:nvGrpSpPr>
          <p:cNvPr id="17" name="Group 16">
            <a:extLst>
              <a:ext uri="{FF2B5EF4-FFF2-40B4-BE49-F238E27FC236}">
                <a16:creationId xmlns:a16="http://schemas.microsoft.com/office/drawing/2014/main" id="{8A31DEB8-F1B1-BAE8-1DA4-464C5D05B17C}"/>
              </a:ext>
            </a:extLst>
          </p:cNvPr>
          <p:cNvGrpSpPr/>
          <p:nvPr/>
        </p:nvGrpSpPr>
        <p:grpSpPr>
          <a:xfrm>
            <a:off x="6416071" y="3919603"/>
            <a:ext cx="2370489" cy="720000"/>
            <a:chOff x="5671332" y="2684598"/>
            <a:chExt cx="2370489" cy="720000"/>
          </a:xfrm>
        </p:grpSpPr>
        <p:sp>
          <p:nvSpPr>
            <p:cNvPr id="21" name="Rectangle 20">
              <a:extLst>
                <a:ext uri="{FF2B5EF4-FFF2-40B4-BE49-F238E27FC236}">
                  <a16:creationId xmlns:a16="http://schemas.microsoft.com/office/drawing/2014/main" id="{5EA074DA-D237-1567-4FD7-E70D2422830C}"/>
                </a:ext>
              </a:extLst>
            </p:cNvPr>
            <p:cNvSpPr/>
            <p:nvPr/>
          </p:nvSpPr>
          <p:spPr>
            <a:xfrm>
              <a:off x="567133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2" name="TextBox 21">
              <a:extLst>
                <a:ext uri="{FF2B5EF4-FFF2-40B4-BE49-F238E27FC236}">
                  <a16:creationId xmlns:a16="http://schemas.microsoft.com/office/drawing/2014/main" id="{128AD731-A601-285D-7B77-31A59D8B3508}"/>
                </a:ext>
              </a:extLst>
            </p:cNvPr>
            <p:cNvSpPr txBox="1"/>
            <p:nvPr/>
          </p:nvSpPr>
          <p:spPr>
            <a:xfrm>
              <a:off x="567133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kern="1200" cap="none">
                  <a:solidFill>
                    <a:srgbClr val="24282B"/>
                  </a:solidFill>
                  <a:latin typeface="Arial" panose="020B0604020202020204" pitchFamily="34" charset="0"/>
                  <a:cs typeface="Arial" panose="020B0604020202020204" pitchFamily="34" charset="0"/>
                </a:rPr>
                <a:t>Features &amp; Benefits Overview</a:t>
              </a:r>
            </a:p>
          </p:txBody>
        </p:sp>
      </p:grpSp>
      <p:grpSp>
        <p:nvGrpSpPr>
          <p:cNvPr id="18" name="Group 17">
            <a:extLst>
              <a:ext uri="{FF2B5EF4-FFF2-40B4-BE49-F238E27FC236}">
                <a16:creationId xmlns:a16="http://schemas.microsoft.com/office/drawing/2014/main" id="{A0D0ECE9-0E5B-1647-7D76-0029E5F11159}"/>
              </a:ext>
            </a:extLst>
          </p:cNvPr>
          <p:cNvGrpSpPr/>
          <p:nvPr/>
        </p:nvGrpSpPr>
        <p:grpSpPr>
          <a:xfrm>
            <a:off x="9201396" y="3919603"/>
            <a:ext cx="2370489" cy="720000"/>
            <a:chOff x="8456657" y="2684598"/>
            <a:chExt cx="2370489" cy="720000"/>
          </a:xfrm>
        </p:grpSpPr>
        <p:sp>
          <p:nvSpPr>
            <p:cNvPr id="19" name="Rectangle 18">
              <a:extLst>
                <a:ext uri="{FF2B5EF4-FFF2-40B4-BE49-F238E27FC236}">
                  <a16:creationId xmlns:a16="http://schemas.microsoft.com/office/drawing/2014/main" id="{09A63A92-4674-1FF0-F1CC-F3F721EDFC6C}"/>
                </a:ext>
              </a:extLst>
            </p:cNvPr>
            <p:cNvSpPr/>
            <p:nvPr/>
          </p:nvSpPr>
          <p:spPr>
            <a:xfrm>
              <a:off x="8456657"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TextBox 19">
              <a:extLst>
                <a:ext uri="{FF2B5EF4-FFF2-40B4-BE49-F238E27FC236}">
                  <a16:creationId xmlns:a16="http://schemas.microsoft.com/office/drawing/2014/main" id="{4FD23377-1110-4CA3-823F-5065983DE0D1}"/>
                </a:ext>
              </a:extLst>
            </p:cNvPr>
            <p:cNvSpPr txBox="1"/>
            <p:nvPr/>
          </p:nvSpPr>
          <p:spPr>
            <a:xfrm>
              <a:off x="8456657"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kern="1200" cap="none">
                  <a:solidFill>
                    <a:srgbClr val="24282B"/>
                  </a:solidFill>
                  <a:latin typeface="Arial" panose="020B0604020202020204" pitchFamily="34" charset="0"/>
                  <a:cs typeface="Arial" panose="020B0604020202020204" pitchFamily="34" charset="0"/>
                </a:rPr>
                <a:t>Addressing Common Concerns</a:t>
              </a:r>
            </a:p>
          </p:txBody>
        </p:sp>
      </p:grpSp>
      <p:grpSp>
        <p:nvGrpSpPr>
          <p:cNvPr id="27" name="Group 26">
            <a:extLst>
              <a:ext uri="{FF2B5EF4-FFF2-40B4-BE49-F238E27FC236}">
                <a16:creationId xmlns:a16="http://schemas.microsoft.com/office/drawing/2014/main" id="{4B6E6B5D-F3A3-F47C-56E6-D1A967FBE0E3}"/>
              </a:ext>
            </a:extLst>
          </p:cNvPr>
          <p:cNvGrpSpPr/>
          <p:nvPr/>
        </p:nvGrpSpPr>
        <p:grpSpPr>
          <a:xfrm>
            <a:off x="845421" y="2590533"/>
            <a:ext cx="2370489" cy="720000"/>
            <a:chOff x="100682" y="2684598"/>
            <a:chExt cx="2370489" cy="720000"/>
          </a:xfrm>
        </p:grpSpPr>
        <p:sp>
          <p:nvSpPr>
            <p:cNvPr id="28" name="Rectangle 27">
              <a:extLst>
                <a:ext uri="{FF2B5EF4-FFF2-40B4-BE49-F238E27FC236}">
                  <a16:creationId xmlns:a16="http://schemas.microsoft.com/office/drawing/2014/main" id="{E3BB154A-4D47-F10A-8EC5-4D82A4ED9A99}"/>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9" name="TextBox 28">
              <a:extLst>
                <a:ext uri="{FF2B5EF4-FFF2-40B4-BE49-F238E27FC236}">
                  <a16:creationId xmlns:a16="http://schemas.microsoft.com/office/drawing/2014/main" id="{1BD6821F-D700-B7FD-1880-8871BF6F74DF}"/>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1</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42C9A0F1-A826-9A0E-4E9D-048F0D5F5670}"/>
              </a:ext>
            </a:extLst>
          </p:cNvPr>
          <p:cNvGrpSpPr/>
          <p:nvPr/>
        </p:nvGrpSpPr>
        <p:grpSpPr>
          <a:xfrm>
            <a:off x="3630746" y="2590533"/>
            <a:ext cx="2370489" cy="720000"/>
            <a:chOff x="100682" y="2684598"/>
            <a:chExt cx="2370489" cy="720000"/>
          </a:xfrm>
        </p:grpSpPr>
        <p:sp>
          <p:nvSpPr>
            <p:cNvPr id="31" name="Rectangle 30">
              <a:extLst>
                <a:ext uri="{FF2B5EF4-FFF2-40B4-BE49-F238E27FC236}">
                  <a16:creationId xmlns:a16="http://schemas.microsoft.com/office/drawing/2014/main" id="{7D3183A4-7B7F-11E5-9989-56863262EC36}"/>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2" name="TextBox 31">
              <a:extLst>
                <a:ext uri="{FF2B5EF4-FFF2-40B4-BE49-F238E27FC236}">
                  <a16:creationId xmlns:a16="http://schemas.microsoft.com/office/drawing/2014/main" id="{D9F63762-0A34-62FF-45B8-FBEE03884A98}"/>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2</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3" name="Group 32">
            <a:extLst>
              <a:ext uri="{FF2B5EF4-FFF2-40B4-BE49-F238E27FC236}">
                <a16:creationId xmlns:a16="http://schemas.microsoft.com/office/drawing/2014/main" id="{A222FE1F-9C65-EAB2-5EAA-6DDE9F00D337}"/>
              </a:ext>
            </a:extLst>
          </p:cNvPr>
          <p:cNvGrpSpPr/>
          <p:nvPr/>
        </p:nvGrpSpPr>
        <p:grpSpPr>
          <a:xfrm>
            <a:off x="6416070" y="2590533"/>
            <a:ext cx="2370489" cy="720000"/>
            <a:chOff x="100682" y="2684598"/>
            <a:chExt cx="2370489" cy="720000"/>
          </a:xfrm>
        </p:grpSpPr>
        <p:sp>
          <p:nvSpPr>
            <p:cNvPr id="34" name="Rectangle 33">
              <a:extLst>
                <a:ext uri="{FF2B5EF4-FFF2-40B4-BE49-F238E27FC236}">
                  <a16:creationId xmlns:a16="http://schemas.microsoft.com/office/drawing/2014/main" id="{B190ACAF-580F-C7C9-47DB-2F6A45810714}"/>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5" name="TextBox 34">
              <a:extLst>
                <a:ext uri="{FF2B5EF4-FFF2-40B4-BE49-F238E27FC236}">
                  <a16:creationId xmlns:a16="http://schemas.microsoft.com/office/drawing/2014/main" id="{34E23768-A24A-9030-A4CD-97D74AAF1BC7}"/>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3</a:t>
              </a:r>
              <a:endParaRPr lang="en-US" sz="7200" b="1" kern="1200" cap="none">
                <a:solidFill>
                  <a:srgbClr val="24282B"/>
                </a:solidFill>
                <a:latin typeface="Arial" panose="020B0604020202020204"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7E6A717D-00FA-6874-C9D8-015CB952CE1B}"/>
              </a:ext>
            </a:extLst>
          </p:cNvPr>
          <p:cNvGrpSpPr/>
          <p:nvPr/>
        </p:nvGrpSpPr>
        <p:grpSpPr>
          <a:xfrm>
            <a:off x="9201396" y="2590533"/>
            <a:ext cx="2370489" cy="720000"/>
            <a:chOff x="100682" y="2684598"/>
            <a:chExt cx="2370489" cy="720000"/>
          </a:xfrm>
        </p:grpSpPr>
        <p:sp>
          <p:nvSpPr>
            <p:cNvPr id="37" name="Rectangle 36">
              <a:extLst>
                <a:ext uri="{FF2B5EF4-FFF2-40B4-BE49-F238E27FC236}">
                  <a16:creationId xmlns:a16="http://schemas.microsoft.com/office/drawing/2014/main" id="{A40C570F-F284-1A73-9333-3BDF8C182B8A}"/>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8" name="TextBox 37">
              <a:extLst>
                <a:ext uri="{FF2B5EF4-FFF2-40B4-BE49-F238E27FC236}">
                  <a16:creationId xmlns:a16="http://schemas.microsoft.com/office/drawing/2014/main" id="{615C1030-EACF-22AB-8FE3-2C1D3A2D8B3B}"/>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a:solidFill>
                    <a:srgbClr val="374151"/>
                  </a:solidFill>
                  <a:effectLst/>
                  <a:latin typeface="Arial" panose="020B0604020202020204" pitchFamily="34" charset="0"/>
                  <a:cs typeface="Arial" panose="020B0604020202020204" pitchFamily="34" charset="0"/>
                </a:rPr>
                <a:t>4</a:t>
              </a:r>
              <a:endParaRPr lang="en-US" sz="7200" b="1" kern="1200" cap="none">
                <a:solidFill>
                  <a:srgbClr val="24282B"/>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21078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a:solidFill>
                  <a:srgbClr val="70AD47"/>
                </a:solidFill>
                <a:latin typeface="Arial" panose="020B0604020202020204" pitchFamily="34" charset="0"/>
                <a:cs typeface="Arial" panose="020B0604020202020204" pitchFamily="34" charset="0"/>
              </a:rPr>
              <a:t>C</a:t>
            </a:r>
            <a:r>
              <a:rPr lang="en-US" sz="3200" b="1" i="0">
                <a:solidFill>
                  <a:srgbClr val="70AD47"/>
                </a:solidFill>
                <a:effectLst/>
                <a:latin typeface="Arial" panose="020B0604020202020204" pitchFamily="34" charset="0"/>
                <a:cs typeface="Arial" panose="020B0604020202020204" pitchFamily="34" charset="0"/>
              </a:rPr>
              <a:t>ustomers are searching online</a:t>
            </a:r>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38200" y="1825624"/>
            <a:ext cx="10515600" cy="1245045"/>
          </a:xfrm>
        </p:spPr>
        <p:txBody>
          <a:bodyPr>
            <a:noAutofit/>
          </a:bodyPr>
          <a:lstStyle/>
          <a:p>
            <a:pPr marL="0" indent="0">
              <a:buNone/>
            </a:pPr>
            <a:r>
              <a:rPr lang="en-US" sz="1600" b="1">
                <a:latin typeface="Arial" panose="020B0604020202020204" pitchFamily="34" charset="0"/>
                <a:cs typeface="Arial" panose="020B0604020202020204" pitchFamily="34" charset="0"/>
              </a:rPr>
              <a:t>Did you know that a staggering 63% of customer now make their purchases online?</a:t>
            </a:r>
          </a:p>
          <a:p>
            <a:pPr marL="0" indent="0">
              <a:buNone/>
            </a:pPr>
            <a:r>
              <a:rPr lang="en-US" sz="1600">
                <a:latin typeface="Arial" panose="020B0604020202020204" pitchFamily="34" charset="0"/>
                <a:cs typeface="Arial" panose="020B0604020202020204" pitchFamily="34" charset="0"/>
              </a:rPr>
              <a:t>In today's digital age, harnessing the power of online platforms is not just an option; it's an absolute necessity. </a:t>
            </a:r>
          </a:p>
          <a:p>
            <a:pPr marL="0" indent="0">
              <a:buNone/>
            </a:pPr>
            <a:endParaRPr lang="en-US" sz="1600" b="1">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a:p>
            <a:pPr marL="0" indent="0">
              <a:buNone/>
            </a:pPr>
            <a:r>
              <a:rPr lang="en-US" sz="1600">
                <a:latin typeface="Arial" panose="020B0604020202020204" pitchFamily="34" charset="0"/>
                <a:cs typeface="Arial" panose="020B0604020202020204" pitchFamily="34" charset="0"/>
              </a:rPr>
              <a:t>As per </a:t>
            </a:r>
            <a:r>
              <a:rPr lang="en-US" sz="1600" err="1">
                <a:latin typeface="Arial" panose="020B0604020202020204" pitchFamily="34" charset="0"/>
                <a:cs typeface="Arial" panose="020B0604020202020204" pitchFamily="34" charset="0"/>
                <a:hlinkClick r:id="rId3"/>
              </a:rPr>
              <a:t>BrightLocal</a:t>
            </a:r>
            <a:r>
              <a:rPr lang="en-US" sz="1600">
                <a:latin typeface="Arial" panose="020B0604020202020204" pitchFamily="34" charset="0"/>
                <a:cs typeface="Arial" panose="020B0604020202020204" pitchFamily="34" charset="0"/>
                <a:hlinkClick r:id="rId3"/>
              </a:rPr>
              <a:t> Survey 2023.</a:t>
            </a:r>
            <a:endParaRPr lang="en-US" sz="160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2B0F5887-39A2-95AB-1749-C7A849B9D95E}"/>
              </a:ext>
            </a:extLst>
          </p:cNvPr>
          <p:cNvSpPr txBox="1">
            <a:spLocks/>
          </p:cNvSpPr>
          <p:nvPr/>
        </p:nvSpPr>
        <p:spPr>
          <a:xfrm>
            <a:off x="838200" y="3787330"/>
            <a:ext cx="2564219" cy="134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800" b="1">
                <a:solidFill>
                  <a:srgbClr val="70AD47"/>
                </a:solidFill>
                <a:latin typeface="Arial" panose="020B0604020202020204" pitchFamily="34" charset="0"/>
                <a:cs typeface="Arial" panose="020B0604020202020204" pitchFamily="34" charset="0"/>
              </a:rPr>
              <a:t>98%</a:t>
            </a:r>
          </a:p>
        </p:txBody>
      </p:sp>
      <p:sp>
        <p:nvSpPr>
          <p:cNvPr id="7" name="Content Placeholder 2">
            <a:extLst>
              <a:ext uri="{FF2B5EF4-FFF2-40B4-BE49-F238E27FC236}">
                <a16:creationId xmlns:a16="http://schemas.microsoft.com/office/drawing/2014/main" id="{224B0AA7-1BFA-7DBF-53DA-5E5F3AA24A17}"/>
              </a:ext>
            </a:extLst>
          </p:cNvPr>
          <p:cNvSpPr txBox="1">
            <a:spLocks/>
          </p:cNvSpPr>
          <p:nvPr/>
        </p:nvSpPr>
        <p:spPr>
          <a:xfrm>
            <a:off x="3847213" y="4006888"/>
            <a:ext cx="2803844" cy="747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a:latin typeface="Arial" panose="020B0604020202020204" pitchFamily="34" charset="0"/>
                <a:cs typeface="Arial" panose="020B0604020202020204" pitchFamily="34" charset="0"/>
              </a:rPr>
              <a:t>of consumers used the internet to find information about local businesses in 2022.</a:t>
            </a:r>
          </a:p>
        </p:txBody>
      </p:sp>
      <p:cxnSp>
        <p:nvCxnSpPr>
          <p:cNvPr id="9" name="Straight Connector 8">
            <a:extLst>
              <a:ext uri="{FF2B5EF4-FFF2-40B4-BE49-F238E27FC236}">
                <a16:creationId xmlns:a16="http://schemas.microsoft.com/office/drawing/2014/main" id="{D38CBF84-880C-30A0-E980-AC11315DFC5C}"/>
              </a:ext>
            </a:extLst>
          </p:cNvPr>
          <p:cNvCxnSpPr/>
          <p:nvPr/>
        </p:nvCxnSpPr>
        <p:spPr>
          <a:xfrm>
            <a:off x="3519377" y="3907466"/>
            <a:ext cx="0" cy="946298"/>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9" descr="Customer review outline">
            <a:extLst>
              <a:ext uri="{FF2B5EF4-FFF2-40B4-BE49-F238E27FC236}">
                <a16:creationId xmlns:a16="http://schemas.microsoft.com/office/drawing/2014/main" id="{29522E81-52DC-E2A2-266A-03CE0594A3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512363" y="2764460"/>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4203690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itle 1">
            <a:extLst>
              <a:ext uri="{FF2B5EF4-FFF2-40B4-BE49-F238E27FC236}">
                <a16:creationId xmlns:a16="http://schemas.microsoft.com/office/drawing/2014/main" id="{3F7F26C5-632D-DDD8-183A-2C64C77C744B}"/>
              </a:ext>
            </a:extLst>
          </p:cNvPr>
          <p:cNvSpPr txBox="1">
            <a:spLocks/>
          </p:cNvSpPr>
          <p:nvPr/>
        </p:nvSpPr>
        <p:spPr>
          <a:xfrm>
            <a:off x="990600" y="3166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rgbClr val="70AD47"/>
                </a:solidFill>
                <a:latin typeface="Arial" panose="020B0604020202020204" pitchFamily="34" charset="0"/>
                <a:cs typeface="Arial" panose="020B0604020202020204" pitchFamily="34" charset="0"/>
              </a:rPr>
              <a:t>Cost of neglecting directory listing</a:t>
            </a:r>
          </a:p>
        </p:txBody>
      </p:sp>
      <p:sp>
        <p:nvSpPr>
          <p:cNvPr id="179" name="Rectangle 178">
            <a:extLst>
              <a:ext uri="{FF2B5EF4-FFF2-40B4-BE49-F238E27FC236}">
                <a16:creationId xmlns:a16="http://schemas.microsoft.com/office/drawing/2014/main" id="{3C203E89-7A22-093E-B129-FC251119622D}"/>
              </a:ext>
            </a:extLst>
          </p:cNvPr>
          <p:cNvSpPr/>
          <p:nvPr/>
        </p:nvSpPr>
        <p:spPr>
          <a:xfrm>
            <a:off x="998768" y="1947834"/>
            <a:ext cx="2881428" cy="1952238"/>
          </a:xfrm>
          <a:prstGeom prst="rect">
            <a:avLst/>
          </a:prstGeom>
          <a:solidFill>
            <a:srgbClr val="2CA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Google Shape;3082;p148">
            <a:extLst>
              <a:ext uri="{FF2B5EF4-FFF2-40B4-BE49-F238E27FC236}">
                <a16:creationId xmlns:a16="http://schemas.microsoft.com/office/drawing/2014/main" id="{27582B2C-3518-76FC-7DFF-6CA3ED83CCA9}"/>
              </a:ext>
            </a:extLst>
          </p:cNvPr>
          <p:cNvSpPr txBox="1">
            <a:spLocks/>
          </p:cNvSpPr>
          <p:nvPr/>
        </p:nvSpPr>
        <p:spPr>
          <a:xfrm>
            <a:off x="990600" y="1955481"/>
            <a:ext cx="2889596" cy="1947576"/>
          </a:xfrm>
          <a:prstGeom prst="rect">
            <a:avLst/>
          </a:prstGeom>
          <a:solidFill>
            <a:srgbClr val="70AD47"/>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panose="020B0604020202020204" pitchFamily="34" charset="0"/>
                <a:cs typeface="Arial" panose="020B0604020202020204" pitchFamily="34" charset="0"/>
              </a:rPr>
              <a:t>Lack of online visibility</a:t>
            </a:r>
          </a:p>
          <a:p>
            <a:pPr marL="171450" indent="-171450" algn="ctr">
              <a:spcBef>
                <a:spcPts val="0"/>
              </a:spcBef>
              <a:buClr>
                <a:srgbClr val="47464B"/>
              </a:buClr>
              <a:buFont typeface="Arial"/>
              <a:buNone/>
            </a:pPr>
            <a:r>
              <a:rPr lang="en-US" sz="1100" dirty="0">
                <a:solidFill>
                  <a:schemeClr val="bg1"/>
                </a:solidFill>
                <a:latin typeface="Arial" panose="020B0604020202020204" pitchFamily="34" charset="0"/>
                <a:cs typeface="Arial" panose="020B0604020202020204" pitchFamily="34" charset="0"/>
              </a:rPr>
              <a:t>Businesses risk being overshadowed by competitors that have optimized their online presence, resulting in decreased visibility and missed opportunities.</a:t>
            </a:r>
          </a:p>
        </p:txBody>
      </p:sp>
      <p:sp>
        <p:nvSpPr>
          <p:cNvPr id="181" name="Rectangle 180">
            <a:extLst>
              <a:ext uri="{FF2B5EF4-FFF2-40B4-BE49-F238E27FC236}">
                <a16:creationId xmlns:a16="http://schemas.microsoft.com/office/drawing/2014/main" id="{D0810BD6-288B-932D-83A8-4A48272470FA}"/>
              </a:ext>
            </a:extLst>
          </p:cNvPr>
          <p:cNvSpPr/>
          <p:nvPr/>
        </p:nvSpPr>
        <p:spPr>
          <a:xfrm>
            <a:off x="4367516" y="1947834"/>
            <a:ext cx="2881428" cy="1952238"/>
          </a:xfrm>
          <a:prstGeom prst="rect">
            <a:avLst/>
          </a:prstGeom>
          <a:solidFill>
            <a:srgbClr val="2CA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Google Shape;3082;p148">
            <a:extLst>
              <a:ext uri="{FF2B5EF4-FFF2-40B4-BE49-F238E27FC236}">
                <a16:creationId xmlns:a16="http://schemas.microsoft.com/office/drawing/2014/main" id="{F1B063E6-A023-FE8B-BE28-B874FAFB4F80}"/>
              </a:ext>
            </a:extLst>
          </p:cNvPr>
          <p:cNvSpPr txBox="1">
            <a:spLocks/>
          </p:cNvSpPr>
          <p:nvPr/>
        </p:nvSpPr>
        <p:spPr>
          <a:xfrm>
            <a:off x="4359348" y="1955481"/>
            <a:ext cx="2889596" cy="1947576"/>
          </a:xfrm>
          <a:prstGeom prst="rect">
            <a:avLst/>
          </a:prstGeom>
          <a:solidFill>
            <a:srgbClr val="70AD47"/>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a:solidFill>
                  <a:schemeClr val="bg1"/>
                </a:solidFill>
                <a:latin typeface="Arial" panose="020B0604020202020204" pitchFamily="34" charset="0"/>
                <a:cs typeface="Arial" panose="020B0604020202020204" pitchFamily="34" charset="0"/>
              </a:rPr>
              <a:t>Inability to target mobile users effectively</a:t>
            </a:r>
          </a:p>
          <a:p>
            <a:pPr marL="171450" indent="-171450" algn="ctr">
              <a:spcBef>
                <a:spcPts val="0"/>
              </a:spcBef>
              <a:buClr>
                <a:srgbClr val="47464B"/>
              </a:buClr>
              <a:buFont typeface="Arial"/>
              <a:buNone/>
            </a:pPr>
            <a:r>
              <a:rPr lang="en-US" sz="1100">
                <a:solidFill>
                  <a:schemeClr val="bg1"/>
                </a:solidFill>
                <a:latin typeface="Arial" panose="020B0604020202020204" pitchFamily="34" charset="0"/>
                <a:cs typeface="Arial" panose="020B0604020202020204" pitchFamily="34" charset="0"/>
              </a:rPr>
              <a:t>Businesses miss out on local and mobile search traffic, reducing the chances of attracting customers who are actively searching for products or services in their area.</a:t>
            </a:r>
            <a:endParaRPr lang="en-US" sz="1100">
              <a:solidFill>
                <a:schemeClr val="bg1"/>
              </a:solidFill>
            </a:endParaRPr>
          </a:p>
        </p:txBody>
      </p:sp>
      <p:sp>
        <p:nvSpPr>
          <p:cNvPr id="183" name="Rectangle 182">
            <a:extLst>
              <a:ext uri="{FF2B5EF4-FFF2-40B4-BE49-F238E27FC236}">
                <a16:creationId xmlns:a16="http://schemas.microsoft.com/office/drawing/2014/main" id="{3FD716A6-9474-1C35-F39F-3819F3BE7406}"/>
              </a:ext>
            </a:extLst>
          </p:cNvPr>
          <p:cNvSpPr/>
          <p:nvPr/>
        </p:nvSpPr>
        <p:spPr>
          <a:xfrm>
            <a:off x="7792408" y="1947834"/>
            <a:ext cx="2881428" cy="1952238"/>
          </a:xfrm>
          <a:prstGeom prst="rect">
            <a:avLst/>
          </a:prstGeom>
          <a:solidFill>
            <a:srgbClr val="2CA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Google Shape;3082;p148">
            <a:extLst>
              <a:ext uri="{FF2B5EF4-FFF2-40B4-BE49-F238E27FC236}">
                <a16:creationId xmlns:a16="http://schemas.microsoft.com/office/drawing/2014/main" id="{6D4A3B30-6024-F8BC-C99D-CFA77605D151}"/>
              </a:ext>
            </a:extLst>
          </p:cNvPr>
          <p:cNvSpPr txBox="1">
            <a:spLocks/>
          </p:cNvSpPr>
          <p:nvPr/>
        </p:nvSpPr>
        <p:spPr>
          <a:xfrm>
            <a:off x="7784240" y="1955481"/>
            <a:ext cx="2889596" cy="1947576"/>
          </a:xfrm>
          <a:prstGeom prst="rect">
            <a:avLst/>
          </a:prstGeom>
          <a:solidFill>
            <a:srgbClr val="70AD47"/>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a:solidFill>
                  <a:schemeClr val="bg1"/>
                </a:solidFill>
                <a:latin typeface="Arial" panose="020B0604020202020204" pitchFamily="34" charset="0"/>
                <a:cs typeface="Arial" panose="020B0604020202020204" pitchFamily="34" charset="0"/>
              </a:rPr>
              <a:t>Reduced online credibility and trust</a:t>
            </a:r>
          </a:p>
          <a:p>
            <a:pPr marL="171450" indent="-171450" algn="ctr">
              <a:spcBef>
                <a:spcPts val="0"/>
              </a:spcBef>
              <a:buClr>
                <a:srgbClr val="47464B"/>
              </a:buClr>
              <a:buFont typeface="Arial"/>
              <a:buNone/>
            </a:pPr>
            <a:r>
              <a:rPr lang="en-US" sz="1200">
                <a:solidFill>
                  <a:schemeClr val="bg1"/>
                </a:solidFill>
                <a:latin typeface="Arial" panose="020B0604020202020204" pitchFamily="34" charset="0"/>
                <a:cs typeface="Arial" panose="020B0604020202020204" pitchFamily="34" charset="0"/>
              </a:rPr>
              <a:t>Businesses miss the opportunity to showcase positive customer feedback and testimonials, potentially undermining credibility and trustworthiness.</a:t>
            </a:r>
          </a:p>
        </p:txBody>
      </p:sp>
      <p:sp>
        <p:nvSpPr>
          <p:cNvPr id="186" name="Google Shape;3082;p148">
            <a:extLst>
              <a:ext uri="{FF2B5EF4-FFF2-40B4-BE49-F238E27FC236}">
                <a16:creationId xmlns:a16="http://schemas.microsoft.com/office/drawing/2014/main" id="{5C2ACC82-3763-242C-E90A-459633A8EF08}"/>
              </a:ext>
            </a:extLst>
          </p:cNvPr>
          <p:cNvSpPr txBox="1">
            <a:spLocks/>
          </p:cNvSpPr>
          <p:nvPr/>
        </p:nvSpPr>
        <p:spPr>
          <a:xfrm>
            <a:off x="990600" y="4198025"/>
            <a:ext cx="2889596" cy="1947576"/>
          </a:xfrm>
          <a:prstGeom prst="rect">
            <a:avLst/>
          </a:prstGeom>
          <a:solidFill>
            <a:srgbClr val="70AD47"/>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a:solidFill>
                  <a:schemeClr val="bg1"/>
                </a:solidFill>
                <a:latin typeface="Arial" panose="020B0604020202020204" pitchFamily="34" charset="0"/>
                <a:cs typeface="Arial" panose="020B0604020202020204" pitchFamily="34" charset="0"/>
              </a:rPr>
              <a:t>Negative impact on SEO</a:t>
            </a:r>
          </a:p>
          <a:p>
            <a:pPr marL="171450" indent="-171450" algn="ctr">
              <a:spcBef>
                <a:spcPts val="0"/>
              </a:spcBef>
              <a:buClr>
                <a:srgbClr val="47464B"/>
              </a:buClr>
              <a:buFont typeface="Arial"/>
              <a:buNone/>
            </a:pPr>
            <a:r>
              <a:rPr lang="en-US" sz="1100">
                <a:solidFill>
                  <a:schemeClr val="bg1"/>
                </a:solidFill>
                <a:latin typeface="Arial" panose="020B0604020202020204" pitchFamily="34" charset="0"/>
                <a:cs typeface="Arial" panose="020B0604020202020204" pitchFamily="34" charset="0"/>
              </a:rPr>
              <a:t>Neglecting online listing services may result in weaker SEO performance, making it harder for potential customers to discover the business through organic search.</a:t>
            </a:r>
          </a:p>
        </p:txBody>
      </p:sp>
      <p:sp>
        <p:nvSpPr>
          <p:cNvPr id="188" name="Google Shape;3082;p148">
            <a:extLst>
              <a:ext uri="{FF2B5EF4-FFF2-40B4-BE49-F238E27FC236}">
                <a16:creationId xmlns:a16="http://schemas.microsoft.com/office/drawing/2014/main" id="{11CF0FE0-172D-2DDC-2021-98427E780148}"/>
              </a:ext>
            </a:extLst>
          </p:cNvPr>
          <p:cNvSpPr txBox="1">
            <a:spLocks/>
          </p:cNvSpPr>
          <p:nvPr/>
        </p:nvSpPr>
        <p:spPr>
          <a:xfrm>
            <a:off x="4359348" y="4198025"/>
            <a:ext cx="2889596" cy="1947576"/>
          </a:xfrm>
          <a:prstGeom prst="rect">
            <a:avLst/>
          </a:prstGeom>
          <a:solidFill>
            <a:srgbClr val="70AD47"/>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a:solidFill>
                  <a:schemeClr val="bg1"/>
                </a:solidFill>
                <a:latin typeface="Arial"/>
                <a:cs typeface="Arial"/>
              </a:rPr>
              <a:t>Difficulty in tracking and measuring </a:t>
            </a:r>
            <a:r>
              <a:rPr lang="en-US" sz="1100">
                <a:solidFill>
                  <a:schemeClr val="bg1"/>
                </a:solidFill>
                <a:latin typeface="Arial"/>
                <a:cs typeface="Arial"/>
              </a:rPr>
              <a:t>Without online listing, its challenging to gauge the impact of marketing initiatives accurately, hindering data-driven decision-making.</a:t>
            </a:r>
          </a:p>
        </p:txBody>
      </p:sp>
      <p:sp>
        <p:nvSpPr>
          <p:cNvPr id="190" name="Google Shape;3082;p148">
            <a:extLst>
              <a:ext uri="{FF2B5EF4-FFF2-40B4-BE49-F238E27FC236}">
                <a16:creationId xmlns:a16="http://schemas.microsoft.com/office/drawing/2014/main" id="{D50F87BB-A654-CFE3-E802-76DBD2A7B8C0}"/>
              </a:ext>
            </a:extLst>
          </p:cNvPr>
          <p:cNvSpPr txBox="1">
            <a:spLocks/>
          </p:cNvSpPr>
          <p:nvPr/>
        </p:nvSpPr>
        <p:spPr>
          <a:xfrm>
            <a:off x="7784240" y="4198025"/>
            <a:ext cx="2889596" cy="1947576"/>
          </a:xfrm>
          <a:prstGeom prst="rect">
            <a:avLst/>
          </a:prstGeom>
          <a:solidFill>
            <a:srgbClr val="70AD47"/>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a:solidFill>
                  <a:schemeClr val="bg1"/>
                </a:solidFill>
                <a:latin typeface="Arial"/>
                <a:cs typeface="Arial"/>
              </a:rPr>
              <a:t>Limited access to online advertising opportunities</a:t>
            </a:r>
          </a:p>
          <a:p>
            <a:pPr marL="171450" indent="-171450" algn="ctr">
              <a:spcBef>
                <a:spcPts val="0"/>
              </a:spcBef>
              <a:buClr>
                <a:srgbClr val="47464B"/>
              </a:buClr>
              <a:buFont typeface="Arial"/>
              <a:buNone/>
            </a:pPr>
            <a:r>
              <a:rPr lang="en-US" sz="1100">
                <a:solidFill>
                  <a:schemeClr val="bg1"/>
                </a:solidFill>
                <a:latin typeface="Arial"/>
                <a:cs typeface="Arial"/>
              </a:rPr>
              <a:t>Online listing services often provide advertising options, such as sponsored listings or targeted ad placements.</a:t>
            </a:r>
          </a:p>
        </p:txBody>
      </p:sp>
    </p:spTree>
    <p:extLst>
      <p:ext uri="{BB962C8B-B14F-4D97-AF65-F5344CB8AC3E}">
        <p14:creationId xmlns:p14="http://schemas.microsoft.com/office/powerpoint/2010/main" val="622925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3083;p148">
            <a:extLst>
              <a:ext uri="{FF2B5EF4-FFF2-40B4-BE49-F238E27FC236}">
                <a16:creationId xmlns:a16="http://schemas.microsoft.com/office/drawing/2014/main" id="{15263A38-9837-2A37-21C5-FF083DE2CD41}"/>
              </a:ext>
            </a:extLst>
          </p:cNvPr>
          <p:cNvPicPr preferRelativeResize="0"/>
          <p:nvPr/>
        </p:nvPicPr>
        <p:blipFill rotWithShape="1">
          <a:blip r:embed="rId3">
            <a:alphaModFix/>
            <a:duotone>
              <a:schemeClr val="accent6">
                <a:shade val="45000"/>
                <a:satMod val="135000"/>
              </a:schemeClr>
              <a:prstClr val="white"/>
            </a:duotone>
          </a:blip>
          <a:srcRect/>
          <a:stretch/>
        </p:blipFill>
        <p:spPr>
          <a:xfrm rot="1800000">
            <a:off x="4992571" y="1762680"/>
            <a:ext cx="2667000" cy="3117850"/>
          </a:xfrm>
          <a:prstGeom prst="rect">
            <a:avLst/>
          </a:prstGeom>
          <a:noFill/>
          <a:ln>
            <a:noFill/>
          </a:ln>
        </p:spPr>
      </p:pic>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a:xfrm>
            <a:off x="838200" y="365125"/>
            <a:ext cx="9505950" cy="1325563"/>
          </a:xfrm>
        </p:spPr>
        <p:txBody>
          <a:bodyPr>
            <a:normAutofit/>
          </a:bodyPr>
          <a:lstStyle/>
          <a:p>
            <a:r>
              <a:rPr lang="en-US" sz="3200" b="1" i="0" dirty="0">
                <a:solidFill>
                  <a:srgbClr val="70AD47"/>
                </a:solidFill>
                <a:effectLst/>
                <a:latin typeface="Arial"/>
                <a:cs typeface="Arial"/>
              </a:rPr>
              <a:t>Directory listing </a:t>
            </a:r>
            <a:r>
              <a:rPr lang="en-US" sz="3200" b="1" dirty="0">
                <a:solidFill>
                  <a:srgbClr val="70AD47"/>
                </a:solidFill>
                <a:latin typeface="Arial"/>
                <a:cs typeface="Arial"/>
              </a:rPr>
              <a:t>increase</a:t>
            </a:r>
            <a:r>
              <a:rPr lang="en-US" sz="3200" b="1" i="0" dirty="0">
                <a:solidFill>
                  <a:srgbClr val="70AD47"/>
                </a:solidFill>
                <a:effectLst/>
                <a:latin typeface="Arial"/>
                <a:cs typeface="Arial"/>
              </a:rPr>
              <a:t> visibility and accessibility</a:t>
            </a:r>
            <a:endParaRPr lang="en-US" sz="3200" b="1" dirty="0">
              <a:solidFill>
                <a:srgbClr val="70AD47"/>
              </a:solidFill>
              <a:latin typeface="Arial"/>
              <a:cs typeface="Arial"/>
            </a:endParaRPr>
          </a:p>
        </p:txBody>
      </p:sp>
      <p:sp>
        <p:nvSpPr>
          <p:cNvPr id="86" name="Google Shape;3082;p148">
            <a:extLst>
              <a:ext uri="{FF2B5EF4-FFF2-40B4-BE49-F238E27FC236}">
                <a16:creationId xmlns:a16="http://schemas.microsoft.com/office/drawing/2014/main" id="{F6A81919-3767-EE27-2704-60EC5890B0C0}"/>
              </a:ext>
            </a:extLst>
          </p:cNvPr>
          <p:cNvSpPr txBox="1">
            <a:spLocks/>
          </p:cNvSpPr>
          <p:nvPr/>
        </p:nvSpPr>
        <p:spPr>
          <a:xfrm>
            <a:off x="1260528" y="4940291"/>
            <a:ext cx="3023319"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a:latin typeface="Arial" panose="020B0604020202020204" pitchFamily="34" charset="0"/>
                <a:cs typeface="Arial" panose="020B0604020202020204" pitchFamily="34" charset="0"/>
              </a:rPr>
              <a:t>of local searches result in either a website visit or phone call.</a:t>
            </a:r>
          </a:p>
          <a:p>
            <a:pPr marL="171450" indent="-171450" algn="ctr">
              <a:spcBef>
                <a:spcPts val="0"/>
              </a:spcBef>
              <a:buClr>
                <a:srgbClr val="47464B"/>
              </a:buClr>
              <a:buFont typeface="Arial"/>
              <a:buNone/>
            </a:pPr>
            <a:r>
              <a:rPr lang="en-US" sz="1200">
                <a:latin typeface="Arial" panose="020B0604020202020204" pitchFamily="34" charset="0"/>
                <a:cs typeface="Arial" panose="020B0604020202020204" pitchFamily="34" charset="0"/>
                <a:hlinkClick r:id="rId4"/>
              </a:rPr>
              <a:t>Bright Local</a:t>
            </a:r>
            <a:endParaRPr lang="en-US" sz="1200"/>
          </a:p>
        </p:txBody>
      </p:sp>
      <p:pic>
        <p:nvPicPr>
          <p:cNvPr id="87" name="Google Shape;3083;p148">
            <a:extLst>
              <a:ext uri="{FF2B5EF4-FFF2-40B4-BE49-F238E27FC236}">
                <a16:creationId xmlns:a16="http://schemas.microsoft.com/office/drawing/2014/main" id="{14F7C8EC-3CB1-345C-D8CA-6CA7B592DA43}"/>
              </a:ext>
            </a:extLst>
          </p:cNvPr>
          <p:cNvPicPr preferRelativeResize="0"/>
          <p:nvPr/>
        </p:nvPicPr>
        <p:blipFill rotWithShape="1">
          <a:blip r:embed="rId3">
            <a:alphaModFix/>
            <a:duotone>
              <a:schemeClr val="accent6">
                <a:shade val="45000"/>
                <a:satMod val="135000"/>
              </a:schemeClr>
              <a:prstClr val="white"/>
            </a:duotone>
          </a:blip>
          <a:srcRect/>
          <a:stretch/>
        </p:blipFill>
        <p:spPr>
          <a:xfrm rot="1800000">
            <a:off x="1439007" y="1762680"/>
            <a:ext cx="2667000" cy="3117850"/>
          </a:xfrm>
          <a:prstGeom prst="rect">
            <a:avLst/>
          </a:prstGeom>
          <a:noFill/>
          <a:ln>
            <a:noFill/>
          </a:ln>
        </p:spPr>
      </p:pic>
      <p:grpSp>
        <p:nvGrpSpPr>
          <p:cNvPr id="102" name="Google Shape;3098;p148">
            <a:extLst>
              <a:ext uri="{FF2B5EF4-FFF2-40B4-BE49-F238E27FC236}">
                <a16:creationId xmlns:a16="http://schemas.microsoft.com/office/drawing/2014/main" id="{66717580-4494-3E47-7DF1-37935096A69D}"/>
              </a:ext>
            </a:extLst>
          </p:cNvPr>
          <p:cNvGrpSpPr/>
          <p:nvPr/>
        </p:nvGrpSpPr>
        <p:grpSpPr>
          <a:xfrm>
            <a:off x="1476599" y="2025274"/>
            <a:ext cx="2591814" cy="2591814"/>
            <a:chOff x="3527425" y="860425"/>
            <a:chExt cx="5138738" cy="5138738"/>
          </a:xfrm>
        </p:grpSpPr>
        <p:sp>
          <p:nvSpPr>
            <p:cNvPr id="103" name="Google Shape;3099;p148">
              <a:extLst>
                <a:ext uri="{FF2B5EF4-FFF2-40B4-BE49-F238E27FC236}">
                  <a16:creationId xmlns:a16="http://schemas.microsoft.com/office/drawing/2014/main" id="{44D66C58-C2E7-B132-A896-1899916ACBDB}"/>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4" name="Google Shape;3100;p148">
              <a:extLst>
                <a:ext uri="{FF2B5EF4-FFF2-40B4-BE49-F238E27FC236}">
                  <a16:creationId xmlns:a16="http://schemas.microsoft.com/office/drawing/2014/main" id="{F14CEE76-4061-4FF3-15A4-167FB32BE4EB}"/>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5" name="Google Shape;3101;p148">
              <a:extLst>
                <a:ext uri="{FF2B5EF4-FFF2-40B4-BE49-F238E27FC236}">
                  <a16:creationId xmlns:a16="http://schemas.microsoft.com/office/drawing/2014/main" id="{8B944D50-23D6-6F86-F64D-A2CAB7BA136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6" name="Google Shape;3102;p148">
              <a:extLst>
                <a:ext uri="{FF2B5EF4-FFF2-40B4-BE49-F238E27FC236}">
                  <a16:creationId xmlns:a16="http://schemas.microsoft.com/office/drawing/2014/main" id="{FABD5C76-2A90-533D-6B77-42F005079EF4}"/>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7" name="Google Shape;3103;p148">
              <a:extLst>
                <a:ext uri="{FF2B5EF4-FFF2-40B4-BE49-F238E27FC236}">
                  <a16:creationId xmlns:a16="http://schemas.microsoft.com/office/drawing/2014/main" id="{CC2A0F27-E553-D013-021E-6BAD9D73A176}"/>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8" name="Google Shape;3104;p148">
              <a:extLst>
                <a:ext uri="{FF2B5EF4-FFF2-40B4-BE49-F238E27FC236}">
                  <a16:creationId xmlns:a16="http://schemas.microsoft.com/office/drawing/2014/main" id="{7E94B6A4-CB54-913E-C2FC-8D79A6584321}"/>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9" name="Google Shape;3105;p148">
              <a:extLst>
                <a:ext uri="{FF2B5EF4-FFF2-40B4-BE49-F238E27FC236}">
                  <a16:creationId xmlns:a16="http://schemas.microsoft.com/office/drawing/2014/main" id="{BC9EFB21-446C-09F2-59DF-84A649AC4393}"/>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0" name="Google Shape;3106;p148">
              <a:extLst>
                <a:ext uri="{FF2B5EF4-FFF2-40B4-BE49-F238E27FC236}">
                  <a16:creationId xmlns:a16="http://schemas.microsoft.com/office/drawing/2014/main" id="{DE63B285-5E13-7443-3F8E-D3F7543C003E}"/>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1" name="Google Shape;3107;p148">
              <a:extLst>
                <a:ext uri="{FF2B5EF4-FFF2-40B4-BE49-F238E27FC236}">
                  <a16:creationId xmlns:a16="http://schemas.microsoft.com/office/drawing/2014/main" id="{9D03300C-9E2A-E344-ED99-17A5110F7516}"/>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12" name="Google Shape;3108;p148">
              <a:extLst>
                <a:ext uri="{FF2B5EF4-FFF2-40B4-BE49-F238E27FC236}">
                  <a16:creationId xmlns:a16="http://schemas.microsoft.com/office/drawing/2014/main" id="{82430204-4C7B-F3C8-7CC0-0442A9CB026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25" name="Google Shape;3121;p148">
            <a:extLst>
              <a:ext uri="{FF2B5EF4-FFF2-40B4-BE49-F238E27FC236}">
                <a16:creationId xmlns:a16="http://schemas.microsoft.com/office/drawing/2014/main" id="{82BDCDCC-405F-EA5E-7157-D1EED237857A}"/>
              </a:ext>
            </a:extLst>
          </p:cNvPr>
          <p:cNvSpPr txBox="1">
            <a:spLocks/>
          </p:cNvSpPr>
          <p:nvPr/>
        </p:nvSpPr>
        <p:spPr>
          <a:xfrm>
            <a:off x="229625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000" b="1">
                <a:solidFill>
                  <a:srgbClr val="47464B"/>
                </a:solidFill>
                <a:latin typeface="Arial" panose="020B0604020202020204" pitchFamily="34" charset="0"/>
                <a:ea typeface="Calibri"/>
                <a:cs typeface="Arial" panose="020B0604020202020204" pitchFamily="34" charset="0"/>
                <a:sym typeface="Calibri"/>
              </a:rPr>
              <a:t>93%</a:t>
            </a:r>
          </a:p>
        </p:txBody>
      </p:sp>
      <p:sp>
        <p:nvSpPr>
          <p:cNvPr id="130" name="Google Shape;3082;p148">
            <a:extLst>
              <a:ext uri="{FF2B5EF4-FFF2-40B4-BE49-F238E27FC236}">
                <a16:creationId xmlns:a16="http://schemas.microsoft.com/office/drawing/2014/main" id="{C7E3B4A7-B30B-CAAD-232C-577E8D779B1D}"/>
              </a:ext>
            </a:extLst>
          </p:cNvPr>
          <p:cNvSpPr txBox="1">
            <a:spLocks/>
          </p:cNvSpPr>
          <p:nvPr/>
        </p:nvSpPr>
        <p:spPr>
          <a:xfrm>
            <a:off x="4659523" y="4940291"/>
            <a:ext cx="3272365"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customers are more likely to visit and consider purchasing from businesses with a complete Business Profile.</a:t>
            </a:r>
          </a:p>
          <a:p>
            <a:pPr marL="171450" indent="-171450" algn="ctr">
              <a:spcBef>
                <a:spcPts val="0"/>
              </a:spcBef>
              <a:buClr>
                <a:srgbClr val="47464B"/>
              </a:buClr>
              <a:buFont typeface="Arial"/>
              <a:buNone/>
            </a:pPr>
            <a:r>
              <a:rPr lang="en-US" sz="1200" dirty="0">
                <a:latin typeface="Arial"/>
                <a:cs typeface="Arial"/>
                <a:hlinkClick r:id="rId5"/>
              </a:rPr>
              <a:t>Google Business</a:t>
            </a:r>
            <a:endParaRPr lang="en-US" sz="1200" dirty="0">
              <a:latin typeface="Arial"/>
              <a:cs typeface="Arial"/>
            </a:endParaRPr>
          </a:p>
        </p:txBody>
      </p:sp>
      <p:sp>
        <p:nvSpPr>
          <p:cNvPr id="144" name="Google Shape;3082;p148">
            <a:extLst>
              <a:ext uri="{FF2B5EF4-FFF2-40B4-BE49-F238E27FC236}">
                <a16:creationId xmlns:a16="http://schemas.microsoft.com/office/drawing/2014/main" id="{52E3660B-A5F0-0F3B-CE5F-E2813C9FF9C0}"/>
              </a:ext>
            </a:extLst>
          </p:cNvPr>
          <p:cNvSpPr txBox="1">
            <a:spLocks/>
          </p:cNvSpPr>
          <p:nvPr/>
        </p:nvSpPr>
        <p:spPr>
          <a:xfrm>
            <a:off x="8343249" y="4940291"/>
            <a:ext cx="3272365"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a:latin typeface="Arial"/>
                <a:cs typeface="Arial"/>
              </a:rPr>
              <a:t>of customers conduct an online search before visiting a store.</a:t>
            </a:r>
          </a:p>
          <a:p>
            <a:pPr marL="171450" indent="-171450" algn="ctr">
              <a:spcBef>
                <a:spcPts val="0"/>
              </a:spcBef>
              <a:buClr>
                <a:srgbClr val="47464B"/>
              </a:buClr>
              <a:buFont typeface="Arial"/>
              <a:buNone/>
            </a:pPr>
            <a:r>
              <a:rPr lang="en-US" sz="1200">
                <a:latin typeface="Arial"/>
                <a:cs typeface="Arial"/>
                <a:hlinkClick r:id="rId6"/>
              </a:rPr>
              <a:t>GE Capital Retail Bank</a:t>
            </a:r>
            <a:endParaRPr lang="en-US" sz="1200">
              <a:latin typeface="Arial"/>
              <a:cs typeface="Arial"/>
            </a:endParaRPr>
          </a:p>
        </p:txBody>
      </p:sp>
      <p:pic>
        <p:nvPicPr>
          <p:cNvPr id="145" name="Google Shape;3083;p148">
            <a:extLst>
              <a:ext uri="{FF2B5EF4-FFF2-40B4-BE49-F238E27FC236}">
                <a16:creationId xmlns:a16="http://schemas.microsoft.com/office/drawing/2014/main" id="{8CF30444-B580-83B8-0391-7C86CBAC7563}"/>
              </a:ext>
            </a:extLst>
          </p:cNvPr>
          <p:cNvPicPr preferRelativeResize="0"/>
          <p:nvPr/>
        </p:nvPicPr>
        <p:blipFill rotWithShape="1">
          <a:blip r:embed="rId3">
            <a:alphaModFix/>
            <a:duotone>
              <a:schemeClr val="accent6">
                <a:shade val="45000"/>
                <a:satMod val="135000"/>
              </a:schemeClr>
              <a:prstClr val="white"/>
            </a:duotone>
          </a:blip>
          <a:srcRect/>
          <a:stretch/>
        </p:blipFill>
        <p:spPr>
          <a:xfrm rot="1800000">
            <a:off x="8446227" y="1762680"/>
            <a:ext cx="2667000" cy="3117850"/>
          </a:xfrm>
          <a:prstGeom prst="rect">
            <a:avLst/>
          </a:prstGeom>
          <a:noFill/>
          <a:ln>
            <a:noFill/>
          </a:ln>
        </p:spPr>
      </p:pic>
      <p:grpSp>
        <p:nvGrpSpPr>
          <p:cNvPr id="146" name="Google Shape;3098;p148">
            <a:extLst>
              <a:ext uri="{FF2B5EF4-FFF2-40B4-BE49-F238E27FC236}">
                <a16:creationId xmlns:a16="http://schemas.microsoft.com/office/drawing/2014/main" id="{00F9D3C5-9554-55D2-8437-E6AD4F0AA29A}"/>
              </a:ext>
            </a:extLst>
          </p:cNvPr>
          <p:cNvGrpSpPr/>
          <p:nvPr/>
        </p:nvGrpSpPr>
        <p:grpSpPr>
          <a:xfrm>
            <a:off x="8483819" y="2025274"/>
            <a:ext cx="2591814" cy="2591814"/>
            <a:chOff x="3527425" y="860425"/>
            <a:chExt cx="5138738" cy="5138738"/>
          </a:xfrm>
        </p:grpSpPr>
        <p:sp>
          <p:nvSpPr>
            <p:cNvPr id="147" name="Google Shape;3099;p148">
              <a:extLst>
                <a:ext uri="{FF2B5EF4-FFF2-40B4-BE49-F238E27FC236}">
                  <a16:creationId xmlns:a16="http://schemas.microsoft.com/office/drawing/2014/main" id="{F69B6919-71C4-8BCF-B452-8A5BCD12C490}"/>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8" name="Google Shape;3100;p148">
              <a:extLst>
                <a:ext uri="{FF2B5EF4-FFF2-40B4-BE49-F238E27FC236}">
                  <a16:creationId xmlns:a16="http://schemas.microsoft.com/office/drawing/2014/main" id="{CD8E816A-5B8F-ADD4-F4AA-F8F0DCB34F72}"/>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49" name="Google Shape;3101;p148">
              <a:extLst>
                <a:ext uri="{FF2B5EF4-FFF2-40B4-BE49-F238E27FC236}">
                  <a16:creationId xmlns:a16="http://schemas.microsoft.com/office/drawing/2014/main" id="{DAD10C57-6589-BBAB-13E4-DA9B3674F39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0" name="Google Shape;3102;p148">
              <a:extLst>
                <a:ext uri="{FF2B5EF4-FFF2-40B4-BE49-F238E27FC236}">
                  <a16:creationId xmlns:a16="http://schemas.microsoft.com/office/drawing/2014/main" id="{2B81DC3F-37AF-5B9D-5123-A1E0421D20F3}"/>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1" name="Google Shape;3103;p148">
              <a:extLst>
                <a:ext uri="{FF2B5EF4-FFF2-40B4-BE49-F238E27FC236}">
                  <a16:creationId xmlns:a16="http://schemas.microsoft.com/office/drawing/2014/main" id="{8D152693-E4CE-091C-C8FE-DB2F7D65A7AB}"/>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2" name="Google Shape;3104;p148">
              <a:extLst>
                <a:ext uri="{FF2B5EF4-FFF2-40B4-BE49-F238E27FC236}">
                  <a16:creationId xmlns:a16="http://schemas.microsoft.com/office/drawing/2014/main" id="{E8F7871A-6539-7222-2DEA-697414DDC6B8}"/>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3" name="Google Shape;3105;p148">
              <a:extLst>
                <a:ext uri="{FF2B5EF4-FFF2-40B4-BE49-F238E27FC236}">
                  <a16:creationId xmlns:a16="http://schemas.microsoft.com/office/drawing/2014/main" id="{73D68CED-5019-2D22-6152-D7D81A3E3D70}"/>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4" name="Google Shape;3106;p148">
              <a:extLst>
                <a:ext uri="{FF2B5EF4-FFF2-40B4-BE49-F238E27FC236}">
                  <a16:creationId xmlns:a16="http://schemas.microsoft.com/office/drawing/2014/main" id="{62F44A62-769D-4AA7-8D86-625AFC95249A}"/>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5" name="Google Shape;3107;p148">
              <a:extLst>
                <a:ext uri="{FF2B5EF4-FFF2-40B4-BE49-F238E27FC236}">
                  <a16:creationId xmlns:a16="http://schemas.microsoft.com/office/drawing/2014/main" id="{6E33A581-747F-05D1-A4B9-C5054C4A7BD4}"/>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56" name="Google Shape;3108;p148">
              <a:extLst>
                <a:ext uri="{FF2B5EF4-FFF2-40B4-BE49-F238E27FC236}">
                  <a16:creationId xmlns:a16="http://schemas.microsoft.com/office/drawing/2014/main" id="{91E4CF46-20D1-2529-E516-45987E6A46E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57" name="Google Shape;3121;p148">
            <a:extLst>
              <a:ext uri="{FF2B5EF4-FFF2-40B4-BE49-F238E27FC236}">
                <a16:creationId xmlns:a16="http://schemas.microsoft.com/office/drawing/2014/main" id="{3F585280-CD7C-1485-5CA4-63639F05AFDE}"/>
              </a:ext>
            </a:extLst>
          </p:cNvPr>
          <p:cNvSpPr txBox="1">
            <a:spLocks/>
          </p:cNvSpPr>
          <p:nvPr/>
        </p:nvSpPr>
        <p:spPr>
          <a:xfrm>
            <a:off x="930347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000" b="1">
                <a:solidFill>
                  <a:srgbClr val="47464B"/>
                </a:solidFill>
                <a:latin typeface="Arial" panose="020B0604020202020204" pitchFamily="34" charset="0"/>
                <a:ea typeface="Calibri"/>
                <a:cs typeface="Arial" panose="020B0604020202020204" pitchFamily="34" charset="0"/>
                <a:sym typeface="Calibri"/>
              </a:rPr>
              <a:t>81%</a:t>
            </a:r>
            <a:endParaRPr lang="en-US" sz="2000" b="1">
              <a:solidFill>
                <a:srgbClr val="47464B"/>
              </a:solidFill>
              <a:latin typeface="Arial" panose="020B0604020202020204" pitchFamily="34" charset="0"/>
              <a:ea typeface="Calibri"/>
              <a:cs typeface="Arial" panose="020B0604020202020204" pitchFamily="34" charset="0"/>
            </a:endParaRPr>
          </a:p>
        </p:txBody>
      </p:sp>
      <p:grpSp>
        <p:nvGrpSpPr>
          <p:cNvPr id="159" name="Google Shape;3087;p148">
            <a:extLst>
              <a:ext uri="{FF2B5EF4-FFF2-40B4-BE49-F238E27FC236}">
                <a16:creationId xmlns:a16="http://schemas.microsoft.com/office/drawing/2014/main" id="{6C9BDCDE-35CE-D26B-AB29-9A605D81BDE0}"/>
              </a:ext>
            </a:extLst>
          </p:cNvPr>
          <p:cNvGrpSpPr/>
          <p:nvPr/>
        </p:nvGrpSpPr>
        <p:grpSpPr>
          <a:xfrm>
            <a:off x="5034920" y="2028534"/>
            <a:ext cx="2591814" cy="2591814"/>
            <a:chOff x="3527425" y="860425"/>
            <a:chExt cx="5138738" cy="5138738"/>
          </a:xfrm>
        </p:grpSpPr>
        <p:sp>
          <p:nvSpPr>
            <p:cNvPr id="160" name="Google Shape;3088;p148">
              <a:extLst>
                <a:ext uri="{FF2B5EF4-FFF2-40B4-BE49-F238E27FC236}">
                  <a16:creationId xmlns:a16="http://schemas.microsoft.com/office/drawing/2014/main" id="{6DA6DE97-D541-DA93-DC46-72713E7EE36E}"/>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1" name="Google Shape;3089;p148">
              <a:extLst>
                <a:ext uri="{FF2B5EF4-FFF2-40B4-BE49-F238E27FC236}">
                  <a16:creationId xmlns:a16="http://schemas.microsoft.com/office/drawing/2014/main" id="{7560D3B5-2E30-FCD3-E7E4-B8AEB165D40F}"/>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2" name="Google Shape;3090;p148">
              <a:extLst>
                <a:ext uri="{FF2B5EF4-FFF2-40B4-BE49-F238E27FC236}">
                  <a16:creationId xmlns:a16="http://schemas.microsoft.com/office/drawing/2014/main" id="{C7641BC1-651D-E5FB-7F0F-D40754894BE9}"/>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3" name="Google Shape;3091;p148">
              <a:extLst>
                <a:ext uri="{FF2B5EF4-FFF2-40B4-BE49-F238E27FC236}">
                  <a16:creationId xmlns:a16="http://schemas.microsoft.com/office/drawing/2014/main" id="{D0C9D32C-9768-F4DA-6587-4CE2B5349722}"/>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4" name="Google Shape;3092;p148">
              <a:extLst>
                <a:ext uri="{FF2B5EF4-FFF2-40B4-BE49-F238E27FC236}">
                  <a16:creationId xmlns:a16="http://schemas.microsoft.com/office/drawing/2014/main" id="{5B8D89CE-81E6-2945-8CE4-E633040963FC}"/>
                </a:ext>
              </a:extLst>
            </p:cNvPr>
            <p:cNvSpPr/>
            <p:nvPr/>
          </p:nvSpPr>
          <p:spPr>
            <a:xfrm>
              <a:off x="6096000" y="3429000"/>
              <a:ext cx="1511300" cy="2570163"/>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5" name="Google Shape;3093;p148">
              <a:extLst>
                <a:ext uri="{FF2B5EF4-FFF2-40B4-BE49-F238E27FC236}">
                  <a16:creationId xmlns:a16="http://schemas.microsoft.com/office/drawing/2014/main" id="{80329582-221B-FC50-3482-FE1F811A6BB3}"/>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6" name="Google Shape;3094;p148">
              <a:extLst>
                <a:ext uri="{FF2B5EF4-FFF2-40B4-BE49-F238E27FC236}">
                  <a16:creationId xmlns:a16="http://schemas.microsoft.com/office/drawing/2014/main" id="{63680F1A-F41F-96BF-F763-1AFC2AF65476}"/>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7" name="Google Shape;3095;p148">
              <a:extLst>
                <a:ext uri="{FF2B5EF4-FFF2-40B4-BE49-F238E27FC236}">
                  <a16:creationId xmlns:a16="http://schemas.microsoft.com/office/drawing/2014/main" id="{851E0B5B-9347-6CB1-3BE1-C4855F124C07}"/>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8" name="Google Shape;3096;p148">
              <a:extLst>
                <a:ext uri="{FF2B5EF4-FFF2-40B4-BE49-F238E27FC236}">
                  <a16:creationId xmlns:a16="http://schemas.microsoft.com/office/drawing/2014/main" id="{9DD7611F-3417-0F52-936E-499E6ED06EE3}"/>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69" name="Google Shape;3097;p148">
              <a:extLst>
                <a:ext uri="{FF2B5EF4-FFF2-40B4-BE49-F238E27FC236}">
                  <a16:creationId xmlns:a16="http://schemas.microsoft.com/office/drawing/2014/main" id="{1864DF2D-34AB-411F-631D-3737DA3A360A}"/>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70" name="Google Shape;3120;p148">
            <a:extLst>
              <a:ext uri="{FF2B5EF4-FFF2-40B4-BE49-F238E27FC236}">
                <a16:creationId xmlns:a16="http://schemas.microsoft.com/office/drawing/2014/main" id="{40888CAF-551B-ABE8-D21F-2A4E9F6D8D8A}"/>
              </a:ext>
            </a:extLst>
          </p:cNvPr>
          <p:cNvSpPr txBox="1">
            <a:spLocks/>
          </p:cNvSpPr>
          <p:nvPr/>
        </p:nvSpPr>
        <p:spPr>
          <a:xfrm>
            <a:off x="5854578" y="315402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000" b="1">
                <a:solidFill>
                  <a:srgbClr val="47464B"/>
                </a:solidFill>
                <a:latin typeface="Arial" panose="020B0604020202020204" pitchFamily="34" charset="0"/>
                <a:ea typeface="Calibri"/>
                <a:cs typeface="Arial" panose="020B0604020202020204" pitchFamily="34" charset="0"/>
                <a:sym typeface="Calibri"/>
              </a:rPr>
              <a:t>70%</a:t>
            </a:r>
            <a:endParaRPr lang="en-US" sz="2000" b="1">
              <a:solidFill>
                <a:srgbClr val="47464B"/>
              </a:solidFill>
              <a:latin typeface="Arial" panose="020B0604020202020204" pitchFamily="34" charset="0"/>
              <a:ea typeface="Calibri"/>
              <a:cs typeface="Arial" panose="020B0604020202020204" pitchFamily="34" charset="0"/>
            </a:endParaRPr>
          </a:p>
        </p:txBody>
      </p:sp>
    </p:spTree>
    <p:extLst>
      <p:ext uri="{BB962C8B-B14F-4D97-AF65-F5344CB8AC3E}">
        <p14:creationId xmlns:p14="http://schemas.microsoft.com/office/powerpoint/2010/main" val="1496286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04672" y="1658678"/>
            <a:ext cx="4765949" cy="4625163"/>
          </a:xfrm>
        </p:spPr>
        <p:txBody>
          <a:bodyPr anchor="t">
            <a:normAutofit/>
          </a:bodyPr>
          <a:lstStyle/>
          <a:p>
            <a:pPr marL="342900" marR="0" lvl="0" indent="-342900">
              <a:lnSpc>
                <a:spcPct val="100000"/>
              </a:lnSpc>
              <a:spcBef>
                <a:spcPts val="1800"/>
              </a:spcBef>
              <a:spcAft>
                <a:spcPts val="0"/>
              </a:spcAft>
              <a:buFont typeface="Symbol" panose="05050102010706020507" pitchFamily="18" charset="2"/>
              <a:buChar char=""/>
            </a:pPr>
            <a:r>
              <a:rPr lang="en-US" sz="1800" dirty="0">
                <a:effectLst/>
                <a:latin typeface="Arial" panose="020B0604020202020204" pitchFamily="34" charset="0"/>
                <a:ea typeface="Arial" panose="020B0604020202020204" pitchFamily="34" charset="0"/>
              </a:rPr>
              <a:t>Help your business get found online</a:t>
            </a:r>
          </a:p>
          <a:p>
            <a:pPr marL="342900" marR="0" lvl="0" indent="-342900">
              <a:lnSpc>
                <a:spcPct val="100000"/>
              </a:lnSpc>
              <a:spcBef>
                <a:spcPts val="1800"/>
              </a:spcBef>
              <a:spcAft>
                <a:spcPts val="0"/>
              </a:spcAft>
              <a:buFont typeface="Symbol" panose="05050102010706020507" pitchFamily="18" charset="2"/>
              <a:buChar char=""/>
            </a:pPr>
            <a:r>
              <a:rPr lang="en-US" sz="1800" dirty="0">
                <a:latin typeface="Arial" panose="020B0604020202020204" pitchFamily="34" charset="0"/>
              </a:rPr>
              <a:t>One-time submission for up to 9-40+ directories</a:t>
            </a:r>
          </a:p>
          <a:p>
            <a:pPr marL="342900" marR="0" lvl="0" indent="-342900">
              <a:lnSpc>
                <a:spcPct val="100000"/>
              </a:lnSpc>
              <a:spcBef>
                <a:spcPts val="1800"/>
              </a:spcBef>
              <a:spcAft>
                <a:spcPts val="0"/>
              </a:spcAft>
              <a:buFont typeface="Symbol" panose="05050102010706020507" pitchFamily="18" charset="2"/>
              <a:buChar char=""/>
            </a:pPr>
            <a:r>
              <a:rPr lang="en-US" sz="1800" dirty="0">
                <a:latin typeface="Arial" panose="020B0604020202020204" pitchFamily="34" charset="0"/>
              </a:rPr>
              <a:t>Improve your visibility and local SEO</a:t>
            </a:r>
          </a:p>
          <a:p>
            <a:pPr marL="342900" marR="0" lvl="0" indent="-342900">
              <a:lnSpc>
                <a:spcPct val="100000"/>
              </a:lnSpc>
              <a:spcBef>
                <a:spcPts val="1800"/>
              </a:spcBef>
              <a:spcAft>
                <a:spcPts val="0"/>
              </a:spcAft>
              <a:buFont typeface="Symbol" panose="05050102010706020507" pitchFamily="18" charset="2"/>
              <a:buChar char=""/>
            </a:pPr>
            <a:r>
              <a:rPr lang="en-US" sz="1800" dirty="0">
                <a:latin typeface="Arial" panose="020B0604020202020204" pitchFamily="34" charset="0"/>
              </a:rPr>
              <a:t>Manage all business information from one place</a:t>
            </a:r>
          </a:p>
          <a:p>
            <a:pPr marL="342900" marR="0" lvl="0" indent="-342900">
              <a:lnSpc>
                <a:spcPct val="100000"/>
              </a:lnSpc>
              <a:spcBef>
                <a:spcPts val="1800"/>
              </a:spcBef>
              <a:spcAft>
                <a:spcPts val="0"/>
              </a:spcAft>
              <a:buFont typeface="Symbol" panose="05050102010706020507" pitchFamily="18" charset="2"/>
              <a:buChar char=""/>
            </a:pPr>
            <a:r>
              <a:rPr lang="en-US" sz="1800" dirty="0">
                <a:latin typeface="Arial" panose="020B0604020202020204" pitchFamily="34" charset="0"/>
              </a:rPr>
              <a:t>Save time and money</a:t>
            </a: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le 1">
            <a:extLst>
              <a:ext uri="{FF2B5EF4-FFF2-40B4-BE49-F238E27FC236}">
                <a16:creationId xmlns:a16="http://schemas.microsoft.com/office/drawing/2014/main" id="{C6F4B2F6-1299-CA17-A2EC-54FF9654EB0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i="0">
                <a:solidFill>
                  <a:srgbClr val="70AD47"/>
                </a:solidFill>
                <a:effectLst/>
                <a:latin typeface="Arial" panose="020B0604020202020204" pitchFamily="34" charset="0"/>
                <a:cs typeface="Arial" panose="020B0604020202020204" pitchFamily="34" charset="0"/>
              </a:rPr>
              <a:t>OneList Plus</a:t>
            </a:r>
            <a:endParaRPr lang="en-US" sz="3200" b="1">
              <a:solidFill>
                <a:srgbClr val="70AD47"/>
              </a:solidFill>
              <a:latin typeface="Arial" panose="020B0604020202020204" pitchFamily="34" charset="0"/>
              <a:cs typeface="Arial" panose="020B0604020202020204" pitchFamily="34" charset="0"/>
            </a:endParaRPr>
          </a:p>
        </p:txBody>
      </p:sp>
      <p:pic>
        <p:nvPicPr>
          <p:cNvPr id="2" name="Picture 1" descr="A picture containing text, building, outdoor&#10;&#10;Description automatically generated">
            <a:extLst>
              <a:ext uri="{FF2B5EF4-FFF2-40B4-BE49-F238E27FC236}">
                <a16:creationId xmlns:a16="http://schemas.microsoft.com/office/drawing/2014/main" id="{402221A2-8837-C891-4018-CA0D554376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1359" y="2387259"/>
            <a:ext cx="4558628" cy="2569752"/>
          </a:xfrm>
          <a:prstGeom prst="rect">
            <a:avLst/>
          </a:prstGeom>
        </p:spPr>
      </p:pic>
    </p:spTree>
    <p:extLst>
      <p:ext uri="{BB962C8B-B14F-4D97-AF65-F5344CB8AC3E}">
        <p14:creationId xmlns:p14="http://schemas.microsoft.com/office/powerpoint/2010/main" val="1245139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045988D-9CB0-43D9-323F-CDD5BA7AA567}"/>
              </a:ext>
            </a:extLst>
          </p:cNvPr>
          <p:cNvSpPr txBox="1">
            <a:spLocks/>
          </p:cNvSpPr>
          <p:nvPr/>
        </p:nvSpPr>
        <p:spPr>
          <a:xfrm>
            <a:off x="838200" y="609600"/>
            <a:ext cx="3739341" cy="13308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b="1" dirty="0">
                <a:solidFill>
                  <a:srgbClr val="70AD47"/>
                </a:solidFill>
                <a:effectLst/>
                <a:latin typeface="Arial" panose="020B0604020202020204" pitchFamily="34" charset="0"/>
                <a:ea typeface="Arial" panose="020B0604020202020204" pitchFamily="34" charset="0"/>
              </a:rPr>
              <a:t>Get found online</a:t>
            </a:r>
            <a:endParaRPr lang="en-US" sz="3200" b="1" kern="1200" dirty="0">
              <a:solidFill>
                <a:srgbClr val="70AD47"/>
              </a:solidFill>
              <a:latin typeface="+mj-lt"/>
              <a:ea typeface="+mj-ea"/>
              <a:cs typeface="+mj-cs"/>
            </a:endParaRPr>
          </a:p>
        </p:txBody>
      </p:sp>
      <p:sp>
        <p:nvSpPr>
          <p:cNvPr id="6" name="TextBox 5">
            <a:extLst>
              <a:ext uri="{FF2B5EF4-FFF2-40B4-BE49-F238E27FC236}">
                <a16:creationId xmlns:a16="http://schemas.microsoft.com/office/drawing/2014/main" id="{4F45A191-89EB-1A99-1E7C-F8302FA9F1D2}"/>
              </a:ext>
            </a:extLst>
          </p:cNvPr>
          <p:cNvSpPr txBox="1"/>
          <p:nvPr/>
        </p:nvSpPr>
        <p:spPr>
          <a:xfrm>
            <a:off x="862366" y="2194102"/>
            <a:ext cx="3427001" cy="3908586"/>
          </a:xfrm>
          <a:prstGeom prst="rect">
            <a:avLst/>
          </a:prstGeom>
        </p:spPr>
        <p:txBody>
          <a:bodyPr vert="horz" lIns="91440" tIns="45720" rIns="91440" bIns="45720" rtlCol="0">
            <a:normAutofit lnSpcReduction="10000"/>
          </a:bodyPr>
          <a:lstStyle/>
          <a:p>
            <a:pPr marL="285750" indent="-228600">
              <a:lnSpc>
                <a:spcPct val="90000"/>
              </a:lnSpc>
              <a:spcBef>
                <a:spcPts val="600"/>
              </a:spcBef>
              <a:buFont typeface="Arial" panose="020B0604020202020204" pitchFamily="34" charset="0"/>
              <a:buChar char="•"/>
            </a:pPr>
            <a:r>
              <a:rPr lang="en-US" sz="1400">
                <a:latin typeface="Arial" panose="020B0604020202020204" pitchFamily="34" charset="0"/>
                <a:cs typeface="Arial" panose="020B0604020202020204" pitchFamily="34" charset="0"/>
              </a:rPr>
              <a:t>OneList Plus syncs with major online directories, rating and review sites, navigation systems, apps and social networks. The directories included depends on your plan.</a:t>
            </a:r>
          </a:p>
          <a:p>
            <a:pPr marL="285750" indent="-228600">
              <a:lnSpc>
                <a:spcPct val="90000"/>
              </a:lnSpc>
              <a:spcBef>
                <a:spcPts val="600"/>
              </a:spcBef>
              <a:buFont typeface="Arial" panose="020B0604020202020204" pitchFamily="34" charset="0"/>
              <a:buChar char="•"/>
            </a:pPr>
            <a:r>
              <a:rPr lang="en-US" sz="1400">
                <a:latin typeface="Arial" panose="020B0604020202020204" pitchFamily="34" charset="0"/>
                <a:cs typeface="Arial" panose="020B0604020202020204" pitchFamily="34" charset="0"/>
              </a:rPr>
              <a:t>OneList Plus will also suppress any duplicate listings, which will help with SEO and ensure accuracy of your business information within search engines.</a:t>
            </a:r>
          </a:p>
          <a:p>
            <a:pPr marL="285750" indent="-228600">
              <a:lnSpc>
                <a:spcPct val="90000"/>
              </a:lnSpc>
              <a:spcBef>
                <a:spcPts val="600"/>
              </a:spcBef>
              <a:buFont typeface="Arial" panose="020B0604020202020204" pitchFamily="34" charset="0"/>
              <a:buChar char="•"/>
            </a:pPr>
            <a:r>
              <a:rPr lang="en-US" sz="1400">
                <a:latin typeface="Arial" panose="020B0604020202020204" pitchFamily="34" charset="0"/>
                <a:cs typeface="Arial" panose="020B0604020202020204" pitchFamily="34" charset="0"/>
              </a:rPr>
              <a:t>Once listed, OneList Plus locks your listing where applicable so third parties are not able to change your information.</a:t>
            </a:r>
          </a:p>
          <a:p>
            <a:pPr marL="285750" indent="-228600">
              <a:lnSpc>
                <a:spcPct val="90000"/>
              </a:lnSpc>
              <a:spcBef>
                <a:spcPts val="600"/>
              </a:spcBef>
              <a:buFont typeface="Arial" panose="020B0604020202020204" pitchFamily="34" charset="0"/>
              <a:buChar char="•"/>
            </a:pPr>
            <a:r>
              <a:rPr lang="en-US" sz="1400">
                <a:latin typeface="Arial" panose="020B0604020202020204" pitchFamily="34" charset="0"/>
                <a:cs typeface="Arial" panose="020B0604020202020204" pitchFamily="34" charset="0"/>
              </a:rPr>
              <a:t>Note: With Google Business Profile and Facebook®, you will need to allow OneList Plus to sync with your new or existing profiles by connecting them within your OneList Plus dashboard.</a:t>
            </a:r>
          </a:p>
        </p:txBody>
      </p:sp>
      <p:sp>
        <p:nvSpPr>
          <p:cNvPr id="4" name="Title 1">
            <a:extLst>
              <a:ext uri="{FF2B5EF4-FFF2-40B4-BE49-F238E27FC236}">
                <a16:creationId xmlns:a16="http://schemas.microsoft.com/office/drawing/2014/main" id="{FACAC4FE-4067-90CC-4804-FD259EA62B79}"/>
              </a:ext>
            </a:extLst>
          </p:cNvPr>
          <p:cNvSpPr txBox="1">
            <a:spLocks/>
          </p:cNvSpPr>
          <p:nvPr/>
        </p:nvSpPr>
        <p:spPr>
          <a:xfrm>
            <a:off x="804672" y="802955"/>
            <a:ext cx="4766330" cy="1454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b="1">
              <a:solidFill>
                <a:schemeClr val="tx2"/>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183689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endParaRPr lang="en-US" sz="1300">
              <a:latin typeface="Arial" panose="020B0604020202020204" pitchFamily="34" charset="0"/>
              <a:ea typeface="Cambria" panose="02040503050406030204" pitchFamily="18" charset="0"/>
              <a:cs typeface="Arial" panose="020B0604020202020204" pitchFamily="34" charset="0"/>
            </a:endParaRPr>
          </a:p>
        </p:txBody>
      </p:sp>
      <p:pic>
        <p:nvPicPr>
          <p:cNvPr id="3" name="image6.jpeg">
            <a:extLst>
              <a:ext uri="{FF2B5EF4-FFF2-40B4-BE49-F238E27FC236}">
                <a16:creationId xmlns:a16="http://schemas.microsoft.com/office/drawing/2014/main" id="{E19DD1E2-A1B4-7BD7-945E-BF62E006D828}"/>
              </a:ext>
            </a:extLst>
          </p:cNvPr>
          <p:cNvPicPr>
            <a:picLocks noChangeAspect="1"/>
          </p:cNvPicPr>
          <p:nvPr/>
        </p:nvPicPr>
        <p:blipFill>
          <a:blip r:embed="rId2" cstate="print"/>
          <a:stretch>
            <a:fillRect/>
          </a:stretch>
        </p:blipFill>
        <p:spPr>
          <a:xfrm>
            <a:off x="5653438" y="1529980"/>
            <a:ext cx="5767070" cy="4277360"/>
          </a:xfrm>
          <a:prstGeom prst="rect">
            <a:avLst/>
          </a:prstGeom>
        </p:spPr>
      </p:pic>
    </p:spTree>
    <p:extLst>
      <p:ext uri="{BB962C8B-B14F-4D97-AF65-F5344CB8AC3E}">
        <p14:creationId xmlns:p14="http://schemas.microsoft.com/office/powerpoint/2010/main" val="321031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242168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endParaRPr lang="en-US" sz="1300">
              <a:latin typeface="Arial" panose="020B0604020202020204" pitchFamily="34" charset="0"/>
              <a:ea typeface="Cambria" panose="02040503050406030204" pitchFamily="18" charset="0"/>
              <a:cs typeface="Arial" panose="020B0604020202020204" pitchFamily="34" charset="0"/>
            </a:endParaRPr>
          </a:p>
        </p:txBody>
      </p:sp>
      <p:sp>
        <p:nvSpPr>
          <p:cNvPr id="3" name="TextBox 2">
            <a:extLst>
              <a:ext uri="{FF2B5EF4-FFF2-40B4-BE49-F238E27FC236}">
                <a16:creationId xmlns:a16="http://schemas.microsoft.com/office/drawing/2014/main" id="{45E1B33E-87FB-ACC4-2056-67A29AB43D15}"/>
              </a:ext>
            </a:extLst>
          </p:cNvPr>
          <p:cNvSpPr txBox="1"/>
          <p:nvPr/>
        </p:nvSpPr>
        <p:spPr>
          <a:xfrm>
            <a:off x="804672" y="1690688"/>
            <a:ext cx="4094587" cy="2585323"/>
          </a:xfrm>
          <a:prstGeom prst="rect">
            <a:avLst/>
          </a:prstGeom>
          <a:noFill/>
        </p:spPr>
        <p:txBody>
          <a:bodyPr wrap="square">
            <a:spAutoFit/>
          </a:bodyPr>
          <a:lstStyle/>
          <a:p>
            <a:pPr marL="285750" indent="-285750">
              <a:buFont typeface="Arial" panose="020B0604020202020204" pitchFamily="34" charset="0"/>
              <a:buChar char="•"/>
            </a:pPr>
            <a:r>
              <a:rPr lang="en-US" dirty="0">
                <a:effectLst/>
                <a:latin typeface="Arial" panose="020B0604020202020204" pitchFamily="34" charset="0"/>
                <a:ea typeface="Arial" panose="020B0604020202020204" pitchFamily="34" charset="0"/>
              </a:rPr>
              <a:t>OneList Plus lets you add keywords, descriptions, business</a:t>
            </a:r>
            <a:r>
              <a:rPr lang="en-US" spc="5"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category, your logo, images of your business, links to your social</a:t>
            </a:r>
            <a:r>
              <a:rPr lang="en-US" spc="5"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profiles and more to enhance your directory listings. Rich data will</a:t>
            </a:r>
            <a:r>
              <a:rPr lang="en-US" spc="5"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be</a:t>
            </a:r>
            <a:r>
              <a:rPr lang="en-US" spc="-20"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published</a:t>
            </a:r>
            <a:r>
              <a:rPr lang="en-US" spc="-20"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in</a:t>
            </a:r>
            <a:r>
              <a:rPr lang="en-US" spc="-20"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any</a:t>
            </a:r>
            <a:r>
              <a:rPr lang="en-US" spc="-15"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directories</a:t>
            </a:r>
            <a:r>
              <a:rPr lang="en-US" spc="-15"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that</a:t>
            </a:r>
            <a:r>
              <a:rPr lang="en-US" spc="-20"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support</a:t>
            </a:r>
            <a:r>
              <a:rPr lang="en-US" spc="-20"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additional</a:t>
            </a:r>
            <a:r>
              <a:rPr lang="en-US" spc="-25"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details</a:t>
            </a:r>
            <a:r>
              <a:rPr lang="en-US" spc="-10"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about</a:t>
            </a:r>
            <a:r>
              <a:rPr lang="en-US" spc="-265"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your</a:t>
            </a:r>
            <a:r>
              <a:rPr lang="en-US" spc="-5" dirty="0">
                <a:effectLst/>
                <a:latin typeface="Arial" panose="020B0604020202020204" pitchFamily="34" charset="0"/>
                <a:ea typeface="Arial" panose="020B0604020202020204" pitchFamily="34" charset="0"/>
              </a:rPr>
              <a:t> </a:t>
            </a:r>
            <a:r>
              <a:rPr lang="en-US" dirty="0">
                <a:effectLst/>
                <a:latin typeface="Arial" panose="020B0604020202020204" pitchFamily="34" charset="0"/>
                <a:ea typeface="Arial" panose="020B0604020202020204" pitchFamily="34" charset="0"/>
              </a:rPr>
              <a:t>business.</a:t>
            </a:r>
            <a:endParaRPr lang="en-US" sz="1400" dirty="0">
              <a:latin typeface="Arial" panose="020B0604020202020204" pitchFamily="34" charset="0"/>
              <a:cs typeface="Arial" panose="020B0604020202020204" pitchFamily="34" charset="0"/>
            </a:endParaRPr>
          </a:p>
        </p:txBody>
      </p:sp>
      <p:sp>
        <p:nvSpPr>
          <p:cNvPr id="10" name="Title 1">
            <a:extLst>
              <a:ext uri="{FF2B5EF4-FFF2-40B4-BE49-F238E27FC236}">
                <a16:creationId xmlns:a16="http://schemas.microsoft.com/office/drawing/2014/main" id="{18137FAD-738F-B0BF-6DFA-98E30C1BC6A6}"/>
              </a:ext>
            </a:extLst>
          </p:cNvPr>
          <p:cNvSpPr txBox="1">
            <a:spLocks/>
          </p:cNvSpPr>
          <p:nvPr/>
        </p:nvSpPr>
        <p:spPr>
          <a:xfrm>
            <a:off x="838200" y="365125"/>
            <a:ext cx="6454543"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70AD47"/>
                </a:solidFill>
                <a:effectLst/>
                <a:latin typeface="Arial" panose="020B0604020202020204" pitchFamily="34" charset="0"/>
                <a:ea typeface="Arial" panose="020B0604020202020204" pitchFamily="34" charset="0"/>
              </a:rPr>
              <a:t>Look credible and established</a:t>
            </a:r>
            <a:endParaRPr lang="en-US" sz="3200" b="1" spc="-260" dirty="0">
              <a:solidFill>
                <a:srgbClr val="70AD47"/>
              </a:solidFill>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062809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0AD4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a:solidFill>
                  <a:schemeClr val="bg1"/>
                </a:solidFill>
                <a:latin typeface="Arial" panose="020B0604020202020204" pitchFamily="34" charset="0"/>
                <a:cs typeface="Arial" panose="020B0604020202020204" pitchFamily="34" charset="0"/>
              </a:rPr>
              <a:t>How it works</a:t>
            </a:r>
            <a:endParaRPr lang="en-US">
              <a:solidFill>
                <a:schemeClr val="bg1"/>
              </a:solidFill>
            </a:endParaRPr>
          </a:p>
        </p:txBody>
      </p:sp>
    </p:spTree>
    <p:extLst>
      <p:ext uri="{BB962C8B-B14F-4D97-AF65-F5344CB8AC3E}">
        <p14:creationId xmlns:p14="http://schemas.microsoft.com/office/powerpoint/2010/main" val="983438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a:xfrm>
            <a:off x="838200" y="609600"/>
            <a:ext cx="3739341" cy="1330839"/>
          </a:xfrm>
        </p:spPr>
        <p:txBody>
          <a:bodyPr vert="horz" lIns="91440" tIns="45720" rIns="91440" bIns="45720" rtlCol="0" anchor="ctr">
            <a:normAutofit/>
          </a:bodyPr>
          <a:lstStyle/>
          <a:p>
            <a:r>
              <a:rPr lang="en-US" sz="2800" b="1">
                <a:solidFill>
                  <a:srgbClr val="70AD47"/>
                </a:solidFill>
                <a:latin typeface="Arial" panose="020B0604020202020204" pitchFamily="34" charset="0"/>
                <a:ea typeface="MS Mincho" panose="02020609040205080304" pitchFamily="49" charset="-128"/>
              </a:rPr>
              <a:t>First step is to connect social and review accounts</a:t>
            </a:r>
          </a:p>
        </p:txBody>
      </p:sp>
      <p:sp>
        <p:nvSpPr>
          <p:cNvPr id="5" name="Content Placeholder 2">
            <a:extLst>
              <a:ext uri="{FF2B5EF4-FFF2-40B4-BE49-F238E27FC236}">
                <a16:creationId xmlns:a16="http://schemas.microsoft.com/office/drawing/2014/main" id="{1D8B62A5-CAF7-DA8F-08AD-5FAC2C84E8EB}"/>
              </a:ext>
            </a:extLst>
          </p:cNvPr>
          <p:cNvSpPr txBox="1">
            <a:spLocks/>
          </p:cNvSpPr>
          <p:nvPr/>
        </p:nvSpPr>
        <p:spPr>
          <a:xfrm>
            <a:off x="862366" y="2194102"/>
            <a:ext cx="3427001" cy="39085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None/>
            </a:pPr>
            <a:r>
              <a:rPr lang="en-US" sz="2000">
                <a:effectLst/>
                <a:latin typeface="Arial" panose="020B0604020202020204" pitchFamily="34" charset="0"/>
                <a:cs typeface="Arial" panose="020B0604020202020204" pitchFamily="34" charset="0"/>
              </a:rPr>
              <a:t>Log in to your main dashboard</a:t>
            </a:r>
            <a:r>
              <a:rPr lang="en-US" sz="2000" spc="-265">
                <a:effectLst/>
                <a:latin typeface="Arial" panose="020B0604020202020204" pitchFamily="34" charset="0"/>
                <a:cs typeface="Arial" panose="020B0604020202020204" pitchFamily="34" charset="0"/>
              </a:rPr>
              <a:t> </a:t>
            </a:r>
            <a:r>
              <a:rPr lang="en-US" sz="2000">
                <a:effectLst/>
                <a:latin typeface="Arial" panose="020B0604020202020204" pitchFamily="34" charset="0"/>
                <a:cs typeface="Arial" panose="020B0604020202020204" pitchFamily="34" charset="0"/>
              </a:rPr>
              <a:t>and select </a:t>
            </a:r>
            <a:r>
              <a:rPr lang="en-US" sz="2000" b="1">
                <a:effectLst/>
                <a:latin typeface="Arial" panose="020B0604020202020204" pitchFamily="34" charset="0"/>
                <a:cs typeface="Arial" panose="020B0604020202020204" pitchFamily="34" charset="0"/>
              </a:rPr>
              <a:t>Advanced Tools &gt; Applications &gt; OneList Plus </a:t>
            </a:r>
            <a:r>
              <a:rPr lang="en-US" sz="2000">
                <a:effectLst/>
                <a:latin typeface="Arial" panose="020B0604020202020204" pitchFamily="34" charset="0"/>
                <a:cs typeface="Arial" panose="020B0604020202020204" pitchFamily="34" charset="0"/>
              </a:rPr>
              <a:t>to get started. This will launch your</a:t>
            </a:r>
            <a:r>
              <a:rPr lang="en-US" sz="2000" spc="5">
                <a:effectLst/>
                <a:latin typeface="Arial" panose="020B0604020202020204" pitchFamily="34" charset="0"/>
                <a:cs typeface="Arial" panose="020B0604020202020204" pitchFamily="34" charset="0"/>
              </a:rPr>
              <a:t> </a:t>
            </a:r>
            <a:r>
              <a:rPr lang="en-US" sz="2000">
                <a:effectLst/>
                <a:latin typeface="Arial" panose="020B0604020202020204" pitchFamily="34" charset="0"/>
                <a:cs typeface="Arial" panose="020B0604020202020204" pitchFamily="34" charset="0"/>
              </a:rPr>
              <a:t>OneList Plus dashboard.</a:t>
            </a:r>
            <a:endParaRPr lang="en-US" sz="2000" b="1">
              <a:latin typeface="Arial" panose="020B0604020202020204" pitchFamily="34" charset="0"/>
              <a:cs typeface="Arial" panose="020B0604020202020204" pitchFamily="34" charset="0"/>
            </a:endParaRPr>
          </a:p>
        </p:txBody>
      </p:sp>
      <p:pic>
        <p:nvPicPr>
          <p:cNvPr id="7" name="image1.jpeg">
            <a:extLst>
              <a:ext uri="{FF2B5EF4-FFF2-40B4-BE49-F238E27FC236}">
                <a16:creationId xmlns:a16="http://schemas.microsoft.com/office/drawing/2014/main" id="{CCCCCD86-EE48-72A1-08B1-22F33913E2FE}"/>
              </a:ext>
            </a:extLst>
          </p:cNvPr>
          <p:cNvPicPr>
            <a:picLocks noChangeAspect="1"/>
          </p:cNvPicPr>
          <p:nvPr/>
        </p:nvPicPr>
        <p:blipFill>
          <a:blip r:embed="rId2" cstate="print"/>
          <a:stretch>
            <a:fillRect/>
          </a:stretch>
        </p:blipFill>
        <p:spPr>
          <a:xfrm>
            <a:off x="5445457" y="1986718"/>
            <a:ext cx="6155141" cy="2908304"/>
          </a:xfrm>
          <a:prstGeom prst="rect">
            <a:avLst/>
          </a:prstGeom>
        </p:spPr>
      </p:pic>
    </p:spTree>
    <p:extLst>
      <p:ext uri="{BB962C8B-B14F-4D97-AF65-F5344CB8AC3E}">
        <p14:creationId xmlns:p14="http://schemas.microsoft.com/office/powerpoint/2010/main" val="1019586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a:xfrm>
            <a:off x="838200" y="609600"/>
            <a:ext cx="3739341" cy="1330839"/>
          </a:xfrm>
        </p:spPr>
        <p:txBody>
          <a:bodyPr vert="horz" lIns="91440" tIns="45720" rIns="91440" bIns="45720" rtlCol="0" anchor="ctr">
            <a:normAutofit/>
          </a:bodyPr>
          <a:lstStyle/>
          <a:p>
            <a:r>
              <a:rPr lang="en-US" sz="2800" b="1">
                <a:solidFill>
                  <a:srgbClr val="70AD47"/>
                </a:solidFill>
                <a:latin typeface="Arial" panose="020B0604020202020204" pitchFamily="34" charset="0"/>
                <a:ea typeface="MS Mincho" panose="02020609040205080304" pitchFamily="49" charset="-128"/>
              </a:rPr>
              <a:t>Setup a new profile in four easy steps</a:t>
            </a:r>
          </a:p>
        </p:txBody>
      </p:sp>
      <p:sp>
        <p:nvSpPr>
          <p:cNvPr id="5" name="Content Placeholder 2">
            <a:extLst>
              <a:ext uri="{FF2B5EF4-FFF2-40B4-BE49-F238E27FC236}">
                <a16:creationId xmlns:a16="http://schemas.microsoft.com/office/drawing/2014/main" id="{1D8B62A5-CAF7-DA8F-08AD-5FAC2C84E8EB}"/>
              </a:ext>
            </a:extLst>
          </p:cNvPr>
          <p:cNvSpPr txBox="1">
            <a:spLocks/>
          </p:cNvSpPr>
          <p:nvPr/>
        </p:nvSpPr>
        <p:spPr>
          <a:xfrm>
            <a:off x="862366" y="2194102"/>
            <a:ext cx="3427001" cy="39085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spcBef>
                <a:spcPts val="5"/>
              </a:spcBef>
              <a:spcAft>
                <a:spcPts val="0"/>
              </a:spcAft>
              <a:buNone/>
            </a:pPr>
            <a:r>
              <a:rPr lang="en-US" sz="1200">
                <a:effectLst/>
                <a:latin typeface="Arial" panose="020B0604020202020204" pitchFamily="34" charset="0"/>
                <a:ea typeface="Arial" panose="020B0604020202020204" pitchFamily="34" charset="0"/>
              </a:rPr>
              <a:t>There</a:t>
            </a:r>
            <a:r>
              <a:rPr lang="en-US" sz="1200" spc="-25">
                <a:effectLst/>
                <a:latin typeface="Arial" panose="020B0604020202020204" pitchFamily="34" charset="0"/>
                <a:ea typeface="Arial" panose="020B0604020202020204" pitchFamily="34" charset="0"/>
              </a:rPr>
              <a:t> </a:t>
            </a:r>
            <a:r>
              <a:rPr lang="en-US" sz="1200">
                <a:effectLst/>
                <a:latin typeface="Arial" panose="020B0604020202020204" pitchFamily="34" charset="0"/>
                <a:ea typeface="Arial" panose="020B0604020202020204" pitchFamily="34" charset="0"/>
              </a:rPr>
              <a:t>are</a:t>
            </a:r>
            <a:r>
              <a:rPr lang="en-US" sz="1200" spc="-10">
                <a:effectLst/>
                <a:latin typeface="Arial" panose="020B0604020202020204" pitchFamily="34" charset="0"/>
                <a:ea typeface="Arial" panose="020B0604020202020204" pitchFamily="34" charset="0"/>
              </a:rPr>
              <a:t> </a:t>
            </a:r>
            <a:r>
              <a:rPr lang="en-US" sz="1200">
                <a:effectLst/>
                <a:latin typeface="Arial" panose="020B0604020202020204" pitchFamily="34" charset="0"/>
                <a:ea typeface="Arial" panose="020B0604020202020204" pitchFamily="34" charset="0"/>
              </a:rPr>
              <a:t>four</a:t>
            </a:r>
            <a:r>
              <a:rPr lang="en-US" sz="1200" spc="-15">
                <a:effectLst/>
                <a:latin typeface="Arial" panose="020B0604020202020204" pitchFamily="34" charset="0"/>
                <a:ea typeface="Arial" panose="020B0604020202020204" pitchFamily="34" charset="0"/>
              </a:rPr>
              <a:t> </a:t>
            </a:r>
            <a:r>
              <a:rPr lang="en-US" sz="1200">
                <a:effectLst/>
                <a:latin typeface="Arial" panose="020B0604020202020204" pitchFamily="34" charset="0"/>
                <a:ea typeface="Arial" panose="020B0604020202020204" pitchFamily="34" charset="0"/>
              </a:rPr>
              <a:t>sections:</a:t>
            </a:r>
          </a:p>
          <a:p>
            <a:pPr marL="0" marR="0" indent="0">
              <a:spcBef>
                <a:spcPts val="5"/>
              </a:spcBef>
              <a:spcAft>
                <a:spcPts val="0"/>
              </a:spcAft>
              <a:buNone/>
            </a:pPr>
            <a:endParaRPr lang="en-US" sz="1200">
              <a:effectLst/>
              <a:latin typeface="Arial" panose="020B0604020202020204" pitchFamily="34" charset="0"/>
              <a:ea typeface="Arial" panose="020B0604020202020204" pitchFamily="34" charset="0"/>
            </a:endParaRPr>
          </a:p>
          <a:p>
            <a:pPr marL="342900" marR="0" lvl="0" indent="-342900">
              <a:spcBef>
                <a:spcPts val="0"/>
              </a:spcBef>
              <a:spcAft>
                <a:spcPts val="0"/>
              </a:spcAft>
              <a:buSzPts val="1000"/>
              <a:buFont typeface="Arial" panose="020B0604020202020204" pitchFamily="34" charset="0"/>
              <a:buAutoNum type="arabicPeriod"/>
              <a:tabLst>
                <a:tab pos="393065" algn="l"/>
              </a:tabLst>
            </a:pPr>
            <a:r>
              <a:rPr lang="en-US" sz="1200" spc="-5">
                <a:effectLst/>
                <a:latin typeface="Arial" panose="020B0604020202020204" pitchFamily="34" charset="0"/>
                <a:ea typeface="Arial" panose="020B0604020202020204" pitchFamily="34" charset="0"/>
              </a:rPr>
              <a:t>Basic</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Data</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a:t>
            </a:r>
            <a:r>
              <a:rPr lang="en-US" sz="1200" spc="-10">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Name,</a:t>
            </a:r>
            <a:r>
              <a:rPr lang="en-US" sz="1200" spc="-10">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location,</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hours,</a:t>
            </a:r>
            <a:r>
              <a:rPr lang="en-US" sz="1200" spc="-20">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keywords,</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etc.</a:t>
            </a:r>
          </a:p>
          <a:p>
            <a:pPr marL="342900" marR="0" lvl="0" indent="-342900">
              <a:spcBef>
                <a:spcPts val="0"/>
              </a:spcBef>
              <a:spcAft>
                <a:spcPts val="0"/>
              </a:spcAft>
              <a:buSzPts val="1000"/>
              <a:buFont typeface="Arial" panose="020B0604020202020204" pitchFamily="34" charset="0"/>
              <a:buAutoNum type="arabicPeriod"/>
              <a:tabLst>
                <a:tab pos="393065" algn="l"/>
              </a:tabLst>
            </a:pPr>
            <a:endParaRPr lang="en-US" sz="1200" spc="-5">
              <a:effectLst/>
              <a:latin typeface="Arial" panose="020B0604020202020204" pitchFamily="34" charset="0"/>
              <a:ea typeface="Arial" panose="020B0604020202020204" pitchFamily="34" charset="0"/>
            </a:endParaRPr>
          </a:p>
          <a:p>
            <a:pPr marL="342900" marR="0" lvl="0" indent="-342900">
              <a:spcBef>
                <a:spcPts val="0"/>
              </a:spcBef>
              <a:spcAft>
                <a:spcPts val="0"/>
              </a:spcAft>
              <a:buSzPts val="1000"/>
              <a:buFont typeface="Arial" panose="020B0604020202020204" pitchFamily="34" charset="0"/>
              <a:buAutoNum type="arabicPeriod"/>
              <a:tabLst>
                <a:tab pos="393065" algn="l"/>
              </a:tabLst>
            </a:pPr>
            <a:r>
              <a:rPr lang="en-US" sz="1200" spc="-5">
                <a:effectLst/>
                <a:latin typeface="Arial" panose="020B0604020202020204" pitchFamily="34" charset="0"/>
                <a:ea typeface="Arial" panose="020B0604020202020204" pitchFamily="34" charset="0"/>
              </a:rPr>
              <a:t>Rich</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Data</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 Social</a:t>
            </a:r>
            <a:r>
              <a:rPr lang="en-US" sz="1200" spc="-20">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media</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accounts,</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brands,</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language, services,</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etc.</a:t>
            </a:r>
          </a:p>
          <a:p>
            <a:pPr marL="342900" marR="0" lvl="0" indent="-342900">
              <a:spcBef>
                <a:spcPts val="0"/>
              </a:spcBef>
              <a:spcAft>
                <a:spcPts val="0"/>
              </a:spcAft>
              <a:buSzPts val="1000"/>
              <a:buFont typeface="Arial" panose="020B0604020202020204" pitchFamily="34" charset="0"/>
              <a:buAutoNum type="arabicPeriod"/>
              <a:tabLst>
                <a:tab pos="393065" algn="l"/>
              </a:tabLst>
            </a:pPr>
            <a:endParaRPr lang="en-US" sz="1200" spc="-5">
              <a:effectLst/>
              <a:latin typeface="Arial" panose="020B0604020202020204" pitchFamily="34" charset="0"/>
              <a:ea typeface="Arial" panose="020B0604020202020204" pitchFamily="34" charset="0"/>
            </a:endParaRPr>
          </a:p>
          <a:p>
            <a:pPr marL="342900" marR="0" lvl="0" indent="-342900">
              <a:spcBef>
                <a:spcPts val="170"/>
              </a:spcBef>
              <a:spcAft>
                <a:spcPts val="0"/>
              </a:spcAft>
              <a:buSzPts val="1000"/>
              <a:buFont typeface="Arial" panose="020B0604020202020204" pitchFamily="34" charset="0"/>
              <a:buAutoNum type="arabicPeriod"/>
              <a:tabLst>
                <a:tab pos="393065" algn="l"/>
              </a:tabLst>
            </a:pPr>
            <a:r>
              <a:rPr lang="en-US" sz="1200" spc="-5">
                <a:effectLst/>
                <a:latin typeface="Arial" panose="020B0604020202020204" pitchFamily="34" charset="0"/>
                <a:ea typeface="Arial" panose="020B0604020202020204" pitchFamily="34" charset="0"/>
              </a:rPr>
              <a:t>Photos</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&amp; Video</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 Add logo, images,</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and</a:t>
            </a:r>
            <a:r>
              <a:rPr lang="en-US" sz="1200" spc="-1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videos.</a:t>
            </a:r>
          </a:p>
          <a:p>
            <a:pPr marL="342900" marR="0" lvl="0" indent="-342900">
              <a:spcBef>
                <a:spcPts val="170"/>
              </a:spcBef>
              <a:spcAft>
                <a:spcPts val="0"/>
              </a:spcAft>
              <a:buSzPts val="1000"/>
              <a:buFont typeface="Arial" panose="020B0604020202020204" pitchFamily="34" charset="0"/>
              <a:buAutoNum type="arabicPeriod"/>
              <a:tabLst>
                <a:tab pos="393065" algn="l"/>
              </a:tabLst>
            </a:pPr>
            <a:endParaRPr lang="en-US" sz="1200" spc="-5">
              <a:effectLst/>
              <a:latin typeface="Arial" panose="020B0604020202020204" pitchFamily="34" charset="0"/>
              <a:ea typeface="Arial" panose="020B0604020202020204" pitchFamily="34" charset="0"/>
            </a:endParaRPr>
          </a:p>
          <a:p>
            <a:pPr marL="342900" marR="271780" lvl="0" indent="-342900">
              <a:lnSpc>
                <a:spcPct val="115000"/>
              </a:lnSpc>
              <a:spcBef>
                <a:spcPts val="170"/>
              </a:spcBef>
              <a:spcAft>
                <a:spcPts val="0"/>
              </a:spcAft>
              <a:buSzPts val="1000"/>
              <a:buFont typeface="Arial" panose="020B0604020202020204" pitchFamily="34" charset="0"/>
              <a:buAutoNum type="arabicPeriod"/>
              <a:tabLst>
                <a:tab pos="393065" algn="l"/>
              </a:tabLst>
            </a:pPr>
            <a:r>
              <a:rPr lang="en-US" sz="1200" spc="-5">
                <a:effectLst/>
                <a:latin typeface="Arial" panose="020B0604020202020204" pitchFamily="34" charset="0"/>
                <a:ea typeface="Arial" panose="020B0604020202020204" pitchFamily="34" charset="0"/>
              </a:rPr>
              <a:t>Suggestions – Once sync’d with the directories, other images or content might be found online.</a:t>
            </a:r>
            <a:r>
              <a:rPr lang="en-US" sz="1200" spc="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You will see profile suggestions appear and can choose to add or decline those items from your listing data.</a:t>
            </a:r>
            <a:r>
              <a:rPr lang="en-US" sz="1200" spc="-10">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These suggestions</a:t>
            </a:r>
            <a:r>
              <a:rPr lang="en-US" sz="1200" spc="10">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are</a:t>
            </a:r>
            <a:r>
              <a:rPr lang="en-US" sz="1200" spc="-10">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meant</a:t>
            </a:r>
            <a:r>
              <a:rPr lang="en-US" sz="1200" spc="5">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to enhance</a:t>
            </a:r>
            <a:r>
              <a:rPr lang="en-US" sz="1200" spc="-10">
                <a:effectLst/>
                <a:latin typeface="Arial" panose="020B0604020202020204" pitchFamily="34" charset="0"/>
                <a:ea typeface="Arial" panose="020B0604020202020204" pitchFamily="34" charset="0"/>
              </a:rPr>
              <a:t> </a:t>
            </a:r>
            <a:r>
              <a:rPr lang="en-US" sz="1200" spc="-5">
                <a:effectLst/>
                <a:latin typeface="Arial" panose="020B0604020202020204" pitchFamily="34" charset="0"/>
                <a:ea typeface="Arial" panose="020B0604020202020204" pitchFamily="34" charset="0"/>
              </a:rPr>
              <a:t>your profile.</a:t>
            </a:r>
          </a:p>
        </p:txBody>
      </p:sp>
      <p:pic>
        <p:nvPicPr>
          <p:cNvPr id="3" name="image3.jpeg">
            <a:extLst>
              <a:ext uri="{FF2B5EF4-FFF2-40B4-BE49-F238E27FC236}">
                <a16:creationId xmlns:a16="http://schemas.microsoft.com/office/drawing/2014/main" id="{19B439EB-2FED-806D-DFE9-0BD15CD948F6}"/>
              </a:ext>
            </a:extLst>
          </p:cNvPr>
          <p:cNvPicPr>
            <a:picLocks noChangeAspect="1"/>
          </p:cNvPicPr>
          <p:nvPr/>
        </p:nvPicPr>
        <p:blipFill>
          <a:blip r:embed="rId2" cstate="print"/>
          <a:stretch>
            <a:fillRect/>
          </a:stretch>
        </p:blipFill>
        <p:spPr>
          <a:xfrm>
            <a:off x="5898230" y="2000597"/>
            <a:ext cx="5766435" cy="2863850"/>
          </a:xfrm>
          <a:prstGeom prst="rect">
            <a:avLst/>
          </a:prstGeom>
        </p:spPr>
      </p:pic>
    </p:spTree>
    <p:extLst>
      <p:ext uri="{BB962C8B-B14F-4D97-AF65-F5344CB8AC3E}">
        <p14:creationId xmlns:p14="http://schemas.microsoft.com/office/powerpoint/2010/main" val="1007189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a:xfrm>
            <a:off x="838200" y="609600"/>
            <a:ext cx="3739341" cy="1330839"/>
          </a:xfrm>
        </p:spPr>
        <p:txBody>
          <a:bodyPr>
            <a:normAutofit fontScale="90000"/>
          </a:bodyPr>
          <a:lstStyle/>
          <a:p>
            <a:r>
              <a:rPr lang="en-US" sz="2800" b="1">
                <a:solidFill>
                  <a:srgbClr val="70AD47"/>
                </a:solidFill>
                <a:latin typeface="Arial" panose="020B0604020202020204" pitchFamily="34" charset="0"/>
                <a:ea typeface="MS Mincho" panose="02020609040205080304" pitchFamily="49" charset="-128"/>
              </a:rPr>
              <a:t>Dashboard that gives you the control over your directory listings profile</a:t>
            </a:r>
          </a:p>
        </p:txBody>
      </p:sp>
      <p:sp>
        <p:nvSpPr>
          <p:cNvPr id="9" name="Content Placeholder 8">
            <a:extLst>
              <a:ext uri="{FF2B5EF4-FFF2-40B4-BE49-F238E27FC236}">
                <a16:creationId xmlns:a16="http://schemas.microsoft.com/office/drawing/2014/main" id="{3D039334-CE0F-0FBD-53E3-2F2811018D74}"/>
              </a:ext>
            </a:extLst>
          </p:cNvPr>
          <p:cNvSpPr>
            <a:spLocks noGrp="1"/>
          </p:cNvSpPr>
          <p:nvPr>
            <p:ph idx="1"/>
          </p:nvPr>
        </p:nvSpPr>
        <p:spPr>
          <a:xfrm>
            <a:off x="862366" y="2194102"/>
            <a:ext cx="3427001" cy="3908586"/>
          </a:xfrm>
        </p:spPr>
        <p:txBody>
          <a:bodyPr>
            <a:normAutofit/>
          </a:bodyPr>
          <a:lstStyle/>
          <a:p>
            <a:r>
              <a:rPr lang="en-US" sz="2000">
                <a:latin typeface="Arial" panose="020B0604020202020204" pitchFamily="34" charset="0"/>
                <a:ea typeface="MS Mincho" panose="02020609040205080304" pitchFamily="49" charset="-128"/>
              </a:rPr>
              <a:t>Customers can effortlessly access all of the features to enhance their online reputation and drive business growth. Say goodbye to the hassle of navigating multiple tools and platforms </a:t>
            </a:r>
          </a:p>
        </p:txBody>
      </p:sp>
      <p:pic>
        <p:nvPicPr>
          <p:cNvPr id="3" name="image4.jpeg">
            <a:extLst>
              <a:ext uri="{FF2B5EF4-FFF2-40B4-BE49-F238E27FC236}">
                <a16:creationId xmlns:a16="http://schemas.microsoft.com/office/drawing/2014/main" id="{7FABF1F5-CB28-74A9-918A-1ABC1AB52FE3}"/>
              </a:ext>
            </a:extLst>
          </p:cNvPr>
          <p:cNvPicPr>
            <a:picLocks noChangeAspect="1"/>
          </p:cNvPicPr>
          <p:nvPr/>
        </p:nvPicPr>
        <p:blipFill>
          <a:blip r:embed="rId2" cstate="print"/>
          <a:stretch>
            <a:fillRect/>
          </a:stretch>
        </p:blipFill>
        <p:spPr>
          <a:xfrm>
            <a:off x="5445457" y="1979025"/>
            <a:ext cx="6155141" cy="2923691"/>
          </a:xfrm>
          <a:prstGeom prst="rect">
            <a:avLst/>
          </a:prstGeom>
        </p:spPr>
      </p:pic>
    </p:spTree>
    <p:extLst>
      <p:ext uri="{BB962C8B-B14F-4D97-AF65-F5344CB8AC3E}">
        <p14:creationId xmlns:p14="http://schemas.microsoft.com/office/powerpoint/2010/main" val="3772158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2800" b="1">
                <a:solidFill>
                  <a:srgbClr val="70AD47"/>
                </a:solidFill>
                <a:effectLst/>
                <a:latin typeface="Arial" panose="020B0604020202020204" pitchFamily="34" charset="0"/>
                <a:ea typeface="MS Mincho" panose="02020609040205080304" pitchFamily="49" charset="-128"/>
              </a:rPr>
              <a:t>Benefits</a:t>
            </a:r>
            <a:endParaRPr lang="en-US" sz="6000" b="1">
              <a:solidFill>
                <a:srgbClr val="70AD47"/>
              </a:solidFill>
            </a:endParaRPr>
          </a:p>
        </p:txBody>
      </p:sp>
      <p:sp>
        <p:nvSpPr>
          <p:cNvPr id="4" name="Content Placeholder 3">
            <a:extLst>
              <a:ext uri="{FF2B5EF4-FFF2-40B4-BE49-F238E27FC236}">
                <a16:creationId xmlns:a16="http://schemas.microsoft.com/office/drawing/2014/main" id="{5C3130C1-C1D2-5514-76F0-DDF764D06147}"/>
              </a:ext>
            </a:extLst>
          </p:cNvPr>
          <p:cNvSpPr>
            <a:spLocks noGrp="1"/>
          </p:cNvSpPr>
          <p:nvPr>
            <p:ph idx="1"/>
          </p:nvPr>
        </p:nvSpPr>
        <p:spPr>
          <a:xfrm>
            <a:off x="6096000" y="1559374"/>
            <a:ext cx="5823098" cy="520996"/>
          </a:xfrm>
        </p:spPr>
        <p:txBody>
          <a:bodyPr vert="horz" lIns="91440" tIns="45720" rIns="91440" bIns="45720" rtlCol="0" anchor="t">
            <a:normAutofit/>
          </a:bodyPr>
          <a:lstStyle/>
          <a:p>
            <a:pPr marL="0" indent="0">
              <a:buNone/>
            </a:pPr>
            <a:r>
              <a:rPr lang="en-US" sz="1400" b="0" i="0" u="none" strike="noStrike" baseline="0">
                <a:solidFill>
                  <a:srgbClr val="000000"/>
                </a:solidFill>
                <a:latin typeface="Arial" panose="020B0604020202020204" pitchFamily="34" charset="0"/>
              </a:rPr>
              <a:t>Update your business information to many online directories with just one click</a:t>
            </a:r>
          </a:p>
        </p:txBody>
      </p:sp>
      <p:sp>
        <p:nvSpPr>
          <p:cNvPr id="12" name="Content Placeholder 3">
            <a:extLst>
              <a:ext uri="{FF2B5EF4-FFF2-40B4-BE49-F238E27FC236}">
                <a16:creationId xmlns:a16="http://schemas.microsoft.com/office/drawing/2014/main" id="{2635EBA5-264F-A4E5-3722-0EB486DB843E}"/>
              </a:ext>
            </a:extLst>
          </p:cNvPr>
          <p:cNvSpPr txBox="1">
            <a:spLocks/>
          </p:cNvSpPr>
          <p:nvPr/>
        </p:nvSpPr>
        <p:spPr>
          <a:xfrm>
            <a:off x="838200" y="1658534"/>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i="0" u="none" strike="noStrike" baseline="0">
                <a:solidFill>
                  <a:srgbClr val="000000"/>
                </a:solidFill>
                <a:latin typeface="Arial" panose="020B0604020202020204" pitchFamily="34" charset="0"/>
              </a:rPr>
              <a:t>Easy-to-Use </a:t>
            </a:r>
            <a:endParaRPr lang="en-US" sz="2400"/>
          </a:p>
        </p:txBody>
      </p:sp>
      <p:sp>
        <p:nvSpPr>
          <p:cNvPr id="13" name="Content Placeholder 3">
            <a:extLst>
              <a:ext uri="{FF2B5EF4-FFF2-40B4-BE49-F238E27FC236}">
                <a16:creationId xmlns:a16="http://schemas.microsoft.com/office/drawing/2014/main" id="{AEDEE1FA-ABA7-3648-2FE7-2E22B26020AA}"/>
              </a:ext>
            </a:extLst>
          </p:cNvPr>
          <p:cNvSpPr txBox="1">
            <a:spLocks/>
          </p:cNvSpPr>
          <p:nvPr/>
        </p:nvSpPr>
        <p:spPr>
          <a:xfrm>
            <a:off x="838200" y="2734800"/>
            <a:ext cx="3797595"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a:effectLst/>
                <a:latin typeface="Arial" panose="020B0604020202020204" pitchFamily="34" charset="0"/>
                <a:ea typeface="MS Mincho" panose="02020609040205080304" pitchFamily="49" charset="-128"/>
              </a:rPr>
              <a:t>Control your information</a:t>
            </a:r>
            <a:endParaRPr lang="en-US" sz="2400"/>
          </a:p>
        </p:txBody>
      </p:sp>
      <p:sp>
        <p:nvSpPr>
          <p:cNvPr id="14" name="Content Placeholder 3">
            <a:extLst>
              <a:ext uri="{FF2B5EF4-FFF2-40B4-BE49-F238E27FC236}">
                <a16:creationId xmlns:a16="http://schemas.microsoft.com/office/drawing/2014/main" id="{8396E9FF-5F8B-43DB-1CF8-1A60B7140E27}"/>
              </a:ext>
            </a:extLst>
          </p:cNvPr>
          <p:cNvSpPr txBox="1">
            <a:spLocks/>
          </p:cNvSpPr>
          <p:nvPr/>
        </p:nvSpPr>
        <p:spPr>
          <a:xfrm>
            <a:off x="838200" y="3841303"/>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a:effectLst/>
                <a:latin typeface="Arial" panose="020B0604020202020204" pitchFamily="34" charset="0"/>
                <a:ea typeface="MS Mincho" panose="02020609040205080304" pitchFamily="49" charset="-128"/>
              </a:rPr>
              <a:t>Cost effective</a:t>
            </a:r>
            <a:endParaRPr lang="en-US" sz="2400"/>
          </a:p>
        </p:txBody>
      </p:sp>
      <p:sp>
        <p:nvSpPr>
          <p:cNvPr id="15" name="Content Placeholder 3">
            <a:extLst>
              <a:ext uri="{FF2B5EF4-FFF2-40B4-BE49-F238E27FC236}">
                <a16:creationId xmlns:a16="http://schemas.microsoft.com/office/drawing/2014/main" id="{E1D11F32-F7B4-22CE-B974-B5CF6AC13841}"/>
              </a:ext>
            </a:extLst>
          </p:cNvPr>
          <p:cNvSpPr txBox="1">
            <a:spLocks/>
          </p:cNvSpPr>
          <p:nvPr/>
        </p:nvSpPr>
        <p:spPr>
          <a:xfrm>
            <a:off x="838200" y="4934398"/>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a:effectLst/>
                <a:latin typeface="Arial" panose="020B0604020202020204" pitchFamily="34" charset="0"/>
                <a:ea typeface="MS Mincho" panose="02020609040205080304" pitchFamily="49" charset="-128"/>
              </a:rPr>
              <a:t>Improve local SEO</a:t>
            </a:r>
            <a:endParaRPr lang="en-US" sz="2400"/>
          </a:p>
        </p:txBody>
      </p:sp>
      <p:cxnSp>
        <p:nvCxnSpPr>
          <p:cNvPr id="22" name="Straight Connector 21">
            <a:extLst>
              <a:ext uri="{FF2B5EF4-FFF2-40B4-BE49-F238E27FC236}">
                <a16:creationId xmlns:a16="http://schemas.microsoft.com/office/drawing/2014/main" id="{3E1A3FE8-41F1-6589-6459-10CA720ADDFC}"/>
              </a:ext>
            </a:extLst>
          </p:cNvPr>
          <p:cNvCxnSpPr>
            <a:cxnSpLocks/>
          </p:cNvCxnSpPr>
          <p:nvPr/>
        </p:nvCxnSpPr>
        <p:spPr>
          <a:xfrm>
            <a:off x="3810000" y="1808922"/>
            <a:ext cx="2104286" cy="0"/>
          </a:xfrm>
          <a:prstGeom prst="line">
            <a:avLst/>
          </a:prstGeom>
          <a:ln>
            <a:solidFill>
              <a:srgbClr val="70AD47"/>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341E66E-0E4D-7887-F22F-6AEE7BB47109}"/>
              </a:ext>
            </a:extLst>
          </p:cNvPr>
          <p:cNvCxnSpPr>
            <a:cxnSpLocks/>
          </p:cNvCxnSpPr>
          <p:nvPr/>
        </p:nvCxnSpPr>
        <p:spPr>
          <a:xfrm>
            <a:off x="3810000" y="2894772"/>
            <a:ext cx="2104286" cy="0"/>
          </a:xfrm>
          <a:prstGeom prst="line">
            <a:avLst/>
          </a:prstGeom>
          <a:ln>
            <a:solidFill>
              <a:srgbClr val="70AD47"/>
            </a:solidFill>
          </a:ln>
        </p:spPr>
        <p:style>
          <a:lnRef idx="1">
            <a:schemeClr val="accent1"/>
          </a:lnRef>
          <a:fillRef idx="0">
            <a:schemeClr val="accent1"/>
          </a:fillRef>
          <a:effectRef idx="0">
            <a:schemeClr val="accent1"/>
          </a:effectRef>
          <a:fontRef idx="minor">
            <a:schemeClr val="tx1"/>
          </a:fontRef>
        </p:style>
      </p:cxnSp>
      <p:sp>
        <p:nvSpPr>
          <p:cNvPr id="6" name="Content Placeholder 3">
            <a:extLst>
              <a:ext uri="{FF2B5EF4-FFF2-40B4-BE49-F238E27FC236}">
                <a16:creationId xmlns:a16="http://schemas.microsoft.com/office/drawing/2014/main" id="{805404A5-6A36-BB3B-B297-EC693455D71F}"/>
              </a:ext>
            </a:extLst>
          </p:cNvPr>
          <p:cNvSpPr txBox="1">
            <a:spLocks/>
          </p:cNvSpPr>
          <p:nvPr/>
        </p:nvSpPr>
        <p:spPr>
          <a:xfrm>
            <a:off x="6096000" y="2386510"/>
            <a:ext cx="5823098" cy="8070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sz="1400" b="0" i="0" u="none" strike="noStrike" baseline="0">
              <a:solidFill>
                <a:srgbClr val="000000"/>
              </a:solidFill>
              <a:latin typeface="Arial" panose="020B0604020202020204" pitchFamily="34" charset="0"/>
            </a:endParaRPr>
          </a:p>
          <a:p>
            <a:pPr marL="0" indent="0">
              <a:buNone/>
            </a:pPr>
            <a:r>
              <a:rPr lang="en-US" sz="1400" b="0" i="0" u="none" strike="noStrike" baseline="0">
                <a:solidFill>
                  <a:srgbClr val="000000"/>
                </a:solidFill>
                <a:latin typeface="Arial" panose="020B0604020202020204" pitchFamily="34" charset="0"/>
              </a:rPr>
              <a:t>OneList Plus locks your business information. Scans happen daily to ensure your information is accurate and up-to-date.</a:t>
            </a:r>
          </a:p>
          <a:p>
            <a:pPr marL="0" indent="0" algn="l">
              <a:buNone/>
            </a:pPr>
            <a:endParaRPr lang="en-US" sz="1400">
              <a:solidFill>
                <a:srgbClr val="000000"/>
              </a:solidFill>
              <a:latin typeface="Arial" panose="020B0604020202020204" pitchFamily="34" charset="0"/>
            </a:endParaRPr>
          </a:p>
        </p:txBody>
      </p:sp>
      <p:sp>
        <p:nvSpPr>
          <p:cNvPr id="9" name="Content Placeholder 3">
            <a:extLst>
              <a:ext uri="{FF2B5EF4-FFF2-40B4-BE49-F238E27FC236}">
                <a16:creationId xmlns:a16="http://schemas.microsoft.com/office/drawing/2014/main" id="{D9A6271D-660F-2D32-E9DB-B385A0C6C20E}"/>
              </a:ext>
            </a:extLst>
          </p:cNvPr>
          <p:cNvSpPr txBox="1">
            <a:spLocks/>
          </p:cNvSpPr>
          <p:nvPr/>
        </p:nvSpPr>
        <p:spPr>
          <a:xfrm>
            <a:off x="6096000" y="3740103"/>
            <a:ext cx="5823098" cy="80706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r>
              <a:rPr lang="en-US" sz="1400" b="0" i="0" u="none" strike="noStrike" baseline="0">
                <a:solidFill>
                  <a:srgbClr val="000000"/>
                </a:solidFill>
                <a:latin typeface="Arial" panose="020B0604020202020204" pitchFamily="34" charset="0"/>
              </a:rPr>
              <a:t>An inexpensive way to get in front of local customers at the right time. Your information gets published across many top online directories.</a:t>
            </a:r>
            <a:endParaRPr lang="en-US" sz="1400">
              <a:solidFill>
                <a:srgbClr val="000000"/>
              </a:solidFill>
              <a:latin typeface="Arial" panose="020B0604020202020204" pitchFamily="34" charset="0"/>
            </a:endParaRPr>
          </a:p>
        </p:txBody>
      </p:sp>
      <p:cxnSp>
        <p:nvCxnSpPr>
          <p:cNvPr id="10" name="Straight Connector 9">
            <a:extLst>
              <a:ext uri="{FF2B5EF4-FFF2-40B4-BE49-F238E27FC236}">
                <a16:creationId xmlns:a16="http://schemas.microsoft.com/office/drawing/2014/main" id="{5015A268-2FDC-4873-CD65-B9FD1440F6A5}"/>
              </a:ext>
            </a:extLst>
          </p:cNvPr>
          <p:cNvCxnSpPr>
            <a:cxnSpLocks/>
          </p:cNvCxnSpPr>
          <p:nvPr/>
        </p:nvCxnSpPr>
        <p:spPr>
          <a:xfrm>
            <a:off x="3810000" y="3953551"/>
            <a:ext cx="2104286" cy="0"/>
          </a:xfrm>
          <a:prstGeom prst="line">
            <a:avLst/>
          </a:prstGeom>
          <a:ln>
            <a:solidFill>
              <a:srgbClr val="70AD47"/>
            </a:solidFill>
          </a:ln>
        </p:spPr>
        <p:style>
          <a:lnRef idx="1">
            <a:schemeClr val="accent1"/>
          </a:lnRef>
          <a:fillRef idx="0">
            <a:schemeClr val="accent1"/>
          </a:fillRef>
          <a:effectRef idx="0">
            <a:schemeClr val="accent1"/>
          </a:effectRef>
          <a:fontRef idx="minor">
            <a:schemeClr val="tx1"/>
          </a:fontRef>
        </p:style>
      </p:cxnSp>
      <p:sp>
        <p:nvSpPr>
          <p:cNvPr id="11" name="Content Placeholder 3">
            <a:extLst>
              <a:ext uri="{FF2B5EF4-FFF2-40B4-BE49-F238E27FC236}">
                <a16:creationId xmlns:a16="http://schemas.microsoft.com/office/drawing/2014/main" id="{A4BC30C9-7865-2BD6-C11A-F7B6C2F49FEE}"/>
              </a:ext>
            </a:extLst>
          </p:cNvPr>
          <p:cNvSpPr txBox="1">
            <a:spLocks/>
          </p:cNvSpPr>
          <p:nvPr/>
        </p:nvSpPr>
        <p:spPr>
          <a:xfrm>
            <a:off x="6096000" y="4468271"/>
            <a:ext cx="5823098" cy="101909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buNone/>
            </a:pPr>
            <a:endParaRPr lang="en-US" sz="1400" b="0" i="0" u="none" strike="noStrike" baseline="0">
              <a:solidFill>
                <a:srgbClr val="000000"/>
              </a:solidFill>
              <a:latin typeface="Arial" panose="020B0604020202020204" pitchFamily="34" charset="0"/>
            </a:endParaRPr>
          </a:p>
          <a:p>
            <a:pPr marL="0" indent="0">
              <a:buNone/>
            </a:pPr>
            <a:r>
              <a:rPr lang="en-US" sz="1400" b="0" i="0" u="none" strike="noStrike" baseline="0">
                <a:solidFill>
                  <a:srgbClr val="000000"/>
                </a:solidFill>
                <a:latin typeface="Arial" panose="020B0604020202020204" pitchFamily="34" charset="0"/>
              </a:rPr>
              <a:t>Getting listed in major online directories and having consistent name, address and phone information can improve your ranking in local search results.</a:t>
            </a:r>
          </a:p>
        </p:txBody>
      </p:sp>
      <p:cxnSp>
        <p:nvCxnSpPr>
          <p:cNvPr id="18" name="Straight Connector 17">
            <a:extLst>
              <a:ext uri="{FF2B5EF4-FFF2-40B4-BE49-F238E27FC236}">
                <a16:creationId xmlns:a16="http://schemas.microsoft.com/office/drawing/2014/main" id="{EA49A005-60C4-17B3-70F0-9ECCD2184E10}"/>
              </a:ext>
            </a:extLst>
          </p:cNvPr>
          <p:cNvCxnSpPr>
            <a:cxnSpLocks/>
          </p:cNvCxnSpPr>
          <p:nvPr/>
        </p:nvCxnSpPr>
        <p:spPr>
          <a:xfrm>
            <a:off x="3810000" y="5059850"/>
            <a:ext cx="2104286" cy="0"/>
          </a:xfrm>
          <a:prstGeom prst="line">
            <a:avLst/>
          </a:prstGeom>
          <a:ln>
            <a:solidFill>
              <a:srgbClr val="70AD4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073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AD4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Q &amp; A / Next steps</a:t>
            </a:r>
            <a:endParaRPr lang="en-US" sz="3200" dirty="0">
              <a:solidFill>
                <a:schemeClr val="bg1"/>
              </a:solidFill>
            </a:endParaRPr>
          </a:p>
        </p:txBody>
      </p:sp>
    </p:spTree>
    <p:extLst>
      <p:ext uri="{BB962C8B-B14F-4D97-AF65-F5344CB8AC3E}">
        <p14:creationId xmlns:p14="http://schemas.microsoft.com/office/powerpoint/2010/main" val="2052943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AD4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Frequently Asked Questions</a:t>
            </a:r>
            <a:endParaRPr lang="en-US" sz="3200" dirty="0">
              <a:solidFill>
                <a:schemeClr val="bg1"/>
              </a:solidFill>
            </a:endParaRPr>
          </a:p>
        </p:txBody>
      </p:sp>
    </p:spTree>
    <p:extLst>
      <p:ext uri="{BB962C8B-B14F-4D97-AF65-F5344CB8AC3E}">
        <p14:creationId xmlns:p14="http://schemas.microsoft.com/office/powerpoint/2010/main" val="2720541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81050"/>
            <a:ext cx="10582656" cy="557722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indent="-342900">
              <a:lnSpc>
                <a:spcPct val="100000"/>
              </a:lnSpc>
              <a:spcBef>
                <a:spcPts val="500"/>
              </a:spcBef>
              <a:spcAft>
                <a:spcPts val="0"/>
              </a:spcAft>
              <a:buFont typeface="+mj-lt"/>
              <a:buAutoNum type="arabicPeriod"/>
            </a:pPr>
            <a:r>
              <a:rPr lang="en-US" sz="1100" b="1" dirty="0">
                <a:solidFill>
                  <a:srgbClr val="70AD47"/>
                </a:solidFill>
                <a:effectLst/>
                <a:latin typeface="Arial" panose="020B0604020202020204" pitchFamily="34" charset="0"/>
                <a:ea typeface="MS Mincho" panose="02020609040205080304" pitchFamily="49" charset="-128"/>
                <a:cs typeface="Arial" panose="020B0604020202020204" pitchFamily="34" charset="0"/>
              </a:rPr>
              <a:t>How does OneList Plus work?</a:t>
            </a:r>
          </a:p>
          <a:p>
            <a:pPr marL="0" marR="0" indent="0">
              <a:lnSpc>
                <a:spcPct val="100000"/>
              </a:lnSpc>
              <a:spcBef>
                <a:spcPts val="500"/>
              </a:spcBef>
              <a:spcAft>
                <a:spcPts val="0"/>
              </a:spcAft>
              <a:buNone/>
            </a:pPr>
            <a:r>
              <a:rPr lang="en-US" sz="1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OneList Plus has direct APIs or relationships with key online directories for instant or simplified listing submission. Your information is stored securely in our platform. Your company and location listings are automatically scanned daily and updated if required. Your listings are also protected against manipulation by third parties.</a:t>
            </a:r>
          </a:p>
          <a:p>
            <a:pPr marL="0" marR="0" indent="0">
              <a:lnSpc>
                <a:spcPct val="100000"/>
              </a:lnSpc>
              <a:spcBef>
                <a:spcPts val="500"/>
              </a:spcBef>
              <a:spcAft>
                <a:spcPts val="0"/>
              </a:spcAft>
              <a:buNone/>
            </a:pPr>
            <a:r>
              <a:rPr lang="en-US" sz="1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For certain directories or profiles that require accounts, OneList Plus requires you to provide authorization for access to your account to update the listing and ensure all your business details are consistent.</a:t>
            </a: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p>
          <a:p>
            <a:pPr marL="342900" marR="0" indent="-342900" fontAlgn="base">
              <a:lnSpc>
                <a:spcPct val="100000"/>
              </a:lnSpc>
              <a:spcBef>
                <a:spcPts val="0"/>
              </a:spcBef>
              <a:spcAft>
                <a:spcPts val="0"/>
              </a:spcAft>
              <a:buFont typeface="+mj-lt"/>
              <a:buAutoNum type="arabicPeriod" startAt="2"/>
            </a:pPr>
            <a:r>
              <a:rPr lang="en-US" sz="1100" b="1" dirty="0">
                <a:solidFill>
                  <a:srgbClr val="70AD47"/>
                </a:solidFill>
                <a:effectLst/>
                <a:latin typeface="Arial" panose="020B0604020202020204" pitchFamily="34" charset="0"/>
                <a:ea typeface="MS Mincho" panose="02020609040205080304" pitchFamily="49" charset="-128"/>
                <a:cs typeface="Arial" panose="020B0604020202020204" pitchFamily="34" charset="0"/>
              </a:rPr>
              <a:t>I do not have a website. Do I get any benefits from local listings at all?</a:t>
            </a:r>
          </a:p>
          <a:p>
            <a:pPr marL="342900" marR="0" indent="-342900" fontAlgn="base">
              <a:lnSpc>
                <a:spcPct val="100000"/>
              </a:lnSpc>
              <a:spcBef>
                <a:spcPts val="0"/>
              </a:spcBef>
              <a:spcAft>
                <a:spcPts val="0"/>
              </a:spcAft>
              <a:buFont typeface="+mj-lt"/>
              <a:buAutoNum type="arabicPeriod" startAt="2"/>
            </a:pPr>
            <a:endParaRPr lang="en-US" sz="1100" b="1" dirty="0">
              <a:solidFill>
                <a:srgbClr val="2CADB2"/>
              </a:solidFill>
              <a:effectLst/>
              <a:latin typeface="Arial" panose="020B0604020202020204" pitchFamily="34" charset="0"/>
              <a:ea typeface="MS Mincho" panose="02020609040205080304" pitchFamily="49" charset="-128"/>
              <a:cs typeface="Arial" panose="020B0604020202020204" pitchFamily="34" charset="0"/>
            </a:endParaRPr>
          </a:p>
          <a:p>
            <a:pPr marL="0" marR="0" indent="0" fontAlgn="base">
              <a:lnSpc>
                <a:spcPct val="100000"/>
              </a:lnSpc>
              <a:spcBef>
                <a:spcPts val="0"/>
              </a:spcBef>
              <a:spcAft>
                <a:spcPts val="0"/>
              </a:spcAft>
              <a:buNone/>
            </a:pPr>
            <a:r>
              <a:rPr lang="en-US" sz="1100" dirty="0">
                <a:solidFill>
                  <a:srgbClr val="000000"/>
                </a:solidFill>
                <a:latin typeface="Arial" panose="020B0604020202020204" pitchFamily="34" charset="0"/>
                <a:cs typeface="Arial" panose="020B0604020202020204" pitchFamily="34" charset="0"/>
              </a:rPr>
              <a:t>Yes! You don’t need a domain or website in order to get your business listed and found online.</a:t>
            </a:r>
          </a:p>
          <a:p>
            <a:pPr marL="0" marR="0" indent="0" fontAlgn="base">
              <a:lnSpc>
                <a:spcPct val="100000"/>
              </a:lnSpc>
              <a:spcBef>
                <a:spcPts val="0"/>
              </a:spcBef>
              <a:spcAft>
                <a:spcPts val="0"/>
              </a:spcAft>
              <a:buNone/>
            </a:pPr>
            <a:r>
              <a:rPr lang="en-US" sz="1100" dirty="0">
                <a:solidFill>
                  <a:srgbClr val="000000"/>
                </a:solidFill>
                <a:latin typeface="Arial" panose="020B0604020202020204" pitchFamily="34" charset="0"/>
                <a:cs typeface="Arial" panose="020B0604020202020204" pitchFamily="34" charset="0"/>
              </a:rPr>
              <a:t>If you list your business now, it will show up in Google Maps and other directories. This is going to help customers find you and start building some online equity.</a:t>
            </a:r>
          </a:p>
          <a:p>
            <a:pPr marL="0" marR="0" indent="0" fontAlgn="base">
              <a:lnSpc>
                <a:spcPct val="100000"/>
              </a:lnSpc>
              <a:spcBef>
                <a:spcPts val="0"/>
              </a:spcBef>
              <a:spcAft>
                <a:spcPts val="0"/>
              </a:spcAft>
              <a:buNone/>
            </a:pPr>
            <a:r>
              <a:rPr lang="en-US" sz="1100" dirty="0">
                <a:solidFill>
                  <a:srgbClr val="000000"/>
                </a:solidFill>
                <a:latin typeface="Arial" panose="020B0604020202020204" pitchFamily="34" charset="0"/>
                <a:cs typeface="Arial" panose="020B0604020202020204" pitchFamily="34" charset="0"/>
              </a:rPr>
              <a:t>Once you have your website or domain ready, you can update your listing and it will get added to all of your directory listings.</a:t>
            </a:r>
          </a:p>
          <a:p>
            <a:pPr marL="0" marR="0" indent="0" fontAlgn="base">
              <a:lnSpc>
                <a:spcPct val="100000"/>
              </a:lnSpc>
              <a:spcBef>
                <a:spcPts val="0"/>
              </a:spcBef>
              <a:spcAft>
                <a:spcPts val="0"/>
              </a:spcAft>
              <a:buNone/>
            </a:pPr>
            <a:endParaRPr lang="en-US" sz="1100" b="1" dirty="0">
              <a:solidFill>
                <a:srgbClr val="2CADB2"/>
              </a:solidFill>
              <a:effectLst/>
              <a:latin typeface="Arial" panose="020B0604020202020204" pitchFamily="34" charset="0"/>
              <a:ea typeface="MS Mincho" panose="02020609040205080304" pitchFamily="49" charset="-128"/>
              <a:cs typeface="Arial" panose="020B0604020202020204" pitchFamily="34" charset="0"/>
            </a:endParaRPr>
          </a:p>
          <a:p>
            <a:pPr marL="342900" marR="0" indent="-342900" fontAlgn="base">
              <a:lnSpc>
                <a:spcPct val="100000"/>
              </a:lnSpc>
              <a:spcBef>
                <a:spcPts val="0"/>
              </a:spcBef>
              <a:spcAft>
                <a:spcPts val="0"/>
              </a:spcAft>
              <a:buFont typeface="+mj-lt"/>
              <a:buAutoNum type="arabicPeriod" startAt="3"/>
            </a:pPr>
            <a:r>
              <a:rPr lang="en-US" sz="1100" b="1" dirty="0">
                <a:solidFill>
                  <a:srgbClr val="70AD47"/>
                </a:solidFill>
                <a:effectLst/>
                <a:latin typeface="Arial" panose="020B0604020202020204" pitchFamily="34" charset="0"/>
                <a:ea typeface="MS Mincho" panose="02020609040205080304" pitchFamily="49" charset="-128"/>
                <a:cs typeface="Arial" panose="020B0604020202020204" pitchFamily="34" charset="0"/>
              </a:rPr>
              <a:t>My business already has listings in several directories. How does this affect my OneList Plus submission?</a:t>
            </a:r>
          </a:p>
          <a:p>
            <a:pPr marL="342900" marR="0" indent="-342900" fontAlgn="base">
              <a:lnSpc>
                <a:spcPct val="100000"/>
              </a:lnSpc>
              <a:spcBef>
                <a:spcPts val="0"/>
              </a:spcBef>
              <a:spcAft>
                <a:spcPts val="0"/>
              </a:spcAft>
              <a:buFont typeface="+mj-lt"/>
              <a:buAutoNum type="arabicPeriod" startAt="3"/>
            </a:pPr>
            <a:endParaRPr lang="en-US" sz="1100" b="1" dirty="0">
              <a:solidFill>
                <a:srgbClr val="2CADB2"/>
              </a:solidFill>
              <a:effectLst/>
              <a:latin typeface="Arial" panose="020B0604020202020204" pitchFamily="34" charset="0"/>
              <a:ea typeface="MS Mincho" panose="02020609040205080304" pitchFamily="49" charset="-128"/>
              <a:cs typeface="Arial" panose="020B0604020202020204" pitchFamily="34" charset="0"/>
            </a:endParaRPr>
          </a:p>
          <a:p>
            <a:pPr marL="0" indent="0" fontAlgn="base">
              <a:lnSpc>
                <a:spcPct val="100000"/>
              </a:lnSpc>
              <a:spcBef>
                <a:spcPts val="0"/>
              </a:spcBef>
              <a:buNone/>
            </a:pPr>
            <a:r>
              <a:rPr lang="en-US" sz="1100" dirty="0">
                <a:solidFill>
                  <a:srgbClr val="000000"/>
                </a:solidFill>
                <a:latin typeface="Arial" panose="020B0604020202020204" pitchFamily="34" charset="0"/>
                <a:cs typeface="Arial" panose="020B0604020202020204" pitchFamily="34" charset="0"/>
              </a:rPr>
              <a:t>Before creating a location page in any directory, OneList Plus scan directories for existing entries. In general, OneList Plus seeks to avoid creating duplicates.</a:t>
            </a:r>
          </a:p>
          <a:p>
            <a:pPr marL="0" indent="0" fontAlgn="base">
              <a:lnSpc>
                <a:spcPct val="100000"/>
              </a:lnSpc>
              <a:spcBef>
                <a:spcPts val="0"/>
              </a:spcBef>
              <a:buNone/>
            </a:pPr>
            <a:endParaRPr lang="en-US" sz="1100" dirty="0">
              <a:solidFill>
                <a:srgbClr val="000000"/>
              </a:solidFill>
              <a:latin typeface="Arial" panose="020B0604020202020204" pitchFamily="34" charset="0"/>
              <a:cs typeface="Arial" panose="020B0604020202020204" pitchFamily="34" charset="0"/>
            </a:endParaRPr>
          </a:p>
          <a:p>
            <a:pPr marL="0" indent="0" fontAlgn="base">
              <a:lnSpc>
                <a:spcPct val="100000"/>
              </a:lnSpc>
              <a:spcBef>
                <a:spcPts val="0"/>
              </a:spcBef>
              <a:buNone/>
            </a:pPr>
            <a:r>
              <a:rPr lang="en-US" sz="1100" dirty="0">
                <a:solidFill>
                  <a:srgbClr val="000000"/>
                </a:solidFill>
                <a:latin typeface="Arial" panose="020B0604020202020204" pitchFamily="34" charset="0"/>
                <a:cs typeface="Arial" panose="020B0604020202020204" pitchFamily="34" charset="0"/>
              </a:rPr>
              <a:t>If a listing already exists for a location, there are two possibilities. The first is that OneList Plus is able to directly  claim the listing. If it can be claimed, your profile is then blocked for manipulation by third persons.</a:t>
            </a:r>
          </a:p>
          <a:p>
            <a:pPr marL="0" indent="0" fontAlgn="base">
              <a:lnSpc>
                <a:spcPct val="100000"/>
              </a:lnSpc>
              <a:spcBef>
                <a:spcPts val="0"/>
              </a:spcBef>
              <a:buNone/>
            </a:pPr>
            <a:r>
              <a:rPr lang="en-US" sz="1100" dirty="0">
                <a:solidFill>
                  <a:srgbClr val="000000"/>
                </a:solidFill>
                <a:latin typeface="Arial" panose="020B0604020202020204" pitchFamily="34" charset="0"/>
                <a:cs typeface="Arial" panose="020B0604020202020204" pitchFamily="34" charset="0"/>
              </a:rPr>
              <a:t>The second possibility is that the listing is 'claimed by others'. This may occur if you previously worked with another provider to optimize your online presence and the existing profiles are still claimed by this service provider or agency. In this case, the business owner is required to personally contact the directory and request a transfer of ownership so that OneList Plus is able to claim the profile.</a:t>
            </a:r>
          </a:p>
          <a:p>
            <a:pPr marL="0" indent="0" fontAlgn="base">
              <a:lnSpc>
                <a:spcPct val="100000"/>
              </a:lnSpc>
              <a:spcBef>
                <a:spcPts val="0"/>
              </a:spcBef>
              <a:buNone/>
            </a:pPr>
            <a:endParaRPr lang="en-US" sz="1100" dirty="0">
              <a:solidFill>
                <a:srgbClr val="000000"/>
              </a:solidFill>
              <a:latin typeface="Arial" panose="020B0604020202020204" pitchFamily="34" charset="0"/>
              <a:cs typeface="Arial" panose="020B0604020202020204" pitchFamily="34" charset="0"/>
            </a:endParaRPr>
          </a:p>
          <a:p>
            <a:pPr marL="0" indent="0" fontAlgn="base">
              <a:lnSpc>
                <a:spcPct val="100000"/>
              </a:lnSpc>
              <a:spcBef>
                <a:spcPts val="0"/>
              </a:spcBef>
              <a:buNone/>
            </a:pPr>
            <a:r>
              <a:rPr lang="en-US" sz="1100" dirty="0">
                <a:solidFill>
                  <a:srgbClr val="000000"/>
                </a:solidFill>
                <a:latin typeface="Arial" panose="020B0604020202020204" pitchFamily="34" charset="0"/>
                <a:cs typeface="Arial" panose="020B0604020202020204" pitchFamily="34" charset="0"/>
              </a:rPr>
              <a:t>If you are engaged in an ongoing contract with another provider of online presence management services, this contract must first be terminated. If the contract has already been terminated and there is only a short remaining term, the directory may be asked to transfer protection rights to OneList Plus ahead of time.</a:t>
            </a:r>
          </a:p>
          <a:p>
            <a:pPr marL="0" indent="0" fontAlgn="base">
              <a:lnSpc>
                <a:spcPct val="100000"/>
              </a:lnSpc>
              <a:spcBef>
                <a:spcPts val="0"/>
              </a:spcBef>
              <a:buNone/>
            </a:pPr>
            <a:r>
              <a:rPr lang="en-US" sz="1100" dirty="0">
                <a:solidFill>
                  <a:srgbClr val="000000"/>
                </a:solidFill>
                <a:latin typeface="Arial" panose="020B0604020202020204" pitchFamily="34" charset="0"/>
                <a:cs typeface="Arial" panose="020B0604020202020204" pitchFamily="34" charset="0"/>
              </a:rPr>
              <a:t>Should all of these approaches fail, OneList Plus will attempt to delete the listing and recreate it. The listing will be immediately protected against manipulation by third parties.</a:t>
            </a:r>
          </a:p>
          <a:p>
            <a:pPr marL="0" marR="0" indent="0">
              <a:lnSpc>
                <a:spcPct val="100000"/>
              </a:lnSpc>
              <a:spcBef>
                <a:spcPts val="500"/>
              </a:spcBef>
              <a:spcAft>
                <a:spcPts val="0"/>
              </a:spcAft>
              <a:buNone/>
            </a:pPr>
            <a:endParaRPr lang="en-US" sz="1100" dirty="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1696760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0AD4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a:solidFill>
                  <a:schemeClr val="bg1"/>
                </a:solidFill>
                <a:latin typeface="Arial" panose="020B0604020202020204" pitchFamily="34" charset="0"/>
                <a:cs typeface="Arial" panose="020B0604020202020204" pitchFamily="34" charset="0"/>
              </a:rPr>
              <a:t>Probing Questions</a:t>
            </a:r>
            <a:endParaRPr lang="en-US">
              <a:solidFill>
                <a:schemeClr val="bg1"/>
              </a:solidFill>
            </a:endParaRPr>
          </a:p>
        </p:txBody>
      </p:sp>
    </p:spTree>
    <p:extLst>
      <p:ext uri="{BB962C8B-B14F-4D97-AF65-F5344CB8AC3E}">
        <p14:creationId xmlns:p14="http://schemas.microsoft.com/office/powerpoint/2010/main" val="1065700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631574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fontAlgn="base">
              <a:spcBef>
                <a:spcPts val="0"/>
              </a:spcBef>
              <a:spcAft>
                <a:spcPts val="0"/>
              </a:spcAft>
            </a:pPr>
            <a:endParaRPr lang="en-US" sz="1800">
              <a:effectLst/>
              <a:latin typeface="Arial" panose="020B0604020202020204" pitchFamily="34" charset="0"/>
              <a:ea typeface="MS Mincho" panose="02020609040205080304" pitchFamily="49" charset="-128"/>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6578151" y="523193"/>
            <a:ext cx="4702993" cy="622004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00000"/>
              </a:lnSpc>
              <a:spcBef>
                <a:spcPts val="0"/>
              </a:spcBef>
              <a:spcAft>
                <a:spcPts val="0"/>
              </a:spcAft>
              <a:buNone/>
            </a:pPr>
            <a:r>
              <a:rPr lang="en-US" sz="1100" b="1">
                <a:solidFill>
                  <a:srgbClr val="70AD47"/>
                </a:solidFill>
                <a:effectLst/>
                <a:latin typeface="Arial" panose="020B0604020202020204" pitchFamily="34" charset="0"/>
                <a:ea typeface="Times New Roman" panose="02020603050405020304" pitchFamily="18" charset="0"/>
                <a:cs typeface="Arial" panose="020B0604020202020204" pitchFamily="34" charset="0"/>
              </a:rPr>
              <a:t>How many directories are you listed in? How do you update them? How often?</a:t>
            </a:r>
            <a:r>
              <a:rPr lang="en-US" sz="1100">
                <a:solidFill>
                  <a:srgbClr val="70AD47"/>
                </a:solidFill>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lnSpc>
                <a:spcPct val="100000"/>
              </a:lnSpc>
              <a:spcBef>
                <a:spcPts val="0"/>
              </a:spcBef>
              <a:spcAft>
                <a:spcPts val="0"/>
              </a:spcAft>
              <a:buNone/>
            </a:pP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We have directory listing packages that can include 40+ directories. However, the number of directories will vary depending on which package has been purchased. Being able to manage, sync and update your business information in a single dashboard means you don’t have to keep track of different profiles and log in credentials, because all your listings are managed right through the OneList Plus dashboard. Turning on “auto-sync” within the dashboard will ensure the directories are scanned daily and all information is maintained for accuracy. </a:t>
            </a:r>
          </a:p>
          <a:p>
            <a:pPr marL="0" marR="0" indent="0" fontAlgn="base">
              <a:lnSpc>
                <a:spcPct val="100000"/>
              </a:lnSpc>
              <a:spcBef>
                <a:spcPts val="0"/>
              </a:spcBef>
              <a:spcAft>
                <a:spcPts val="0"/>
              </a:spcAft>
              <a:buNone/>
            </a:pPr>
            <a:endParaRPr lang="en-US" sz="1100">
              <a:solidFill>
                <a:srgbClr val="70AD47"/>
              </a:solidFill>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b="1">
                <a:solidFill>
                  <a:srgbClr val="70AD47"/>
                </a:solidFill>
                <a:effectLst/>
                <a:latin typeface="Arial" panose="020B0604020202020204" pitchFamily="34" charset="0"/>
                <a:ea typeface="Times New Roman" panose="02020603050405020304" pitchFamily="18" charset="0"/>
                <a:cs typeface="Arial" panose="020B0604020202020204" pitchFamily="34" charset="0"/>
              </a:rPr>
              <a:t>Is your business listed on Google  Business Profile and in Google Maps?</a:t>
            </a:r>
          </a:p>
          <a:p>
            <a:pPr marL="0" marR="0" indent="0" fontAlgn="base">
              <a:lnSpc>
                <a:spcPct val="100000"/>
              </a:lnSpc>
              <a:spcBef>
                <a:spcPts val="0"/>
              </a:spcBef>
              <a:spcAft>
                <a:spcPts val="0"/>
              </a:spcAft>
              <a:buNone/>
            </a:pPr>
            <a:endParaRPr lang="en-US" sz="1100" b="1">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Creating and verifying your Google Business Profile account is one of the best things you can do to help boost your local visibility! When potential customers search online or on Google Maps, you need to make sure your business can be found. It’s a critical first step because Google is the dominant search provider and has an overwhelming amount of search traffic, so you want to be setup where most customers start their searching.</a:t>
            </a:r>
          </a:p>
          <a:p>
            <a:pPr marL="0" marR="0" indent="0" fontAlgn="base">
              <a:lnSpc>
                <a:spcPct val="100000"/>
              </a:lnSpc>
              <a:spcBef>
                <a:spcPts val="0"/>
              </a:spcBef>
              <a:spcAft>
                <a:spcPts val="0"/>
              </a:spcAft>
              <a:buNone/>
            </a:pP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Google Business Profile is included in our directory listing service, OneList Plus (applicable plans). You can connect your Google Business Profile account to make sure it shows consistent information with your other online listings, and you’ll get reporting on the impressions and clicks from your Google Business Profile.</a:t>
            </a:r>
          </a:p>
          <a:p>
            <a:pPr marL="0" marR="0" indent="0" fontAlgn="base">
              <a:lnSpc>
                <a:spcPct val="100000"/>
              </a:lnSpc>
              <a:spcBef>
                <a:spcPts val="0"/>
              </a:spcBef>
              <a:spcAft>
                <a:spcPts val="0"/>
              </a:spcAft>
              <a:buNone/>
            </a:pPr>
            <a:r>
              <a:rPr lang="en-US" sz="11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lnSpc>
                <a:spcPct val="100000"/>
              </a:lnSpc>
              <a:spcBef>
                <a:spcPts val="0"/>
              </a:spcBef>
              <a:spcAft>
                <a:spcPts val="0"/>
              </a:spcAft>
              <a:buNone/>
            </a:pP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p:txBody>
      </p:sp>
      <p:sp>
        <p:nvSpPr>
          <p:cNvPr id="3" name="Content Placeholder 2">
            <a:extLst>
              <a:ext uri="{FF2B5EF4-FFF2-40B4-BE49-F238E27FC236}">
                <a16:creationId xmlns:a16="http://schemas.microsoft.com/office/drawing/2014/main" id="{1E3E736E-02FD-5C00-7E1F-0B7E4E121E12}"/>
              </a:ext>
            </a:extLst>
          </p:cNvPr>
          <p:cNvSpPr txBox="1">
            <a:spLocks/>
          </p:cNvSpPr>
          <p:nvPr/>
        </p:nvSpPr>
        <p:spPr>
          <a:xfrm>
            <a:off x="910856" y="523193"/>
            <a:ext cx="4702993" cy="6220047"/>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00000"/>
              </a:lnSpc>
              <a:spcBef>
                <a:spcPts val="0"/>
              </a:spcBef>
              <a:spcAft>
                <a:spcPts val="0"/>
              </a:spcAft>
              <a:buNone/>
            </a:pPr>
            <a:r>
              <a:rPr lang="en-US" sz="1100" b="1" dirty="0">
                <a:solidFill>
                  <a:srgbClr val="70AD47"/>
                </a:solidFill>
                <a:effectLst/>
                <a:latin typeface="Arial" panose="020B0604020202020204" pitchFamily="34" charset="0"/>
                <a:ea typeface="Times New Roman" panose="02020603050405020304" pitchFamily="18" charset="0"/>
                <a:cs typeface="Arial" panose="020B0604020202020204" pitchFamily="34" charset="0"/>
              </a:rPr>
              <a:t>When customers search for the products or services you offer in your area, does your business show up?</a:t>
            </a:r>
          </a:p>
          <a:p>
            <a:pPr marL="0" marR="0" indent="0" fontAlgn="base">
              <a:lnSpc>
                <a:spcPct val="100000"/>
              </a:lnSpc>
              <a:spcBef>
                <a:spcPts val="0"/>
              </a:spcBef>
              <a:spcAft>
                <a:spcPts val="0"/>
              </a:spcAft>
              <a:buNone/>
            </a:pPr>
            <a:endPar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Submitting your business information to online directories helps your business get found where potential customers are searching for businesses like yours. First, it helps improve your rank on search engines like Google, by providing backlinks to your website and providing more citations for search engines to verify your business information.</a:t>
            </a:r>
          </a:p>
          <a:p>
            <a:pPr marL="0" marR="0" indent="0" fontAlgn="base">
              <a:lnSpc>
                <a:spcPct val="10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Secondly, online directories often show up on the first page of search results. Customers also use directories to search for businesses directly. You need to ensure your business is visible and accurate!</a:t>
            </a: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With OneList Plus, you submit your information in once place, and it automatically creates directory listings in essential maps, business databases, GPS systems and more.</a:t>
            </a:r>
          </a:p>
          <a:p>
            <a:pPr marL="0" marR="0" indent="0" fontAlgn="base">
              <a:lnSpc>
                <a:spcPct val="10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a:p>
            <a:pPr marL="0" indent="0" fontAlgn="base">
              <a:lnSpc>
                <a:spcPct val="100000"/>
              </a:lnSpc>
              <a:spcBef>
                <a:spcPts val="0"/>
              </a:spcBef>
              <a:buNone/>
            </a:pPr>
            <a:r>
              <a:rPr lang="en-US" sz="1100" b="1" dirty="0">
                <a:solidFill>
                  <a:srgbClr val="70AD47"/>
                </a:solidFill>
                <a:effectLst/>
                <a:latin typeface="Arial" panose="020B0604020202020204" pitchFamily="34" charset="0"/>
                <a:ea typeface="Times New Roman" panose="02020603050405020304" pitchFamily="18" charset="0"/>
                <a:cs typeface="Arial" panose="020B0604020202020204" pitchFamily="34" charset="0"/>
              </a:rPr>
              <a:t>Do you monitor your online listings?</a:t>
            </a:r>
            <a:r>
              <a:rPr lang="en-US" sz="1100" dirty="0">
                <a:solidFill>
                  <a:srgbClr val="70AD47"/>
                </a:solidFill>
                <a:effectLst/>
                <a:latin typeface="Arial" panose="020B0604020202020204" pitchFamily="34" charset="0"/>
                <a:ea typeface="Times New Roman" panose="02020603050405020304" pitchFamily="18" charset="0"/>
                <a:cs typeface="Arial" panose="020B0604020202020204" pitchFamily="34" charset="0"/>
              </a:rPr>
              <a:t> </a:t>
            </a:r>
          </a:p>
          <a:p>
            <a:pPr marL="0" indent="0" fontAlgn="base">
              <a:lnSpc>
                <a:spcPct val="100000"/>
              </a:lnSpc>
              <a:spcBef>
                <a:spcPts val="0"/>
              </a:spcBef>
              <a:buNone/>
            </a:pPr>
            <a:br>
              <a:rPr lang="en-US" sz="1100" dirty="0">
                <a:effectLst/>
                <a:latin typeface="Arial" panose="020B0604020202020204" pitchFamily="34" charset="0"/>
                <a:ea typeface="Times New Roman" panose="02020603050405020304" pitchFamily="18" charset="0"/>
                <a:cs typeface="Arial" panose="020B0604020202020204" pitchFamily="34" charset="0"/>
              </a:rPr>
            </a:br>
            <a:r>
              <a:rPr lang="en-US" sz="1100" dirty="0">
                <a:effectLst/>
                <a:latin typeface="Arial" panose="020B0604020202020204" pitchFamily="34" charset="0"/>
                <a:ea typeface="Times New Roman" panose="02020603050405020304" pitchFamily="18" charset="0"/>
                <a:cs typeface="Arial" panose="020B0604020202020204" pitchFamily="34" charset="0"/>
              </a:rPr>
              <a:t>Listings can change over time, overwritten by other search results and sometimes even by tampering. This can have a negative impact on your SEO. OneList Plus monitors, locks and protects your business info to ensure it stays accurate. </a:t>
            </a:r>
          </a:p>
        </p:txBody>
      </p:sp>
    </p:spTree>
    <p:extLst>
      <p:ext uri="{BB962C8B-B14F-4D97-AF65-F5344CB8AC3E}">
        <p14:creationId xmlns:p14="http://schemas.microsoft.com/office/powerpoint/2010/main" val="6667505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0AD4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Objection Handlers</a:t>
            </a:r>
            <a:endParaRPr lang="en-US" sz="3200" dirty="0">
              <a:solidFill>
                <a:schemeClr val="bg1"/>
              </a:solidFill>
            </a:endParaRPr>
          </a:p>
        </p:txBody>
      </p:sp>
    </p:spTree>
    <p:extLst>
      <p:ext uri="{BB962C8B-B14F-4D97-AF65-F5344CB8AC3E}">
        <p14:creationId xmlns:p14="http://schemas.microsoft.com/office/powerpoint/2010/main" val="506168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301812"/>
            <a:ext cx="4702993" cy="44014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00000"/>
              </a:lnSpc>
              <a:spcBef>
                <a:spcPts val="0"/>
              </a:spcBef>
              <a:spcAft>
                <a:spcPts val="0"/>
              </a:spcAft>
              <a:buNone/>
            </a:pPr>
            <a:r>
              <a:rPr lang="en-US" sz="1100" b="1" dirty="0">
                <a:solidFill>
                  <a:srgbClr val="70AD47"/>
                </a:solidFill>
                <a:effectLst/>
                <a:latin typeface="Arial"/>
                <a:ea typeface="Times New Roman" panose="02020603050405020304" pitchFamily="18" charset="0"/>
                <a:cs typeface="Arial"/>
              </a:rPr>
              <a:t>I already have a lot of listings.</a:t>
            </a:r>
          </a:p>
          <a:p>
            <a:pPr marL="0" marR="0" indent="0" fontAlgn="base">
              <a:lnSpc>
                <a:spcPct val="100000"/>
              </a:lnSpc>
              <a:spcBef>
                <a:spcPts val="0"/>
              </a:spcBef>
              <a:spcAft>
                <a:spcPts val="0"/>
              </a:spcAft>
              <a:buNone/>
            </a:pPr>
            <a:endParaRPr lang="en-US" sz="1100" b="1" dirty="0">
              <a:solidFill>
                <a:srgbClr val="2CADB2"/>
              </a:solidFill>
              <a:effectLst/>
              <a:latin typeface="Arial"/>
              <a:ea typeface="Times New Roman" panose="02020603050405020304" pitchFamily="18" charset="0"/>
              <a:cs typeface="Arial"/>
            </a:endParaRPr>
          </a:p>
          <a:p>
            <a:pPr marL="0" marR="0" indent="0" fontAlgn="base">
              <a:lnSpc>
                <a:spcPct val="100000"/>
              </a:lnSpc>
              <a:spcBef>
                <a:spcPts val="0"/>
              </a:spcBef>
              <a:spcAft>
                <a:spcPts val="0"/>
              </a:spcAft>
              <a:buNone/>
            </a:pPr>
            <a:r>
              <a:rPr lang="en-US" sz="1100" dirty="0">
                <a:effectLst/>
                <a:latin typeface="Arial"/>
                <a:ea typeface="Times New Roman" panose="02020603050405020304" pitchFamily="18" charset="0"/>
                <a:cs typeface="Arial"/>
              </a:rPr>
              <a:t>Which directories are you listed in? (Can check for the business listings on Google Maps or use the directory scan.)</a:t>
            </a:r>
          </a:p>
          <a:p>
            <a:pPr marL="0" marR="0" indent="0" fontAlgn="base">
              <a:lnSpc>
                <a:spcPct val="100000"/>
              </a:lnSpc>
              <a:spcBef>
                <a:spcPts val="0"/>
              </a:spcBef>
              <a:spcAft>
                <a:spcPts val="0"/>
              </a:spcAft>
              <a:buNone/>
            </a:pPr>
            <a:endParaRPr lang="en-US" sz="1100" dirty="0">
              <a:effectLst/>
              <a:latin typeface="Arial"/>
              <a:ea typeface="Times New Roman" panose="02020603050405020304" pitchFamily="18" charset="0"/>
              <a:cs typeface="Arial"/>
            </a:endParaRPr>
          </a:p>
          <a:p>
            <a:pPr marL="0" marR="0" indent="0" fontAlgn="base">
              <a:lnSpc>
                <a:spcPct val="100000"/>
              </a:lnSpc>
              <a:spcBef>
                <a:spcPts val="0"/>
              </a:spcBef>
              <a:spcAft>
                <a:spcPts val="0"/>
              </a:spcAft>
              <a:buNone/>
            </a:pPr>
            <a:r>
              <a:rPr lang="en-US" sz="1100" dirty="0">
                <a:effectLst/>
                <a:latin typeface="Arial"/>
                <a:ea typeface="Times New Roman" panose="02020603050405020304" pitchFamily="18" charset="0"/>
                <a:cs typeface="Arial"/>
              </a:rPr>
              <a:t>Do you keep track of your listings? Are you sure all your listings have the same details and are still up to date? You can use our simple online visibility tool to do a quick scan on your business to determine where you are listed and if your profile data is incorrect.</a:t>
            </a:r>
          </a:p>
          <a:p>
            <a:pPr marL="0" marR="0" indent="0" fontAlgn="base">
              <a:lnSpc>
                <a:spcPct val="100000"/>
              </a:lnSpc>
              <a:spcBef>
                <a:spcPts val="0"/>
              </a:spcBef>
              <a:spcAft>
                <a:spcPts val="0"/>
              </a:spcAft>
              <a:buNone/>
            </a:pPr>
            <a:endParaRPr lang="en-US" sz="1100" dirty="0">
              <a:effectLst/>
              <a:latin typeface="Arial"/>
              <a:ea typeface="Times New Roman" panose="02020603050405020304" pitchFamily="18" charset="0"/>
              <a:cs typeface="Arial"/>
            </a:endParaRPr>
          </a:p>
          <a:p>
            <a:pPr marL="0" marR="0" indent="0" fontAlgn="base">
              <a:lnSpc>
                <a:spcPct val="100000"/>
              </a:lnSpc>
              <a:spcBef>
                <a:spcPts val="0"/>
              </a:spcBef>
              <a:spcAft>
                <a:spcPts val="0"/>
              </a:spcAft>
              <a:buNone/>
            </a:pPr>
            <a:r>
              <a:rPr lang="en-US" sz="1100" dirty="0">
                <a:effectLst/>
                <a:latin typeface="Arial"/>
                <a:ea typeface="Times New Roman" panose="02020603050405020304" pitchFamily="18" charset="0"/>
                <a:cs typeface="Arial"/>
              </a:rPr>
              <a:t>It’s important to monitor your listings because information can change, false data tends to multiply online and your data is open for editing. OneList Plus monitors and resubmits your listings so everything stays accurate.</a:t>
            </a:r>
          </a:p>
          <a:p>
            <a:pPr marL="0" marR="0" indent="0" fontAlgn="base">
              <a:lnSpc>
                <a:spcPct val="100000"/>
              </a:lnSpc>
              <a:spcBef>
                <a:spcPts val="0"/>
              </a:spcBef>
              <a:spcAft>
                <a:spcPts val="0"/>
              </a:spcAft>
              <a:buNone/>
            </a:pPr>
            <a:endParaRPr lang="en-US" sz="1100" dirty="0">
              <a:effectLst/>
              <a:latin typeface="Arial"/>
              <a:ea typeface="Times New Roman" panose="02020603050405020304" pitchFamily="18" charset="0"/>
              <a:cs typeface="Arial"/>
            </a:endParaRPr>
          </a:p>
          <a:p>
            <a:pPr marL="0" marR="0" indent="0" fontAlgn="base">
              <a:lnSpc>
                <a:spcPct val="100000"/>
              </a:lnSpc>
              <a:spcBef>
                <a:spcPts val="0"/>
              </a:spcBef>
              <a:spcAft>
                <a:spcPts val="0"/>
              </a:spcAft>
              <a:buNone/>
            </a:pPr>
            <a:r>
              <a:rPr lang="en-US" sz="1100" dirty="0">
                <a:effectLst/>
                <a:latin typeface="Arial"/>
                <a:ea typeface="Times New Roman" panose="02020603050405020304" pitchFamily="18" charset="0"/>
                <a:cs typeface="Arial"/>
              </a:rPr>
              <a:t>With OneList Plus, you get:</a:t>
            </a:r>
          </a:p>
          <a:p>
            <a:pPr marL="0" marR="0" indent="0" fontAlgn="base">
              <a:lnSpc>
                <a:spcPct val="100000"/>
              </a:lnSpc>
              <a:spcBef>
                <a:spcPts val="0"/>
              </a:spcBef>
              <a:spcAft>
                <a:spcPts val="0"/>
              </a:spcAft>
              <a:buNone/>
            </a:pPr>
            <a:endParaRPr lang="en-US" sz="1100" dirty="0">
              <a:effectLst/>
              <a:latin typeface="Arial"/>
              <a:ea typeface="Times New Roman" panose="02020603050405020304" pitchFamily="18" charset="0"/>
              <a:cs typeface="Arial"/>
            </a:endParaRPr>
          </a:p>
          <a:p>
            <a:pPr fontAlgn="base">
              <a:lnSpc>
                <a:spcPct val="100000"/>
              </a:lnSpc>
              <a:spcBef>
                <a:spcPts val="0"/>
              </a:spcBef>
            </a:pPr>
            <a:r>
              <a:rPr lang="en-US" sz="1100" dirty="0">
                <a:effectLst/>
                <a:latin typeface="Arial"/>
                <a:ea typeface="Times New Roman" panose="02020603050405020304" pitchFamily="18" charset="0"/>
                <a:cs typeface="Arial"/>
              </a:rPr>
              <a:t>One-time, one-place submission across different directories</a:t>
            </a:r>
          </a:p>
          <a:p>
            <a:pPr fontAlgn="base">
              <a:lnSpc>
                <a:spcPct val="100000"/>
              </a:lnSpc>
              <a:spcBef>
                <a:spcPts val="0"/>
              </a:spcBef>
            </a:pPr>
            <a:r>
              <a:rPr lang="en-US" sz="1100" dirty="0">
                <a:effectLst/>
                <a:latin typeface="Arial"/>
                <a:ea typeface="Times New Roman" panose="02020603050405020304" pitchFamily="18" charset="0"/>
                <a:cs typeface="Arial"/>
              </a:rPr>
              <a:t>Daily data matching, if the data is correctly listed on directories</a:t>
            </a:r>
          </a:p>
          <a:p>
            <a:pPr marL="0" marR="0" indent="0" fontAlgn="base">
              <a:lnSpc>
                <a:spcPct val="100000"/>
              </a:lnSpc>
              <a:spcBef>
                <a:spcPts val="0"/>
              </a:spcBef>
              <a:spcAft>
                <a:spcPts val="0"/>
              </a:spcAft>
              <a:buNone/>
            </a:pPr>
            <a:endParaRPr lang="en-US" sz="1100" dirty="0">
              <a:latin typeface="Arial"/>
              <a:ea typeface="Times New Roman" panose="02020603050405020304" pitchFamily="18" charset="0"/>
              <a:cs typeface="Arial"/>
            </a:endParaRPr>
          </a:p>
          <a:p>
            <a:pPr marL="0" indent="0" fontAlgn="base">
              <a:lnSpc>
                <a:spcPct val="100000"/>
              </a:lnSpc>
              <a:spcBef>
                <a:spcPts val="0"/>
              </a:spcBef>
              <a:buNone/>
            </a:pPr>
            <a:r>
              <a:rPr lang="en-US" sz="1100" b="1" dirty="0">
                <a:solidFill>
                  <a:srgbClr val="70AD47"/>
                </a:solidFill>
                <a:latin typeface="Arial"/>
                <a:cs typeface="Arial"/>
              </a:rPr>
              <a:t>Directory listings don’t need ongoing management.</a:t>
            </a:r>
          </a:p>
          <a:p>
            <a:pPr marL="0" marR="0" indent="0" fontAlgn="base">
              <a:lnSpc>
                <a:spcPct val="100000"/>
              </a:lnSpc>
              <a:spcBef>
                <a:spcPts val="0"/>
              </a:spcBef>
              <a:spcAft>
                <a:spcPts val="0"/>
              </a:spcAft>
              <a:buNone/>
            </a:pPr>
            <a:endParaRPr lang="en-US" sz="1100" dirty="0">
              <a:effectLst/>
              <a:latin typeface="Arial"/>
              <a:ea typeface="Times New Roman" panose="02020603050405020304" pitchFamily="18" charset="0"/>
              <a:cs typeface="Arial"/>
            </a:endParaRPr>
          </a:p>
          <a:p>
            <a:pPr marL="0" marR="0" indent="0" fontAlgn="base">
              <a:lnSpc>
                <a:spcPct val="100000"/>
              </a:lnSpc>
              <a:spcBef>
                <a:spcPts val="0"/>
              </a:spcBef>
              <a:spcAft>
                <a:spcPts val="0"/>
              </a:spcAft>
              <a:buNone/>
            </a:pPr>
            <a:r>
              <a:rPr lang="en-US" sz="1100" dirty="0">
                <a:effectLst/>
                <a:latin typeface="Arial"/>
                <a:ea typeface="Times New Roman" panose="02020603050405020304" pitchFamily="18" charset="0"/>
                <a:cs typeface="Arial"/>
              </a:rPr>
              <a:t>If your listings or NAP (name, address, phone) information aren’t monitored, they will change over time. The average business listing changes every 6 days just looking at name, address or phone: a total of 61 times per year.</a:t>
            </a:r>
          </a:p>
          <a:p>
            <a:pPr marL="0" marR="0" indent="0" fontAlgn="base">
              <a:lnSpc>
                <a:spcPct val="100000"/>
              </a:lnSpc>
              <a:spcBef>
                <a:spcPts val="0"/>
              </a:spcBef>
              <a:spcAft>
                <a:spcPts val="0"/>
              </a:spcAft>
              <a:buNone/>
            </a:pPr>
            <a:endParaRPr lang="en-US" sz="1100" dirty="0">
              <a:effectLst/>
              <a:latin typeface="Arial"/>
              <a:ea typeface="Times New Roman" panose="02020603050405020304" pitchFamily="18" charset="0"/>
              <a:cs typeface="Arial"/>
            </a:endParaRPr>
          </a:p>
          <a:p>
            <a:pPr marL="0" marR="0" indent="0" fontAlgn="base">
              <a:lnSpc>
                <a:spcPct val="100000"/>
              </a:lnSpc>
              <a:spcBef>
                <a:spcPts val="0"/>
              </a:spcBef>
              <a:spcAft>
                <a:spcPts val="0"/>
              </a:spcAft>
              <a:buNone/>
            </a:pPr>
            <a:r>
              <a:rPr lang="en-US" sz="1100" dirty="0">
                <a:effectLst/>
                <a:latin typeface="Arial"/>
                <a:ea typeface="Times New Roman" panose="02020603050405020304" pitchFamily="18" charset="0"/>
                <a:cs typeface="Arial"/>
              </a:rPr>
              <a:t>Listings may pull from outdated info found across the Internet, so it’s important to monitor your listings to keep them accurate. Using a synced submission like OneList Plus also means the exact same details and formatting are submitted to every directory, which will help search engines like Google rank your business and website. OneList Plus locks your listings if possible and scans your listings daily fixing any issues with your information.</a:t>
            </a:r>
          </a:p>
          <a:p>
            <a:pPr marL="0" marR="0" indent="0" fontAlgn="base">
              <a:lnSpc>
                <a:spcPct val="100000"/>
              </a:lnSpc>
              <a:spcBef>
                <a:spcPts val="0"/>
              </a:spcBef>
              <a:spcAft>
                <a:spcPts val="0"/>
              </a:spcAft>
              <a:buNone/>
            </a:pPr>
            <a:endParaRPr lang="en-US" sz="1100" dirty="0">
              <a:effectLst/>
              <a:latin typeface="Arial"/>
              <a:ea typeface="Times New Roman" panose="02020603050405020304" pitchFamily="18" charset="0"/>
              <a:cs typeface="Arial"/>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6578151" y="301812"/>
            <a:ext cx="4702993" cy="608994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10000"/>
              </a:lnSpc>
              <a:spcBef>
                <a:spcPts val="0"/>
              </a:spcBef>
              <a:spcAft>
                <a:spcPts val="0"/>
              </a:spcAft>
              <a:buNone/>
            </a:pPr>
            <a:r>
              <a:rPr lang="en-US" sz="1100" b="1" dirty="0">
                <a:solidFill>
                  <a:srgbClr val="70AD47"/>
                </a:solidFill>
                <a:latin typeface="Arial"/>
                <a:cs typeface="Arial"/>
              </a:rPr>
              <a:t>No website/Waiting to launch our website.</a:t>
            </a:r>
          </a:p>
          <a:p>
            <a:pPr marL="0" marR="0" indent="0" fontAlgn="base">
              <a:lnSpc>
                <a:spcPct val="11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1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One great thing about online directories is you can start immediately; you don’t need a domain or website in order to get your business listed and found online.</a:t>
            </a:r>
          </a:p>
          <a:p>
            <a:pPr marL="0" marR="0" indent="0" fontAlgn="base">
              <a:lnSpc>
                <a:spcPct val="11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1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If you don’t have a website then you definitely should sign up for listings now. Listings have a quick turn around so your customers can find and get to know your business while you are building the website.</a:t>
            </a:r>
          </a:p>
          <a:p>
            <a:pPr marL="0" marR="0" indent="0" fontAlgn="base">
              <a:lnSpc>
                <a:spcPct val="11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1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If you list your business now, it will show up in Google Maps and other directories. This is going to help customers find you and start building some online equity.</a:t>
            </a:r>
          </a:p>
          <a:p>
            <a:pPr marL="0" marR="0" indent="0" fontAlgn="base">
              <a:lnSpc>
                <a:spcPct val="11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1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Once you have your website or domain ready, we can update your listing and it will get added to all of your directory listings.</a:t>
            </a:r>
          </a:p>
          <a:p>
            <a:pPr marL="0" marR="0" indent="0" fontAlgn="base">
              <a:lnSpc>
                <a:spcPct val="110000"/>
              </a:lnSpc>
              <a:spcBef>
                <a:spcPts val="0"/>
              </a:spcBef>
              <a:spcAft>
                <a:spcPts val="0"/>
              </a:spcAft>
              <a:buNone/>
            </a:pPr>
            <a:endParaRPr lang="en-US" sz="1100" dirty="0">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10000"/>
              </a:lnSpc>
              <a:spcBef>
                <a:spcPts val="0"/>
              </a:spcBef>
              <a:spcAft>
                <a:spcPts val="0"/>
              </a:spcAft>
              <a:buNone/>
            </a:pPr>
            <a:r>
              <a:rPr lang="en-US" sz="1100" b="1" dirty="0">
                <a:solidFill>
                  <a:srgbClr val="70AD47"/>
                </a:solidFill>
                <a:latin typeface="Arial"/>
                <a:cs typeface="Arial"/>
              </a:rPr>
              <a:t>Can you guarantee that I will show up higher in the rankings? </a:t>
            </a:r>
          </a:p>
          <a:p>
            <a:pPr marL="0" marR="0" indent="0" fontAlgn="base">
              <a:lnSpc>
                <a:spcPct val="11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10000"/>
              </a:lnSpc>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Unfortunately, no one can guarantee this to you. The best way for you to potentially appear at the top of the search rankings is to invest heavily in PPC (Pay Per Click). Getting higher rankings and exposure online is costly and doesn’t always ensure that you will get ROI. This OLP offering is an affordable service that will get you listed in the top online directories that you are not listed in today. Maintaining these listings with good quality data will help increase your overall SEO value. Think of it this way, imagine if you had 1 person on the corner telling people who you are and where they can find you. Now imagine if you had 25 or 40 people doing this in a consistent manner. This means that you get in front of more people in more places. This is the power of OneList Plus.</a:t>
            </a:r>
          </a:p>
          <a:p>
            <a:pPr marL="0" marR="0" indent="0" fontAlgn="base">
              <a:lnSpc>
                <a:spcPct val="110000"/>
              </a:lnSpc>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752453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0AD4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Test Your Knowledge</a:t>
            </a:r>
            <a:endParaRPr lang="en-US" sz="3200" dirty="0">
              <a:solidFill>
                <a:schemeClr val="bg1"/>
              </a:solidFill>
            </a:endParaRPr>
          </a:p>
        </p:txBody>
      </p:sp>
    </p:spTree>
    <p:extLst>
      <p:ext uri="{BB962C8B-B14F-4D97-AF65-F5344CB8AC3E}">
        <p14:creationId xmlns:p14="http://schemas.microsoft.com/office/powerpoint/2010/main" val="3109488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48B95AF-89A0-F7E6-BD25-C2989D306C75}"/>
              </a:ext>
            </a:extLst>
          </p:cNvPr>
          <p:cNvSpPr txBox="1">
            <a:spLocks/>
          </p:cNvSpPr>
          <p:nvPr/>
        </p:nvSpPr>
        <p:spPr>
          <a:xfrm>
            <a:off x="6654363" y="467537"/>
            <a:ext cx="4991099"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6. How does a directory listing service contribute to a small business's online visibility?</a:t>
            </a: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a) It improves the website's search engine optimization (SEO) ranking</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b) It guarantees top placement in search engine results pages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c) It automatically generates online advertisements for the business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d) It provides access to a vast network of social media influencers</a:t>
            </a:r>
          </a:p>
          <a:p>
            <a:pPr marL="0" marR="0" indent="0" fontAlgn="base">
              <a:lnSpc>
                <a:spcPct val="120000"/>
              </a:lnSpc>
              <a:spcBef>
                <a:spcPts val="0"/>
              </a:spcBef>
              <a:spcAft>
                <a:spcPts val="0"/>
              </a:spcAft>
              <a:buNone/>
            </a:pPr>
            <a:endParaRPr lang="en-US" sz="10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7. What can happen if a small business does not have a directory listing service in a competitive market?</a:t>
            </a: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a) The business may struggle to differentiate itself from competitors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b) The business may attract excessive attention from potential partners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c) The business may become ineligible for tax benefits and incentives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d) The business may have access to unlimited funding options</a:t>
            </a:r>
          </a:p>
          <a:p>
            <a:pPr marL="0" marR="0" indent="0" fontAlgn="base">
              <a:lnSpc>
                <a:spcPct val="120000"/>
              </a:lnSpc>
              <a:spcBef>
                <a:spcPts val="0"/>
              </a:spcBef>
              <a:spcAft>
                <a:spcPts val="0"/>
              </a:spcAft>
              <a:buNone/>
            </a:pPr>
            <a:endParaRPr lang="en-US" sz="10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8. How can small businesses track the effectiveness of their directory listings?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a) By analyzing employee productivity and efficiency</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b) By offering exclusive discounts and promotions</a:t>
            </a: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c) By monitoring website traffic and conversion rates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d) By conducting market research surveys</a:t>
            </a:r>
          </a:p>
          <a:p>
            <a:pPr marL="0" marR="0" indent="0" fontAlgn="base">
              <a:lnSpc>
                <a:spcPct val="120000"/>
              </a:lnSpc>
              <a:spcBef>
                <a:spcPts val="0"/>
              </a:spcBef>
              <a:spcAft>
                <a:spcPts val="0"/>
              </a:spcAft>
              <a:buNone/>
            </a:pPr>
            <a:endParaRPr lang="en-US" sz="1000" b="1">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9. How can a directory listing service benefit small businesses in terms of cost-effectiveness?</a:t>
            </a: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a) By providing free advertising opportunities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b) By offering discounted office supplies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c) By automating customer service operations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d) By reducing employee salaries</a:t>
            </a:r>
          </a:p>
          <a:p>
            <a:pPr marL="0" marR="0" indent="0" fontAlgn="base">
              <a:lnSpc>
                <a:spcPct val="120000"/>
              </a:lnSpc>
              <a:spcBef>
                <a:spcPts val="0"/>
              </a:spcBef>
              <a:spcAft>
                <a:spcPts val="0"/>
              </a:spcAft>
              <a:buNone/>
            </a:pPr>
            <a:endParaRPr lang="en-US" sz="10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10. What is a potential consequence for a small business without a directory listing service in terms of customer trust?</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a) Increased positive word-of-mouth referrals</a:t>
            </a: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b) Difficulty in verifying the business's legitimacy</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c) Enhanced customer loyalty</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d) Improved customer satisfaction rates</a:t>
            </a:r>
            <a:endParaRPr lang="en-US" sz="1000">
              <a:effectLst/>
              <a:latin typeface="Arial" panose="020B0604020202020204" pitchFamily="34" charset="0"/>
              <a:ea typeface="MS Mincho" panose="02020609040205080304" pitchFamily="49" charset="-128"/>
              <a:cs typeface="Arial" panose="020B0604020202020204" pitchFamily="34" charset="0"/>
            </a:endParaRPr>
          </a:p>
        </p:txBody>
      </p:sp>
      <p:sp>
        <p:nvSpPr>
          <p:cNvPr id="3" name="Content Placeholder 2">
            <a:extLst>
              <a:ext uri="{FF2B5EF4-FFF2-40B4-BE49-F238E27FC236}">
                <a16:creationId xmlns:a16="http://schemas.microsoft.com/office/drawing/2014/main" id="{F1A8AEC5-2DE0-0E77-D11C-EBFFC76E5E74}"/>
              </a:ext>
            </a:extLst>
          </p:cNvPr>
          <p:cNvSpPr txBox="1">
            <a:spLocks/>
          </p:cNvSpPr>
          <p:nvPr/>
        </p:nvSpPr>
        <p:spPr>
          <a:xfrm>
            <a:off x="652272" y="467537"/>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fontAlgn="base">
              <a:lnSpc>
                <a:spcPct val="120000"/>
              </a:lnSpc>
              <a:spcBef>
                <a:spcPts val="0"/>
              </a:spcBef>
              <a:spcAft>
                <a:spcPts val="0"/>
              </a:spcAft>
              <a:buAutoNum type="arabicPeriod"/>
            </a:pPr>
            <a:r>
              <a:rPr lang="en-US" sz="1000" b="1">
                <a:effectLst/>
                <a:latin typeface="Arial" panose="020B0604020202020204" pitchFamily="34" charset="0"/>
                <a:ea typeface="Times New Roman" panose="02020603050405020304" pitchFamily="18" charset="0"/>
                <a:cs typeface="Arial" panose="020B0604020202020204" pitchFamily="34" charset="0"/>
              </a:rPr>
              <a:t>Why are directory listings important for small businesses?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a) They help small businesses sell their products online</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b) They provide discounts on advertising for small businesses</a:t>
            </a: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c) They improve the visibility and online presence of small businesses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d) They offer networking opportunities for small businesses</a:t>
            </a:r>
          </a:p>
          <a:p>
            <a:pPr marL="0" marR="0" indent="0" fontAlgn="base">
              <a:lnSpc>
                <a:spcPct val="120000"/>
              </a:lnSpc>
              <a:spcBef>
                <a:spcPts val="0"/>
              </a:spcBef>
              <a:spcAft>
                <a:spcPts val="0"/>
              </a:spcAft>
              <a:buNone/>
            </a:pPr>
            <a:endParaRPr lang="en-US" sz="10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2. Which of the following is a consequence of not having a directory listing service for a small business?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a) Increased website traffic</a:t>
            </a: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b) Difficulty in reaching the target audience</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c) Expanded product offerings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d) Enhanced customer loyalty</a:t>
            </a:r>
          </a:p>
          <a:p>
            <a:pPr marL="0" marR="0" indent="0" fontAlgn="base">
              <a:lnSpc>
                <a:spcPct val="120000"/>
              </a:lnSpc>
              <a:spcBef>
                <a:spcPts val="0"/>
              </a:spcBef>
              <a:spcAft>
                <a:spcPts val="0"/>
              </a:spcAft>
              <a:buNone/>
            </a:pPr>
            <a:endParaRPr lang="en-US" sz="1000" b="1">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00" b="1">
                <a:latin typeface="Arial" panose="020B0604020202020204" pitchFamily="34" charset="0"/>
                <a:ea typeface="Times New Roman" panose="02020603050405020304" pitchFamily="18" charset="0"/>
                <a:cs typeface="Arial" panose="020B0604020202020204" pitchFamily="34" charset="0"/>
              </a:rPr>
              <a:t>3. </a:t>
            </a:r>
            <a:r>
              <a:rPr lang="en-US" sz="1000" b="1">
                <a:effectLst/>
                <a:latin typeface="Arial" panose="020B0604020202020204" pitchFamily="34" charset="0"/>
                <a:ea typeface="Times New Roman" panose="02020603050405020304" pitchFamily="18" charset="0"/>
                <a:cs typeface="Arial" panose="020B0604020202020204" pitchFamily="34" charset="0"/>
              </a:rPr>
              <a:t>Why is accurate and up-to-date business information important in a directory listing?</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a) It helps small businesses gain more social media followers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b) It ensures consistent branding across different directories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c) It allows small businesses to offer personalized discounts</a:t>
            </a: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d) It helps potential customers find and contact the business easily</a:t>
            </a:r>
          </a:p>
          <a:p>
            <a:pPr marL="0" marR="0" indent="0" fontAlgn="base">
              <a:lnSpc>
                <a:spcPct val="120000"/>
              </a:lnSpc>
              <a:spcBef>
                <a:spcPts val="0"/>
              </a:spcBef>
              <a:spcAft>
                <a:spcPts val="0"/>
              </a:spcAft>
              <a:buNone/>
            </a:pPr>
            <a:endParaRPr lang="en-US" sz="1000" b="1">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4. What is the primary goal of a directory listing service for small businesses?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a) To sell products directly to consumers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b) To provide legal assistance to small businesses</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c) To connect small businesses with potential partners</a:t>
            </a: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d) To increase online visibility and generate leads for small businesses</a:t>
            </a:r>
          </a:p>
          <a:p>
            <a:pPr marL="0" marR="0" indent="0" fontAlgn="base">
              <a:lnSpc>
                <a:spcPct val="120000"/>
              </a:lnSpc>
              <a:spcBef>
                <a:spcPts val="0"/>
              </a:spcBef>
              <a:spcAft>
                <a:spcPts val="0"/>
              </a:spcAft>
              <a:buNone/>
            </a:pPr>
            <a:endParaRPr lang="en-US" sz="1000" b="1">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5. Which of the following is a potential consequence of not having a directory listing service?</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a) Increased revenue and sales growth</a:t>
            </a:r>
          </a:p>
          <a:p>
            <a:pPr marL="0" marR="0" indent="0" fontAlgn="base">
              <a:lnSpc>
                <a:spcPct val="120000"/>
              </a:lnSpc>
              <a:spcBef>
                <a:spcPts val="0"/>
              </a:spcBef>
              <a:spcAft>
                <a:spcPts val="0"/>
              </a:spcAft>
              <a:buNone/>
            </a:pPr>
            <a:r>
              <a:rPr lang="en-US" sz="1000" b="1">
                <a:effectLst/>
                <a:latin typeface="Arial" panose="020B0604020202020204" pitchFamily="34" charset="0"/>
                <a:ea typeface="Times New Roman" panose="02020603050405020304" pitchFamily="18" charset="0"/>
                <a:cs typeface="Arial" panose="020B0604020202020204" pitchFamily="34" charset="0"/>
              </a:rPr>
              <a:t>b) Difficulty in reaching customers outside the local area</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c) Streamlined customer service and support</a:t>
            </a:r>
          </a:p>
          <a:p>
            <a:pPr marL="0" marR="0" indent="0" fontAlgn="base">
              <a:lnSpc>
                <a:spcPct val="120000"/>
              </a:lnSpc>
              <a:spcBef>
                <a:spcPts val="0"/>
              </a:spcBef>
              <a:spcAft>
                <a:spcPts val="0"/>
              </a:spcAft>
              <a:buNone/>
            </a:pPr>
            <a:r>
              <a:rPr lang="en-US" sz="1000">
                <a:effectLst/>
                <a:latin typeface="Arial" panose="020B0604020202020204" pitchFamily="34" charset="0"/>
                <a:ea typeface="Times New Roman" panose="02020603050405020304" pitchFamily="18" charset="0"/>
                <a:cs typeface="Arial" panose="020B0604020202020204" pitchFamily="34" charset="0"/>
              </a:rPr>
              <a:t>d) Lower product quality and customer satisfaction</a:t>
            </a:r>
            <a:endParaRPr lang="en-US" sz="100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2534205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mj-lt"/>
              <a:buAutoNum type="arabicPeriod"/>
            </a:pPr>
            <a:endParaRPr lang="en-US" sz="800" b="0" i="0">
              <a:solidFill>
                <a:srgbClr val="374151"/>
              </a:solidFill>
              <a:effectLst/>
              <a:latin typeface="Söhne"/>
            </a:endParaRPr>
          </a:p>
        </p:txBody>
      </p:sp>
      <p:sp>
        <p:nvSpPr>
          <p:cNvPr id="6" name="Title 1">
            <a:extLst>
              <a:ext uri="{FF2B5EF4-FFF2-40B4-BE49-F238E27FC236}">
                <a16:creationId xmlns:a16="http://schemas.microsoft.com/office/drawing/2014/main" id="{4EC76ECD-341B-9003-FACB-F170EE7B8AD1}"/>
              </a:ext>
            </a:extLst>
          </p:cNvPr>
          <p:cNvSpPr>
            <a:spLocks noGrp="1"/>
          </p:cNvSpPr>
          <p:nvPr>
            <p:ph type="title"/>
          </p:nvPr>
        </p:nvSpPr>
        <p:spPr>
          <a:xfrm>
            <a:off x="838200" y="365125"/>
            <a:ext cx="10515600" cy="1325563"/>
          </a:xfrm>
        </p:spPr>
        <p:txBody>
          <a:bodyPr>
            <a:normAutofit/>
          </a:bodyPr>
          <a:lstStyle/>
          <a:p>
            <a:r>
              <a:rPr lang="en-US" sz="2800" b="1">
                <a:solidFill>
                  <a:srgbClr val="70AD47"/>
                </a:solidFill>
                <a:latin typeface="Arial" panose="020B0604020202020204" pitchFamily="34" charset="0"/>
                <a:ea typeface="MS Mincho" panose="02020609040205080304" pitchFamily="49" charset="-128"/>
              </a:rPr>
              <a:t>Correct Answers</a:t>
            </a:r>
            <a:endParaRPr lang="en-US" sz="6000" b="1">
              <a:solidFill>
                <a:srgbClr val="70AD47"/>
              </a:solidFill>
            </a:endParaRPr>
          </a:p>
        </p:txBody>
      </p:sp>
      <p:sp>
        <p:nvSpPr>
          <p:cNvPr id="2" name="Content Placeholder 2">
            <a:extLst>
              <a:ext uri="{FF2B5EF4-FFF2-40B4-BE49-F238E27FC236}">
                <a16:creationId xmlns:a16="http://schemas.microsoft.com/office/drawing/2014/main" id="{E10B8083-8314-59C1-458A-AF195236A041}"/>
              </a:ext>
            </a:extLst>
          </p:cNvPr>
          <p:cNvSpPr txBox="1">
            <a:spLocks/>
          </p:cNvSpPr>
          <p:nvPr/>
        </p:nvSpPr>
        <p:spPr>
          <a:xfrm>
            <a:off x="915031" y="1363653"/>
            <a:ext cx="4702993" cy="512922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fontAlgn="base">
              <a:lnSpc>
                <a:spcPct val="120000"/>
              </a:lnSpc>
              <a:spcBef>
                <a:spcPts val="0"/>
              </a:spcBef>
              <a:spcAft>
                <a:spcPts val="0"/>
              </a:spcAft>
              <a:buAutoNum type="arabicPeriod"/>
            </a:pPr>
            <a:r>
              <a:rPr lang="en-US" sz="1400">
                <a:effectLst/>
                <a:latin typeface="Arial" panose="020B0604020202020204" pitchFamily="34" charset="0"/>
                <a:ea typeface="Times New Roman" panose="02020603050405020304" pitchFamily="18" charset="0"/>
                <a:cs typeface="Arial" panose="020B0604020202020204" pitchFamily="34" charset="0"/>
              </a:rPr>
              <a:t>C</a:t>
            </a:r>
          </a:p>
          <a:p>
            <a:pPr marR="0" fontAlgn="base">
              <a:lnSpc>
                <a:spcPct val="120000"/>
              </a:lnSpc>
              <a:spcBef>
                <a:spcPts val="0"/>
              </a:spcBef>
              <a:spcAft>
                <a:spcPts val="0"/>
              </a:spcAft>
              <a:buAutoNum type="arabicPeriod"/>
            </a:pPr>
            <a:r>
              <a:rPr lang="en-US" sz="1400">
                <a:latin typeface="Arial" panose="020B0604020202020204" pitchFamily="34" charset="0"/>
                <a:ea typeface="MS Mincho" panose="02020609040205080304" pitchFamily="49" charset="-128"/>
                <a:cs typeface="Arial" panose="020B0604020202020204" pitchFamily="34" charset="0"/>
              </a:rPr>
              <a:t>B</a:t>
            </a:r>
          </a:p>
          <a:p>
            <a:pPr marR="0" fontAlgn="base">
              <a:lnSpc>
                <a:spcPct val="120000"/>
              </a:lnSpc>
              <a:spcBef>
                <a:spcPts val="0"/>
              </a:spcBef>
              <a:spcAft>
                <a:spcPts val="0"/>
              </a:spcAft>
              <a:buAutoNum type="arabicPeriod"/>
            </a:pPr>
            <a:r>
              <a:rPr lang="en-US" sz="1400">
                <a:effectLst/>
                <a:latin typeface="Arial" panose="020B0604020202020204" pitchFamily="34" charset="0"/>
                <a:ea typeface="MS Mincho" panose="02020609040205080304" pitchFamily="49" charset="-128"/>
                <a:cs typeface="Arial" panose="020B0604020202020204" pitchFamily="34" charset="0"/>
              </a:rPr>
              <a:t>D</a:t>
            </a:r>
          </a:p>
          <a:p>
            <a:pPr marR="0" fontAlgn="base">
              <a:lnSpc>
                <a:spcPct val="120000"/>
              </a:lnSpc>
              <a:spcBef>
                <a:spcPts val="0"/>
              </a:spcBef>
              <a:spcAft>
                <a:spcPts val="0"/>
              </a:spcAft>
              <a:buAutoNum type="arabicPeriod"/>
            </a:pPr>
            <a:r>
              <a:rPr lang="en-US" sz="1400">
                <a:latin typeface="Arial" panose="020B0604020202020204" pitchFamily="34" charset="0"/>
                <a:ea typeface="MS Mincho" panose="02020609040205080304" pitchFamily="49" charset="-128"/>
                <a:cs typeface="Arial" panose="020B0604020202020204" pitchFamily="34" charset="0"/>
              </a:rPr>
              <a:t>D</a:t>
            </a:r>
          </a:p>
          <a:p>
            <a:pPr marR="0" fontAlgn="base">
              <a:lnSpc>
                <a:spcPct val="120000"/>
              </a:lnSpc>
              <a:spcBef>
                <a:spcPts val="0"/>
              </a:spcBef>
              <a:spcAft>
                <a:spcPts val="0"/>
              </a:spcAft>
              <a:buAutoNum type="arabicPeriod"/>
            </a:pPr>
            <a:r>
              <a:rPr lang="en-US" sz="1400">
                <a:effectLst/>
                <a:latin typeface="Arial" panose="020B0604020202020204" pitchFamily="34" charset="0"/>
                <a:ea typeface="MS Mincho" panose="02020609040205080304" pitchFamily="49" charset="-128"/>
                <a:cs typeface="Arial" panose="020B0604020202020204" pitchFamily="34" charset="0"/>
              </a:rPr>
              <a:t>B</a:t>
            </a:r>
          </a:p>
          <a:p>
            <a:pPr marR="0" fontAlgn="base">
              <a:lnSpc>
                <a:spcPct val="120000"/>
              </a:lnSpc>
              <a:spcBef>
                <a:spcPts val="0"/>
              </a:spcBef>
              <a:spcAft>
                <a:spcPts val="0"/>
              </a:spcAft>
              <a:buAutoNum type="arabicPeriod"/>
            </a:pPr>
            <a:r>
              <a:rPr lang="en-US" sz="1400">
                <a:latin typeface="Arial" panose="020B0604020202020204" pitchFamily="34" charset="0"/>
                <a:ea typeface="MS Mincho" panose="02020609040205080304" pitchFamily="49" charset="-128"/>
                <a:cs typeface="Arial" panose="020B0604020202020204" pitchFamily="34" charset="0"/>
              </a:rPr>
              <a:t>A</a:t>
            </a:r>
          </a:p>
          <a:p>
            <a:pPr marR="0" fontAlgn="base">
              <a:lnSpc>
                <a:spcPct val="120000"/>
              </a:lnSpc>
              <a:spcBef>
                <a:spcPts val="0"/>
              </a:spcBef>
              <a:spcAft>
                <a:spcPts val="0"/>
              </a:spcAft>
              <a:buAutoNum type="arabicPeriod"/>
            </a:pPr>
            <a:r>
              <a:rPr lang="en-US" sz="1400">
                <a:effectLst/>
                <a:latin typeface="Arial" panose="020B0604020202020204" pitchFamily="34" charset="0"/>
                <a:ea typeface="MS Mincho" panose="02020609040205080304" pitchFamily="49" charset="-128"/>
                <a:cs typeface="Arial" panose="020B0604020202020204" pitchFamily="34" charset="0"/>
              </a:rPr>
              <a:t>A</a:t>
            </a:r>
          </a:p>
          <a:p>
            <a:pPr marR="0" fontAlgn="base">
              <a:lnSpc>
                <a:spcPct val="120000"/>
              </a:lnSpc>
              <a:spcBef>
                <a:spcPts val="0"/>
              </a:spcBef>
              <a:spcAft>
                <a:spcPts val="0"/>
              </a:spcAft>
              <a:buAutoNum type="arabicPeriod"/>
            </a:pPr>
            <a:r>
              <a:rPr lang="en-US" sz="1400">
                <a:latin typeface="Arial" panose="020B0604020202020204" pitchFamily="34" charset="0"/>
                <a:ea typeface="MS Mincho" panose="02020609040205080304" pitchFamily="49" charset="-128"/>
                <a:cs typeface="Arial" panose="020B0604020202020204" pitchFamily="34" charset="0"/>
              </a:rPr>
              <a:t>C</a:t>
            </a:r>
          </a:p>
          <a:p>
            <a:pPr marR="0" fontAlgn="base">
              <a:lnSpc>
                <a:spcPct val="120000"/>
              </a:lnSpc>
              <a:spcBef>
                <a:spcPts val="0"/>
              </a:spcBef>
              <a:spcAft>
                <a:spcPts val="0"/>
              </a:spcAft>
              <a:buAutoNum type="arabicPeriod"/>
            </a:pPr>
            <a:r>
              <a:rPr lang="en-US" sz="1400">
                <a:effectLst/>
                <a:latin typeface="Arial" panose="020B0604020202020204" pitchFamily="34" charset="0"/>
                <a:ea typeface="MS Mincho" panose="02020609040205080304" pitchFamily="49" charset="-128"/>
                <a:cs typeface="Arial" panose="020B0604020202020204" pitchFamily="34" charset="0"/>
              </a:rPr>
              <a:t>A</a:t>
            </a:r>
          </a:p>
          <a:p>
            <a:pPr marR="0" fontAlgn="base">
              <a:lnSpc>
                <a:spcPct val="120000"/>
              </a:lnSpc>
              <a:spcBef>
                <a:spcPts val="0"/>
              </a:spcBef>
              <a:spcAft>
                <a:spcPts val="0"/>
              </a:spcAft>
              <a:buAutoNum type="arabicPeriod"/>
            </a:pPr>
            <a:r>
              <a:rPr lang="en-US" sz="1400">
                <a:latin typeface="Arial" panose="020B0604020202020204" pitchFamily="34" charset="0"/>
                <a:ea typeface="MS Mincho" panose="02020609040205080304" pitchFamily="49" charset="-128"/>
                <a:cs typeface="Arial" panose="020B0604020202020204" pitchFamily="34" charset="0"/>
              </a:rPr>
              <a:t>B</a:t>
            </a:r>
            <a:endParaRPr lang="en-US" sz="140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4266642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2826</Words>
  <Application>Microsoft Office PowerPoint</Application>
  <PresentationFormat>Widescreen</PresentationFormat>
  <Paragraphs>234</Paragraphs>
  <Slides>23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Söhne</vt:lpstr>
      <vt:lpstr>Symbol</vt:lpstr>
      <vt:lpstr>Office Theme</vt:lpstr>
      <vt:lpstr>OneList Plus</vt:lpstr>
      <vt:lpstr>Agenda</vt:lpstr>
      <vt:lpstr>Customers are searching online</vt:lpstr>
      <vt:lpstr>PowerPoint Presentation</vt:lpstr>
      <vt:lpstr>Directory listing increase visibility and accessibility</vt:lpstr>
      <vt:lpstr>PowerPoint Presentation</vt:lpstr>
      <vt:lpstr>PowerPoint Presentation</vt:lpstr>
      <vt:lpstr>PowerPoint Presentation</vt:lpstr>
      <vt:lpstr>How it works</vt:lpstr>
      <vt:lpstr>First step is to connect social and review accounts</vt:lpstr>
      <vt:lpstr>Setup a new profile in four easy steps</vt:lpstr>
      <vt:lpstr>Dashboard that gives you the control over your directory listings profile</vt:lpstr>
      <vt:lpstr>Benefits</vt:lpstr>
      <vt:lpstr>Q &amp; A / Next steps</vt:lpstr>
      <vt:lpstr>Frequently Asked Questions</vt:lpstr>
      <vt:lpstr>PowerPoint Presentation</vt:lpstr>
      <vt:lpstr>Probing Questions</vt:lpstr>
      <vt:lpstr>PowerPoint Presentation</vt:lpstr>
      <vt:lpstr>Objection Handlers</vt:lpstr>
      <vt:lpstr>PowerPoint Presentation</vt:lpstr>
      <vt:lpstr>Test Your Knowledge</vt:lpstr>
      <vt:lpstr>PowerPoint Presentation</vt:lpstr>
      <vt:lpstr>Correct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Shujaat, Faizan</dc:creator>
  <cp:lastModifiedBy>Shujaat, Faizan</cp:lastModifiedBy>
  <cp:revision>1</cp:revision>
  <dcterms:created xsi:type="dcterms:W3CDTF">2023-04-30T02:03:07Z</dcterms:created>
  <dcterms:modified xsi:type="dcterms:W3CDTF">2023-07-09T18:52:34Z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9208c94-c58f-41ad-a867-99d88e16cd43_Enabled">
    <vt:lpwstr>true</vt:lpwstr>
  </property>
  <property fmtid="{D5CDD505-2E9C-101B-9397-08002B2CF9AE}" pid="3" name="MSIP_Label_59208c94-c58f-41ad-a867-99d88e16cd43_SetDate">
    <vt:lpwstr>2023-04-30T03:22:51Z</vt:lpwstr>
  </property>
  <property fmtid="{D5CDD505-2E9C-101B-9397-08002B2CF9AE}" pid="4" name="MSIP_Label_59208c94-c58f-41ad-a867-99d88e16cd43_Method">
    <vt:lpwstr>Privileged</vt:lpwstr>
  </property>
  <property fmtid="{D5CDD505-2E9C-101B-9397-08002B2CF9AE}" pid="5" name="MSIP_Label_59208c94-c58f-41ad-a867-99d88e16cd43_Name">
    <vt:lpwstr>Internal</vt:lpwstr>
  </property>
  <property fmtid="{D5CDD505-2E9C-101B-9397-08002B2CF9AE}" pid="6" name="MSIP_Label_59208c94-c58f-41ad-a867-99d88e16cd43_SiteId">
    <vt:lpwstr>1f7c1878-7408-4f86-b429-cf17f96a717c</vt:lpwstr>
  </property>
  <property fmtid="{D5CDD505-2E9C-101B-9397-08002B2CF9AE}" pid="7" name="MSIP_Label_59208c94-c58f-41ad-a867-99d88e16cd43_ActionId">
    <vt:lpwstr>b44f87c0-6469-451b-ac3d-007cb8ff9e8d</vt:lpwstr>
  </property>
  <property fmtid="{D5CDD505-2E9C-101B-9397-08002B2CF9AE}" pid="8" name="MSIP_Label_59208c94-c58f-41ad-a867-99d88e16cd43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Internal </vt:lpwstr>
  </property>
</Properties>
</file>