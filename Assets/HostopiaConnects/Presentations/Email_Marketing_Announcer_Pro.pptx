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515E25-FF65-4AAC-9712-26DC1366F74A}" v="10" dt="2023-07-09T19:10:20.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76" d="100"/>
          <a:sy n="76" d="100"/>
        </p:scale>
        <p:origin x="67"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CD82E5-0F35-4302-AAD1-6F16D13DB20E}" type="datetimeFigureOut">
              <a:rPr lang="en-US" smtClean="0"/>
              <a:t>7/9/2023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8727F5-8616-400E-8AE3-0D879EB67517}" type="slidenum">
              <a:rPr lang="en-US" smtClean="0"/>
              <a:t>‹#›</a:t>
            </a:fld>
            <a:endParaRPr lang="en-US"/>
          </a:p>
        </p:txBody>
      </p:sp>
    </p:spTree>
    <p:extLst>
      <p:ext uri="{BB962C8B-B14F-4D97-AF65-F5344CB8AC3E}">
        <p14:creationId xmlns:p14="http://schemas.microsoft.com/office/powerpoint/2010/main" val="31649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16</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18</a:t>
            </a:fld>
            <a:endParaRPr lang="en-US"/>
          </a:p>
        </p:txBody>
      </p:sp>
    </p:spTree>
    <p:extLst>
      <p:ext uri="{BB962C8B-B14F-4D97-AF65-F5344CB8AC3E}">
        <p14:creationId xmlns:p14="http://schemas.microsoft.com/office/powerpoint/2010/main" val="67054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20</a:t>
            </a:fld>
            <a:endParaRPr lang="en-US"/>
          </a:p>
        </p:txBody>
      </p:sp>
    </p:spTree>
    <p:extLst>
      <p:ext uri="{BB962C8B-B14F-4D97-AF65-F5344CB8AC3E}">
        <p14:creationId xmlns:p14="http://schemas.microsoft.com/office/powerpoint/2010/main" val="3968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21</a:t>
            </a:fld>
            <a:endParaRPr lang="en-US"/>
          </a:p>
        </p:txBody>
      </p:sp>
    </p:spTree>
    <p:extLst>
      <p:ext uri="{BB962C8B-B14F-4D97-AF65-F5344CB8AC3E}">
        <p14:creationId xmlns:p14="http://schemas.microsoft.com/office/powerpoint/2010/main" val="104708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B7DFA0-4D9A-4002-B4D9-D990D290019E}" type="slidenum">
              <a:rPr lang="en-US" smtClean="0"/>
              <a:t>‹#›</a:t>
            </a:fld>
            <a:endParaRPr lang="en-US"/>
          </a:p>
        </p:txBody>
      </p:sp>
      <p:sp>
        <p:nvSpPr>
          <p:cNvPr id="8" name="TextBox 7">
            <a:extLst>
              <a:ext uri="{FF2B5EF4-FFF2-40B4-BE49-F238E27FC236}">
                <a16:creationId xmlns:a16="http://schemas.microsoft.com/office/drawing/2014/main" id="{248E54A4-C7C2-B6A8-FB3A-03C6649A3867}"/>
              </a:ext>
            </a:extLst>
          </p:cNvPr>
          <p:cNvSpPr txBox="1"/>
          <p:nvPr>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50" r:id="rId1"/>
    <p:sldLayoutId id="214748364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salecycle.com/blog/stats/18-essential-email-marketing-statistic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zerobounce.net/blog/email-resources/email-marketing/email-marketing-statistics-2021?campaignid=9924008626&amp;groupid=128944658127&amp;adid=535945692369&amp;gclid=EAIaIQobChMImPWVkLzK_gIVL-bjBx2XxQYBEAAYAiAAEgLg8vD_BwE"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oberlo.com/blog/email-marketing-statistics" TargetMode="External"/><Relationship Id="rId5" Type="http://schemas.openxmlformats.org/officeDocument/2006/relationships/image" Target="../media/image4.png"/><Relationship Id="rId4" Type="http://schemas.openxmlformats.org/officeDocument/2006/relationships/hyperlink" Target="https://www.salecycle.com/blog/stats/18-essential-email-marketing-statistic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fontScale="90000"/>
          </a:bodyPr>
          <a:lstStyle/>
          <a:p>
            <a:pPr algn="l"/>
            <a:r>
              <a:rPr lang="en-US" b="1" dirty="0">
                <a:solidFill>
                  <a:schemeClr val="accent1"/>
                </a:solidFill>
                <a:latin typeface="Arial" panose="020B0604020202020204" pitchFamily="34" charset="0"/>
                <a:cs typeface="Arial" panose="020B0604020202020204" pitchFamily="34" charset="0"/>
              </a:rPr>
              <a:t>Email Marketing/ Announcer Pro</a:t>
            </a: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a:normAutofit/>
          </a:bodyPr>
          <a:lstStyle/>
          <a:p>
            <a:pPr algn="l"/>
            <a:r>
              <a:rPr lang="en-US" sz="1400" b="1" dirty="0">
                <a:effectLst/>
                <a:latin typeface="Arial" panose="020B0604020202020204" pitchFamily="34" charset="0"/>
                <a:ea typeface="MS Mincho" panose="02020609040205080304" pitchFamily="49" charset="-128"/>
              </a:rPr>
              <a:t>Engage with existing customers, promote products and drive traffic.</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chemeClr val="accent1"/>
                </a:solidFill>
                <a:effectLst/>
                <a:latin typeface="Arial" panose="020B0604020202020204" pitchFamily="34" charset="0"/>
                <a:cs typeface="Arial" panose="020B0604020202020204" pitchFamily="34" charset="0"/>
              </a:rPr>
              <a:t>Agenda</a:t>
            </a:r>
          </a:p>
        </p:txBody>
      </p:sp>
      <p:sp>
        <p:nvSpPr>
          <p:cNvPr id="23" name="Rectangle 22">
            <a:extLst>
              <a:ext uri="{FF2B5EF4-FFF2-40B4-BE49-F238E27FC236}">
                <a16:creationId xmlns:a16="http://schemas.microsoft.com/office/drawing/2014/main" id="{C72990FB-DE43-7032-61F9-AF5F76786CE5}"/>
              </a:ext>
            </a:extLst>
          </p:cNvPr>
          <p:cNvSpPr/>
          <p:nvPr/>
        </p:nvSpPr>
        <p:spPr>
          <a:xfrm>
            <a:off x="3630746"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Announcer Pro</a:t>
            </a:r>
          </a:p>
        </p:txBody>
      </p:sp>
      <p:sp>
        <p:nvSpPr>
          <p:cNvPr id="21" name="Rectangle 20">
            <a:extLst>
              <a:ext uri="{FF2B5EF4-FFF2-40B4-BE49-F238E27FC236}">
                <a16:creationId xmlns:a16="http://schemas.microsoft.com/office/drawing/2014/main" id="{5EA074DA-D237-1567-4FD7-E70D2422830C}"/>
              </a:ext>
            </a:extLst>
          </p:cNvPr>
          <p:cNvSpPr/>
          <p:nvPr/>
        </p:nvSpPr>
        <p:spPr>
          <a:xfrm>
            <a:off x="6416069" y="402126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Features &amp; Benefits Overview</a:t>
            </a:r>
          </a:p>
        </p:txBody>
      </p:sp>
      <p:sp>
        <p:nvSpPr>
          <p:cNvPr id="19" name="Rectangle 18">
            <a:extLst>
              <a:ext uri="{FF2B5EF4-FFF2-40B4-BE49-F238E27FC236}">
                <a16:creationId xmlns:a16="http://schemas.microsoft.com/office/drawing/2014/main" id="{09A63A92-4674-1FF0-F1CC-F3F721EDFC6C}"/>
              </a:ext>
            </a:extLst>
          </p:cNvPr>
          <p:cNvSpPr/>
          <p:nvPr/>
        </p:nvSpPr>
        <p:spPr>
          <a:xfrm>
            <a:off x="9201396" y="4004597"/>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pPr algn="ctr"/>
            <a:r>
              <a:rPr lang="en-US" dirty="0">
                <a:latin typeface="Arial" panose="020B0604020202020204" pitchFamily="34" charset="0"/>
                <a:cs typeface="Arial" panose="020B0604020202020204" pitchFamily="34" charset="0"/>
              </a:rPr>
              <a:t>Addressing Common Concerns</a:t>
            </a:r>
          </a:p>
        </p:txBody>
      </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1</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2</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3</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4</a:t>
              </a:r>
              <a:endParaRPr lang="en-US" sz="7200" b="1" kern="1200" cap="none" dirty="0">
                <a:solidFill>
                  <a:srgbClr val="24282B"/>
                </a:solidFill>
                <a:latin typeface="Arial" panose="020B0604020202020204" pitchFamily="34" charset="0"/>
                <a:cs typeface="Arial" panose="020B0604020202020204" pitchFamily="34" charset="0"/>
              </a:endParaRPr>
            </a:p>
          </p:txBody>
        </p:sp>
      </p:grpSp>
      <p:sp>
        <p:nvSpPr>
          <p:cNvPr id="3" name="TextBox 2">
            <a:extLst>
              <a:ext uri="{FF2B5EF4-FFF2-40B4-BE49-F238E27FC236}">
                <a16:creationId xmlns:a16="http://schemas.microsoft.com/office/drawing/2014/main" id="{95FB3501-A264-441C-BA6F-33110B7081D2}"/>
              </a:ext>
            </a:extLst>
          </p:cNvPr>
          <p:cNvSpPr txBox="1"/>
          <p:nvPr/>
        </p:nvSpPr>
        <p:spPr>
          <a:xfrm>
            <a:off x="1160687" y="3919603"/>
            <a:ext cx="2055223"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Importance of Announcer Pro</a:t>
            </a:r>
          </a:p>
        </p:txBody>
      </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chemeClr val="accent1"/>
                </a:solidFill>
                <a:effectLst/>
                <a:latin typeface="Arial"/>
                <a:cs typeface="Arial"/>
              </a:rPr>
              <a:t>Keep businesses top of mind </a:t>
            </a: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705488"/>
            <a:ext cx="10515600" cy="2081842"/>
          </a:xfrm>
        </p:spPr>
        <p:txBody>
          <a:bodyPr vert="horz" lIns="91440" tIns="45720" rIns="91440" bIns="45720" rtlCol="0" anchor="t">
            <a:noAutofit/>
          </a:bodyPr>
          <a:lstStyle/>
          <a:p>
            <a:pPr marL="0" indent="0">
              <a:buNone/>
            </a:pPr>
            <a:r>
              <a:rPr lang="en-US" sz="1400" dirty="0">
                <a:latin typeface="Arial"/>
                <a:cs typeface="Arial"/>
              </a:rPr>
              <a:t>By reaching out to customers on a regular basis with offers, coupons and updates it helps keep businesses top of mind. This ensures that when customers are ready to make a purchase they think of a specific small business and their products and services.</a:t>
            </a:r>
          </a:p>
          <a:p>
            <a:pPr marL="0" indent="0">
              <a:buNone/>
            </a:pPr>
            <a:endParaRPr lang="en-US" sz="1400" dirty="0">
              <a:latin typeface="Arial"/>
              <a:cs typeface="Arial"/>
            </a:endParaRPr>
          </a:p>
          <a:p>
            <a:pPr marL="0" indent="0">
              <a:buNone/>
            </a:pPr>
            <a:r>
              <a:rPr lang="en-US" sz="1400" dirty="0">
                <a:latin typeface="Arial"/>
                <a:cs typeface="Arial"/>
              </a:rPr>
              <a:t>Creating multiple campaigns allows small business owners to target the right customer at the right time with the right offer. Reaching out to customers helps to increase sales and brand loyalty.</a:t>
            </a:r>
          </a:p>
          <a:p>
            <a:pPr marL="0" indent="0">
              <a:buNone/>
            </a:pPr>
            <a:endParaRPr lang="en-US" sz="1400" dirty="0">
              <a:latin typeface="Arial"/>
              <a:cs typeface="Arial"/>
            </a:endParaRPr>
          </a:p>
          <a:p>
            <a:pPr marL="0" indent="0">
              <a:buNone/>
            </a:pPr>
            <a:r>
              <a:rPr lang="en-US" sz="1400" dirty="0">
                <a:latin typeface="Arial"/>
                <a:cs typeface="Arial"/>
              </a:rPr>
              <a:t>As per local </a:t>
            </a:r>
            <a:r>
              <a:rPr lang="en-US" sz="1400" dirty="0">
                <a:latin typeface="Arial"/>
                <a:cs typeface="Arial"/>
                <a:hlinkClick r:id="rId3"/>
              </a:rPr>
              <a:t>Salescycle, 2022</a:t>
            </a:r>
            <a:endParaRPr lang="en-US" sz="14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dirty="0">
                <a:solidFill>
                  <a:schemeClr val="accent1"/>
                </a:solidFill>
                <a:latin typeface="Arial" panose="020B0604020202020204" pitchFamily="34" charset="0"/>
                <a:cs typeface="Arial" panose="020B0604020202020204" pitchFamily="34" charset="0"/>
              </a:rPr>
              <a:t>50%</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47213" y="4006888"/>
            <a:ext cx="2564219" cy="11456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latin typeface="Arial" panose="020B0604020202020204" pitchFamily="34" charset="0"/>
                <a:cs typeface="Arial" panose="020B0604020202020204" pitchFamily="34" charset="0"/>
              </a:rPr>
              <a:t>Of people buy from marketing emails at least once per month</a:t>
            </a: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2" descr="Email outline">
            <a:extLst>
              <a:ext uri="{FF2B5EF4-FFF2-40B4-BE49-F238E27FC236}">
                <a16:creationId xmlns:a16="http://schemas.microsoft.com/office/drawing/2014/main" id="{29522E81-52DC-E2A2-266A-03CE0594A3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72748" y="3021961"/>
            <a:ext cx="3529637" cy="3529637"/>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2799462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accent1"/>
                </a:solidFill>
                <a:latin typeface="Arial" panose="020B0604020202020204" pitchFamily="34" charset="0"/>
                <a:cs typeface="Arial" panose="020B0604020202020204" pitchFamily="34" charset="0"/>
              </a:rPr>
              <a:t>Cost of not connecting with customers</a:t>
            </a:r>
          </a:p>
        </p:txBody>
      </p:sp>
      <p:sp>
        <p:nvSpPr>
          <p:cNvPr id="182" name="Google Shape;3082;p148">
            <a:extLst>
              <a:ext uri="{FF2B5EF4-FFF2-40B4-BE49-F238E27FC236}">
                <a16:creationId xmlns:a16="http://schemas.microsoft.com/office/drawing/2014/main" id="{F1B063E6-A023-FE8B-BE28-B874FAFB4F80}"/>
              </a:ext>
            </a:extLst>
          </p:cNvPr>
          <p:cNvSpPr txBox="1">
            <a:spLocks/>
          </p:cNvSpPr>
          <p:nvPr/>
        </p:nvSpPr>
        <p:spPr>
          <a:xfrm>
            <a:off x="990600" y="1642234"/>
            <a:ext cx="4499017" cy="1663028"/>
          </a:xfrm>
          <a:prstGeom prst="rect">
            <a:avLst/>
          </a:prstGeom>
          <a:solidFill>
            <a:schemeClr val="accent1"/>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Lack of customer engagement</a:t>
            </a:r>
          </a:p>
          <a:p>
            <a:pPr marL="171450" indent="-171450" algn="ctr">
              <a:spcBef>
                <a:spcPts val="0"/>
              </a:spcBef>
              <a:buClr>
                <a:srgbClr val="47464B"/>
              </a:buClr>
              <a:buFont typeface="Arial"/>
              <a:buNone/>
            </a:pPr>
            <a:r>
              <a:rPr lang="en-US" sz="1200" dirty="0">
                <a:solidFill>
                  <a:schemeClr val="bg1"/>
                </a:solidFill>
                <a:latin typeface="Arial" panose="020B0604020202020204" pitchFamily="34" charset="0"/>
                <a:cs typeface="Arial" panose="020B0604020202020204" pitchFamily="34" charset="0"/>
              </a:rPr>
              <a:t>Businesses miss out on opportunities to build relationships with customers and foster loyalty. </a:t>
            </a:r>
          </a:p>
        </p:txBody>
      </p:sp>
      <p:sp>
        <p:nvSpPr>
          <p:cNvPr id="188" name="Google Shape;3082;p148">
            <a:extLst>
              <a:ext uri="{FF2B5EF4-FFF2-40B4-BE49-F238E27FC236}">
                <a16:creationId xmlns:a16="http://schemas.microsoft.com/office/drawing/2014/main" id="{11CF0FE0-172D-2DDC-2021-98427E780148}"/>
              </a:ext>
            </a:extLst>
          </p:cNvPr>
          <p:cNvSpPr txBox="1">
            <a:spLocks/>
          </p:cNvSpPr>
          <p:nvPr/>
        </p:nvSpPr>
        <p:spPr>
          <a:xfrm>
            <a:off x="990600" y="3890719"/>
            <a:ext cx="4499017" cy="1663027"/>
          </a:xfrm>
          <a:prstGeom prst="rect">
            <a:avLst/>
          </a:prstGeom>
          <a:solidFill>
            <a:schemeClr val="accent1"/>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Missed sales opportunities</a:t>
            </a:r>
          </a:p>
          <a:p>
            <a:pPr marL="171450" indent="-171450" algn="ctr">
              <a:spcBef>
                <a:spcPts val="0"/>
              </a:spcBef>
              <a:buClr>
                <a:srgbClr val="47464B"/>
              </a:buClr>
              <a:buFont typeface="Arial"/>
              <a:buNone/>
            </a:pPr>
            <a:r>
              <a:rPr lang="en-US" sz="1200" dirty="0">
                <a:solidFill>
                  <a:schemeClr val="bg1"/>
                </a:solidFill>
                <a:latin typeface="Arial"/>
                <a:cs typeface="Arial"/>
              </a:rPr>
              <a:t>Businesses may lose out on revenue from new customers by not providing them with the right offer at the right time.</a:t>
            </a:r>
          </a:p>
          <a:p>
            <a:pPr marL="171450" indent="-171450" algn="ctr">
              <a:spcBef>
                <a:spcPts val="0"/>
              </a:spcBef>
              <a:buClr>
                <a:srgbClr val="47464B"/>
              </a:buClr>
              <a:buFont typeface="Arial"/>
              <a:buNone/>
            </a:pPr>
            <a:endParaRPr lang="en-US" sz="1200" dirty="0">
              <a:solidFill>
                <a:schemeClr val="bg1"/>
              </a:solidFill>
              <a:latin typeface="Arial"/>
              <a:cs typeface="Arial"/>
            </a:endParaRPr>
          </a:p>
        </p:txBody>
      </p:sp>
      <p:sp>
        <p:nvSpPr>
          <p:cNvPr id="2" name="Google Shape;3082;p148">
            <a:extLst>
              <a:ext uri="{FF2B5EF4-FFF2-40B4-BE49-F238E27FC236}">
                <a16:creationId xmlns:a16="http://schemas.microsoft.com/office/drawing/2014/main" id="{4C74B299-19BD-37FD-4C0B-324DD8337EA2}"/>
              </a:ext>
            </a:extLst>
          </p:cNvPr>
          <p:cNvSpPr txBox="1">
            <a:spLocks/>
          </p:cNvSpPr>
          <p:nvPr/>
        </p:nvSpPr>
        <p:spPr>
          <a:xfrm>
            <a:off x="6373115" y="1642234"/>
            <a:ext cx="4499017" cy="1663028"/>
          </a:xfrm>
          <a:prstGeom prst="rect">
            <a:avLst/>
          </a:prstGeom>
          <a:solidFill>
            <a:schemeClr val="accent1"/>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Lack of insights</a:t>
            </a:r>
            <a:endParaRPr lang="en-US" sz="1200" b="1" dirty="0">
              <a:solidFill>
                <a:schemeClr val="bg1"/>
              </a:solidFill>
              <a:latin typeface="Arial" panose="020B0604020202020204" pitchFamily="34" charset="0"/>
              <a:cs typeface="Arial" panose="020B0604020202020204" pitchFamily="34" charset="0"/>
            </a:endParaRPr>
          </a:p>
          <a:p>
            <a:pPr marL="171450" indent="-171450" algn="ctr">
              <a:spcBef>
                <a:spcPts val="0"/>
              </a:spcBef>
              <a:buNone/>
            </a:pPr>
            <a:r>
              <a:rPr lang="en-US" sz="1200" dirty="0">
                <a:solidFill>
                  <a:schemeClr val="bg1"/>
                </a:solidFill>
                <a:latin typeface="Arial"/>
                <a:cs typeface="Arial"/>
              </a:rPr>
              <a:t>Email communication with customers can facilitate in-person sales, enabling businesses to provide recommendations for complementary products alongside the initial purchase.</a:t>
            </a:r>
            <a:endParaRPr lang="en-US" sz="3200" dirty="0">
              <a:solidFill>
                <a:schemeClr val="bg1"/>
              </a:solidFill>
            </a:endParaRPr>
          </a:p>
        </p:txBody>
      </p:sp>
      <p:sp>
        <p:nvSpPr>
          <p:cNvPr id="3" name="Google Shape;3082;p148">
            <a:extLst>
              <a:ext uri="{FF2B5EF4-FFF2-40B4-BE49-F238E27FC236}">
                <a16:creationId xmlns:a16="http://schemas.microsoft.com/office/drawing/2014/main" id="{3D89E684-0128-5BCC-C8C8-FA0DEF56876F}"/>
              </a:ext>
            </a:extLst>
          </p:cNvPr>
          <p:cNvSpPr txBox="1">
            <a:spLocks/>
          </p:cNvSpPr>
          <p:nvPr/>
        </p:nvSpPr>
        <p:spPr>
          <a:xfrm>
            <a:off x="6373115" y="3890720"/>
            <a:ext cx="4499017" cy="1663026"/>
          </a:xfrm>
          <a:prstGeom prst="rect">
            <a:avLst/>
          </a:prstGeom>
          <a:solidFill>
            <a:schemeClr val="accent1"/>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None/>
            </a:pPr>
            <a:r>
              <a:rPr lang="en-US" sz="1200" b="1" dirty="0">
                <a:solidFill>
                  <a:schemeClr val="bg1"/>
                </a:solidFill>
                <a:latin typeface="Arial"/>
                <a:ea typeface="+mn-lt"/>
                <a:cs typeface="Arial"/>
              </a:rPr>
              <a:t>Not staying top of mind</a:t>
            </a:r>
          </a:p>
          <a:p>
            <a:pPr marL="171450" indent="-171450" algn="ctr">
              <a:spcBef>
                <a:spcPts val="0"/>
              </a:spcBef>
              <a:buNone/>
            </a:pPr>
            <a:r>
              <a:rPr lang="en-US" sz="1200" dirty="0">
                <a:solidFill>
                  <a:schemeClr val="bg1"/>
                </a:solidFill>
                <a:latin typeface="Arial"/>
                <a:ea typeface="+mn-lt"/>
                <a:cs typeface="Arial"/>
              </a:rPr>
              <a:t>By emailing customers on a consistent basis businesses stay top of mind and existing customers will recommend the business to new customers.</a:t>
            </a:r>
          </a:p>
        </p:txBody>
      </p:sp>
    </p:spTree>
    <p:extLst>
      <p:ext uri="{BB962C8B-B14F-4D97-AF65-F5344CB8AC3E}">
        <p14:creationId xmlns:p14="http://schemas.microsoft.com/office/powerpoint/2010/main" val="62292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081;p148">
            <a:extLst>
              <a:ext uri="{FF2B5EF4-FFF2-40B4-BE49-F238E27FC236}">
                <a16:creationId xmlns:a16="http://schemas.microsoft.com/office/drawing/2014/main" id="{382D0398-FC79-9A79-8358-CC4B1D584724}"/>
              </a:ext>
            </a:extLst>
          </p:cNvPr>
          <p:cNvPicPr preferRelativeResize="0"/>
          <p:nvPr/>
        </p:nvPicPr>
        <p:blipFill rotWithShape="1">
          <a:blip r:embed="rId3">
            <a:alphaModFix/>
            <a:duotone>
              <a:schemeClr val="accent5">
                <a:shade val="45000"/>
                <a:satMod val="135000"/>
              </a:schemeClr>
              <a:prstClr val="white"/>
            </a:duotone>
          </a:blip>
          <a:srcRect/>
          <a:stretch/>
        </p:blipFill>
        <p:spPr>
          <a:xfrm>
            <a:off x="4965300" y="1843618"/>
            <a:ext cx="2667000" cy="3117850"/>
          </a:xfrm>
          <a:prstGeom prst="rect">
            <a:avLst/>
          </a:prstGeom>
          <a:noFill/>
          <a:ln>
            <a:noFill/>
          </a:ln>
        </p:spPr>
      </p:pic>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a:xfrm>
            <a:off x="838199" y="339958"/>
            <a:ext cx="10515600" cy="1325563"/>
          </a:xfrm>
        </p:spPr>
        <p:txBody>
          <a:bodyPr>
            <a:normAutofit/>
          </a:bodyPr>
          <a:lstStyle/>
          <a:p>
            <a:r>
              <a:rPr lang="en-US" sz="3200" b="1" i="0" dirty="0">
                <a:solidFill>
                  <a:schemeClr val="accent1"/>
                </a:solidFill>
                <a:effectLst/>
                <a:latin typeface="Arial"/>
                <a:cs typeface="Arial"/>
              </a:rPr>
              <a:t>Impact of email marketing on businesses</a:t>
            </a:r>
            <a:endParaRPr lang="en-US" sz="3200" b="1" dirty="0">
              <a:solidFill>
                <a:schemeClr val="accent1"/>
              </a:solidFill>
              <a:latin typeface="Arial"/>
              <a:cs typeface="Arial"/>
            </a:endParaRP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4882465" y="4731318"/>
            <a:ext cx="3023319" cy="70771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rPr>
              <a:t>of respondents say that marketing emails have influenced their purchase</a:t>
            </a:r>
          </a:p>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hlinkClick r:id="rId4"/>
              </a:rPr>
              <a:t>Salecycle</a:t>
            </a:r>
            <a:endParaRPr lang="en-US" sz="1200" dirty="0"/>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5">
            <a:alphaModFix/>
            <a:duotone>
              <a:schemeClr val="accent5">
                <a:shade val="45000"/>
                <a:satMod val="135000"/>
              </a:schemeClr>
              <a:prstClr val="white"/>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Calibri"/>
                <a:ea typeface="Calibri"/>
                <a:cs typeface="Calibri"/>
                <a:sym typeface="Calibri"/>
              </a:rPr>
              <a:t>50%</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8081434" y="4694759"/>
            <a:ext cx="3272365" cy="779935"/>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SMB’s still rely on email as their primary customer acquisition channel</a:t>
            </a:r>
          </a:p>
          <a:p>
            <a:pPr marL="171450" indent="-171450" algn="ctr">
              <a:spcBef>
                <a:spcPts val="0"/>
              </a:spcBef>
              <a:buClr>
                <a:srgbClr val="47464B"/>
              </a:buClr>
              <a:buFont typeface="Arial"/>
              <a:buNone/>
            </a:pPr>
            <a:r>
              <a:rPr lang="en-US" sz="1200" dirty="0">
                <a:latin typeface="Arial"/>
                <a:cs typeface="Arial"/>
                <a:hlinkClick r:id="rId6"/>
              </a:rPr>
              <a:t>Oberlo</a:t>
            </a:r>
            <a:endParaRPr lang="en-US" sz="1200" dirty="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1135923" y="4787104"/>
            <a:ext cx="3272365" cy="568149"/>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customers are more likely to open an email if it includes a personalized subject line</a:t>
            </a:r>
          </a:p>
          <a:p>
            <a:pPr marL="171450" indent="-171450" algn="ctr">
              <a:spcBef>
                <a:spcPts val="0"/>
              </a:spcBef>
              <a:buClr>
                <a:srgbClr val="47464B"/>
              </a:buClr>
              <a:buFont typeface="Arial"/>
              <a:buNone/>
            </a:pPr>
            <a:r>
              <a:rPr lang="en-US" sz="1200" dirty="0">
                <a:latin typeface="Arial"/>
                <a:cs typeface="Arial"/>
                <a:hlinkClick r:id="rId7"/>
              </a:rPr>
              <a:t>Zero Bounce</a:t>
            </a:r>
            <a:endParaRPr lang="en-US" sz="1200" dirty="0">
              <a:latin typeface="Arial"/>
              <a:cs typeface="Arial"/>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5">
            <a:alphaModFix/>
            <a:duotone>
              <a:schemeClr val="accent5">
                <a:shade val="45000"/>
                <a:satMod val="135000"/>
              </a:schemeClr>
              <a:prstClr val="white"/>
            </a:duotone>
          </a:blip>
          <a:srcRect/>
          <a:stretch/>
        </p:blipFill>
        <p:spPr>
          <a:xfrm rot="1800000">
            <a:off x="8461668" y="173443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Calibri"/>
                <a:ea typeface="Calibri"/>
                <a:cs typeface="Calibri"/>
                <a:sym typeface="Calibri"/>
              </a:rPr>
              <a:t>81%</a:t>
            </a:r>
            <a:endParaRPr lang="en-US" sz="2400" b="1" dirty="0">
              <a:solidFill>
                <a:srgbClr val="47464B"/>
              </a:solidFill>
              <a:latin typeface="Calibri"/>
              <a:ea typeface="Calibri"/>
              <a:cs typeface="Calibri"/>
            </a:endParaRPr>
          </a:p>
        </p:txBody>
      </p:sp>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07587" y="3220882"/>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Calibri"/>
                <a:ea typeface="Calibri"/>
                <a:cs typeface="Calibri"/>
                <a:sym typeface="Calibri"/>
              </a:rPr>
              <a:t>59%</a:t>
            </a:r>
            <a:endParaRPr lang="en-US" sz="2400" b="1" dirty="0">
              <a:solidFill>
                <a:srgbClr val="47464B"/>
              </a:solidFill>
              <a:latin typeface="Calibri"/>
              <a:ea typeface="Calibri"/>
              <a:cs typeface="Calibri"/>
            </a:endParaRPr>
          </a:p>
        </p:txBody>
      </p:sp>
    </p:spTree>
    <p:extLst>
      <p:ext uri="{BB962C8B-B14F-4D97-AF65-F5344CB8AC3E}">
        <p14:creationId xmlns:p14="http://schemas.microsoft.com/office/powerpoint/2010/main" val="149628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04672" y="1658678"/>
            <a:ext cx="4765949" cy="4625163"/>
          </a:xfrm>
        </p:spPr>
        <p:txBody>
          <a:bodyPr anchor="t">
            <a:normAutofit/>
          </a:bodyPr>
          <a:lstStyle/>
          <a:p>
            <a:pPr marL="342900" indent="-342900">
              <a:lnSpc>
                <a:spcPct val="100000"/>
              </a:lnSpc>
              <a:spcBef>
                <a:spcPts val="1800"/>
              </a:spcBef>
              <a:buFont typeface="Symbol" panose="05050102010706020507" pitchFamily="18" charset="2"/>
              <a:buChar char=""/>
            </a:pPr>
            <a:r>
              <a:rPr lang="en-US" sz="1800" dirty="0">
                <a:latin typeface="Arial"/>
                <a:ea typeface="Cambria"/>
                <a:cs typeface="Arial"/>
              </a:rPr>
              <a:t>Look Professional</a:t>
            </a:r>
          </a:p>
          <a:p>
            <a:pPr marL="342900" indent="-342900">
              <a:lnSpc>
                <a:spcPct val="100000"/>
              </a:lnSpc>
              <a:spcBef>
                <a:spcPts val="1800"/>
              </a:spcBef>
              <a:buFont typeface="Symbol" panose="05050102010706020507" pitchFamily="18" charset="2"/>
              <a:buChar char=""/>
            </a:pPr>
            <a:r>
              <a:rPr lang="en-US" sz="1800" dirty="0">
                <a:latin typeface="Arial"/>
                <a:ea typeface="Cambria"/>
                <a:cs typeface="Arial"/>
              </a:rPr>
              <a:t>Ease of use</a:t>
            </a:r>
          </a:p>
          <a:p>
            <a:pPr marL="342900" indent="-342900">
              <a:lnSpc>
                <a:spcPct val="100000"/>
              </a:lnSpc>
              <a:spcBef>
                <a:spcPts val="1800"/>
              </a:spcBef>
              <a:buFont typeface="Symbol" panose="05050102010706020507" pitchFamily="18" charset="2"/>
              <a:buChar char=""/>
            </a:pPr>
            <a:r>
              <a:rPr lang="en-US" sz="1800" dirty="0">
                <a:effectLst/>
                <a:latin typeface="Arial"/>
                <a:ea typeface="Cambria"/>
                <a:cs typeface="Arial"/>
              </a:rPr>
              <a:t>Stay connected </a:t>
            </a:r>
            <a:endParaRPr lang="en-US" sz="1800" dirty="0">
              <a:effectLst/>
              <a:latin typeface="Arial" panose="020B0604020202020204" pitchFamily="34" charset="0"/>
              <a:ea typeface="Cambria" panose="02040503050406030204" pitchFamily="18" charset="0"/>
            </a:endParaRPr>
          </a:p>
          <a:p>
            <a:pPr marL="342900" indent="-342900">
              <a:lnSpc>
                <a:spcPct val="100000"/>
              </a:lnSpc>
              <a:spcBef>
                <a:spcPts val="1800"/>
              </a:spcBef>
              <a:buFont typeface="Symbol" panose="05050102010706020507" pitchFamily="18" charset="2"/>
              <a:buChar char=""/>
            </a:pPr>
            <a:r>
              <a:rPr lang="en-US" sz="1800" dirty="0">
                <a:latin typeface="Arial"/>
                <a:ea typeface="Cambria"/>
                <a:cs typeface="Arial"/>
              </a:rPr>
              <a:t>Improve Marketing </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Layout of website design sketches on white paper">
            <a:extLst>
              <a:ext uri="{FF2B5EF4-FFF2-40B4-BE49-F238E27FC236}">
                <a16:creationId xmlns:a16="http://schemas.microsoft.com/office/drawing/2014/main" id="{9F95BC6D-1521-1A62-2F43-594381C2A3B1}"/>
              </a:ext>
            </a:extLst>
          </p:cNvPr>
          <p:cNvPicPr>
            <a:picLocks noChangeAspect="1"/>
          </p:cNvPicPr>
          <p:nvPr/>
        </p:nvPicPr>
        <p:blipFill>
          <a:blip r:embed="rId3">
            <a:extLst>
              <a:ext uri="{28A0092B-C50C-407E-A947-70E740481C1C}">
                <a14:useLocalDpi xmlns:a14="http://schemas.microsoft.com/office/drawing/2010/main" val="0"/>
              </a:ext>
            </a:extLst>
          </a:blip>
          <a:srcRect l="14157" r="14157"/>
          <a:stretch/>
        </p:blipFill>
        <p:spPr>
          <a:xfrm>
            <a:off x="7211567" y="1759139"/>
            <a:ext cx="4336527" cy="3180507"/>
          </a:xfrm>
          <a:prstGeom prst="rect">
            <a:avLst/>
          </a:prstGeom>
        </p:spPr>
      </p:pic>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i="0" dirty="0">
                <a:solidFill>
                  <a:schemeClr val="accent1"/>
                </a:solidFill>
                <a:effectLst/>
                <a:latin typeface="Arial" panose="020B0604020202020204" pitchFamily="34" charset="0"/>
                <a:cs typeface="Arial" panose="020B0604020202020204" pitchFamily="34" charset="0"/>
              </a:rPr>
              <a:t>Announcer Pro</a:t>
            </a:r>
            <a:endParaRPr lang="en-US" sz="3200" b="1" dirty="0">
              <a:solidFill>
                <a:schemeClr val="accen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13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988D-9CB0-43D9-323F-CDD5BA7AA567}"/>
              </a:ext>
            </a:extLst>
          </p:cNvPr>
          <p:cNvSpPr txBox="1">
            <a:spLocks/>
          </p:cNvSpPr>
          <p:nvPr/>
        </p:nvSpPr>
        <p:spPr>
          <a:xfrm>
            <a:off x="366489" y="557827"/>
            <a:ext cx="4392324" cy="13308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Aft>
                <a:spcPts val="600"/>
              </a:spcAft>
            </a:pPr>
            <a:r>
              <a:rPr lang="en-US" sz="3200" b="1" dirty="0">
                <a:solidFill>
                  <a:schemeClr val="accent1"/>
                </a:solidFill>
                <a:latin typeface="Arial" panose="020B0604020202020204" pitchFamily="34" charset="0"/>
                <a:cs typeface="Arial" panose="020B0604020202020204" pitchFamily="34" charset="0"/>
              </a:rPr>
              <a:t>Professionally Designed Newsletter Templates</a:t>
            </a:r>
            <a:endParaRPr lang="en-US" sz="3200" b="1" kern="1200" dirty="0">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F45A191-89EB-1A99-1E7C-F8302FA9F1D2}"/>
              </a:ext>
            </a:extLst>
          </p:cNvPr>
          <p:cNvSpPr txBox="1"/>
          <p:nvPr/>
        </p:nvSpPr>
        <p:spPr>
          <a:xfrm>
            <a:off x="366489" y="2223946"/>
            <a:ext cx="4208425" cy="4712031"/>
          </a:xfrm>
          <a:prstGeom prst="rect">
            <a:avLst/>
          </a:prstGeom>
        </p:spPr>
        <p:txBody>
          <a:bodyPr vert="horz" lIns="91440" tIns="45720" rIns="91440" bIns="45720" rtlCol="0">
            <a:normAutofit/>
          </a:bodyPr>
          <a:lstStyle/>
          <a:p>
            <a:pPr marL="285750" marR="54610" lvl="0" indent="-285750">
              <a:spcBef>
                <a:spcPts val="600"/>
              </a:spcBef>
              <a:spcAft>
                <a:spcPts val="600"/>
              </a:spcAft>
              <a:buSzPts val="800"/>
              <a:buFont typeface="Arial" panose="020B0604020202020204" pitchFamily="34" charset="0"/>
              <a:buChar char="•"/>
            </a:pPr>
            <a:r>
              <a:rPr lang="en-US" sz="1600" dirty="0">
                <a:effectLst/>
                <a:latin typeface="Arial" panose="020B0604020202020204" pitchFamily="34" charset="0"/>
                <a:ea typeface="Times New Roman" panose="02020603050405020304" pitchFamily="18" charset="0"/>
                <a:cs typeface="Arial" panose="020B0604020202020204" pitchFamily="34" charset="0"/>
              </a:rPr>
              <a:t>A wide variety of templates. Choose from over 300 pre-built newsletter templates that include suggested text and titles.</a:t>
            </a:r>
            <a:endParaRPr lang="en-US" sz="1600" dirty="0">
              <a:effectLst/>
              <a:latin typeface="Arial" panose="020B0604020202020204" pitchFamily="34" charset="0"/>
              <a:ea typeface="Cambria" panose="02040503050406030204" pitchFamily="18" charset="0"/>
              <a:cs typeface="Arial" panose="020B0604020202020204" pitchFamily="34" charset="0"/>
            </a:endParaRPr>
          </a:p>
          <a:p>
            <a:pPr marL="285750" marR="54610" lvl="0" indent="-285750">
              <a:spcBef>
                <a:spcPts val="600"/>
              </a:spcBef>
              <a:spcAft>
                <a:spcPts val="600"/>
              </a:spcAft>
              <a:buSzPts val="800"/>
              <a:buFont typeface="Arial" panose="020B0604020202020204" pitchFamily="34" charset="0"/>
              <a:buChar char="•"/>
            </a:pPr>
            <a:r>
              <a:rPr lang="en-US" sz="1600" dirty="0">
                <a:effectLst/>
                <a:latin typeface="Arial" panose="020B0604020202020204" pitchFamily="34" charset="0"/>
                <a:ea typeface="Times New Roman" panose="02020603050405020304" pitchFamily="18" charset="0"/>
                <a:cs typeface="Arial" panose="020B0604020202020204" pitchFamily="34" charset="0"/>
              </a:rPr>
              <a:t>A layout for different newsletter types. Traditional newsletter style, coupon/special offer and special announcement.</a:t>
            </a:r>
            <a:endParaRPr lang="en-US" sz="1600" dirty="0">
              <a:effectLst/>
              <a:latin typeface="Arial" panose="020B0604020202020204" pitchFamily="34" charset="0"/>
              <a:ea typeface="Cambria" panose="02040503050406030204" pitchFamily="18" charset="0"/>
              <a:cs typeface="Arial" panose="020B0604020202020204" pitchFamily="34" charset="0"/>
            </a:endParaRPr>
          </a:p>
          <a:p>
            <a:pPr marL="285750" marR="54610" lvl="0" indent="-285750">
              <a:spcBef>
                <a:spcPts val="600"/>
              </a:spcBef>
              <a:spcAft>
                <a:spcPts val="600"/>
              </a:spcAft>
              <a:buSzPts val="800"/>
              <a:buFont typeface="Arial" panose="020B0604020202020204" pitchFamily="34" charset="0"/>
              <a:buChar char="•"/>
            </a:pPr>
            <a:r>
              <a:rPr lang="en-US" sz="1600" dirty="0">
                <a:effectLst/>
                <a:latin typeface="Arial" panose="020B0604020202020204" pitchFamily="34" charset="0"/>
                <a:ea typeface="Times New Roman" panose="02020603050405020304" pitchFamily="18" charset="0"/>
                <a:cs typeface="Arial" panose="020B0604020202020204" pitchFamily="34" charset="0"/>
              </a:rPr>
              <a:t>Business owners can easily add their own content using drag and drop functionality. Upload their logo, add text, links and social media.</a:t>
            </a:r>
          </a:p>
          <a:p>
            <a:pPr marL="285750" marR="54610" lvl="0" indent="-285750">
              <a:spcBef>
                <a:spcPts val="600"/>
              </a:spcBef>
              <a:spcAft>
                <a:spcPts val="600"/>
              </a:spcAft>
              <a:buSzPts val="800"/>
              <a:buFont typeface="Arial" panose="020B0604020202020204" pitchFamily="34" charset="0"/>
              <a:buChar char="•"/>
            </a:pPr>
            <a:r>
              <a:rPr lang="en-US" sz="1600" dirty="0">
                <a:effectLst/>
                <a:latin typeface="Arial" panose="020B0604020202020204" pitchFamily="34" charset="0"/>
                <a:ea typeface="Times New Roman" panose="02020603050405020304" pitchFamily="18" charset="0"/>
                <a:cs typeface="Arial" panose="020B0604020202020204" pitchFamily="34" charset="0"/>
              </a:rPr>
              <a:t>Simple drag and drop editing.</a:t>
            </a:r>
            <a:endParaRPr lang="en-US" sz="1600"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3689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a:latin typeface="Arial" panose="020B0604020202020204" pitchFamily="34" charset="0"/>
              <a:ea typeface="Cambria" panose="02040503050406030204" pitchFamily="18" charset="0"/>
              <a:cs typeface="Arial" panose="020B0604020202020204" pitchFamily="34" charset="0"/>
            </a:endParaRPr>
          </a:p>
        </p:txBody>
      </p:sp>
      <p:pic>
        <p:nvPicPr>
          <p:cNvPr id="7" name="Picture 6" descr="Hands typing on laptop">
            <a:extLst>
              <a:ext uri="{FF2B5EF4-FFF2-40B4-BE49-F238E27FC236}">
                <a16:creationId xmlns:a16="http://schemas.microsoft.com/office/drawing/2014/main" id="{C9690A22-EFFB-8203-E8C7-0BFCF347C74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77250" y="2101052"/>
            <a:ext cx="6989354" cy="3245271"/>
          </a:xfrm>
          <a:prstGeom prst="rect">
            <a:avLst/>
          </a:prstGeom>
        </p:spPr>
      </p:pic>
    </p:spTree>
    <p:extLst>
      <p:ext uri="{BB962C8B-B14F-4D97-AF65-F5344CB8AC3E}">
        <p14:creationId xmlns:p14="http://schemas.microsoft.com/office/powerpoint/2010/main" val="321031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A3F5E-5657-4559-B316-42A9F0D93257}"/>
              </a:ext>
            </a:extLst>
          </p:cNvPr>
          <p:cNvSpPr>
            <a:spLocks noGrp="1"/>
          </p:cNvSpPr>
          <p:nvPr>
            <p:ph type="title"/>
          </p:nvPr>
        </p:nvSpPr>
        <p:spPr/>
        <p:txBody>
          <a:bodyPr>
            <a:normAutofit/>
          </a:bodyPr>
          <a:lstStyle/>
          <a:p>
            <a:r>
              <a:rPr lang="en-US" sz="3200" b="1" dirty="0">
                <a:solidFill>
                  <a:schemeClr val="accent1"/>
                </a:solidFill>
                <a:latin typeface="Arial" panose="020B0604020202020204" pitchFamily="34" charset="0"/>
                <a:cs typeface="Arial" panose="020B0604020202020204" pitchFamily="34" charset="0"/>
              </a:rPr>
              <a:t>Features</a:t>
            </a:r>
            <a:endParaRPr lang="en-US" sz="3200" dirty="0">
              <a:solidFill>
                <a:schemeClr val="accent1"/>
              </a:solidFill>
            </a:endParaRPr>
          </a:p>
        </p:txBody>
      </p:sp>
      <p:sp>
        <p:nvSpPr>
          <p:cNvPr id="3" name="Content Placeholder 2">
            <a:extLst>
              <a:ext uri="{FF2B5EF4-FFF2-40B4-BE49-F238E27FC236}">
                <a16:creationId xmlns:a16="http://schemas.microsoft.com/office/drawing/2014/main" id="{8A1F4D27-22C8-3401-54C2-4D4ABFEFED75}"/>
              </a:ext>
            </a:extLst>
          </p:cNvPr>
          <p:cNvSpPr>
            <a:spLocks noGrp="1"/>
          </p:cNvSpPr>
          <p:nvPr>
            <p:ph idx="1"/>
          </p:nvPr>
        </p:nvSpPr>
        <p:spPr>
          <a:xfrm>
            <a:off x="763398" y="1775902"/>
            <a:ext cx="4312640" cy="1603375"/>
          </a:xfrm>
        </p:spPr>
        <p:txBody>
          <a:bodyPr>
            <a:noAutofit/>
          </a:bodyPr>
          <a:lstStyle/>
          <a:p>
            <a:pPr marL="57150" indent="0">
              <a:spcBef>
                <a:spcPts val="600"/>
              </a:spcBef>
              <a:buNone/>
            </a:pPr>
            <a:r>
              <a:rPr lang="en-US" sz="1600" dirty="0">
                <a:solidFill>
                  <a:schemeClr val="accent1"/>
                </a:solidFill>
                <a:effectLst/>
                <a:latin typeface="Arial" panose="020B0604020202020204" pitchFamily="34" charset="0"/>
                <a:ea typeface="MS Mincho" panose="02020609040205080304" pitchFamily="49" charset="-128"/>
                <a:cs typeface="Arial" panose="020B0604020202020204" pitchFamily="34" charset="0"/>
              </a:rPr>
              <a:t>Professionally designed Newsletter templates</a:t>
            </a:r>
          </a:p>
          <a:p>
            <a:pPr marL="57150" indent="0">
              <a:spcBef>
                <a:spcPts val="600"/>
              </a:spcBef>
              <a:buNone/>
            </a:pPr>
            <a:r>
              <a:rPr lang="en-US" sz="1600" dirty="0">
                <a:effectLst/>
                <a:latin typeface="Arial" panose="020B0604020202020204" pitchFamily="34" charset="0"/>
                <a:ea typeface="Times New Roman" panose="02020603050405020304" pitchFamily="18" charset="0"/>
                <a:cs typeface="Arial" panose="020B0604020202020204" pitchFamily="34" charset="0"/>
              </a:rPr>
              <a:t>A wide variety of templates. Choose from over 300 pre-built newsletter templates that include suggested text and titles.</a:t>
            </a:r>
            <a:endParaRPr lang="en-US" sz="1600" dirty="0">
              <a:effectLst/>
              <a:latin typeface="Arial" panose="020B0604020202020204" pitchFamily="34" charset="0"/>
              <a:ea typeface="Cambria" panose="02040503050406030204" pitchFamily="18" charset="0"/>
              <a:cs typeface="Arial" panose="020B0604020202020204" pitchFamily="34" charset="0"/>
            </a:endParaRPr>
          </a:p>
          <a:p>
            <a:pPr marL="57150" indent="0">
              <a:lnSpc>
                <a:spcPct val="90000"/>
              </a:lnSpc>
              <a:spcBef>
                <a:spcPts val="600"/>
              </a:spcBef>
              <a:buNone/>
            </a:pPr>
            <a:endParaRPr lang="en-US" sz="1600" b="1"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46D975E-87C2-A54F-E965-DA767CC63EDE}"/>
              </a:ext>
            </a:extLst>
          </p:cNvPr>
          <p:cNvSpPr txBox="1"/>
          <p:nvPr/>
        </p:nvSpPr>
        <p:spPr>
          <a:xfrm>
            <a:off x="838200" y="3418707"/>
            <a:ext cx="5148044" cy="2372957"/>
          </a:xfrm>
          <a:prstGeom prst="rect">
            <a:avLst/>
          </a:prstGeom>
          <a:noFill/>
        </p:spPr>
        <p:txBody>
          <a:bodyPr wrap="square">
            <a:spAutoFit/>
          </a:bodyPr>
          <a:lstStyle/>
          <a:p>
            <a:pPr marR="54610" lvl="0">
              <a:spcBef>
                <a:spcPts val="600"/>
              </a:spcBef>
              <a:spcAft>
                <a:spcPts val="600"/>
              </a:spcAft>
              <a:buSzPts val="800"/>
            </a:pPr>
            <a:r>
              <a:rPr lang="en-US" sz="1600" dirty="0">
                <a:solidFill>
                  <a:schemeClr val="accent1"/>
                </a:solidFill>
                <a:effectLst/>
                <a:latin typeface="Arial" panose="020B0604020202020204" pitchFamily="34" charset="0"/>
                <a:ea typeface="MS Mincho" panose="02020609040205080304" pitchFamily="49" charset="-128"/>
                <a:cs typeface="Arial" panose="020B0604020202020204" pitchFamily="34" charset="0"/>
              </a:rPr>
              <a:t>Contact Management</a:t>
            </a:r>
          </a:p>
          <a:p>
            <a:pPr marR="54610" lvl="0">
              <a:spcBef>
                <a:spcPts val="600"/>
              </a:spcBef>
              <a:spcAft>
                <a:spcPts val="600"/>
              </a:spcAft>
              <a:buSzPts val="800"/>
            </a:pPr>
            <a:r>
              <a:rPr lang="en-US" sz="1600" dirty="0">
                <a:effectLst/>
                <a:latin typeface="Arial" panose="020B0604020202020204" pitchFamily="34" charset="0"/>
                <a:ea typeface="Times New Roman" panose="02020603050405020304" pitchFamily="18" charset="0"/>
                <a:cs typeface="Arial" panose="020B0604020202020204" pitchFamily="34" charset="0"/>
              </a:rPr>
              <a:t>Easily build a contact list. Create individual contacts or upload existing contacts in excel. </a:t>
            </a:r>
            <a:r>
              <a:rPr lang="en-US" sz="1600" dirty="0">
                <a:latin typeface="Arial" panose="020B0604020202020204" pitchFamily="34" charset="0"/>
                <a:ea typeface="Times New Roman" panose="02020603050405020304" pitchFamily="18" charset="0"/>
                <a:cs typeface="Arial" panose="020B0604020202020204" pitchFamily="34" charset="0"/>
              </a:rPr>
              <a:t>I</a:t>
            </a:r>
            <a:r>
              <a:rPr lang="en-US" sz="1600" dirty="0">
                <a:effectLst/>
                <a:latin typeface="Arial" panose="020B0604020202020204" pitchFamily="34" charset="0"/>
                <a:ea typeface="Times New Roman" panose="02020603050405020304" pitchFamily="18" charset="0"/>
                <a:cs typeface="Arial" panose="020B0604020202020204" pitchFamily="34" charset="0"/>
              </a:rPr>
              <a:t>mport contacts from Outlook, Yahoo! Mail or Gmail, LinkedIn or contacts from computer files.</a:t>
            </a:r>
            <a:endParaRPr lang="en-US" sz="1600" dirty="0">
              <a:effectLst/>
              <a:latin typeface="Arial" panose="020B0604020202020204" pitchFamily="34" charset="0"/>
              <a:ea typeface="Cambria" panose="02040503050406030204" pitchFamily="18" charset="0"/>
              <a:cs typeface="Arial" panose="020B0604020202020204" pitchFamily="34" charset="0"/>
            </a:endParaRPr>
          </a:p>
          <a:p>
            <a:r>
              <a:rPr lang="en-US" sz="1600" dirty="0">
                <a:effectLst/>
                <a:latin typeface="Arial" panose="020B0604020202020204" pitchFamily="34" charset="0"/>
                <a:ea typeface="Times New Roman" panose="02020603050405020304" pitchFamily="18" charset="0"/>
                <a:cs typeface="Arial" panose="020B0604020202020204" pitchFamily="34" charset="0"/>
              </a:rPr>
              <a:t>Organize the contact list. Add, edit or delete individual contacts with easy-to-use management tools.</a:t>
            </a:r>
            <a:endParaRPr lang="en-US" sz="1600" dirty="0">
              <a:solidFill>
                <a:srgbClr val="000000"/>
              </a:solidFill>
              <a:effectLst/>
              <a:latin typeface="Arial" panose="020B0604020202020204" pitchFamily="34" charset="0"/>
              <a:ea typeface="MS Mincho" panose="02020609040205080304" pitchFamily="49" charset="-128"/>
              <a:cs typeface="Arial" panose="020B0604020202020204" pitchFamily="34" charset="0"/>
            </a:endParaRPr>
          </a:p>
          <a:p>
            <a:pPr marL="57150" marR="0" lvl="0" indent="0" algn="l" defTabSz="914400" rtl="0" eaLnBrk="1" fontAlgn="auto" latinLnBrk="0" hangingPunct="1">
              <a:lnSpc>
                <a:spcPct val="90000"/>
              </a:lnSpc>
              <a:spcBef>
                <a:spcPts val="600"/>
              </a:spcBef>
              <a:spcAft>
                <a:spcPts val="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9B77419-BFC5-3900-30BD-1244233B758F}"/>
              </a:ext>
            </a:extLst>
          </p:cNvPr>
          <p:cNvSpPr txBox="1"/>
          <p:nvPr/>
        </p:nvSpPr>
        <p:spPr>
          <a:xfrm>
            <a:off x="6363406" y="1690688"/>
            <a:ext cx="4880638" cy="1231106"/>
          </a:xfrm>
          <a:prstGeom prst="rect">
            <a:avLst/>
          </a:prstGeom>
          <a:noFill/>
        </p:spPr>
        <p:txBody>
          <a:bodyPr wrap="square">
            <a:spAutoFit/>
          </a:bodyPr>
          <a:lstStyle/>
          <a:p>
            <a:pPr marR="54610" lvl="0">
              <a:spcBef>
                <a:spcPts val="600"/>
              </a:spcBef>
              <a:spcAft>
                <a:spcPts val="600"/>
              </a:spcAft>
              <a:buSzPts val="800"/>
            </a:pPr>
            <a:r>
              <a:rPr kumimoji="0" lang="en-US" sz="1600" b="0" i="0" u="none" strike="noStrike" kern="1200" cap="none" spc="0" normalizeH="0" baseline="0" noProof="0" dirty="0">
                <a:ln>
                  <a:noFill/>
                </a:ln>
                <a:solidFill>
                  <a:schemeClr val="accent1"/>
                </a:solidFill>
                <a:effectLst/>
                <a:uLnTx/>
                <a:uFillTx/>
                <a:latin typeface="Arial" panose="020B0604020202020204" pitchFamily="34" charset="0"/>
                <a:ea typeface="MS Mincho" panose="02020609040205080304" pitchFamily="49" charset="-128"/>
                <a:cs typeface="Arial" panose="020B0604020202020204" pitchFamily="34" charset="0"/>
              </a:rPr>
              <a:t>Schedule Multiple Campaigns</a:t>
            </a:r>
          </a:p>
          <a:p>
            <a:pPr marR="54610" lvl="0">
              <a:spcBef>
                <a:spcPts val="600"/>
              </a:spcBef>
              <a:spcAft>
                <a:spcPts val="600"/>
              </a:spcAft>
              <a:buSzPts val="800"/>
            </a:pPr>
            <a:r>
              <a:rPr lang="en-US" sz="1600" dirty="0">
                <a:effectLst/>
                <a:latin typeface="Arial" panose="020B0604020202020204" pitchFamily="34" charset="0"/>
                <a:ea typeface="Times New Roman" panose="02020603050405020304" pitchFamily="18" charset="0"/>
                <a:cs typeface="Arial" panose="020B0604020202020204" pitchFamily="34" charset="0"/>
              </a:rPr>
              <a:t>Easily manage multiple campaigns. Pre-schedule specific dates and times to send individual newsletters.</a:t>
            </a:r>
            <a:r>
              <a:rPr lang="en-US" sz="1600" dirty="0">
                <a:latin typeface="Arial" panose="020B0604020202020204" pitchFamily="34" charset="0"/>
                <a:ea typeface="Cambria" panose="02040503050406030204" pitchFamily="18" charset="0"/>
                <a:cs typeface="Arial" panose="020B0604020202020204" pitchFamily="34" charset="0"/>
              </a:rPr>
              <a:t> </a:t>
            </a:r>
            <a:r>
              <a:rPr lang="en-US" sz="1600" dirty="0">
                <a:effectLst/>
                <a:latin typeface="Arial" panose="020B0604020202020204" pitchFamily="34" charset="0"/>
                <a:ea typeface="Times New Roman" panose="02020603050405020304" pitchFamily="18" charset="0"/>
                <a:cs typeface="Arial" panose="020B0604020202020204" pitchFamily="34" charset="0"/>
              </a:rPr>
              <a:t>Unlimited number of newsletters. </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6" name="TextBox 5">
            <a:extLst>
              <a:ext uri="{FF2B5EF4-FFF2-40B4-BE49-F238E27FC236}">
                <a16:creationId xmlns:a16="http://schemas.microsoft.com/office/drawing/2014/main" id="{CCA1575F-8D9B-4614-E2FE-052C914551CF}"/>
              </a:ext>
            </a:extLst>
          </p:cNvPr>
          <p:cNvSpPr txBox="1"/>
          <p:nvPr/>
        </p:nvSpPr>
        <p:spPr>
          <a:xfrm>
            <a:off x="6363406" y="3429000"/>
            <a:ext cx="5148044" cy="1603516"/>
          </a:xfrm>
          <a:prstGeom prst="rect">
            <a:avLst/>
          </a:prstGeom>
          <a:noFill/>
        </p:spPr>
        <p:txBody>
          <a:bodyPr wrap="square">
            <a:spAutoFit/>
          </a:bodyPr>
          <a:lstStyle/>
          <a:p>
            <a:pPr marL="57150">
              <a:lnSpc>
                <a:spcPct val="90000"/>
              </a:lnSpc>
              <a:spcBef>
                <a:spcPts val="600"/>
              </a:spcBef>
              <a:defRPr/>
            </a:pPr>
            <a:r>
              <a:rPr lang="en-US" sz="16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Campaign Reportin</a:t>
            </a:r>
            <a:r>
              <a:rPr lang="en-US" sz="1600" dirty="0">
                <a:solidFill>
                  <a:schemeClr val="accent1"/>
                </a:solidFill>
                <a:latin typeface="Arial" panose="020B0604020202020204" pitchFamily="34" charset="0"/>
                <a:ea typeface="Calibri" panose="020F0502020204030204" pitchFamily="34" charset="0"/>
                <a:cs typeface="Arial" panose="020B0604020202020204" pitchFamily="34" charset="0"/>
              </a:rPr>
              <a:t>g</a:t>
            </a:r>
          </a:p>
          <a:p>
            <a:pPr marL="57150">
              <a:lnSpc>
                <a:spcPct val="90000"/>
              </a:lnSpc>
              <a:spcBef>
                <a:spcPts val="600"/>
              </a:spcBef>
              <a:defRPr/>
            </a:pPr>
            <a:r>
              <a:rPr lang="en-US" sz="1600" dirty="0">
                <a:effectLst/>
                <a:latin typeface="Arial" panose="020B0604020202020204" pitchFamily="34" charset="0"/>
                <a:ea typeface="Times New Roman" panose="02020603050405020304" pitchFamily="18" charset="0"/>
                <a:cs typeface="Arial" panose="020B0604020202020204" pitchFamily="34" charset="0"/>
              </a:rPr>
              <a:t>Measure the effectiveness of a campaign. View detailed reporting. View email performance as list, percentages, and visual breakdowns. Compare the performance of sent campaigns.</a:t>
            </a:r>
          </a:p>
          <a:p>
            <a:pPr marL="57150">
              <a:lnSpc>
                <a:spcPct val="90000"/>
              </a:lnSpc>
              <a:spcBef>
                <a:spcPts val="600"/>
              </a:spcBef>
              <a:defRPr/>
            </a:pPr>
            <a:endParaRPr lang="en-US" sz="1600" b="1"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683184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How it works</a:t>
            </a:r>
            <a:endParaRPr lang="en-US">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a:xfrm>
            <a:off x="432500" y="365125"/>
            <a:ext cx="7937777" cy="1325563"/>
          </a:xfrm>
        </p:spPr>
        <p:txBody>
          <a:bodyPr>
            <a:normAutofit/>
          </a:bodyPr>
          <a:lstStyle/>
          <a:p>
            <a:r>
              <a:rPr lang="en-US" sz="3200" b="1" dirty="0">
                <a:solidFill>
                  <a:schemeClr val="accent1"/>
                </a:solidFill>
                <a:latin typeface="Arial" panose="020B0604020202020204" pitchFamily="34" charset="0"/>
                <a:ea typeface="MS Mincho" panose="02020609040205080304" pitchFamily="49" charset="-128"/>
              </a:rPr>
              <a:t>Login to your portal and access Announcer Pro</a:t>
            </a:r>
            <a:endParaRPr lang="en-US" sz="3200" b="1" dirty="0">
              <a:solidFill>
                <a:schemeClr val="accent1"/>
              </a:solidFill>
            </a:endParaRPr>
          </a:p>
        </p:txBody>
      </p:sp>
      <p:sp>
        <p:nvSpPr>
          <p:cNvPr id="9" name="Content Placeholder 8">
            <a:extLst>
              <a:ext uri="{FF2B5EF4-FFF2-40B4-BE49-F238E27FC236}">
                <a16:creationId xmlns:a16="http://schemas.microsoft.com/office/drawing/2014/main" id="{3D039334-CE0F-0FBD-53E3-2F2811018D74}"/>
              </a:ext>
            </a:extLst>
          </p:cNvPr>
          <p:cNvSpPr>
            <a:spLocks noGrp="1"/>
          </p:cNvSpPr>
          <p:nvPr>
            <p:ph idx="1"/>
          </p:nvPr>
        </p:nvSpPr>
        <p:spPr>
          <a:xfrm>
            <a:off x="432500" y="1825625"/>
            <a:ext cx="5419725" cy="4351338"/>
          </a:xfrm>
        </p:spPr>
        <p:txBody>
          <a:bodyPr>
            <a:normAutofit/>
          </a:bodyPr>
          <a:lstStyle/>
          <a:p>
            <a:pPr>
              <a:lnSpc>
                <a:spcPct val="150000"/>
              </a:lnSpc>
            </a:pPr>
            <a:r>
              <a:rPr lang="en-US" sz="1500" dirty="0">
                <a:latin typeface="Arial" panose="020B0604020202020204" pitchFamily="34" charset="0"/>
                <a:ea typeface="MS Mincho" panose="02020609040205080304" pitchFamily="49" charset="-128"/>
              </a:rPr>
              <a:t>Start by creating a new email.</a:t>
            </a:r>
          </a:p>
          <a:p>
            <a:pPr>
              <a:lnSpc>
                <a:spcPct val="150000"/>
              </a:lnSpc>
            </a:pPr>
            <a:r>
              <a:rPr lang="en-US" sz="1500" dirty="0">
                <a:latin typeface="Arial" panose="020B0604020202020204" pitchFamily="34" charset="0"/>
                <a:ea typeface="MS Mincho" panose="02020609040205080304" pitchFamily="49" charset="-128"/>
              </a:rPr>
              <a:t>Choose contacts, add new or existing</a:t>
            </a:r>
          </a:p>
          <a:p>
            <a:pPr>
              <a:lnSpc>
                <a:spcPct val="150000"/>
              </a:lnSpc>
            </a:pPr>
            <a:r>
              <a:rPr lang="en-US" sz="1500" dirty="0">
                <a:latin typeface="Arial" panose="020B0604020202020204" pitchFamily="34" charset="0"/>
                <a:ea typeface="MS Mincho" panose="02020609040205080304" pitchFamily="49" charset="-128"/>
              </a:rPr>
              <a:t>Choose a template. Templates allow customers to select the overall layout and theme of the newsletter.</a:t>
            </a:r>
          </a:p>
          <a:p>
            <a:pPr>
              <a:lnSpc>
                <a:spcPct val="150000"/>
              </a:lnSpc>
            </a:pPr>
            <a:r>
              <a:rPr lang="en-US" sz="1500" dirty="0">
                <a:latin typeface="Arial" panose="020B0604020202020204" pitchFamily="34" charset="0"/>
                <a:ea typeface="MS Mincho" panose="02020609040205080304" pitchFamily="49" charset="-128"/>
              </a:rPr>
              <a:t>Edit the template</a:t>
            </a:r>
          </a:p>
          <a:p>
            <a:pPr>
              <a:lnSpc>
                <a:spcPct val="150000"/>
              </a:lnSpc>
            </a:pPr>
            <a:r>
              <a:rPr lang="en-US" sz="1500" dirty="0">
                <a:latin typeface="Arial" panose="020B0604020202020204" pitchFamily="34" charset="0"/>
                <a:ea typeface="MS Mincho" panose="02020609040205080304" pitchFamily="49" charset="-128"/>
              </a:rPr>
              <a:t>Preview the email and send a test before sending or scheduling.</a:t>
            </a:r>
          </a:p>
          <a:p>
            <a:pPr>
              <a:lnSpc>
                <a:spcPct val="150000"/>
              </a:lnSpc>
            </a:pPr>
            <a:endParaRPr lang="en-US" sz="1500" dirty="0">
              <a:latin typeface="Arial" panose="020B0604020202020204" pitchFamily="34" charset="0"/>
              <a:ea typeface="MS Mincho" panose="02020609040205080304" pitchFamily="49" charset="-128"/>
            </a:endParaRPr>
          </a:p>
          <a:p>
            <a:pPr>
              <a:lnSpc>
                <a:spcPct val="150000"/>
              </a:lnSpc>
            </a:pPr>
            <a:endParaRPr lang="en-US" sz="1500" dirty="0">
              <a:latin typeface="Arial" panose="020B0604020202020204" pitchFamily="34" charset="0"/>
              <a:ea typeface="MS Mincho" panose="02020609040205080304" pitchFamily="49" charset="-128"/>
            </a:endParaRPr>
          </a:p>
        </p:txBody>
      </p:sp>
      <p:pic>
        <p:nvPicPr>
          <p:cNvPr id="4" name="Picture 3" descr="A screenshot of a website&#10;&#10;Description automatically generated with medium confidence">
            <a:extLst>
              <a:ext uri="{FF2B5EF4-FFF2-40B4-BE49-F238E27FC236}">
                <a16:creationId xmlns:a16="http://schemas.microsoft.com/office/drawing/2014/main" id="{9916EBF7-6639-453B-E076-B8F95748B4C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3163" y="1256983"/>
            <a:ext cx="5432815" cy="4665645"/>
          </a:xfrm>
          <a:prstGeom prst="rect">
            <a:avLst/>
          </a:prstGeom>
          <a:noFill/>
          <a:ln>
            <a:noFill/>
          </a:ln>
        </p:spPr>
      </p:pic>
    </p:spTree>
    <p:extLst>
      <p:ext uri="{BB962C8B-B14F-4D97-AF65-F5344CB8AC3E}">
        <p14:creationId xmlns:p14="http://schemas.microsoft.com/office/powerpoint/2010/main" val="3772158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a:xfrm>
            <a:off x="838200" y="357140"/>
            <a:ext cx="10515600" cy="1325563"/>
          </a:xfrm>
        </p:spPr>
        <p:txBody>
          <a:bodyPr>
            <a:normAutofit/>
          </a:bodyPr>
          <a:lstStyle/>
          <a:p>
            <a:r>
              <a:rPr lang="en-US" sz="2800" b="1" dirty="0">
                <a:solidFill>
                  <a:schemeClr val="accent1"/>
                </a:solidFill>
                <a:effectLst/>
                <a:latin typeface="Arial" panose="020B0604020202020204" pitchFamily="34" charset="0"/>
                <a:ea typeface="MS Mincho" panose="02020609040205080304" pitchFamily="49" charset="-128"/>
              </a:rPr>
              <a:t>Benefits</a:t>
            </a:r>
            <a:endParaRPr lang="en-US" sz="6000" b="1" dirty="0">
              <a:solidFill>
                <a:schemeClr val="accent1"/>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508750" y="1359020"/>
            <a:ext cx="4845050" cy="1048620"/>
          </a:xfrm>
        </p:spPr>
        <p:txBody>
          <a:bodyPr>
            <a:normAutofit fontScale="70000" lnSpcReduction="20000"/>
          </a:bodyPr>
          <a:lstStyle/>
          <a:p>
            <a:pPr marL="0" marR="54610" lvl="0" indent="0">
              <a:spcBef>
                <a:spcPts val="600"/>
              </a:spcBef>
              <a:spcAft>
                <a:spcPts val="600"/>
              </a:spcAft>
              <a:buSzPts val="800"/>
              <a:buNone/>
            </a:pPr>
            <a:r>
              <a:rPr lang="en-US" sz="1800" dirty="0">
                <a:effectLst/>
                <a:latin typeface="Arial" panose="020B0604020202020204" pitchFamily="34" charset="0"/>
                <a:ea typeface="Times New Roman" panose="02020603050405020304" pitchFamily="18" charset="0"/>
                <a:cs typeface="Arial" panose="020B0604020202020204" pitchFamily="34" charset="0"/>
              </a:rPr>
              <a:t>Easily manage multiple campaigns. </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0" marR="54610" lvl="0" indent="0">
              <a:spcBef>
                <a:spcPts val="600"/>
              </a:spcBef>
              <a:spcAft>
                <a:spcPts val="600"/>
              </a:spcAft>
              <a:buSzPts val="800"/>
              <a:buNone/>
            </a:pPr>
            <a:r>
              <a:rPr lang="en-US" sz="1800" dirty="0">
                <a:effectLst/>
                <a:latin typeface="Arial" panose="020B0604020202020204" pitchFamily="34" charset="0"/>
                <a:ea typeface="Times New Roman" panose="02020603050405020304" pitchFamily="18" charset="0"/>
                <a:cs typeface="Arial" panose="020B0604020202020204" pitchFamily="34" charset="0"/>
              </a:rPr>
              <a:t>Businesses can pre-schedule specific dates and times to send emails whether they are in or out of the office. </a:t>
            </a:r>
            <a:endParaRPr lang="en-US" sz="1800" dirty="0">
              <a:effectLst/>
              <a:latin typeface="Cambria" panose="02040503050406030204" pitchFamily="18" charset="0"/>
              <a:ea typeface="Cambria" panose="02040503050406030204" pitchFamily="18" charset="0"/>
              <a:cs typeface="Arial" panose="020B0604020202020204" pitchFamily="34" charset="0"/>
            </a:endParaRPr>
          </a:p>
          <a:p>
            <a:pPr marL="0" indent="0">
              <a:buNone/>
            </a:pPr>
            <a:r>
              <a:rPr lang="en-US" sz="1800" dirty="0">
                <a:effectLst/>
                <a:latin typeface="Arial" panose="020B0604020202020204" pitchFamily="34" charset="0"/>
                <a:ea typeface="Times New Roman" panose="02020603050405020304" pitchFamily="18" charset="0"/>
              </a:rPr>
              <a:t>Create auto-response emails for customers who subscribe.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22686" y="1672075"/>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Stay top of mind </a:t>
            </a:r>
            <a:endParaRPr lang="en-US" sz="2400" dirty="0"/>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22686" y="2661227"/>
            <a:ext cx="3797595"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Cost </a:t>
            </a:r>
            <a:r>
              <a:rPr lang="en-US" sz="1600" dirty="0">
                <a:latin typeface="Arial" panose="020B0604020202020204" pitchFamily="34" charset="0"/>
                <a:ea typeface="MS Mincho" panose="02020609040205080304" pitchFamily="49" charset="-128"/>
              </a:rPr>
              <a:t>effective</a:t>
            </a:r>
            <a:endParaRPr lang="en-US" sz="2400" dirty="0"/>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22686" y="4012991"/>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latin typeface="Arial" panose="020B0604020202020204" pitchFamily="34" charset="0"/>
                <a:ea typeface="MS Mincho" panose="02020609040205080304" pitchFamily="49" charset="-128"/>
              </a:rPr>
              <a:t>Look Professional </a:t>
            </a:r>
            <a:endParaRPr lang="en-US" sz="2400" dirty="0"/>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605349" y="1808922"/>
            <a:ext cx="249065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1E66E-0E4D-7887-F22F-6AEE7BB47109}"/>
              </a:ext>
            </a:extLst>
          </p:cNvPr>
          <p:cNvCxnSpPr>
            <a:cxnSpLocks/>
          </p:cNvCxnSpPr>
          <p:nvPr/>
        </p:nvCxnSpPr>
        <p:spPr>
          <a:xfrm>
            <a:off x="3605349" y="2877994"/>
            <a:ext cx="249065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3BACB72-1A30-62DB-ABA3-C4BD30412D3A}"/>
              </a:ext>
            </a:extLst>
          </p:cNvPr>
          <p:cNvCxnSpPr>
            <a:cxnSpLocks/>
          </p:cNvCxnSpPr>
          <p:nvPr/>
        </p:nvCxnSpPr>
        <p:spPr>
          <a:xfrm>
            <a:off x="3675017" y="4162911"/>
            <a:ext cx="242098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3">
            <a:extLst>
              <a:ext uri="{FF2B5EF4-FFF2-40B4-BE49-F238E27FC236}">
                <a16:creationId xmlns:a16="http://schemas.microsoft.com/office/drawing/2014/main" id="{51E5BF24-0F75-7190-8C9E-8A82A22608ED}"/>
              </a:ext>
            </a:extLst>
          </p:cNvPr>
          <p:cNvSpPr txBox="1">
            <a:spLocks/>
          </p:cNvSpPr>
          <p:nvPr/>
        </p:nvSpPr>
        <p:spPr>
          <a:xfrm>
            <a:off x="6438900" y="2605463"/>
            <a:ext cx="5257800" cy="6325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SzPts val="800"/>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Announcer Pro is a cost effective and easy to use solution that allows customers to create email campaigns without extra features they don’t need.</a:t>
            </a: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sp>
        <p:nvSpPr>
          <p:cNvPr id="6" name="Content Placeholder 3">
            <a:extLst>
              <a:ext uri="{FF2B5EF4-FFF2-40B4-BE49-F238E27FC236}">
                <a16:creationId xmlns:a16="http://schemas.microsoft.com/office/drawing/2014/main" id="{DBFF0A62-047F-C7E4-734A-B4391B671A21}"/>
              </a:ext>
            </a:extLst>
          </p:cNvPr>
          <p:cNvSpPr txBox="1">
            <a:spLocks/>
          </p:cNvSpPr>
          <p:nvPr/>
        </p:nvSpPr>
        <p:spPr>
          <a:xfrm>
            <a:off x="6438900" y="3772470"/>
            <a:ext cx="5257800" cy="7765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Easily </a:t>
            </a:r>
            <a:r>
              <a:rPr lang="en-US" sz="1400" dirty="0">
                <a:effectLst/>
                <a:latin typeface="Arial" panose="020B0604020202020204" pitchFamily="34" charset="0"/>
                <a:ea typeface="Cambria" panose="02040503050406030204" pitchFamily="18" charset="0"/>
                <a:cs typeface="Arial" panose="020B0604020202020204" pitchFamily="34" charset="0"/>
              </a:rPr>
              <a:t>create and send professional email newsletters to customers. Choose from hundreds of email templates that include suggested text and titles.</a:t>
            </a: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sp>
        <p:nvSpPr>
          <p:cNvPr id="11" name="Content Placeholder 3">
            <a:extLst>
              <a:ext uri="{FF2B5EF4-FFF2-40B4-BE49-F238E27FC236}">
                <a16:creationId xmlns:a16="http://schemas.microsoft.com/office/drawing/2014/main" id="{3F9F3536-8C42-26E0-2CE8-8D62057BDC3F}"/>
              </a:ext>
            </a:extLst>
          </p:cNvPr>
          <p:cNvSpPr txBox="1">
            <a:spLocks/>
          </p:cNvSpPr>
          <p:nvPr/>
        </p:nvSpPr>
        <p:spPr>
          <a:xfrm>
            <a:off x="857340" y="5368831"/>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Improve Marketing</a:t>
            </a:r>
            <a:endParaRPr lang="en-US" sz="2400" dirty="0"/>
          </a:p>
        </p:txBody>
      </p:sp>
      <p:cxnSp>
        <p:nvCxnSpPr>
          <p:cNvPr id="18" name="Straight Connector 17">
            <a:extLst>
              <a:ext uri="{FF2B5EF4-FFF2-40B4-BE49-F238E27FC236}">
                <a16:creationId xmlns:a16="http://schemas.microsoft.com/office/drawing/2014/main" id="{C69FC274-B137-4893-C943-3F9E055A316E}"/>
              </a:ext>
            </a:extLst>
          </p:cNvPr>
          <p:cNvCxnSpPr>
            <a:cxnSpLocks/>
          </p:cNvCxnSpPr>
          <p:nvPr/>
        </p:nvCxnSpPr>
        <p:spPr>
          <a:xfrm>
            <a:off x="3675017" y="5510291"/>
            <a:ext cx="235340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Content Placeholder 3">
            <a:extLst>
              <a:ext uri="{FF2B5EF4-FFF2-40B4-BE49-F238E27FC236}">
                <a16:creationId xmlns:a16="http://schemas.microsoft.com/office/drawing/2014/main" id="{3D74B603-EF63-26CE-F334-415D4E306A37}"/>
              </a:ext>
            </a:extLst>
          </p:cNvPr>
          <p:cNvSpPr txBox="1">
            <a:spLocks/>
          </p:cNvSpPr>
          <p:nvPr/>
        </p:nvSpPr>
        <p:spPr>
          <a:xfrm>
            <a:off x="6360485" y="5172603"/>
            <a:ext cx="5257800" cy="9134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spcBef>
                <a:spcPts val="0"/>
              </a:spcBef>
              <a:spcAft>
                <a:spcPts val="0"/>
              </a:spcAft>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Measure and improve email marketing campaign performance with detailed reporting, including open and click rates and social media activity so that the right customers are targeted with the right message at the right time. </a:t>
            </a:r>
            <a:endParaRPr lang="en-US" sz="1400" dirty="0">
              <a:effectLst/>
              <a:latin typeface="Cambria" panose="02040503050406030204" pitchFamily="18" charset="0"/>
              <a:ea typeface="Cambria" panose="02040503050406030204" pitchFamily="18" charset="0"/>
              <a:cs typeface="Arial" panose="020B0604020202020204" pitchFamily="34" charset="0"/>
            </a:endParaRPr>
          </a:p>
        </p:txBody>
      </p:sp>
      <p:cxnSp>
        <p:nvCxnSpPr>
          <p:cNvPr id="3" name="Straight Connector 2">
            <a:extLst>
              <a:ext uri="{FF2B5EF4-FFF2-40B4-BE49-F238E27FC236}">
                <a16:creationId xmlns:a16="http://schemas.microsoft.com/office/drawing/2014/main" id="{CA28D274-3E59-6D53-2C1B-8866C0E996E5}"/>
              </a:ext>
            </a:extLst>
          </p:cNvPr>
          <p:cNvCxnSpPr>
            <a:cxnSpLocks/>
          </p:cNvCxnSpPr>
          <p:nvPr/>
        </p:nvCxnSpPr>
        <p:spPr>
          <a:xfrm flipV="1">
            <a:off x="6096000" y="1467224"/>
            <a:ext cx="0" cy="75585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DB1AF96-A771-0A20-E7A2-7D980036240C}"/>
              </a:ext>
            </a:extLst>
          </p:cNvPr>
          <p:cNvCxnSpPr>
            <a:cxnSpLocks/>
          </p:cNvCxnSpPr>
          <p:nvPr/>
        </p:nvCxnSpPr>
        <p:spPr>
          <a:xfrm>
            <a:off x="6096000" y="1464125"/>
            <a:ext cx="26448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C9A55E2-57BD-96CF-C855-50977086B809}"/>
              </a:ext>
            </a:extLst>
          </p:cNvPr>
          <p:cNvCxnSpPr>
            <a:cxnSpLocks/>
          </p:cNvCxnSpPr>
          <p:nvPr/>
        </p:nvCxnSpPr>
        <p:spPr>
          <a:xfrm>
            <a:off x="6096000" y="1808922"/>
            <a:ext cx="26448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82A026-42AA-DD23-7DDF-82743A73E1C0}"/>
              </a:ext>
            </a:extLst>
          </p:cNvPr>
          <p:cNvCxnSpPr>
            <a:cxnSpLocks/>
          </p:cNvCxnSpPr>
          <p:nvPr/>
        </p:nvCxnSpPr>
        <p:spPr>
          <a:xfrm>
            <a:off x="6096000" y="2211210"/>
            <a:ext cx="26448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7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Q &amp; A / Next steps</a:t>
            </a:r>
            <a:endParaRPr lang="en-US" sz="3200" dirty="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Frequently Asked Questions</a:t>
            </a:r>
            <a:endParaRPr lang="en-US" sz="3200" dirty="0">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48056" y="571815"/>
            <a:ext cx="4370832" cy="307167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indent="-342900">
              <a:spcBef>
                <a:spcPts val="500"/>
              </a:spcBef>
              <a:spcAft>
                <a:spcPts val="0"/>
              </a:spcAft>
              <a:buAutoNum type="arabicPeriod"/>
            </a:pPr>
            <a:r>
              <a:rPr lang="en-US" sz="1400" b="1" dirty="0">
                <a:solidFill>
                  <a:schemeClr val="accent1"/>
                </a:solidFill>
                <a:effectLst/>
                <a:latin typeface="Arial" panose="020B0604020202020204" pitchFamily="34" charset="0"/>
                <a:ea typeface="MS Mincho" panose="02020609040205080304" pitchFamily="49" charset="-128"/>
                <a:cs typeface="Arial" panose="020B0604020202020204" pitchFamily="34" charset="0"/>
              </a:rPr>
              <a:t>What is Announcer Pro? </a:t>
            </a:r>
          </a:p>
          <a:p>
            <a:pPr marL="0" marR="0" indent="0">
              <a:spcBef>
                <a:spcPts val="500"/>
              </a:spcBef>
              <a:spcAft>
                <a:spcPts val="0"/>
              </a:spcAft>
              <a:buNone/>
            </a:pPr>
            <a:endParaRPr lang="en-US" sz="1400" dirty="0">
              <a:effectLst/>
              <a:latin typeface="Arial" panose="020B0604020202020204" pitchFamily="34" charset="0"/>
              <a:ea typeface="Times New Roman" panose="02020603050405020304" pitchFamily="18" charset="0"/>
            </a:endParaRPr>
          </a:p>
          <a:p>
            <a:pPr marL="0" marR="0" indent="0">
              <a:spcBef>
                <a:spcPts val="50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Announcer Pro is an email marketing tool which allows anyone to create and send graphic-rich emails in just a few short steps. Announcer Pro combines professional-looking templates with campaign management tools providing users with an enhanced email marketing tool to communicate with customers.</a:t>
            </a:r>
            <a:endParaRPr lang="en-US" sz="14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2" name="Content Placeholder 2">
            <a:extLst>
              <a:ext uri="{FF2B5EF4-FFF2-40B4-BE49-F238E27FC236}">
                <a16:creationId xmlns:a16="http://schemas.microsoft.com/office/drawing/2014/main" id="{B07F7BBF-03E8-2C23-302A-6C9602879203}"/>
              </a:ext>
            </a:extLst>
          </p:cNvPr>
          <p:cNvSpPr txBox="1">
            <a:spLocks/>
          </p:cNvSpPr>
          <p:nvPr/>
        </p:nvSpPr>
        <p:spPr>
          <a:xfrm>
            <a:off x="6096000" y="571815"/>
            <a:ext cx="4370832" cy="28008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400" b="1" dirty="0">
                <a:solidFill>
                  <a:schemeClr val="accent1"/>
                </a:solidFill>
                <a:effectLst/>
                <a:latin typeface="Arial" panose="020B0604020202020204" pitchFamily="34" charset="0"/>
                <a:ea typeface="MS Mincho" panose="02020609040205080304" pitchFamily="49" charset="-128"/>
                <a:cs typeface="Arial" panose="020B0604020202020204" pitchFamily="34" charset="0"/>
              </a:rPr>
              <a:t>2. Why choose Announcer Pro over other email marketing solutions? </a:t>
            </a:r>
          </a:p>
          <a:p>
            <a:pPr marL="0" marR="0" indent="0" fontAlgn="base">
              <a:spcBef>
                <a:spcPts val="0"/>
              </a:spcBef>
              <a:spcAft>
                <a:spcPts val="0"/>
              </a:spcAft>
              <a:buNone/>
            </a:pPr>
            <a:endPar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Users who have no HTML experience or email marketing campaign experience will find Announcer Pro easy to use. Included you will find the email Wizard which will be your guide to walk you through the account setup, creating campaigns, managing contact lists and publishing emails. Announcer Pro is a cost-effective solution that allows customers to create email campaigns without the features they don’t need.</a:t>
            </a:r>
            <a:endParaRPr lang="en-US" sz="18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4" name="Content Placeholder 2">
            <a:extLst>
              <a:ext uri="{FF2B5EF4-FFF2-40B4-BE49-F238E27FC236}">
                <a16:creationId xmlns:a16="http://schemas.microsoft.com/office/drawing/2014/main" id="{D3F1B8E2-2F32-2061-F50E-0B1D6E6209DF}"/>
              </a:ext>
            </a:extLst>
          </p:cNvPr>
          <p:cNvSpPr txBox="1">
            <a:spLocks/>
          </p:cNvSpPr>
          <p:nvPr/>
        </p:nvSpPr>
        <p:spPr>
          <a:xfrm>
            <a:off x="6096000" y="3643485"/>
            <a:ext cx="4370832" cy="24986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dirty="0">
                <a:solidFill>
                  <a:schemeClr val="accent1"/>
                </a:solidFill>
                <a:effectLst/>
                <a:latin typeface="Arial" panose="020B0604020202020204" pitchFamily="34" charset="0"/>
                <a:ea typeface="MS Mincho" panose="02020609040205080304" pitchFamily="49" charset="-128"/>
                <a:cs typeface="Arial" panose="020B0604020202020204" pitchFamily="34" charset="0"/>
              </a:rPr>
              <a:t>4. What is the maximum number of recipients I can have for an email campaign?</a:t>
            </a:r>
          </a:p>
          <a:p>
            <a:pPr marL="0" marR="0" indent="0">
              <a:spcBef>
                <a:spcPts val="500"/>
              </a:spcBef>
              <a:spcAft>
                <a:spcPts val="0"/>
              </a:spcAft>
              <a:buNone/>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600"/>
              </a:spcBef>
              <a:spcAft>
                <a:spcPts val="60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Currently the limit is 10,000 for a single campaign. There are some conditions that address the use of Announcer Pro for the purposes of spam and other types of inappropriate email marketing activities. </a:t>
            </a:r>
            <a:endParaRPr lang="en-US" sz="1400" dirty="0">
              <a:effectLst/>
              <a:latin typeface="Times New Roman" panose="02020603050405020304" pitchFamily="18" charset="0"/>
              <a:ea typeface="Times New Roman" panose="02020603050405020304" pitchFamily="18" charset="0"/>
              <a:cs typeface="Arial" panose="020B0604020202020204" pitchFamily="34" charset="0"/>
            </a:endParaRPr>
          </a:p>
          <a:p>
            <a:endParaRPr lang="en-US" sz="1200" dirty="0">
              <a:effectLst/>
              <a:latin typeface="Times New Roman" panose="02020603050405020304" pitchFamily="18" charset="0"/>
              <a:ea typeface="Times New Roman" panose="02020603050405020304" pitchFamily="18" charset="0"/>
            </a:endParaRPr>
          </a:p>
        </p:txBody>
      </p:sp>
      <p:sp>
        <p:nvSpPr>
          <p:cNvPr id="6" name="Content Placeholder 2">
            <a:extLst>
              <a:ext uri="{FF2B5EF4-FFF2-40B4-BE49-F238E27FC236}">
                <a16:creationId xmlns:a16="http://schemas.microsoft.com/office/drawing/2014/main" id="{2BF6A380-B2ED-72B3-89F0-D340F2359286}"/>
              </a:ext>
            </a:extLst>
          </p:cNvPr>
          <p:cNvSpPr txBox="1">
            <a:spLocks/>
          </p:cNvSpPr>
          <p:nvPr/>
        </p:nvSpPr>
        <p:spPr>
          <a:xfrm>
            <a:off x="448056" y="3643485"/>
            <a:ext cx="4370832" cy="17068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00"/>
              </a:spcBef>
              <a:spcAft>
                <a:spcPts val="0"/>
              </a:spcAft>
              <a:buNone/>
            </a:pPr>
            <a:r>
              <a:rPr lang="en-US" sz="1400" b="1" dirty="0">
                <a:solidFill>
                  <a:schemeClr val="accent1"/>
                </a:solidFill>
                <a:effectLst/>
                <a:latin typeface="Arial" panose="020B0604020202020204" pitchFamily="34" charset="0"/>
                <a:ea typeface="MS Mincho" panose="02020609040205080304" pitchFamily="49" charset="-128"/>
                <a:cs typeface="Arial" panose="020B0604020202020204" pitchFamily="34" charset="0"/>
              </a:rPr>
              <a:t>3. What is a campaign? </a:t>
            </a:r>
          </a:p>
          <a:p>
            <a:pPr marL="0" marR="0" indent="0">
              <a:spcBef>
                <a:spcPts val="500"/>
              </a:spcBef>
              <a:spcAft>
                <a:spcPts val="0"/>
              </a:spcAft>
              <a:buNone/>
            </a:pPr>
            <a:endParaRPr lang="en-US" sz="1400" dirty="0">
              <a:effectLst/>
              <a:latin typeface="Arial" panose="020B0604020202020204" pitchFamily="34" charset="0"/>
              <a:ea typeface="Times New Roman" panose="02020603050405020304" pitchFamily="18" charset="0"/>
            </a:endParaRPr>
          </a:p>
          <a:p>
            <a:pPr marL="0" marR="0" indent="0">
              <a:spcBef>
                <a:spcPts val="50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A campaign is a newsletter sent to one or multiple contacts at a time.</a:t>
            </a:r>
            <a:endParaRPr lang="en-US" sz="18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1696760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Probing Questions</a:t>
            </a:r>
            <a:endParaRPr lang="en-US">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dirty="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5968339" y="3348779"/>
            <a:ext cx="4440572" cy="23848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spcBef>
                <a:spcPts val="0"/>
              </a:spcBef>
              <a:buNone/>
            </a:pPr>
            <a:r>
              <a:rPr lang="en-US" sz="1200" b="1" dirty="0">
                <a:solidFill>
                  <a:schemeClr val="accent1"/>
                </a:solidFill>
                <a:effectLst/>
                <a:latin typeface="Arial" panose="020B0604020202020204" pitchFamily="34" charset="0"/>
                <a:ea typeface="Times New Roman" panose="02020603050405020304" pitchFamily="18" charset="0"/>
                <a:cs typeface="Arial" panose="020B0604020202020204" pitchFamily="34" charset="0"/>
              </a:rPr>
              <a:t>Are you currently using email marketing?</a:t>
            </a:r>
          </a:p>
          <a:p>
            <a:pPr marL="0" indent="0" fontAlgn="base">
              <a:spcBef>
                <a:spcPts val="0"/>
              </a:spcBef>
              <a:buNone/>
            </a:pPr>
            <a:endParaRPr lang="en-US" sz="12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200" b="1" dirty="0">
                <a:solidFill>
                  <a:srgbClr val="000000"/>
                </a:solidFill>
                <a:effectLst/>
                <a:latin typeface="Arial" panose="020B0604020202020204" pitchFamily="34" charset="0"/>
                <a:ea typeface="Times New Roman" panose="02020603050405020304" pitchFamily="18" charset="0"/>
              </a:rPr>
              <a:t>Yes?</a:t>
            </a:r>
            <a:r>
              <a:rPr lang="en-US" sz="1200" dirty="0">
                <a:solidFill>
                  <a:srgbClr val="000000"/>
                </a:solidFill>
                <a:effectLst/>
                <a:latin typeface="Arial" panose="020B0604020202020204" pitchFamily="34" charset="0"/>
                <a:ea typeface="Times New Roman" panose="02020603050405020304" pitchFamily="18" charset="0"/>
              </a:rPr>
              <a:t> That’s great. What provider are you using? Is it simple to use? Have you seen a lot of success? </a:t>
            </a:r>
            <a:r>
              <a:rPr lang="en-US" sz="1200" dirty="0">
                <a:effectLst/>
                <a:latin typeface="Arial" panose="020B0604020202020204" pitchFamily="34" charset="0"/>
                <a:ea typeface="Times New Roman" panose="02020603050405020304" pitchFamily="18" charset="0"/>
              </a:rPr>
              <a:t>Did you know that email marketing is included in our website plans?</a:t>
            </a:r>
          </a:p>
          <a:p>
            <a:pPr marL="0" marR="0" lvl="0" indent="0" fontAlgn="base">
              <a:spcBef>
                <a:spcPts val="0"/>
              </a:spcBef>
              <a:spcAft>
                <a:spcPts val="0"/>
              </a:spcAft>
              <a:buSzPts val="1000"/>
              <a:buNone/>
              <a:tabLst>
                <a:tab pos="457200" algn="l"/>
              </a:tabLst>
            </a:pPr>
            <a:endParaRPr lang="en-US" sz="1200" dirty="0">
              <a:effectLst/>
              <a:latin typeface="Arial" panose="020B0604020202020204" pitchFamily="34" charset="0"/>
              <a:ea typeface="MS Mincho" panose="02020609040205080304" pitchFamily="49" charset="-128"/>
            </a:endParaRPr>
          </a:p>
          <a:p>
            <a:pPr marL="0" marR="0" lvl="0" indent="0" fontAlgn="base">
              <a:spcBef>
                <a:spcPts val="0"/>
              </a:spcBef>
              <a:spcAft>
                <a:spcPts val="0"/>
              </a:spcAft>
              <a:buSzPts val="1000"/>
              <a:buNone/>
              <a:tabLst>
                <a:tab pos="457200" algn="l"/>
              </a:tabLst>
            </a:pPr>
            <a:r>
              <a:rPr lang="en-US" sz="1200" b="1" dirty="0">
                <a:solidFill>
                  <a:srgbClr val="000000"/>
                </a:solidFill>
                <a:effectLst/>
                <a:latin typeface="Arial" panose="020B0604020202020204" pitchFamily="34" charset="0"/>
                <a:ea typeface="Times New Roman" panose="02020603050405020304" pitchFamily="18" charset="0"/>
              </a:rPr>
              <a:t>No?</a:t>
            </a:r>
            <a:r>
              <a:rPr lang="en-US" sz="1200" dirty="0">
                <a:solidFill>
                  <a:srgbClr val="000000"/>
                </a:solidFill>
                <a:effectLst/>
                <a:latin typeface="Arial" panose="020B0604020202020204" pitchFamily="34" charset="0"/>
                <a:ea typeface="Times New Roman" panose="02020603050405020304" pitchFamily="18" charset="0"/>
              </a:rPr>
              <a:t> Establishing consumer trust and loyalty in a brand takes time. Email marketing allows you to build relationships with prospects, leads, and past and current customers by directly speaking to them about your brand via their inbox. It’s such a fast, easy way to reach out to customers. It enables you to provide customers with immediate information and allows instant access to their replies and queries.</a:t>
            </a:r>
            <a:endParaRPr lang="en-US" sz="1200" dirty="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804670" y="509691"/>
            <a:ext cx="4702993" cy="326111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200" b="1" dirty="0">
                <a:solidFill>
                  <a:schemeClr val="accent1"/>
                </a:solidFill>
                <a:effectLst/>
                <a:latin typeface="Arial" panose="020B0604020202020204" pitchFamily="34" charset="0"/>
                <a:ea typeface="Times New Roman" panose="02020603050405020304" pitchFamily="18" charset="0"/>
                <a:cs typeface="Arial" panose="020B0604020202020204" pitchFamily="34" charset="0"/>
              </a:rPr>
              <a:t>How are you advertising your business?</a:t>
            </a:r>
          </a:p>
          <a:p>
            <a:pPr marL="0" marR="0" indent="0" fontAlgn="base">
              <a:spcBef>
                <a:spcPts val="0"/>
              </a:spcBef>
              <a:spcAft>
                <a:spcPts val="0"/>
              </a:spcAft>
              <a:buNone/>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200" dirty="0">
                <a:solidFill>
                  <a:srgbClr val="000000"/>
                </a:solidFill>
                <a:effectLst/>
                <a:latin typeface="Arial" panose="020B0604020202020204" pitchFamily="34" charset="0"/>
                <a:ea typeface="Times New Roman" panose="02020603050405020304" pitchFamily="18" charset="0"/>
              </a:rPr>
              <a:t>Email marketing is one of the most effective, cost-efficient ways for small businesses to advertise and stay top of mind with customers. Stats show that email marketing was ranked as the best channel in terms of return on investment for digital marketing.</a:t>
            </a:r>
          </a:p>
          <a:p>
            <a:pPr marL="0" marR="0" lvl="0" indent="0" fontAlgn="base">
              <a:spcBef>
                <a:spcPts val="0"/>
              </a:spcBef>
              <a:spcAft>
                <a:spcPts val="0"/>
              </a:spcAft>
              <a:buSzPts val="1000"/>
              <a:buNone/>
              <a:tabLst>
                <a:tab pos="457200" algn="l"/>
              </a:tabLst>
            </a:pPr>
            <a:endParaRPr lang="en-US" sz="1200" dirty="0">
              <a:solidFill>
                <a:srgbClr val="000000"/>
              </a:solidFill>
              <a:effectLst/>
              <a:latin typeface="Arial" panose="020B0604020202020204" pitchFamily="34" charset="0"/>
              <a:ea typeface="MS Mincho" panose="02020609040205080304" pitchFamily="49" charset="-128"/>
            </a:endParaRPr>
          </a:p>
          <a:p>
            <a:pPr marL="0" marR="0" lvl="0" indent="0" fontAlgn="base">
              <a:spcBef>
                <a:spcPts val="0"/>
              </a:spcBef>
              <a:spcAft>
                <a:spcPts val="0"/>
              </a:spcAft>
              <a:buSzPts val="1000"/>
              <a:buNone/>
              <a:tabLst>
                <a:tab pos="457200" algn="l"/>
              </a:tabLst>
            </a:pPr>
            <a:r>
              <a:rPr lang="en-US" sz="1200" dirty="0">
                <a:solidFill>
                  <a:srgbClr val="000000"/>
                </a:solidFill>
                <a:effectLst/>
                <a:latin typeface="Arial" panose="020B0604020202020204" pitchFamily="34" charset="0"/>
                <a:ea typeface="Times New Roman" panose="02020603050405020304" pitchFamily="18" charset="0"/>
              </a:rPr>
              <a:t>What’s your budget? </a:t>
            </a:r>
          </a:p>
          <a:p>
            <a:pPr marL="0" marR="0" lvl="0" indent="0" fontAlgn="base">
              <a:spcBef>
                <a:spcPts val="0"/>
              </a:spcBef>
              <a:spcAft>
                <a:spcPts val="0"/>
              </a:spcAft>
              <a:buSzPts val="1000"/>
              <a:buNone/>
              <a:tabLst>
                <a:tab pos="457200" algn="l"/>
              </a:tabLst>
            </a:pPr>
            <a:endParaRPr lang="en-US" sz="1200" dirty="0">
              <a:solidFill>
                <a:srgbClr val="000000"/>
              </a:solidFill>
              <a:effectLst/>
              <a:latin typeface="Arial" panose="020B0604020202020204" pitchFamily="34" charset="0"/>
              <a:ea typeface="MS Mincho" panose="02020609040205080304" pitchFamily="49" charset="-128"/>
            </a:endParaRPr>
          </a:p>
          <a:p>
            <a:pPr marL="0" marR="0" lvl="0" indent="0" fontAlgn="base">
              <a:spcBef>
                <a:spcPts val="0"/>
              </a:spcBef>
              <a:spcAft>
                <a:spcPts val="0"/>
              </a:spcAft>
              <a:buSzPts val="1000"/>
              <a:buNone/>
              <a:tabLst>
                <a:tab pos="457200" algn="l"/>
              </a:tabLst>
            </a:pPr>
            <a:r>
              <a:rPr lang="en-US" sz="1200" dirty="0">
                <a:solidFill>
                  <a:srgbClr val="000000"/>
                </a:solidFill>
                <a:effectLst/>
                <a:latin typeface="Arial" panose="020B0604020202020204" pitchFamily="34" charset="0"/>
                <a:ea typeface="Times New Roman" panose="02020603050405020304" pitchFamily="18" charset="0"/>
              </a:rPr>
              <a:t>What’s your typical return on investment?</a:t>
            </a:r>
            <a:endParaRPr lang="en-US" sz="1200" dirty="0">
              <a:solidFill>
                <a:srgbClr val="000000"/>
              </a:solidFill>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p:txBody>
      </p:sp>
      <p:sp>
        <p:nvSpPr>
          <p:cNvPr id="4" name="Content Placeholder 2">
            <a:extLst>
              <a:ext uri="{FF2B5EF4-FFF2-40B4-BE49-F238E27FC236}">
                <a16:creationId xmlns:a16="http://schemas.microsoft.com/office/drawing/2014/main" id="{2AC7514F-3A8B-FC66-886A-105E74F5A771}"/>
              </a:ext>
            </a:extLst>
          </p:cNvPr>
          <p:cNvSpPr txBox="1">
            <a:spLocks/>
          </p:cNvSpPr>
          <p:nvPr/>
        </p:nvSpPr>
        <p:spPr>
          <a:xfrm>
            <a:off x="5968339" y="439521"/>
            <a:ext cx="4777958" cy="318452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200" b="1" dirty="0">
                <a:solidFill>
                  <a:srgbClr val="7030A0"/>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200" b="1" dirty="0">
                <a:solidFill>
                  <a:schemeClr val="accent1"/>
                </a:solidFill>
                <a:effectLst/>
                <a:latin typeface="Arial" panose="020B0604020202020204" pitchFamily="34" charset="0"/>
                <a:ea typeface="Times New Roman" panose="02020603050405020304" pitchFamily="18" charset="0"/>
                <a:cs typeface="Arial" panose="020B0604020202020204" pitchFamily="34" charset="0"/>
              </a:rPr>
              <a:t>How do you keep your current customer informed of new and exciting things that your company may be doing?</a:t>
            </a:r>
          </a:p>
          <a:p>
            <a:pPr marL="0" marR="0" indent="0" fontAlgn="base">
              <a:spcBef>
                <a:spcPts val="0"/>
              </a:spcBef>
              <a:spcAft>
                <a:spcPts val="0"/>
              </a:spcAft>
              <a:buNone/>
            </a:pPr>
            <a:endParaRPr lang="en-US" sz="12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200" dirty="0">
                <a:solidFill>
                  <a:srgbClr val="000000"/>
                </a:solidFill>
                <a:effectLst/>
                <a:latin typeface="Arial" panose="020B0604020202020204" pitchFamily="34" charset="0"/>
                <a:ea typeface="Times New Roman" panose="02020603050405020304" pitchFamily="18" charset="0"/>
              </a:rPr>
              <a:t>It is important to keep existing customers engaged and for your business to stay top of mind so that they keep coming back to you instead of your competition. </a:t>
            </a:r>
            <a:endParaRPr lang="en-US" sz="1200" dirty="0">
              <a:solidFill>
                <a:srgbClr val="000000"/>
              </a:solidFill>
              <a:effectLst/>
              <a:latin typeface="Arial" panose="020B0604020202020204" pitchFamily="34" charset="0"/>
              <a:ea typeface="MS Mincho" panose="02020609040205080304" pitchFamily="49" charset="-128"/>
            </a:endParaRPr>
          </a:p>
          <a:p>
            <a:pPr marL="0" marR="0" lvl="0" indent="0" fontAlgn="base">
              <a:spcBef>
                <a:spcPts val="0"/>
              </a:spcBef>
              <a:spcAft>
                <a:spcPts val="0"/>
              </a:spcAft>
              <a:buSzPts val="1000"/>
              <a:buNone/>
              <a:tabLst>
                <a:tab pos="457200" algn="l"/>
              </a:tabLst>
            </a:pPr>
            <a:endParaRPr lang="en-US" sz="1200" dirty="0">
              <a:solidFill>
                <a:srgbClr val="000000"/>
              </a:solidFill>
              <a:effectLst/>
              <a:latin typeface="Arial" panose="020B0604020202020204" pitchFamily="34" charset="0"/>
              <a:ea typeface="Times New Roman" panose="02020603050405020304" pitchFamily="18" charset="0"/>
            </a:endParaRPr>
          </a:p>
          <a:p>
            <a:pPr marL="0" marR="0" lvl="0" indent="0" fontAlgn="base">
              <a:spcBef>
                <a:spcPts val="0"/>
              </a:spcBef>
              <a:spcAft>
                <a:spcPts val="0"/>
              </a:spcAft>
              <a:buSzPts val="1000"/>
              <a:buNone/>
              <a:tabLst>
                <a:tab pos="457200" algn="l"/>
              </a:tabLst>
            </a:pPr>
            <a:r>
              <a:rPr lang="en-US" sz="1200" dirty="0">
                <a:solidFill>
                  <a:srgbClr val="000000"/>
                </a:solidFill>
                <a:effectLst/>
                <a:latin typeface="Arial" panose="020B0604020202020204" pitchFamily="34" charset="0"/>
                <a:ea typeface="Times New Roman" panose="02020603050405020304" pitchFamily="18" charset="0"/>
              </a:rPr>
              <a:t>It is always easier to grow revenues by servicing existing repeat customers that to find new customers. Your existing customers do business with you because they like your products and services, they like you’re pricing, or they like you as a business. Nurture this relationship by keeping them informed of new offers, pricing, sales, product launches and more. </a:t>
            </a:r>
            <a:endParaRPr lang="en-US" sz="1200" dirty="0">
              <a:solidFill>
                <a:srgbClr val="000000"/>
              </a:solidFill>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200" dirty="0">
              <a:effectLst/>
              <a:latin typeface="Arial" panose="020B0604020202020204" pitchFamily="34" charset="0"/>
              <a:ea typeface="MS Mincho" panose="02020609040205080304" pitchFamily="49" charset="-128"/>
            </a:endParaRPr>
          </a:p>
        </p:txBody>
      </p:sp>
      <p:sp>
        <p:nvSpPr>
          <p:cNvPr id="6" name="Content Placeholder 2">
            <a:extLst>
              <a:ext uri="{FF2B5EF4-FFF2-40B4-BE49-F238E27FC236}">
                <a16:creationId xmlns:a16="http://schemas.microsoft.com/office/drawing/2014/main" id="{7163A6A9-5C02-DCA8-F133-35F7733ED09D}"/>
              </a:ext>
            </a:extLst>
          </p:cNvPr>
          <p:cNvSpPr txBox="1">
            <a:spLocks/>
          </p:cNvSpPr>
          <p:nvPr/>
        </p:nvSpPr>
        <p:spPr>
          <a:xfrm>
            <a:off x="687224" y="3429000"/>
            <a:ext cx="4631396" cy="250782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200" b="1" dirty="0">
                <a:solidFill>
                  <a:schemeClr val="accent1"/>
                </a:solidFill>
                <a:effectLst/>
                <a:latin typeface="Arial" panose="020B0604020202020204" pitchFamily="34" charset="0"/>
                <a:ea typeface="Times New Roman" panose="02020603050405020304" pitchFamily="18" charset="0"/>
                <a:cs typeface="Arial" panose="020B0604020202020204" pitchFamily="34" charset="0"/>
              </a:rPr>
              <a:t>Do you get a lot of repeat customers?</a:t>
            </a:r>
          </a:p>
          <a:p>
            <a:pPr marL="0" marR="0" indent="0" fontAlgn="base">
              <a:spcBef>
                <a:spcPts val="0"/>
              </a:spcBef>
              <a:spcAft>
                <a:spcPts val="0"/>
              </a:spcAft>
              <a:buNone/>
            </a:pPr>
            <a:endParaRPr lang="en-US" sz="1200" b="1" dirty="0">
              <a:solidFill>
                <a:srgbClr val="2CADB2"/>
              </a:solidFill>
              <a:latin typeface="Arial" panose="020B0604020202020204" pitchFamily="34" charset="0"/>
              <a:ea typeface="Times New Roman" panose="02020603050405020304" pitchFamily="18" charset="0"/>
              <a:cs typeface="Arial" panose="020B0604020202020204" pitchFamily="34" charset="0"/>
            </a:endParaRPr>
          </a:p>
          <a:p>
            <a:pPr marL="0" marR="0" lvl="0" indent="0" fontAlgn="base">
              <a:spcBef>
                <a:spcPts val="0"/>
              </a:spcBef>
              <a:spcAft>
                <a:spcPts val="0"/>
              </a:spcAft>
              <a:buSzPts val="1000"/>
              <a:buNone/>
              <a:tabLst>
                <a:tab pos="457200" algn="l"/>
              </a:tabLst>
            </a:pPr>
            <a:r>
              <a:rPr lang="en-US" sz="1200" dirty="0">
                <a:solidFill>
                  <a:srgbClr val="000000"/>
                </a:solidFill>
                <a:effectLst/>
                <a:latin typeface="Arial" panose="020B0604020202020204" pitchFamily="34" charset="0"/>
                <a:ea typeface="Times New Roman" panose="02020603050405020304" pitchFamily="18" charset="0"/>
              </a:rPr>
              <a:t>Yes? Did you know most customers prefer to be contacted by businesses </a:t>
            </a:r>
            <a:r>
              <a:rPr lang="en-US" sz="1200" dirty="0">
                <a:solidFill>
                  <a:srgbClr val="000000"/>
                </a:solidFill>
                <a:latin typeface="Arial" panose="020B0604020202020204" pitchFamily="34" charset="0"/>
                <a:ea typeface="Times New Roman" panose="02020603050405020304" pitchFamily="18" charset="0"/>
              </a:rPr>
              <a:t>via email. </a:t>
            </a:r>
          </a:p>
          <a:p>
            <a:pPr marL="0" marR="0" lvl="0" indent="0" fontAlgn="base">
              <a:spcBef>
                <a:spcPts val="0"/>
              </a:spcBef>
              <a:spcAft>
                <a:spcPts val="0"/>
              </a:spcAft>
              <a:buSzPts val="1000"/>
              <a:buNone/>
              <a:tabLst>
                <a:tab pos="457200" algn="l"/>
              </a:tabLst>
            </a:pPr>
            <a:endParaRPr lang="en-US" sz="1200" dirty="0">
              <a:solidFill>
                <a:srgbClr val="000000"/>
              </a:solidFill>
              <a:effectLst/>
              <a:latin typeface="Arial" panose="020B0604020202020204" pitchFamily="34" charset="0"/>
              <a:ea typeface="MS Mincho" panose="02020609040205080304" pitchFamily="49" charset="-128"/>
            </a:endParaRPr>
          </a:p>
          <a:p>
            <a:pPr marL="0" marR="0" lvl="0" indent="0" fontAlgn="base">
              <a:spcBef>
                <a:spcPts val="0"/>
              </a:spcBef>
              <a:spcAft>
                <a:spcPts val="0"/>
              </a:spcAft>
              <a:buSzPts val="1000"/>
              <a:buNone/>
              <a:tabLst>
                <a:tab pos="457200" algn="l"/>
              </a:tabLst>
            </a:pPr>
            <a:r>
              <a:rPr lang="en-US" sz="1200" dirty="0">
                <a:solidFill>
                  <a:srgbClr val="000000"/>
                </a:solidFill>
                <a:effectLst/>
                <a:latin typeface="Arial" panose="020B0604020202020204" pitchFamily="34" charset="0"/>
                <a:ea typeface="Times New Roman" panose="02020603050405020304" pitchFamily="18" charset="0"/>
              </a:rPr>
              <a:t>No? Email is a fantastic marketing medium for attracting repeat business, not only because it allows you to share promotional information, but because it lets you develop a more personal relationship with your customers. And it keeps your business on their mind, so that when they’re ready to make their next purchase, they’re already thinking about you. </a:t>
            </a:r>
            <a:endParaRPr lang="en-US" sz="1200" dirty="0">
              <a:solidFill>
                <a:srgbClr val="000000"/>
              </a:solidFill>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200" dirty="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200" b="1" dirty="0">
              <a:solidFill>
                <a:srgbClr val="2CADB2"/>
              </a:solidFill>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2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66675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Objection Handlers</a:t>
            </a:r>
            <a:endParaRPr lang="en-US">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475118" y="718790"/>
            <a:ext cx="4702993" cy="418011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200" b="1" dirty="0">
                <a:solidFill>
                  <a:schemeClr val="accent1"/>
                </a:solidFill>
                <a:effectLst/>
                <a:latin typeface="Arial"/>
                <a:ea typeface="Times New Roman" panose="02020603050405020304" pitchFamily="18" charset="0"/>
                <a:cs typeface="Arial"/>
              </a:rPr>
              <a:t>I don’t have time or resources to use email marketing.</a:t>
            </a:r>
          </a:p>
          <a:p>
            <a:pPr marL="0" marR="0" indent="0" fontAlgn="base">
              <a:lnSpc>
                <a:spcPct val="120000"/>
              </a:lnSpc>
              <a:spcBef>
                <a:spcPts val="0"/>
              </a:spcBef>
              <a:spcAft>
                <a:spcPts val="0"/>
              </a:spcAft>
              <a:buNone/>
            </a:pPr>
            <a:endParaRPr lang="en-US" sz="1200" b="1" dirty="0">
              <a:solidFill>
                <a:srgbClr val="2CADB2"/>
              </a:solidFill>
              <a:latin typeface="Arial"/>
              <a:ea typeface="Calibri" panose="020F0502020204030204" pitchFamily="34" charset="0"/>
              <a:cs typeface="Arial"/>
            </a:endParaRPr>
          </a:p>
          <a:p>
            <a:pPr marL="0" marR="0" indent="0" fontAlgn="base">
              <a:lnSpc>
                <a:spcPct val="120000"/>
              </a:lnSpc>
              <a:spcBef>
                <a:spcPts val="0"/>
              </a:spcBef>
              <a:spcAft>
                <a:spcPts val="0"/>
              </a:spcAft>
              <a:buNone/>
            </a:pPr>
            <a:r>
              <a:rPr lang="en-US" sz="1200" dirty="0">
                <a:effectLst/>
                <a:latin typeface="Arial" panose="020B0604020202020204" pitchFamily="34" charset="0"/>
                <a:ea typeface="Calibri" panose="020F0502020204030204" pitchFamily="34" charset="0"/>
                <a:cs typeface="Calibri" panose="020F0502020204030204" pitchFamily="34" charset="0"/>
              </a:rPr>
              <a:t>Email marketing is an incredibly important and easy way to stay in front of customers. New customers will always increase revenue and brand awareness for the company, but attracting a new audience can cost up to ten times as much as committing to growing your relationship with existing customers. Not to mention, repeat clients tend to spend a whole lot more on your services and products than new ones.</a:t>
            </a:r>
          </a:p>
          <a:p>
            <a:pPr marL="0" marR="0" indent="0" fontAlgn="base">
              <a:lnSpc>
                <a:spcPct val="120000"/>
              </a:lnSpc>
              <a:spcBef>
                <a:spcPts val="0"/>
              </a:spcBef>
              <a:spcAft>
                <a:spcPts val="0"/>
              </a:spcAft>
              <a:buNone/>
            </a:pPr>
            <a:endParaRPr lang="en-US" sz="1200" dirty="0">
              <a:effectLst/>
              <a:latin typeface="Arial" panose="020B0604020202020204" pitchFamily="34" charset="0"/>
              <a:ea typeface="Calibri" panose="020F0502020204030204" pitchFamily="34" charset="0"/>
              <a:cs typeface="Calibri" panose="020F0502020204030204" pitchFamily="34" charset="0"/>
            </a:endParaRPr>
          </a:p>
          <a:p>
            <a:pPr marL="0" marR="0" indent="0" fontAlgn="base">
              <a:lnSpc>
                <a:spcPct val="120000"/>
              </a:lnSpc>
              <a:spcBef>
                <a:spcPts val="0"/>
              </a:spcBef>
              <a:spcAft>
                <a:spcPts val="0"/>
              </a:spcAft>
              <a:buNone/>
            </a:pPr>
            <a:r>
              <a:rPr lang="en-US" sz="1200" dirty="0">
                <a:effectLst/>
                <a:latin typeface="Arial" panose="020B0604020202020204" pitchFamily="34" charset="0"/>
                <a:ea typeface="Calibri" panose="020F0502020204030204" pitchFamily="34" charset="0"/>
                <a:cs typeface="Calibri" panose="020F0502020204030204" pitchFamily="34" charset="0"/>
              </a:rPr>
              <a:t>You can start by sending one email a month, which can take as little as 20 minutes, and you’ll be capitalizing on one of the easiest channels with the highest rate of return. </a:t>
            </a:r>
          </a:p>
          <a:p>
            <a:pPr marL="0" marR="0" indent="0" fontAlgn="base">
              <a:lnSpc>
                <a:spcPct val="120000"/>
              </a:lnSpc>
              <a:spcBef>
                <a:spcPts val="0"/>
              </a:spcBef>
              <a:spcAft>
                <a:spcPts val="0"/>
              </a:spcAft>
              <a:buNone/>
            </a:pPr>
            <a:endParaRPr lang="en-US" sz="1200" dirty="0">
              <a:effectLst/>
              <a:latin typeface="Arial" panose="020B0604020202020204" pitchFamily="34" charset="0"/>
              <a:ea typeface="Calibri" panose="020F0502020204030204" pitchFamily="34" charset="0"/>
              <a:cs typeface="Calibri" panose="020F0502020204030204" pitchFamily="34" charset="0"/>
            </a:endParaRPr>
          </a:p>
          <a:p>
            <a:pPr marL="0" marR="0" indent="0" fontAlgn="base">
              <a:lnSpc>
                <a:spcPct val="120000"/>
              </a:lnSpc>
              <a:spcBef>
                <a:spcPts val="0"/>
              </a:spcBef>
              <a:spcAft>
                <a:spcPts val="0"/>
              </a:spcAft>
              <a:buNone/>
            </a:pPr>
            <a:r>
              <a:rPr lang="en-US" sz="1200" dirty="0">
                <a:effectLst/>
                <a:latin typeface="Arial" panose="020B0604020202020204" pitchFamily="34" charset="0"/>
                <a:ea typeface="Calibri" panose="020F0502020204030204" pitchFamily="34" charset="0"/>
                <a:cs typeface="Calibri" panose="020F0502020204030204" pitchFamily="34" charset="0"/>
              </a:rPr>
              <a:t>The tool is super easy to use, you only have to double click to add in any images you want and edit the text. I guarantee once you start seeing the impact it can have, you’ll be using it more often!</a:t>
            </a:r>
          </a:p>
          <a:p>
            <a:pPr marL="0" indent="0">
              <a:lnSpc>
                <a:spcPct val="120000"/>
              </a:lnSpc>
              <a:spcBef>
                <a:spcPts val="500"/>
              </a:spcBef>
              <a:buNone/>
            </a:pPr>
            <a:endParaRPr lang="en-US" sz="12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6" name="Content Placeholder 2">
            <a:extLst>
              <a:ext uri="{FF2B5EF4-FFF2-40B4-BE49-F238E27FC236}">
                <a16:creationId xmlns:a16="http://schemas.microsoft.com/office/drawing/2014/main" id="{49D6E387-4C36-7671-A51A-FCE29B1B5571}"/>
              </a:ext>
            </a:extLst>
          </p:cNvPr>
          <p:cNvSpPr txBox="1">
            <a:spLocks/>
          </p:cNvSpPr>
          <p:nvPr/>
        </p:nvSpPr>
        <p:spPr>
          <a:xfrm>
            <a:off x="6095999" y="718790"/>
            <a:ext cx="4702993" cy="339803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buNone/>
            </a:pPr>
            <a:r>
              <a:rPr lang="en-US" sz="1200" b="1" dirty="0">
                <a:solidFill>
                  <a:schemeClr val="accent1"/>
                </a:solidFill>
                <a:effectLst/>
                <a:latin typeface="Arial"/>
                <a:ea typeface="Times New Roman" panose="02020603050405020304" pitchFamily="18" charset="0"/>
                <a:cs typeface="Arial"/>
              </a:rPr>
              <a:t>I don’t have an email list to send to. </a:t>
            </a:r>
          </a:p>
          <a:p>
            <a:pPr marL="0" marR="0" indent="0" fontAlgn="base">
              <a:lnSpc>
                <a:spcPct val="120000"/>
              </a:lnSpc>
              <a:spcBef>
                <a:spcPts val="0"/>
              </a:spcBef>
              <a:buNone/>
            </a:pPr>
            <a:endParaRPr lang="en-US" sz="1200" b="1" dirty="0">
              <a:solidFill>
                <a:srgbClr val="2CADB2"/>
              </a:solidFill>
              <a:effectLst/>
              <a:latin typeface="Arial"/>
              <a:ea typeface="Times New Roman" panose="02020603050405020304" pitchFamily="18" charset="0"/>
              <a:cs typeface="Arial"/>
            </a:endParaRPr>
          </a:p>
          <a:p>
            <a:pPr marL="0" marR="0" indent="0" fontAlgn="base">
              <a:lnSpc>
                <a:spcPct val="120000"/>
              </a:lnSpc>
              <a:spcBef>
                <a:spcPts val="0"/>
              </a:spcBef>
              <a:buNone/>
            </a:pPr>
            <a:r>
              <a:rPr lang="en-US" sz="1200" dirty="0">
                <a:effectLst/>
                <a:latin typeface="Arial" panose="020B0604020202020204" pitchFamily="34" charset="0"/>
                <a:ea typeface="Arial" panose="020B0604020202020204" pitchFamily="34" charset="0"/>
                <a:cs typeface="Times New Roman" panose="02020603050405020304" pitchFamily="18" charset="0"/>
              </a:rPr>
              <a:t>Everyone has to start somewhere! Our Email Marketing tool can help with the task of collecting emails to start building a list.</a:t>
            </a:r>
          </a:p>
          <a:p>
            <a:pPr marL="0" marR="0" indent="0" fontAlgn="base">
              <a:lnSpc>
                <a:spcPct val="120000"/>
              </a:lnSpc>
              <a:spcBef>
                <a:spcPts val="0"/>
              </a:spcBef>
              <a:buNone/>
            </a:pPr>
            <a:r>
              <a:rPr lang="en-US" sz="1200" dirty="0">
                <a:effectLst/>
                <a:latin typeface="Arial" panose="020B0604020202020204" pitchFamily="34" charset="0"/>
                <a:ea typeface="Arial" panose="020B0604020202020204" pitchFamily="34" charset="0"/>
                <a:cs typeface="Times New Roman" panose="02020603050405020304" pitchFamily="18" charset="0"/>
              </a:rPr>
              <a:t>First, you can import your contacts from Yahoo, Gmail or Outlook, or add contacts individually. Second, you can add a Subscriber form to your website for visitors to sign up—sweeten the deal by noting that you’ll send out special offers and promotions through your email. Third, you can start building a list by having a sign up in store; once you start collecting emails, it will be incredibly easy to stay top-of-mind so that you can keep driving customers back through your door!</a:t>
            </a:r>
          </a:p>
          <a:p>
            <a:pPr marL="0" indent="0">
              <a:lnSpc>
                <a:spcPct val="120000"/>
              </a:lnSpc>
              <a:spcBef>
                <a:spcPts val="500"/>
              </a:spcBef>
              <a:buNone/>
            </a:pPr>
            <a:endParaRPr lang="en-US" sz="12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9" name="Content Placeholder 2">
            <a:extLst>
              <a:ext uri="{FF2B5EF4-FFF2-40B4-BE49-F238E27FC236}">
                <a16:creationId xmlns:a16="http://schemas.microsoft.com/office/drawing/2014/main" id="{A11A4F0C-1CA1-5640-F05A-5E8F4425735A}"/>
              </a:ext>
            </a:extLst>
          </p:cNvPr>
          <p:cNvSpPr txBox="1">
            <a:spLocks/>
          </p:cNvSpPr>
          <p:nvPr/>
        </p:nvSpPr>
        <p:spPr>
          <a:xfrm>
            <a:off x="6095999" y="4030220"/>
            <a:ext cx="4539009" cy="173736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20000"/>
              </a:lnSpc>
              <a:spcBef>
                <a:spcPts val="0"/>
              </a:spcBef>
              <a:buNone/>
            </a:pPr>
            <a:r>
              <a:rPr lang="en-US" sz="1200" b="1" dirty="0">
                <a:solidFill>
                  <a:schemeClr val="accent1"/>
                </a:solidFill>
                <a:effectLst/>
                <a:latin typeface="Arial"/>
                <a:ea typeface="Times New Roman" panose="02020603050405020304" pitchFamily="18" charset="0"/>
                <a:cs typeface="Arial"/>
              </a:rPr>
              <a:t>I’m not very technical. </a:t>
            </a:r>
          </a:p>
          <a:p>
            <a:pPr marL="0" marR="0" indent="0">
              <a:spcBef>
                <a:spcPts val="0"/>
              </a:spcBef>
              <a:spcAft>
                <a:spcPts val="0"/>
              </a:spcAft>
              <a:buNone/>
            </a:pPr>
            <a:r>
              <a:rPr lang="en-US" sz="1200" dirty="0">
                <a:solidFill>
                  <a:srgbClr val="000000"/>
                </a:solidFill>
                <a:effectLst/>
                <a:latin typeface="Arial" panose="020B0604020202020204" pitchFamily="34" charset="0"/>
                <a:ea typeface="Times New Roman" panose="02020603050405020304" pitchFamily="18" charset="0"/>
              </a:rPr>
              <a:t>Our email marketing was built so that anyone can use it. It’s perfectly tailored for small business users to help you get in front of customers without much effort.</a:t>
            </a:r>
            <a:endParaRPr lang="en-US" sz="1200" dirty="0">
              <a:effectLst/>
              <a:latin typeface="Arial" panose="020B0604020202020204" pitchFamily="34" charset="0"/>
              <a:ea typeface="MS Mincho" panose="02020609040205080304" pitchFamily="49" charset="-128"/>
            </a:endParaRPr>
          </a:p>
          <a:p>
            <a:pPr marL="0" indent="0">
              <a:spcBef>
                <a:spcPts val="0"/>
              </a:spcBef>
              <a:buNone/>
            </a:pPr>
            <a:endParaRPr lang="en-US" sz="1200" dirty="0">
              <a:effectLst/>
              <a:latin typeface="Arial" panose="020B0604020202020204" pitchFamily="34" charset="0"/>
              <a:ea typeface="MS Mincho" panose="02020609040205080304" pitchFamily="49" charset="-128"/>
            </a:endParaRPr>
          </a:p>
          <a:p>
            <a:pPr marL="0" marR="0" indent="0">
              <a:spcBef>
                <a:spcPts val="0"/>
              </a:spcBef>
              <a:spcAft>
                <a:spcPts val="0"/>
              </a:spcAft>
              <a:buNone/>
            </a:pPr>
            <a:r>
              <a:rPr lang="en-US" sz="1200" dirty="0">
                <a:solidFill>
                  <a:srgbClr val="000000"/>
                </a:solidFill>
                <a:effectLst/>
                <a:latin typeface="Arial" panose="020B0604020202020204" pitchFamily="34" charset="0"/>
                <a:ea typeface="Times New Roman" panose="02020603050405020304" pitchFamily="18" charset="0"/>
              </a:rPr>
              <a:t>It takes just a few steps to set up an email: confirm your business details, choose a template, input  your own text, select a list to send to and hit send!</a:t>
            </a:r>
            <a:endParaRPr lang="en-US" sz="1200" dirty="0">
              <a:effectLst/>
              <a:latin typeface="Arial" panose="020B0604020202020204" pitchFamily="34" charset="0"/>
              <a:ea typeface="MS Mincho" panose="02020609040205080304" pitchFamily="49" charset="-128"/>
            </a:endParaRPr>
          </a:p>
          <a:p>
            <a:pPr marL="0" indent="0">
              <a:spcBef>
                <a:spcPts val="0"/>
              </a:spcBef>
              <a:buNone/>
            </a:pPr>
            <a:r>
              <a:rPr lang="en-US" sz="1200" dirty="0">
                <a:solidFill>
                  <a:srgbClr val="000000"/>
                </a:solidFill>
                <a:effectLst/>
                <a:latin typeface="Arial" panose="020B0604020202020204" pitchFamily="34" charset="0"/>
                <a:ea typeface="Times New Roman" panose="02020603050405020304" pitchFamily="18" charset="0"/>
              </a:rPr>
              <a:t> </a:t>
            </a:r>
            <a:endParaRPr lang="en-US" sz="1200" dirty="0">
              <a:effectLst/>
              <a:latin typeface="Arial" panose="020B0604020202020204" pitchFamily="34" charset="0"/>
              <a:ea typeface="MS Mincho" panose="02020609040205080304" pitchFamily="49" charset="-128"/>
            </a:endParaRPr>
          </a:p>
          <a:p>
            <a:pPr marL="0" marR="0" indent="0">
              <a:spcBef>
                <a:spcPts val="0"/>
              </a:spcBef>
              <a:spcAft>
                <a:spcPts val="0"/>
              </a:spcAft>
              <a:buNone/>
            </a:pPr>
            <a:r>
              <a:rPr lang="en-US" sz="1200" dirty="0">
                <a:solidFill>
                  <a:srgbClr val="000000"/>
                </a:solidFill>
                <a:effectLst/>
                <a:latin typeface="Arial" panose="020B0604020202020204" pitchFamily="34" charset="0"/>
                <a:ea typeface="Times New Roman" panose="02020603050405020304" pitchFamily="18" charset="0"/>
              </a:rPr>
              <a:t>You can use your contacts from Gmail or other email accounts to start and add a Subscriber form on your website to grow the list. </a:t>
            </a:r>
            <a:endParaRPr lang="en-US" sz="1200" dirty="0">
              <a:effectLst/>
              <a:latin typeface="Arial" panose="020B0604020202020204" pitchFamily="34" charset="0"/>
              <a:ea typeface="MS Mincho" panose="02020609040205080304" pitchFamily="49" charset="-128"/>
            </a:endParaRPr>
          </a:p>
          <a:p>
            <a:pPr marL="0" indent="0">
              <a:lnSpc>
                <a:spcPct val="120000"/>
              </a:lnSpc>
              <a:spcBef>
                <a:spcPts val="500"/>
              </a:spcBef>
              <a:buNone/>
            </a:pPr>
            <a:endParaRPr lang="en-US" sz="12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Test Your Knowledge</a:t>
            </a:r>
            <a:endParaRPr lang="en-US" sz="3200" dirty="0">
              <a:solidFill>
                <a:schemeClr val="bg1"/>
              </a:solidFill>
            </a:endParaRPr>
          </a:p>
        </p:txBody>
      </p:sp>
    </p:spTree>
    <p:extLst>
      <p:ext uri="{BB962C8B-B14F-4D97-AF65-F5344CB8AC3E}">
        <p14:creationId xmlns:p14="http://schemas.microsoft.com/office/powerpoint/2010/main" val="3109488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6836735" y="744574"/>
            <a:ext cx="4885365"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6. Why should SMB’s use email marketing?</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A) It gets you new customers</a:t>
            </a:r>
          </a:p>
          <a:p>
            <a:pPr marL="0" indent="0">
              <a:spcBef>
                <a:spcPts val="500"/>
              </a:spcBef>
              <a:buNone/>
            </a:pPr>
            <a:r>
              <a:rPr lang="en-US" sz="1050" dirty="0">
                <a:latin typeface="Arial" panose="020B0604020202020204" pitchFamily="34" charset="0"/>
                <a:ea typeface="Times New Roman" panose="02020603050405020304" pitchFamily="18" charset="0"/>
                <a:cs typeface="Arial" panose="020B0604020202020204" pitchFamily="34" charset="0"/>
              </a:rPr>
              <a:t>B) There is a coordinator who will create the newsletter for the business, so its easy and it gives business owners free time to focus on other areas of the business</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It’s </a:t>
            </a:r>
            <a:r>
              <a:rPr lang="en-US" sz="1050" dirty="0">
                <a:solidFill>
                  <a:srgbClr val="000000"/>
                </a:solidFill>
                <a:effectLst/>
                <a:latin typeface="Arial" panose="020B0604020202020204" pitchFamily="34" charset="0"/>
                <a:ea typeface="Times New Roman" panose="02020603050405020304" pitchFamily="18" charset="0"/>
              </a:rPr>
              <a:t>one of the most effective, cost-efficient ways for small businesses to advertise and stay top of mind with customers. </a:t>
            </a:r>
          </a:p>
          <a:p>
            <a:pPr marL="0" indent="0">
              <a:spcBef>
                <a:spcPts val="50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They shouldn</a:t>
            </a:r>
            <a:r>
              <a:rPr lang="en-US" sz="1050" dirty="0">
                <a:latin typeface="Arial" panose="020B0604020202020204" pitchFamily="34" charset="0"/>
                <a:ea typeface="Times New Roman" panose="02020603050405020304" pitchFamily="18" charset="0"/>
                <a:cs typeface="Arial" panose="020B0604020202020204" pitchFamily="34" charset="0"/>
              </a:rPr>
              <a:t>’t.</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7. True or False: You need to be technical to use Announcer Pro.</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8. How many newsletters can you have?</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50</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Unlimited </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100</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10</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9. Which are </a:t>
            </a:r>
            <a:r>
              <a:rPr lang="en-US" sz="1050" b="1" dirty="0">
                <a:latin typeface="Arial" panose="020B0604020202020204" pitchFamily="34" charset="0"/>
                <a:ea typeface="Times New Roman" panose="02020603050405020304" pitchFamily="18" charset="0"/>
                <a:cs typeface="Arial" panose="020B0604020202020204" pitchFamily="34" charset="0"/>
              </a:rPr>
              <a:t>key features of Announcer Pro?</a:t>
            </a:r>
            <a:endParaRPr lang="en-US" sz="105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A) </a:t>
            </a:r>
            <a:r>
              <a:rPr lang="en-US" sz="1050" dirty="0">
                <a:latin typeface="Arial" panose="020B0604020202020204" pitchFamily="34" charset="0"/>
                <a:ea typeface="Times New Roman" panose="02020603050405020304" pitchFamily="18" charset="0"/>
                <a:cs typeface="Arial" panose="020B0604020202020204" pitchFamily="34" charset="0"/>
              </a:rPr>
              <a:t>Professionally designed newsletter templates</a:t>
            </a: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B) Schedule multiple campaigns </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C) Contact management</a:t>
            </a:r>
          </a:p>
          <a:p>
            <a:pPr marL="0" marR="0" indent="0" fontAlgn="base">
              <a:lnSpc>
                <a:spcPct val="120000"/>
              </a:lnSpc>
              <a:spcBef>
                <a:spcPts val="0"/>
              </a:spcBef>
              <a:spcAft>
                <a:spcPts val="0"/>
              </a:spcAft>
              <a:buNone/>
            </a:pPr>
            <a:r>
              <a:rPr lang="en-US" sz="105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05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dirty="0">
                <a:effectLst/>
                <a:latin typeface="Arial" panose="020B0604020202020204" pitchFamily="34" charset="0"/>
                <a:ea typeface="Times New Roman" panose="02020603050405020304" pitchFamily="18" charset="0"/>
                <a:cs typeface="Arial" panose="020B0604020202020204" pitchFamily="34" charset="0"/>
              </a:rPr>
              <a:t>10. True or False: Email marketing has the highest return on investment.</a:t>
            </a:r>
          </a:p>
          <a:p>
            <a:pPr marR="0" fontAlgn="base">
              <a:lnSpc>
                <a:spcPct val="120000"/>
              </a:lnSpc>
              <a:spcBef>
                <a:spcPts val="0"/>
              </a:spcBef>
              <a:spcAft>
                <a:spcPts val="0"/>
              </a:spcAft>
              <a:buAutoNum type="alphaUcParenR"/>
            </a:pPr>
            <a:r>
              <a:rPr lang="en-US" sz="1050" dirty="0">
                <a:effectLst/>
                <a:latin typeface="Arial" panose="020B0604020202020204" pitchFamily="34" charset="0"/>
                <a:ea typeface="Times New Roman" panose="02020603050405020304" pitchFamily="18" charset="0"/>
                <a:cs typeface="Arial" panose="020B0604020202020204" pitchFamily="34" charset="0"/>
              </a:rPr>
              <a:t>True</a:t>
            </a:r>
          </a:p>
          <a:p>
            <a:pPr marR="0" fontAlgn="base">
              <a:lnSpc>
                <a:spcPct val="120000"/>
              </a:lnSpc>
              <a:spcBef>
                <a:spcPts val="0"/>
              </a:spcBef>
              <a:spcAft>
                <a:spcPts val="0"/>
              </a:spcAft>
              <a:buAutoNum type="alphaUcParenR"/>
            </a:pPr>
            <a:r>
              <a:rPr lang="en-US" sz="1050" dirty="0">
                <a:latin typeface="Arial" panose="020B0604020202020204" pitchFamily="34" charset="0"/>
                <a:ea typeface="MS Mincho" panose="02020609040205080304" pitchFamily="49" charset="-128"/>
                <a:cs typeface="Arial" panose="020B0604020202020204" pitchFamily="34" charset="0"/>
              </a:rPr>
              <a:t>False</a:t>
            </a:r>
            <a:endParaRPr lang="en-US" sz="105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6522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1. What percentage of customers buy from marketing emails at least once a month?</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a:t>
            </a:r>
            <a:r>
              <a:rPr lang="en-US" sz="1100" dirty="0">
                <a:latin typeface="Arial" panose="020B0604020202020204" pitchFamily="34" charset="0"/>
                <a:ea typeface="Times New Roman" panose="02020603050405020304" pitchFamily="18" charset="0"/>
                <a:cs typeface="Arial" panose="020B0604020202020204" pitchFamily="34" charset="0"/>
              </a:rPr>
              <a:t>50</a:t>
            </a:r>
            <a:r>
              <a:rPr lang="en-US" sz="1100"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41</a:t>
            </a:r>
            <a:r>
              <a:rPr lang="en-US" sz="1100" dirty="0">
                <a:latin typeface="Arial" panose="020B0604020202020204" pitchFamily="34" charset="0"/>
                <a:ea typeface="Times New Roman" panose="02020603050405020304" pitchFamily="18" charset="0"/>
                <a:cs typeface="Arial" panose="020B0604020202020204" pitchFamily="34" charset="0"/>
              </a:rPr>
              <a:t>%</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a:t>
            </a:r>
            <a:r>
              <a:rPr lang="en-US" sz="1100" dirty="0">
                <a:latin typeface="Arial" panose="020B0604020202020204" pitchFamily="34" charset="0"/>
                <a:ea typeface="Times New Roman" panose="02020603050405020304" pitchFamily="18" charset="0"/>
                <a:cs typeface="Arial" panose="020B0604020202020204" pitchFamily="34" charset="0"/>
              </a:rPr>
              <a:t>36</a:t>
            </a:r>
            <a:r>
              <a:rPr lang="en-US" sz="1100" dirty="0">
                <a:effectLst/>
                <a:latin typeface="Arial" panose="020B0604020202020204" pitchFamily="34" charset="0"/>
                <a:ea typeface="Times New Roman" panose="02020603050405020304" pitchFamily="18" charset="0"/>
                <a:cs typeface="Arial" panose="020B0604020202020204" pitchFamily="34" charset="0"/>
              </a:rPr>
              <a:t>%</a:t>
            </a: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D) 62%</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2. How </a:t>
            </a:r>
            <a:r>
              <a:rPr lang="en-US" sz="1100" b="1" dirty="0">
                <a:latin typeface="Arial" panose="020B0604020202020204" pitchFamily="34" charset="0"/>
                <a:ea typeface="Times New Roman" panose="02020603050405020304" pitchFamily="18" charset="0"/>
                <a:cs typeface="Arial" panose="020B0604020202020204" pitchFamily="34" charset="0"/>
              </a:rPr>
              <a:t>many newsletter templates are there?</a:t>
            </a: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Over 200</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100</a:t>
            </a:r>
          </a:p>
          <a:p>
            <a:pPr marL="0" indent="0" fontAlgn="base">
              <a:lnSpc>
                <a:spcPct val="120000"/>
              </a:lnSpc>
              <a:spcBef>
                <a:spcPts val="0"/>
              </a:spcBef>
              <a:buNone/>
            </a:pPr>
            <a:r>
              <a:rPr lang="en-US" sz="1100" dirty="0">
                <a:latin typeface="Arial" panose="020B0604020202020204" pitchFamily="34" charset="0"/>
                <a:ea typeface="Times New Roman" panose="02020603050405020304" pitchFamily="18" charset="0"/>
                <a:cs typeface="Arial" panose="020B0604020202020204" pitchFamily="34" charset="0"/>
              </a:rPr>
              <a:t>C)</a:t>
            </a:r>
            <a:r>
              <a:rPr lang="en-US" sz="1100" dirty="0">
                <a:effectLst/>
                <a:latin typeface="Arial" panose="020B0604020202020204" pitchFamily="34" charset="0"/>
                <a:ea typeface="Times New Roman" panose="02020603050405020304" pitchFamily="18" charset="0"/>
                <a:cs typeface="Arial" panose="020B0604020202020204" pitchFamily="34" charset="0"/>
              </a:rPr>
              <a:t> </a:t>
            </a:r>
            <a:r>
              <a:rPr lang="en-US" sz="1100" dirty="0">
                <a:latin typeface="Arial" panose="020B0604020202020204" pitchFamily="34" charset="0"/>
                <a:ea typeface="Times New Roman" panose="02020603050405020304" pitchFamily="18" charset="0"/>
                <a:cs typeface="Arial" panose="020B0604020202020204" pitchFamily="34" charset="0"/>
              </a:rPr>
              <a:t>Over 300</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indent="0" fontAlgn="base">
              <a:lnSpc>
                <a:spcPct val="120000"/>
              </a:lnSpc>
              <a:spcBef>
                <a:spcPts val="0"/>
              </a:spcBef>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Over 600</a:t>
            </a:r>
          </a:p>
          <a:p>
            <a:pPr marL="0" indent="0" fontAlgn="base">
              <a:lnSpc>
                <a:spcPct val="120000"/>
              </a:lnSpc>
              <a:spcBef>
                <a:spcPts val="0"/>
              </a:spcBef>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3. True or False: You can measure the effectiveness of each campaign.</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True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False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4. What are benefits of using Announcer Pro?</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A) Stay top of mind </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a:t>
            </a:r>
            <a:r>
              <a:rPr lang="en-US" sz="1100" dirty="0">
                <a:latin typeface="Arial" panose="020B0604020202020204" pitchFamily="34" charset="0"/>
                <a:ea typeface="Times New Roman" panose="02020603050405020304" pitchFamily="18" charset="0"/>
                <a:cs typeface="Arial" panose="020B0604020202020204" pitchFamily="34" charset="0"/>
              </a:rPr>
              <a:t>Cost effective</a:t>
            </a: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dirty="0">
                <a:latin typeface="Arial" panose="020B0604020202020204" pitchFamily="34" charset="0"/>
                <a:ea typeface="Times New Roman" panose="02020603050405020304" pitchFamily="18" charset="0"/>
                <a:cs typeface="Arial" panose="020B0604020202020204" pitchFamily="34" charset="0"/>
              </a:rPr>
              <a:t>C) Look professional</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100" b="1"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dirty="0">
                <a:effectLst/>
                <a:latin typeface="Arial" panose="020B0604020202020204" pitchFamily="34" charset="0"/>
                <a:ea typeface="Times New Roman" panose="02020603050405020304" pitchFamily="18" charset="0"/>
                <a:cs typeface="Arial" panose="020B0604020202020204" pitchFamily="34" charset="0"/>
              </a:rPr>
              <a:t>5. What is included in campaign reporting?</a:t>
            </a:r>
          </a:p>
          <a:p>
            <a:pPr marL="0" marR="0" indent="0" fontAlgn="base">
              <a:lnSpc>
                <a:spcPct val="120000"/>
              </a:lnSpc>
              <a:spcBef>
                <a:spcPts val="0"/>
              </a:spcBef>
              <a:spcAft>
                <a:spcPts val="0"/>
              </a:spcAft>
              <a:buNone/>
            </a:pPr>
            <a:r>
              <a:rPr lang="en-US" sz="1100" dirty="0">
                <a:effectLst/>
                <a:latin typeface="Arial" panose="020B0604020202020204" pitchFamily="34" charset="0"/>
                <a:ea typeface="MS Mincho" panose="02020609040205080304" pitchFamily="49" charset="-128"/>
              </a:rPr>
              <a:t>A) Measures the effectiveness of a campaign</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B) View Email performance</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C) </a:t>
            </a:r>
            <a:r>
              <a:rPr lang="en-US" sz="1100" dirty="0">
                <a:effectLst/>
                <a:latin typeface="Arial" panose="020B0604020202020204" pitchFamily="34" charset="0"/>
                <a:ea typeface="MS Mincho" panose="02020609040205080304" pitchFamily="49" charset="-128"/>
              </a:rPr>
              <a:t>Compare the performance of sent campaigns </a:t>
            </a:r>
          </a:p>
          <a:p>
            <a:pPr marL="0" marR="0" indent="0" fontAlgn="base">
              <a:lnSpc>
                <a:spcPct val="12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D) </a:t>
            </a:r>
            <a:r>
              <a:rPr lang="en-US" sz="1100" dirty="0">
                <a:effectLst/>
                <a:latin typeface="Arial" panose="020B0604020202020204" pitchFamily="34" charset="0"/>
                <a:ea typeface="MS Mincho" panose="02020609040205080304" pitchFamily="49" charset="-128"/>
                <a:cs typeface="Arial" panose="020B0604020202020204" pitchFamily="34" charset="0"/>
              </a:rPr>
              <a:t>All of the above</a:t>
            </a:r>
          </a:p>
        </p:txBody>
      </p:sp>
    </p:spTree>
    <p:extLst>
      <p:ext uri="{BB962C8B-B14F-4D97-AF65-F5344CB8AC3E}">
        <p14:creationId xmlns:p14="http://schemas.microsoft.com/office/powerpoint/2010/main" val="253420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sz="800" b="0" i="0">
              <a:solidFill>
                <a:srgbClr val="374151"/>
              </a:solidFill>
              <a:effectLst/>
              <a:latin typeface="Söhne"/>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1223772" y="1468474"/>
            <a:ext cx="6231128"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50%</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C) Over 300</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True</a:t>
            </a: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C</a:t>
            </a:r>
            <a:r>
              <a:rPr lang="en-US" sz="1200" dirty="0">
                <a:effectLst/>
                <a:latin typeface="Arial" panose="020B0604020202020204" pitchFamily="34" charset="0"/>
                <a:ea typeface="Times New Roman" panose="02020603050405020304" pitchFamily="18" charset="0"/>
                <a:cs typeface="Arial" panose="020B0604020202020204" pitchFamily="34" charset="0"/>
              </a:rPr>
              <a:t>) It’s </a:t>
            </a:r>
            <a:r>
              <a:rPr lang="en-US" sz="1200" dirty="0">
                <a:solidFill>
                  <a:srgbClr val="000000"/>
                </a:solidFill>
                <a:effectLst/>
                <a:latin typeface="Arial" panose="020B0604020202020204" pitchFamily="34" charset="0"/>
                <a:ea typeface="Times New Roman" panose="02020603050405020304" pitchFamily="18" charset="0"/>
              </a:rPr>
              <a:t>one of the most effective, cost-efficient ways for small businesses to advertise and stay top of mind with customers. </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B</a:t>
            </a:r>
            <a:r>
              <a:rPr lang="en-US" sz="1200" dirty="0">
                <a:effectLst/>
                <a:latin typeface="Arial" panose="020B0604020202020204" pitchFamily="34" charset="0"/>
                <a:ea typeface="Times New Roman" panose="02020603050405020304" pitchFamily="18" charset="0"/>
                <a:cs typeface="Arial" panose="020B0604020202020204" pitchFamily="34" charset="0"/>
              </a:rPr>
              <a:t>) False</a:t>
            </a:r>
          </a:p>
          <a:p>
            <a:pPr marR="0" fontAlgn="base">
              <a:lnSpc>
                <a:spcPct val="200000"/>
              </a:lnSpc>
              <a:spcBef>
                <a:spcPts val="0"/>
              </a:spcBef>
              <a:spcAft>
                <a:spcPts val="0"/>
              </a:spcAft>
              <a:buFont typeface="+mj-lt"/>
              <a:buAutoNum type="arabicPeriod"/>
            </a:pPr>
            <a:r>
              <a:rPr lang="en-US" sz="1200" dirty="0">
                <a:latin typeface="Arial" panose="020B0604020202020204" pitchFamily="34" charset="0"/>
                <a:ea typeface="Times New Roman" panose="02020603050405020304" pitchFamily="18" charset="0"/>
                <a:cs typeface="Arial" panose="020B0604020202020204" pitchFamily="34" charset="0"/>
              </a:rPr>
              <a:t>B</a:t>
            </a:r>
            <a:r>
              <a:rPr lang="en-US" sz="1200" dirty="0">
                <a:effectLst/>
                <a:latin typeface="Arial" panose="020B0604020202020204" pitchFamily="34" charset="0"/>
                <a:ea typeface="Times New Roman" panose="02020603050405020304" pitchFamily="18" charset="0"/>
                <a:cs typeface="Arial" panose="020B0604020202020204" pitchFamily="34" charset="0"/>
              </a:rPr>
              <a:t>) Unlimited</a:t>
            </a: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R="0" fontAlgn="base">
              <a:lnSpc>
                <a:spcPct val="200000"/>
              </a:lnSpc>
              <a:spcBef>
                <a:spcPts val="0"/>
              </a:spcBef>
              <a:spcAft>
                <a:spcPts val="0"/>
              </a:spcAft>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D) All of the above</a:t>
            </a:r>
          </a:p>
          <a:p>
            <a:pPr fontAlgn="base">
              <a:lnSpc>
                <a:spcPct val="200000"/>
              </a:lnSpc>
              <a:spcBef>
                <a:spcPts val="0"/>
              </a:spcBef>
              <a:buFont typeface="+mj-lt"/>
              <a:buAutoNum type="arabicPeriod"/>
            </a:pPr>
            <a:r>
              <a:rPr lang="en-US" sz="1200" dirty="0">
                <a:effectLst/>
                <a:latin typeface="Arial" panose="020B0604020202020204" pitchFamily="34" charset="0"/>
                <a:ea typeface="Times New Roman" panose="02020603050405020304" pitchFamily="18" charset="0"/>
                <a:cs typeface="Arial" panose="020B0604020202020204" pitchFamily="34" charset="0"/>
              </a:rPr>
              <a:t>A) True</a:t>
            </a:r>
          </a:p>
        </p:txBody>
      </p:sp>
      <p:sp>
        <p:nvSpPr>
          <p:cNvPr id="6" name="Title 1">
            <a:extLst>
              <a:ext uri="{FF2B5EF4-FFF2-40B4-BE49-F238E27FC236}">
                <a16:creationId xmlns:a16="http://schemas.microsoft.com/office/drawing/2014/main" id="{4EC76ECD-341B-9003-FACB-F170EE7B8AD1}"/>
              </a:ext>
            </a:extLst>
          </p:cNvPr>
          <p:cNvSpPr>
            <a:spLocks noGrp="1"/>
          </p:cNvSpPr>
          <p:nvPr>
            <p:ph type="title"/>
          </p:nvPr>
        </p:nvSpPr>
        <p:spPr>
          <a:xfrm>
            <a:off x="838200" y="365125"/>
            <a:ext cx="10515600" cy="1325563"/>
          </a:xfrm>
        </p:spPr>
        <p:txBody>
          <a:bodyPr>
            <a:normAutofit/>
          </a:bodyPr>
          <a:lstStyle/>
          <a:p>
            <a:r>
              <a:rPr lang="en-US" sz="3200" b="1" dirty="0">
                <a:solidFill>
                  <a:schemeClr val="accent1"/>
                </a:solidFill>
                <a:latin typeface="Arial" panose="020B0604020202020204" pitchFamily="34" charset="0"/>
                <a:ea typeface="MS Mincho" panose="02020609040205080304" pitchFamily="49" charset="-128"/>
              </a:rPr>
              <a:t>Correct Answers</a:t>
            </a:r>
            <a:endParaRPr lang="en-US" sz="3200" b="1" dirty="0">
              <a:solidFill>
                <a:schemeClr val="accent1"/>
              </a:solidFill>
            </a:endParaRPr>
          </a:p>
        </p:txBody>
      </p:sp>
    </p:spTree>
    <p:extLst>
      <p:ext uri="{BB962C8B-B14F-4D97-AF65-F5344CB8AC3E}">
        <p14:creationId xmlns:p14="http://schemas.microsoft.com/office/powerpoint/2010/main" val="4266642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1774</TotalTime>
  <Words>2089</Words>
  <Application>Microsoft Office PowerPoint</Application>
  <PresentationFormat>Widescreen</PresentationFormat>
  <Paragraphs>209</Paragraphs>
  <Slides>21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Cambria</vt:lpstr>
      <vt:lpstr>Söhne</vt:lpstr>
      <vt:lpstr>Symbol</vt:lpstr>
      <vt:lpstr>Times New Roman</vt:lpstr>
      <vt:lpstr>Office Theme</vt:lpstr>
      <vt:lpstr>Email Marketing/ Announcer Pro</vt:lpstr>
      <vt:lpstr>Agenda</vt:lpstr>
      <vt:lpstr>Keep businesses top of mind </vt:lpstr>
      <vt:lpstr>PowerPoint Presentation</vt:lpstr>
      <vt:lpstr>Impact of email marketing on businesses</vt:lpstr>
      <vt:lpstr>PowerPoint Presentation</vt:lpstr>
      <vt:lpstr>PowerPoint Presentation</vt:lpstr>
      <vt:lpstr>Features</vt:lpstr>
      <vt:lpstr>How it works</vt:lpstr>
      <vt:lpstr>Login to your portal and access Announcer Pro</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lpstr>Test Your Knowledge</vt:lpstr>
      <vt:lpstr>PowerPoint Presentation</vt:lpstr>
      <vt:lpstr>Correct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Presence Builder</dc:title>
  <dc:creator>KAYLA FEJDASZ</dc:creator>
  <cp:lastModifiedBy>Shujaat, Faizan</cp:lastModifiedBy>
  <cp:revision>2</cp:revision>
  <dcterms:created xsi:type="dcterms:W3CDTF">2023-06-14T12:40:26Z</dcterms:created>
  <dcterms:modified xsi:type="dcterms:W3CDTF">2023-07-09T19:10:46Z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aca698d-2970-434b-8525-8980de153bc7_Enabled">
    <vt:lpwstr>true</vt:lpwstr>
  </property>
  <property fmtid="{D5CDD505-2E9C-101B-9397-08002B2CF9AE}" pid="3" name="MSIP_Label_7aca698d-2970-434b-8525-8980de153bc7_SetDate">
    <vt:lpwstr>2023-06-14T12:41:25Z</vt:lpwstr>
  </property>
  <property fmtid="{D5CDD505-2E9C-101B-9397-08002B2CF9AE}" pid="4" name="MSIP_Label_7aca698d-2970-434b-8525-8980de153bc7_Method">
    <vt:lpwstr>Privileged</vt:lpwstr>
  </property>
  <property fmtid="{D5CDD505-2E9C-101B-9397-08002B2CF9AE}" pid="5" name="MSIP_Label_7aca698d-2970-434b-8525-8980de153bc7_Name">
    <vt:lpwstr>Internal - No Label</vt:lpwstr>
  </property>
  <property fmtid="{D5CDD505-2E9C-101B-9397-08002B2CF9AE}" pid="6" name="MSIP_Label_7aca698d-2970-434b-8525-8980de153bc7_SiteId">
    <vt:lpwstr>1f7c1878-7408-4f86-b429-cf17f96a717c</vt:lpwstr>
  </property>
  <property fmtid="{D5CDD505-2E9C-101B-9397-08002B2CF9AE}" pid="7" name="MSIP_Label_7aca698d-2970-434b-8525-8980de153bc7_ActionId">
    <vt:lpwstr>42656f63-8ac4-42ad-a7c4-52ebabd5c110</vt:lpwstr>
  </property>
  <property fmtid="{D5CDD505-2E9C-101B-9397-08002B2CF9AE}" pid="8" name="MSIP_Label_7aca698d-2970-434b-8525-8980de153bc7_ContentBits">
    <vt:lpwstr>0</vt:lpwstr>
  </property>
</Properties>
</file>