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7" r:id="rId2"/>
    <p:sldId id="258" r:id="rId3"/>
    <p:sldId id="259" r:id="rId4"/>
    <p:sldId id="260" r:id="rId5"/>
    <p:sldId id="261" r:id="rId6"/>
    <p:sldId id="262" r:id="rId7"/>
    <p:sldId id="263" r:id="rId8"/>
    <p:sldId id="264" r:id="rId9"/>
    <p:sldId id="265" r:id="rId10"/>
    <p:sldId id="266" r:id="rId11"/>
    <p:sldId id="267" r:id="rId12"/>
    <p:sldId id="269" r:id="rId13"/>
    <p:sldId id="268" r:id="rId14"/>
    <p:sldId id="270" r:id="rId15"/>
    <p:sldId id="271" r:id="rId16"/>
    <p:sldId id="272" r:id="rId17"/>
    <p:sldId id="273" r:id="rId18"/>
    <p:sldId id="274" r:id="rId19"/>
    <p:sldId id="275" r:id="rId20"/>
    <p:sldId id="276" r:id="rId21"/>
    <p:sldId id="27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FE8649F-E618-F2FF-DAF8-A205BE251E16}" name="KAYLA FEJDASZ" initials="KF" userId="S::t448370@deluxe.com::c03447ce-3ff7-4fcb-91df-c0d7148df867" providerId="AD"/>
  <p188:author id="{AF5DB4CA-26AF-87BE-6D7D-5BFB296D56B9}" name="Shujaat, Faizan" initials="SF" userId="S::t466308@deluxe.com::59b06e4e-8241-483d-8369-73d547e8d722"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660D6C-95A9-4477-BE23-485F2AB433F8}" v="4" dt="2023-07-09T18:27:26.83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78" d="100"/>
          <a:sy n="78" d="100"/>
        </p:scale>
        <p:origin x="715"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4B1EA7-B218-4295-A83E-4C65AF8191AF}" type="datetimeFigureOut">
              <a:rPr lang="en-US" smtClean="0"/>
              <a:t>7/9/2023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C058FA-3765-4618-AAC6-E30A513FE03E}" type="slidenum">
              <a:rPr lang="en-US" smtClean="0"/>
              <a:t>‹#›</a:t>
            </a:fld>
            <a:endParaRPr lang="en-US"/>
          </a:p>
        </p:txBody>
      </p:sp>
    </p:spTree>
    <p:extLst>
      <p:ext uri="{BB962C8B-B14F-4D97-AF65-F5344CB8AC3E}">
        <p14:creationId xmlns:p14="http://schemas.microsoft.com/office/powerpoint/2010/main" val="40928563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1</a:t>
            </a:fld>
            <a:endParaRPr lang="en-US"/>
          </a:p>
        </p:txBody>
      </p:sp>
    </p:spTree>
    <p:extLst>
      <p:ext uri="{BB962C8B-B14F-4D97-AF65-F5344CB8AC3E}">
        <p14:creationId xmlns:p14="http://schemas.microsoft.com/office/powerpoint/2010/main" val="24575680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2</a:t>
            </a:fld>
            <a:endParaRPr lang="en-US"/>
          </a:p>
        </p:txBody>
      </p:sp>
    </p:spTree>
    <p:extLst>
      <p:ext uri="{BB962C8B-B14F-4D97-AF65-F5344CB8AC3E}">
        <p14:creationId xmlns:p14="http://schemas.microsoft.com/office/powerpoint/2010/main" val="38004383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621D89-F7BE-4A30-B883-9740DAD80204}" type="slidenum">
              <a:rPr lang="en-US" smtClean="0"/>
              <a:t>3</a:t>
            </a:fld>
            <a:endParaRPr lang="en-US"/>
          </a:p>
        </p:txBody>
      </p:sp>
    </p:spTree>
    <p:extLst>
      <p:ext uri="{BB962C8B-B14F-4D97-AF65-F5344CB8AC3E}">
        <p14:creationId xmlns:p14="http://schemas.microsoft.com/office/powerpoint/2010/main" val="23503209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4</a:t>
            </a:fld>
            <a:endParaRPr lang="en-US"/>
          </a:p>
        </p:txBody>
      </p:sp>
    </p:spTree>
    <p:extLst>
      <p:ext uri="{BB962C8B-B14F-4D97-AF65-F5344CB8AC3E}">
        <p14:creationId xmlns:p14="http://schemas.microsoft.com/office/powerpoint/2010/main" val="37839515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5</a:t>
            </a:fld>
            <a:endParaRPr lang="en-US"/>
          </a:p>
        </p:txBody>
      </p:sp>
    </p:spTree>
    <p:extLst>
      <p:ext uri="{BB962C8B-B14F-4D97-AF65-F5344CB8AC3E}">
        <p14:creationId xmlns:p14="http://schemas.microsoft.com/office/powerpoint/2010/main" val="25146463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6</a:t>
            </a:fld>
            <a:endParaRPr lang="en-US"/>
          </a:p>
        </p:txBody>
      </p:sp>
    </p:spTree>
    <p:extLst>
      <p:ext uri="{BB962C8B-B14F-4D97-AF65-F5344CB8AC3E}">
        <p14:creationId xmlns:p14="http://schemas.microsoft.com/office/powerpoint/2010/main" val="12874303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16</a:t>
            </a:fld>
            <a:endParaRPr lang="en-US"/>
          </a:p>
        </p:txBody>
      </p:sp>
    </p:spTree>
    <p:extLst>
      <p:ext uri="{BB962C8B-B14F-4D97-AF65-F5344CB8AC3E}">
        <p14:creationId xmlns:p14="http://schemas.microsoft.com/office/powerpoint/2010/main" val="26027951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18</a:t>
            </a:fld>
            <a:endParaRPr lang="en-US"/>
          </a:p>
        </p:txBody>
      </p:sp>
    </p:spTree>
    <p:extLst>
      <p:ext uri="{BB962C8B-B14F-4D97-AF65-F5344CB8AC3E}">
        <p14:creationId xmlns:p14="http://schemas.microsoft.com/office/powerpoint/2010/main" val="6705463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20</a:t>
            </a:fld>
            <a:endParaRPr lang="en-US"/>
          </a:p>
        </p:txBody>
      </p:sp>
    </p:spTree>
    <p:extLst>
      <p:ext uri="{BB962C8B-B14F-4D97-AF65-F5344CB8AC3E}">
        <p14:creationId xmlns:p14="http://schemas.microsoft.com/office/powerpoint/2010/main" val="3968088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21</a:t>
            </a:fld>
            <a:endParaRPr lang="en-US"/>
          </a:p>
        </p:txBody>
      </p:sp>
    </p:spTree>
    <p:extLst>
      <p:ext uri="{BB962C8B-B14F-4D97-AF65-F5344CB8AC3E}">
        <p14:creationId xmlns:p14="http://schemas.microsoft.com/office/powerpoint/2010/main" val="10470894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FBD4D-DE77-5C33-C1E1-4B77626BBE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41061D-A7C8-E47A-6BD7-28BBD1404F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1D2CD9-C9F6-971F-444C-84E3ACA3E3F4}"/>
              </a:ext>
            </a:extLst>
          </p:cNvPr>
          <p:cNvSpPr>
            <a:spLocks noGrp="1"/>
          </p:cNvSpPr>
          <p:nvPr>
            <p:ph type="dt" sz="half" idx="10"/>
          </p:nvPr>
        </p:nvSpPr>
        <p:spPr/>
        <p:txBody>
          <a:bodyPr/>
          <a:lstStyle/>
          <a:p>
            <a:fld id="{C57D70A5-BF3C-4DA7-987D-578DEFCFF55E}" type="datetimeFigureOut">
              <a:rPr lang="en-US" smtClean="0"/>
              <a:t>7/9/2023</a:t>
            </a:fld>
            <a:endParaRPr lang="en-US"/>
          </a:p>
        </p:txBody>
      </p:sp>
      <p:sp>
        <p:nvSpPr>
          <p:cNvPr id="5" name="Footer Placeholder 4">
            <a:extLst>
              <a:ext uri="{FF2B5EF4-FFF2-40B4-BE49-F238E27FC236}">
                <a16:creationId xmlns:a16="http://schemas.microsoft.com/office/drawing/2014/main" id="{5CF0053D-D9F9-6C93-DB61-DD0C5BF9C7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048C4C-1CFB-6731-5BE7-6E0C67C232FF}"/>
              </a:ext>
            </a:extLst>
          </p:cNvPr>
          <p:cNvSpPr>
            <a:spLocks noGrp="1"/>
          </p:cNvSpPr>
          <p:nvPr>
            <p:ph type="sldNum" sz="quarter" idx="12"/>
          </p:nvPr>
        </p:nvSpPr>
        <p:spPr/>
        <p:txBody>
          <a:bodyPr/>
          <a:lstStyle/>
          <a:p>
            <a:fld id="{DBB7DFA0-4D9A-4002-B4D9-D990D290019E}" type="slidenum">
              <a:rPr lang="en-US" smtClean="0"/>
              <a:t>‹#›</a:t>
            </a:fld>
            <a:endParaRPr lang="en-US"/>
          </a:p>
        </p:txBody>
      </p:sp>
    </p:spTree>
    <p:extLst>
      <p:ext uri="{BB962C8B-B14F-4D97-AF65-F5344CB8AC3E}">
        <p14:creationId xmlns:p14="http://schemas.microsoft.com/office/powerpoint/2010/main" val="34372964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09847-DA81-ED5C-D168-41B0B4C8761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00D067F-E0E6-F4B3-AA9E-1C7FD4961D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BFCD895-F0EE-0454-D274-87C83DAAA4DF}"/>
              </a:ext>
            </a:extLst>
          </p:cNvPr>
          <p:cNvSpPr>
            <a:spLocks noGrp="1"/>
          </p:cNvSpPr>
          <p:nvPr>
            <p:ph type="dt" sz="half" idx="10"/>
          </p:nvPr>
        </p:nvSpPr>
        <p:spPr/>
        <p:txBody>
          <a:bodyPr/>
          <a:lstStyle/>
          <a:p>
            <a:fld id="{C57D70A5-BF3C-4DA7-987D-578DEFCFF55E}" type="datetimeFigureOut">
              <a:rPr lang="en-US" smtClean="0"/>
              <a:t>7/9/2023</a:t>
            </a:fld>
            <a:endParaRPr lang="en-US"/>
          </a:p>
        </p:txBody>
      </p:sp>
      <p:sp>
        <p:nvSpPr>
          <p:cNvPr id="5" name="Footer Placeholder 4">
            <a:extLst>
              <a:ext uri="{FF2B5EF4-FFF2-40B4-BE49-F238E27FC236}">
                <a16:creationId xmlns:a16="http://schemas.microsoft.com/office/drawing/2014/main" id="{B1A52C02-6EE3-6AA7-10F1-F57408319D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901FA4-3F5A-0CA7-2EF5-E93FF49225E9}"/>
              </a:ext>
            </a:extLst>
          </p:cNvPr>
          <p:cNvSpPr>
            <a:spLocks noGrp="1"/>
          </p:cNvSpPr>
          <p:nvPr>
            <p:ph type="sldNum" sz="quarter" idx="12"/>
          </p:nvPr>
        </p:nvSpPr>
        <p:spPr/>
        <p:txBody>
          <a:bodyPr/>
          <a:lstStyle/>
          <a:p>
            <a:fld id="{DBB7DFA0-4D9A-4002-B4D9-D990D290019E}" type="slidenum">
              <a:rPr lang="en-US" smtClean="0"/>
              <a:t>‹#›</a:t>
            </a:fld>
            <a:endParaRPr lang="en-US"/>
          </a:p>
        </p:txBody>
      </p:sp>
    </p:spTree>
    <p:extLst>
      <p:ext uri="{BB962C8B-B14F-4D97-AF65-F5344CB8AC3E}">
        <p14:creationId xmlns:p14="http://schemas.microsoft.com/office/powerpoint/2010/main" val="475121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79D32D7-C89C-996C-FD67-E140DD583F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79C94FC-427F-F8E1-F09D-8C8087D4A0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0F26E8-989A-28B3-F80A-EB24AA36ED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7D70A5-BF3C-4DA7-987D-578DEFCFF55E}" type="datetimeFigureOut">
              <a:rPr lang="en-US" smtClean="0"/>
              <a:t>7/9/2023</a:t>
            </a:fld>
            <a:endParaRPr lang="en-US"/>
          </a:p>
        </p:txBody>
      </p:sp>
      <p:sp>
        <p:nvSpPr>
          <p:cNvPr id="5" name="Footer Placeholder 4">
            <a:extLst>
              <a:ext uri="{FF2B5EF4-FFF2-40B4-BE49-F238E27FC236}">
                <a16:creationId xmlns:a16="http://schemas.microsoft.com/office/drawing/2014/main" id="{B8243039-64B4-63D2-FAA7-514095D303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4AE4C7A-8A5C-E747-DDEF-95A9C1FFA00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B7DFA0-4D9A-4002-B4D9-D990D290019E}" type="slidenum">
              <a:rPr lang="en-US" smtClean="0"/>
              <a:t>‹#›</a:t>
            </a:fld>
            <a:endParaRPr lang="en-US"/>
          </a:p>
        </p:txBody>
      </p:sp>
      <p:sp>
        <p:nvSpPr>
          <p:cNvPr id="8" name="TextBox 7">
            <a:extLst>
              <a:ext uri="{FF2B5EF4-FFF2-40B4-BE49-F238E27FC236}">
                <a16:creationId xmlns:a16="http://schemas.microsoft.com/office/drawing/2014/main" id="{248E54A4-C7C2-B6A8-FB3A-03C6649A3867}"/>
              </a:ext>
            </a:extLst>
          </p:cNvPr>
          <p:cNvSpPr txBox="1"/>
          <p:nvPr>
            <p:extLst>
              <p:ext uri="{1162E1C5-73C7-4A58-AE30-91384D911F3F}">
                <p184:classification xmlns:p184="http://schemas.microsoft.com/office/powerpoint/2018/4/main" val="ftr"/>
              </p:ext>
            </p:extLst>
          </p:nvPr>
        </p:nvSpPr>
        <p:spPr>
          <a:xfrm>
            <a:off x="5893562" y="6705600"/>
            <a:ext cx="461963"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cs typeface="Calibri" panose="020F0502020204030204" pitchFamily="34" charset="0"/>
              </a:rPr>
              <a:t>Internal </a:t>
            </a:r>
          </a:p>
        </p:txBody>
      </p:sp>
    </p:spTree>
    <p:extLst>
      <p:ext uri="{BB962C8B-B14F-4D97-AF65-F5344CB8AC3E}">
        <p14:creationId xmlns:p14="http://schemas.microsoft.com/office/powerpoint/2010/main" val="3158090915"/>
      </p:ext>
    </p:extLst>
  </p:cSld>
  <p:clrMap bg1="lt1" tx1="dk1" bg2="lt2" tx2="dk2" accent1="accent1" accent2="accent2" accent3="accent3" accent4="accent4" accent5="accent5" accent6="accent6" hlink="hlink" folHlink="folHlink"/>
  <p:sldLayoutIdLst>
    <p:sldLayoutId id="2147483650" r:id="rId1"/>
    <p:sldLayoutId id="2147483649"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www.forbes.com/advisor/business/ecommerce-statistics/#sources_section"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2.sv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hyperlink" Target="https://www.forbes.com/advisor/business/ecommerce-statistics/#sources_section"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36">
            <a:extLst>
              <a:ext uri="{FF2B5EF4-FFF2-40B4-BE49-F238E27FC236}">
                <a16:creationId xmlns:a16="http://schemas.microsoft.com/office/drawing/2014/main" id="{46F1F2C8-798B-4CCE-A851-94AFAF350B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3D6B2D-04E2-FEDA-6E81-829D960118D8}"/>
              </a:ext>
            </a:extLst>
          </p:cNvPr>
          <p:cNvSpPr>
            <a:spLocks noGrp="1"/>
          </p:cNvSpPr>
          <p:nvPr>
            <p:ph type="ctrTitle"/>
          </p:nvPr>
        </p:nvSpPr>
        <p:spPr>
          <a:xfrm>
            <a:off x="970908" y="1220919"/>
            <a:ext cx="5425781" cy="2387600"/>
          </a:xfrm>
        </p:spPr>
        <p:txBody>
          <a:bodyPr>
            <a:normAutofit/>
          </a:bodyPr>
          <a:lstStyle/>
          <a:p>
            <a:pPr algn="l"/>
            <a:r>
              <a:rPr lang="en-US" b="1" dirty="0">
                <a:solidFill>
                  <a:srgbClr val="ED7D31"/>
                </a:solidFill>
                <a:latin typeface="Arial" panose="020B0604020202020204" pitchFamily="34" charset="0"/>
                <a:cs typeface="Arial" panose="020B0604020202020204" pitchFamily="34" charset="0"/>
              </a:rPr>
              <a:t>Ecommerce</a:t>
            </a:r>
          </a:p>
        </p:txBody>
      </p:sp>
      <p:sp>
        <p:nvSpPr>
          <p:cNvPr id="3" name="Subtitle 2">
            <a:extLst>
              <a:ext uri="{FF2B5EF4-FFF2-40B4-BE49-F238E27FC236}">
                <a16:creationId xmlns:a16="http://schemas.microsoft.com/office/drawing/2014/main" id="{B908F796-3D75-659C-A611-BD58C9DC6D0B}"/>
              </a:ext>
            </a:extLst>
          </p:cNvPr>
          <p:cNvSpPr>
            <a:spLocks noGrp="1"/>
          </p:cNvSpPr>
          <p:nvPr>
            <p:ph type="subTitle" idx="1"/>
          </p:nvPr>
        </p:nvSpPr>
        <p:spPr>
          <a:xfrm>
            <a:off x="970909" y="3700594"/>
            <a:ext cx="3550292" cy="1655762"/>
          </a:xfrm>
        </p:spPr>
        <p:txBody>
          <a:bodyPr>
            <a:normAutofit/>
          </a:bodyPr>
          <a:lstStyle/>
          <a:p>
            <a:pPr algn="l"/>
            <a:r>
              <a:rPr lang="en-US" sz="1400" b="1" dirty="0">
                <a:effectLst/>
                <a:latin typeface="Arial" panose="020B0604020202020204" pitchFamily="34" charset="0"/>
                <a:ea typeface="MS Mincho" panose="02020609040205080304" pitchFamily="49" charset="-128"/>
              </a:rPr>
              <a:t>Start selling online today. Build a business by using our fast, safe and secure online store option that integrates with our builder. </a:t>
            </a:r>
          </a:p>
        </p:txBody>
      </p:sp>
      <p:sp>
        <p:nvSpPr>
          <p:cNvPr id="46" name="Freeform: Shape 38">
            <a:extLst>
              <a:ext uri="{FF2B5EF4-FFF2-40B4-BE49-F238E27FC236}">
                <a16:creationId xmlns:a16="http://schemas.microsoft.com/office/drawing/2014/main" id="{755E9CD0-04B0-4A3C-B291-AD913379C7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8" name="Oval 40">
            <a:extLst>
              <a:ext uri="{FF2B5EF4-FFF2-40B4-BE49-F238E27FC236}">
                <a16:creationId xmlns:a16="http://schemas.microsoft.com/office/drawing/2014/main" id="{1DD8BF3B-6066-418C-8D1A-75C5E396FC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Block Arc 42">
            <a:extLst>
              <a:ext uri="{FF2B5EF4-FFF2-40B4-BE49-F238E27FC236}">
                <a16:creationId xmlns:a16="http://schemas.microsoft.com/office/drawing/2014/main" id="{80BC66F9-7A74-4286-AD22-1174052CC2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02394"/>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5" name="Freeform: Shape 44">
            <a:extLst>
              <a:ext uri="{FF2B5EF4-FFF2-40B4-BE49-F238E27FC236}">
                <a16:creationId xmlns:a16="http://schemas.microsoft.com/office/drawing/2014/main" id="{D8142CC3-2B5C-48E6-9DF0-6C8ACBAF23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a:p>
        </p:txBody>
      </p:sp>
      <p:cxnSp>
        <p:nvCxnSpPr>
          <p:cNvPr id="47" name="Straight Connector 46">
            <a:extLst>
              <a:ext uri="{FF2B5EF4-FFF2-40B4-BE49-F238E27FC236}">
                <a16:creationId xmlns:a16="http://schemas.microsoft.com/office/drawing/2014/main" id="{7B2D303B-3DD0-4319-9EAD-361847FEC7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49" name="Freeform: Shape 48">
            <a:extLst>
              <a:ext uri="{FF2B5EF4-FFF2-40B4-BE49-F238E27FC236}">
                <a16:creationId xmlns:a16="http://schemas.microsoft.com/office/drawing/2014/main" id="{46A89C79-8EF3-4AF9-B3D9-59A883F41C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51" name="Arc 50">
            <a:extLst>
              <a:ext uri="{FF2B5EF4-FFF2-40B4-BE49-F238E27FC236}">
                <a16:creationId xmlns:a16="http://schemas.microsoft.com/office/drawing/2014/main" id="{EFE5CE34-4543-42E5-B82C-1F3D12422C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Freeform: Shape 52">
            <a:extLst>
              <a:ext uri="{FF2B5EF4-FFF2-40B4-BE49-F238E27FC236}">
                <a16:creationId xmlns:a16="http://schemas.microsoft.com/office/drawing/2014/main" id="{72AF41FE-63D7-4695-81D2-66D2510E4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829333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F7FE7-AF5C-5BF2-891D-EDC3FB61856F}"/>
              </a:ext>
            </a:extLst>
          </p:cNvPr>
          <p:cNvSpPr>
            <a:spLocks noGrp="1"/>
          </p:cNvSpPr>
          <p:nvPr>
            <p:ph type="title"/>
          </p:nvPr>
        </p:nvSpPr>
        <p:spPr/>
        <p:txBody>
          <a:bodyPr>
            <a:normAutofit/>
          </a:bodyPr>
          <a:lstStyle/>
          <a:p>
            <a:r>
              <a:rPr lang="en-US" sz="3200" b="1" i="0" dirty="0">
                <a:solidFill>
                  <a:schemeClr val="accent2"/>
                </a:solidFill>
                <a:effectLst/>
                <a:latin typeface="Arial" panose="020B0604020202020204" pitchFamily="34" charset="0"/>
                <a:cs typeface="Arial" panose="020B0604020202020204" pitchFamily="34" charset="0"/>
              </a:rPr>
              <a:t>Agenda</a:t>
            </a:r>
          </a:p>
        </p:txBody>
      </p:sp>
      <p:sp>
        <p:nvSpPr>
          <p:cNvPr id="23" name="Rectangle 22">
            <a:extLst>
              <a:ext uri="{FF2B5EF4-FFF2-40B4-BE49-F238E27FC236}">
                <a16:creationId xmlns:a16="http://schemas.microsoft.com/office/drawing/2014/main" id="{C72990FB-DE43-7032-61F9-AF5F76786CE5}"/>
              </a:ext>
            </a:extLst>
          </p:cNvPr>
          <p:cNvSpPr/>
          <p:nvPr/>
        </p:nvSpPr>
        <p:spPr>
          <a:xfrm>
            <a:off x="3630746" y="402126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pPr algn="ctr"/>
            <a:r>
              <a:rPr lang="en-US" dirty="0">
                <a:latin typeface="Arial" panose="020B0604020202020204" pitchFamily="34" charset="0"/>
                <a:cs typeface="Arial" panose="020B0604020202020204" pitchFamily="34" charset="0"/>
              </a:rPr>
              <a:t>Online Store</a:t>
            </a:r>
          </a:p>
        </p:txBody>
      </p:sp>
      <p:sp>
        <p:nvSpPr>
          <p:cNvPr id="21" name="Rectangle 20">
            <a:extLst>
              <a:ext uri="{FF2B5EF4-FFF2-40B4-BE49-F238E27FC236}">
                <a16:creationId xmlns:a16="http://schemas.microsoft.com/office/drawing/2014/main" id="{5EA074DA-D237-1567-4FD7-E70D2422830C}"/>
              </a:ext>
            </a:extLst>
          </p:cNvPr>
          <p:cNvSpPr/>
          <p:nvPr/>
        </p:nvSpPr>
        <p:spPr>
          <a:xfrm>
            <a:off x="6416069" y="402126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pPr algn="ctr"/>
            <a:r>
              <a:rPr lang="en-US" dirty="0">
                <a:latin typeface="Arial" panose="020B0604020202020204" pitchFamily="34" charset="0"/>
                <a:cs typeface="Arial" panose="020B0604020202020204" pitchFamily="34" charset="0"/>
              </a:rPr>
              <a:t>Features &amp; Benefits Overview</a:t>
            </a:r>
          </a:p>
        </p:txBody>
      </p:sp>
      <p:sp>
        <p:nvSpPr>
          <p:cNvPr id="19" name="Rectangle 18">
            <a:extLst>
              <a:ext uri="{FF2B5EF4-FFF2-40B4-BE49-F238E27FC236}">
                <a16:creationId xmlns:a16="http://schemas.microsoft.com/office/drawing/2014/main" id="{09A63A92-4674-1FF0-F1CC-F3F721EDFC6C}"/>
              </a:ext>
            </a:extLst>
          </p:cNvPr>
          <p:cNvSpPr/>
          <p:nvPr/>
        </p:nvSpPr>
        <p:spPr>
          <a:xfrm>
            <a:off x="9201396" y="4004597"/>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pPr algn="ctr"/>
            <a:r>
              <a:rPr lang="en-US" dirty="0">
                <a:latin typeface="Arial" panose="020B0604020202020204" pitchFamily="34" charset="0"/>
                <a:cs typeface="Arial" panose="020B0604020202020204" pitchFamily="34" charset="0"/>
              </a:rPr>
              <a:t>Addressing Common Concerns</a:t>
            </a:r>
          </a:p>
        </p:txBody>
      </p:sp>
      <p:grpSp>
        <p:nvGrpSpPr>
          <p:cNvPr id="27" name="Group 26">
            <a:extLst>
              <a:ext uri="{FF2B5EF4-FFF2-40B4-BE49-F238E27FC236}">
                <a16:creationId xmlns:a16="http://schemas.microsoft.com/office/drawing/2014/main" id="{4B6E6B5D-F3A3-F47C-56E6-D1A967FBE0E3}"/>
              </a:ext>
            </a:extLst>
          </p:cNvPr>
          <p:cNvGrpSpPr/>
          <p:nvPr/>
        </p:nvGrpSpPr>
        <p:grpSpPr>
          <a:xfrm>
            <a:off x="845421" y="2590533"/>
            <a:ext cx="2370489" cy="720000"/>
            <a:chOff x="100682" y="2684598"/>
            <a:chExt cx="2370489" cy="720000"/>
          </a:xfrm>
        </p:grpSpPr>
        <p:sp>
          <p:nvSpPr>
            <p:cNvPr id="28" name="Rectangle 27">
              <a:extLst>
                <a:ext uri="{FF2B5EF4-FFF2-40B4-BE49-F238E27FC236}">
                  <a16:creationId xmlns:a16="http://schemas.microsoft.com/office/drawing/2014/main" id="{E3BB154A-4D47-F10A-8EC5-4D82A4ED9A99}"/>
                </a:ext>
              </a:extLst>
            </p:cNvPr>
            <p:cNvSpPr/>
            <p:nvPr/>
          </p:nvSpPr>
          <p:spPr>
            <a:xfrm>
              <a:off x="100682" y="268459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29" name="TextBox 28">
              <a:extLst>
                <a:ext uri="{FF2B5EF4-FFF2-40B4-BE49-F238E27FC236}">
                  <a16:creationId xmlns:a16="http://schemas.microsoft.com/office/drawing/2014/main" id="{1BD6821F-D700-B7FD-1880-8871BF6F74DF}"/>
                </a:ext>
              </a:extLst>
            </p:cNvPr>
            <p:cNvSpPr txBox="1"/>
            <p:nvPr/>
          </p:nvSpPr>
          <p:spPr>
            <a:xfrm>
              <a:off x="100682" y="2684598"/>
              <a:ext cx="2370489"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7200" b="1" i="0" kern="1200" cap="none" dirty="0">
                  <a:solidFill>
                    <a:srgbClr val="374151"/>
                  </a:solidFill>
                  <a:effectLst/>
                  <a:latin typeface="Arial" panose="020B0604020202020204" pitchFamily="34" charset="0"/>
                  <a:cs typeface="Arial" panose="020B0604020202020204" pitchFamily="34" charset="0"/>
                </a:rPr>
                <a:t>1</a:t>
              </a:r>
              <a:endParaRPr lang="en-US" sz="7200" b="1" kern="1200" cap="none" dirty="0">
                <a:solidFill>
                  <a:srgbClr val="24282B"/>
                </a:solidFill>
                <a:latin typeface="Arial" panose="020B0604020202020204" pitchFamily="34" charset="0"/>
                <a:cs typeface="Arial" panose="020B0604020202020204" pitchFamily="34" charset="0"/>
              </a:endParaRPr>
            </a:p>
          </p:txBody>
        </p:sp>
      </p:grpSp>
      <p:grpSp>
        <p:nvGrpSpPr>
          <p:cNvPr id="30" name="Group 29">
            <a:extLst>
              <a:ext uri="{FF2B5EF4-FFF2-40B4-BE49-F238E27FC236}">
                <a16:creationId xmlns:a16="http://schemas.microsoft.com/office/drawing/2014/main" id="{42C9A0F1-A826-9A0E-4E9D-048F0D5F5670}"/>
              </a:ext>
            </a:extLst>
          </p:cNvPr>
          <p:cNvGrpSpPr/>
          <p:nvPr/>
        </p:nvGrpSpPr>
        <p:grpSpPr>
          <a:xfrm>
            <a:off x="3630746" y="2590533"/>
            <a:ext cx="2370489" cy="720000"/>
            <a:chOff x="100682" y="2684598"/>
            <a:chExt cx="2370489" cy="720000"/>
          </a:xfrm>
        </p:grpSpPr>
        <p:sp>
          <p:nvSpPr>
            <p:cNvPr id="31" name="Rectangle 30">
              <a:extLst>
                <a:ext uri="{FF2B5EF4-FFF2-40B4-BE49-F238E27FC236}">
                  <a16:creationId xmlns:a16="http://schemas.microsoft.com/office/drawing/2014/main" id="{7D3183A4-7B7F-11E5-9989-56863262EC36}"/>
                </a:ext>
              </a:extLst>
            </p:cNvPr>
            <p:cNvSpPr/>
            <p:nvPr/>
          </p:nvSpPr>
          <p:spPr>
            <a:xfrm>
              <a:off x="100682" y="268459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32" name="TextBox 31">
              <a:extLst>
                <a:ext uri="{FF2B5EF4-FFF2-40B4-BE49-F238E27FC236}">
                  <a16:creationId xmlns:a16="http://schemas.microsoft.com/office/drawing/2014/main" id="{D9F63762-0A34-62FF-45B8-FBEE03884A98}"/>
                </a:ext>
              </a:extLst>
            </p:cNvPr>
            <p:cNvSpPr txBox="1"/>
            <p:nvPr/>
          </p:nvSpPr>
          <p:spPr>
            <a:xfrm>
              <a:off x="100682" y="2684598"/>
              <a:ext cx="2370489"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7200" b="1" i="0" kern="1200" cap="none">
                  <a:solidFill>
                    <a:srgbClr val="374151"/>
                  </a:solidFill>
                  <a:effectLst/>
                  <a:latin typeface="Arial" panose="020B0604020202020204" pitchFamily="34" charset="0"/>
                  <a:cs typeface="Arial" panose="020B0604020202020204" pitchFamily="34" charset="0"/>
                </a:rPr>
                <a:t>2</a:t>
              </a:r>
              <a:endParaRPr lang="en-US" sz="7200" b="1" kern="1200" cap="none">
                <a:solidFill>
                  <a:srgbClr val="24282B"/>
                </a:solidFill>
                <a:latin typeface="Arial" panose="020B0604020202020204" pitchFamily="34" charset="0"/>
                <a:cs typeface="Arial" panose="020B0604020202020204" pitchFamily="34" charset="0"/>
              </a:endParaRPr>
            </a:p>
          </p:txBody>
        </p:sp>
      </p:grpSp>
      <p:grpSp>
        <p:nvGrpSpPr>
          <p:cNvPr id="33" name="Group 32">
            <a:extLst>
              <a:ext uri="{FF2B5EF4-FFF2-40B4-BE49-F238E27FC236}">
                <a16:creationId xmlns:a16="http://schemas.microsoft.com/office/drawing/2014/main" id="{A222FE1F-9C65-EAB2-5EAA-6DDE9F00D337}"/>
              </a:ext>
            </a:extLst>
          </p:cNvPr>
          <p:cNvGrpSpPr/>
          <p:nvPr/>
        </p:nvGrpSpPr>
        <p:grpSpPr>
          <a:xfrm>
            <a:off x="6416070" y="2590533"/>
            <a:ext cx="2370489" cy="720000"/>
            <a:chOff x="100682" y="2684598"/>
            <a:chExt cx="2370489" cy="720000"/>
          </a:xfrm>
        </p:grpSpPr>
        <p:sp>
          <p:nvSpPr>
            <p:cNvPr id="34" name="Rectangle 33">
              <a:extLst>
                <a:ext uri="{FF2B5EF4-FFF2-40B4-BE49-F238E27FC236}">
                  <a16:creationId xmlns:a16="http://schemas.microsoft.com/office/drawing/2014/main" id="{B190ACAF-580F-C7C9-47DB-2F6A45810714}"/>
                </a:ext>
              </a:extLst>
            </p:cNvPr>
            <p:cNvSpPr/>
            <p:nvPr/>
          </p:nvSpPr>
          <p:spPr>
            <a:xfrm>
              <a:off x="100682" y="268459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35" name="TextBox 34">
              <a:extLst>
                <a:ext uri="{FF2B5EF4-FFF2-40B4-BE49-F238E27FC236}">
                  <a16:creationId xmlns:a16="http://schemas.microsoft.com/office/drawing/2014/main" id="{34E23768-A24A-9030-A4CD-97D74AAF1BC7}"/>
                </a:ext>
              </a:extLst>
            </p:cNvPr>
            <p:cNvSpPr txBox="1"/>
            <p:nvPr/>
          </p:nvSpPr>
          <p:spPr>
            <a:xfrm>
              <a:off x="100682" y="2684598"/>
              <a:ext cx="2370489"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7200" b="1" i="0" kern="1200" cap="none" dirty="0">
                  <a:solidFill>
                    <a:srgbClr val="374151"/>
                  </a:solidFill>
                  <a:effectLst/>
                  <a:latin typeface="Arial" panose="020B0604020202020204" pitchFamily="34" charset="0"/>
                  <a:cs typeface="Arial" panose="020B0604020202020204" pitchFamily="34" charset="0"/>
                </a:rPr>
                <a:t>3</a:t>
              </a:r>
              <a:endParaRPr lang="en-US" sz="7200" b="1" kern="1200" cap="none" dirty="0">
                <a:solidFill>
                  <a:srgbClr val="24282B"/>
                </a:solidFill>
                <a:latin typeface="Arial" panose="020B0604020202020204" pitchFamily="34" charset="0"/>
                <a:cs typeface="Arial" panose="020B0604020202020204" pitchFamily="34" charset="0"/>
              </a:endParaRPr>
            </a:p>
          </p:txBody>
        </p:sp>
      </p:grpSp>
      <p:grpSp>
        <p:nvGrpSpPr>
          <p:cNvPr id="36" name="Group 35">
            <a:extLst>
              <a:ext uri="{FF2B5EF4-FFF2-40B4-BE49-F238E27FC236}">
                <a16:creationId xmlns:a16="http://schemas.microsoft.com/office/drawing/2014/main" id="{7E6A717D-00FA-6874-C9D8-015CB952CE1B}"/>
              </a:ext>
            </a:extLst>
          </p:cNvPr>
          <p:cNvGrpSpPr/>
          <p:nvPr/>
        </p:nvGrpSpPr>
        <p:grpSpPr>
          <a:xfrm>
            <a:off x="9201396" y="2590533"/>
            <a:ext cx="2370489" cy="720000"/>
            <a:chOff x="100682" y="2684598"/>
            <a:chExt cx="2370489" cy="720000"/>
          </a:xfrm>
        </p:grpSpPr>
        <p:sp>
          <p:nvSpPr>
            <p:cNvPr id="37" name="Rectangle 36">
              <a:extLst>
                <a:ext uri="{FF2B5EF4-FFF2-40B4-BE49-F238E27FC236}">
                  <a16:creationId xmlns:a16="http://schemas.microsoft.com/office/drawing/2014/main" id="{A40C570F-F284-1A73-9333-3BDF8C182B8A}"/>
                </a:ext>
              </a:extLst>
            </p:cNvPr>
            <p:cNvSpPr/>
            <p:nvPr/>
          </p:nvSpPr>
          <p:spPr>
            <a:xfrm>
              <a:off x="100682" y="268459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38" name="TextBox 37">
              <a:extLst>
                <a:ext uri="{FF2B5EF4-FFF2-40B4-BE49-F238E27FC236}">
                  <a16:creationId xmlns:a16="http://schemas.microsoft.com/office/drawing/2014/main" id="{615C1030-EACF-22AB-8FE3-2C1D3A2D8B3B}"/>
                </a:ext>
              </a:extLst>
            </p:cNvPr>
            <p:cNvSpPr txBox="1"/>
            <p:nvPr/>
          </p:nvSpPr>
          <p:spPr>
            <a:xfrm>
              <a:off x="100682" y="2684598"/>
              <a:ext cx="2370489"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7200" b="1" i="0" kern="1200" cap="none">
                  <a:solidFill>
                    <a:srgbClr val="374151"/>
                  </a:solidFill>
                  <a:effectLst/>
                  <a:latin typeface="Arial" panose="020B0604020202020204" pitchFamily="34" charset="0"/>
                  <a:cs typeface="Arial" panose="020B0604020202020204" pitchFamily="34" charset="0"/>
                </a:rPr>
                <a:t>4</a:t>
              </a:r>
              <a:endParaRPr lang="en-US" sz="7200" b="1" kern="1200" cap="none">
                <a:solidFill>
                  <a:srgbClr val="24282B"/>
                </a:solidFill>
                <a:latin typeface="Arial" panose="020B0604020202020204" pitchFamily="34" charset="0"/>
                <a:cs typeface="Arial" panose="020B0604020202020204" pitchFamily="34" charset="0"/>
              </a:endParaRPr>
            </a:p>
          </p:txBody>
        </p:sp>
      </p:grpSp>
      <p:sp>
        <p:nvSpPr>
          <p:cNvPr id="3" name="TextBox 2">
            <a:extLst>
              <a:ext uri="{FF2B5EF4-FFF2-40B4-BE49-F238E27FC236}">
                <a16:creationId xmlns:a16="http://schemas.microsoft.com/office/drawing/2014/main" id="{95FB3501-A264-441C-BA6F-33110B7081D2}"/>
              </a:ext>
            </a:extLst>
          </p:cNvPr>
          <p:cNvSpPr txBox="1"/>
          <p:nvPr/>
        </p:nvSpPr>
        <p:spPr>
          <a:xfrm>
            <a:off x="1160687" y="3919603"/>
            <a:ext cx="2055223" cy="646331"/>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Importance of ecommerce </a:t>
            </a:r>
          </a:p>
        </p:txBody>
      </p:sp>
    </p:spTree>
    <p:extLst>
      <p:ext uri="{BB962C8B-B14F-4D97-AF65-F5344CB8AC3E}">
        <p14:creationId xmlns:p14="http://schemas.microsoft.com/office/powerpoint/2010/main" val="22107832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F7FE7-AF5C-5BF2-891D-EDC3FB61856F}"/>
              </a:ext>
            </a:extLst>
          </p:cNvPr>
          <p:cNvSpPr>
            <a:spLocks noGrp="1"/>
          </p:cNvSpPr>
          <p:nvPr>
            <p:ph type="title"/>
          </p:nvPr>
        </p:nvSpPr>
        <p:spPr/>
        <p:txBody>
          <a:bodyPr>
            <a:normAutofit/>
          </a:bodyPr>
          <a:lstStyle/>
          <a:p>
            <a:r>
              <a:rPr lang="en-US" sz="3200" b="1" dirty="0">
                <a:solidFill>
                  <a:schemeClr val="accent2"/>
                </a:solidFill>
                <a:latin typeface="Arial"/>
                <a:cs typeface="Arial"/>
              </a:rPr>
              <a:t>Ecommerce allows businesses to make sales outside of business hours </a:t>
            </a:r>
            <a:endParaRPr lang="en-US" sz="3200" b="1" i="0" dirty="0">
              <a:solidFill>
                <a:schemeClr val="accent2"/>
              </a:solidFill>
              <a:effectLst/>
              <a:latin typeface="Arial"/>
              <a:cs typeface="Arial"/>
            </a:endParaRPr>
          </a:p>
        </p:txBody>
      </p:sp>
      <p:sp>
        <p:nvSpPr>
          <p:cNvPr id="3" name="Content Placeholder 2">
            <a:extLst>
              <a:ext uri="{FF2B5EF4-FFF2-40B4-BE49-F238E27FC236}">
                <a16:creationId xmlns:a16="http://schemas.microsoft.com/office/drawing/2014/main" id="{F7CFE162-2B72-DECB-B17E-7A2BA5626B69}"/>
              </a:ext>
            </a:extLst>
          </p:cNvPr>
          <p:cNvSpPr>
            <a:spLocks noGrp="1"/>
          </p:cNvSpPr>
          <p:nvPr>
            <p:ph idx="1"/>
          </p:nvPr>
        </p:nvSpPr>
        <p:spPr>
          <a:xfrm>
            <a:off x="838200" y="1705488"/>
            <a:ext cx="10515600" cy="2081842"/>
          </a:xfrm>
        </p:spPr>
        <p:txBody>
          <a:bodyPr vert="horz" lIns="91440" tIns="45720" rIns="91440" bIns="45720" rtlCol="0" anchor="t">
            <a:noAutofit/>
          </a:bodyPr>
          <a:lstStyle/>
          <a:p>
            <a:pPr marL="0" indent="0">
              <a:buNone/>
            </a:pPr>
            <a:r>
              <a:rPr lang="en-US" sz="1400" dirty="0">
                <a:latin typeface="Arial"/>
                <a:cs typeface="Arial"/>
              </a:rPr>
              <a:t>Online sales increased during covid due to ecommerce stores. Allowing businesses to sell outside of their business hours widens the type of customers they can serve.  </a:t>
            </a:r>
          </a:p>
          <a:p>
            <a:pPr marL="0" indent="0">
              <a:buNone/>
            </a:pPr>
            <a:endParaRPr lang="en-US" sz="1400" dirty="0">
              <a:latin typeface="Arial"/>
              <a:cs typeface="Arial"/>
            </a:endParaRPr>
          </a:p>
          <a:p>
            <a:pPr marL="0" indent="0">
              <a:buNone/>
            </a:pPr>
            <a:r>
              <a:rPr lang="en-US" sz="1400" dirty="0">
                <a:latin typeface="Arial"/>
                <a:cs typeface="Arial"/>
              </a:rPr>
              <a:t>Selling online benefits consumers and business owners; Consumers are no longer limited to local shops and businesses selling online have access to a whole new demographic.</a:t>
            </a:r>
            <a:endParaRPr lang="en-US" sz="1400" dirty="0">
              <a:latin typeface="Arial" panose="020B0604020202020204" pitchFamily="34" charset="0"/>
              <a:cs typeface="Arial" panose="020B0604020202020204" pitchFamily="34" charset="0"/>
            </a:endParaRPr>
          </a:p>
          <a:p>
            <a:pPr marL="0" indent="0">
              <a:buNone/>
            </a:pPr>
            <a:endParaRPr lang="en-US" sz="1400" dirty="0">
              <a:latin typeface="Arial" panose="020B0604020202020204" pitchFamily="34" charset="0"/>
              <a:cs typeface="Arial" panose="020B0604020202020204" pitchFamily="34" charset="0"/>
            </a:endParaRPr>
          </a:p>
          <a:p>
            <a:pPr marL="0" indent="0">
              <a:buNone/>
            </a:pPr>
            <a:r>
              <a:rPr lang="en-US" sz="1400" dirty="0">
                <a:latin typeface="Arial"/>
                <a:cs typeface="Arial"/>
              </a:rPr>
              <a:t>As per </a:t>
            </a:r>
            <a:r>
              <a:rPr lang="en-US" sz="1400" dirty="0">
                <a:latin typeface="Arial"/>
                <a:cs typeface="Arial"/>
                <a:hlinkClick r:id="rId3"/>
              </a:rPr>
              <a:t>Forbes</a:t>
            </a:r>
            <a:endParaRPr lang="en-US" sz="1400" dirty="0">
              <a:latin typeface="Arial"/>
              <a:cs typeface="Arial"/>
            </a:endParaRPr>
          </a:p>
        </p:txBody>
      </p:sp>
      <p:sp>
        <p:nvSpPr>
          <p:cNvPr id="4" name="Content Placeholder 2">
            <a:extLst>
              <a:ext uri="{FF2B5EF4-FFF2-40B4-BE49-F238E27FC236}">
                <a16:creationId xmlns:a16="http://schemas.microsoft.com/office/drawing/2014/main" id="{2B0F5887-39A2-95AB-1749-C7A849B9D95E}"/>
              </a:ext>
            </a:extLst>
          </p:cNvPr>
          <p:cNvSpPr txBox="1">
            <a:spLocks/>
          </p:cNvSpPr>
          <p:nvPr/>
        </p:nvSpPr>
        <p:spPr>
          <a:xfrm>
            <a:off x="838200" y="3787330"/>
            <a:ext cx="2564219" cy="13428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8800" b="1" dirty="0">
                <a:solidFill>
                  <a:schemeClr val="accent2"/>
                </a:solidFill>
                <a:latin typeface="Arial"/>
                <a:cs typeface="Arial"/>
              </a:rPr>
              <a:t>21%</a:t>
            </a:r>
          </a:p>
        </p:txBody>
      </p:sp>
      <p:sp>
        <p:nvSpPr>
          <p:cNvPr id="7" name="Content Placeholder 2">
            <a:extLst>
              <a:ext uri="{FF2B5EF4-FFF2-40B4-BE49-F238E27FC236}">
                <a16:creationId xmlns:a16="http://schemas.microsoft.com/office/drawing/2014/main" id="{224B0AA7-1BFA-7DBF-53DA-5E5F3AA24A17}"/>
              </a:ext>
            </a:extLst>
          </p:cNvPr>
          <p:cNvSpPr txBox="1">
            <a:spLocks/>
          </p:cNvSpPr>
          <p:nvPr/>
        </p:nvSpPr>
        <p:spPr>
          <a:xfrm>
            <a:off x="3865420" y="3807802"/>
            <a:ext cx="2649680" cy="1145624"/>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sz="2000" b="1" dirty="0">
                <a:latin typeface="Arial" panose="020B0604020202020204" pitchFamily="34" charset="0"/>
                <a:cs typeface="Arial" panose="020B0604020202020204" pitchFamily="34" charset="0"/>
              </a:rPr>
              <a:t>of retail purchases are expected to take place online in 2023.</a:t>
            </a:r>
            <a:endParaRPr lang="en-US" sz="1200" b="1" dirty="0">
              <a:latin typeface="Arial" panose="020B0604020202020204" pitchFamily="34" charset="0"/>
              <a:cs typeface="Arial" panose="020B0604020202020204" pitchFamily="34" charset="0"/>
            </a:endParaRPr>
          </a:p>
        </p:txBody>
      </p:sp>
      <p:cxnSp>
        <p:nvCxnSpPr>
          <p:cNvPr id="9" name="Straight Connector 8">
            <a:extLst>
              <a:ext uri="{FF2B5EF4-FFF2-40B4-BE49-F238E27FC236}">
                <a16:creationId xmlns:a16="http://schemas.microsoft.com/office/drawing/2014/main" id="{D38CBF84-880C-30A0-E980-AC11315DFC5C}"/>
              </a:ext>
            </a:extLst>
          </p:cNvPr>
          <p:cNvCxnSpPr/>
          <p:nvPr/>
        </p:nvCxnSpPr>
        <p:spPr>
          <a:xfrm>
            <a:off x="3519377" y="3907466"/>
            <a:ext cx="0" cy="946298"/>
          </a:xfrm>
          <a:prstGeom prst="line">
            <a:avLst/>
          </a:prstGeom>
        </p:spPr>
        <p:style>
          <a:lnRef idx="1">
            <a:schemeClr val="accent1"/>
          </a:lnRef>
          <a:fillRef idx="0">
            <a:schemeClr val="accent1"/>
          </a:fillRef>
          <a:effectRef idx="0">
            <a:schemeClr val="accent1"/>
          </a:effectRef>
          <a:fontRef idx="minor">
            <a:schemeClr val="tx1"/>
          </a:fontRef>
        </p:style>
      </p:cxnSp>
      <p:pic>
        <p:nvPicPr>
          <p:cNvPr id="10" name="Graphic 2" descr="Shopping basket outline">
            <a:extLst>
              <a:ext uri="{FF2B5EF4-FFF2-40B4-BE49-F238E27FC236}">
                <a16:creationId xmlns:a16="http://schemas.microsoft.com/office/drawing/2014/main" id="{29522E81-52DC-E2A2-266A-03CE0594A38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7572749" y="2490089"/>
            <a:ext cx="3781051" cy="3781051"/>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spTree>
    <p:extLst>
      <p:ext uri="{BB962C8B-B14F-4D97-AF65-F5344CB8AC3E}">
        <p14:creationId xmlns:p14="http://schemas.microsoft.com/office/powerpoint/2010/main" val="27994628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Title 1">
            <a:extLst>
              <a:ext uri="{FF2B5EF4-FFF2-40B4-BE49-F238E27FC236}">
                <a16:creationId xmlns:a16="http://schemas.microsoft.com/office/drawing/2014/main" id="{3F7F26C5-632D-DDD8-183A-2C64C77C744B}"/>
              </a:ext>
            </a:extLst>
          </p:cNvPr>
          <p:cNvSpPr txBox="1">
            <a:spLocks/>
          </p:cNvSpPr>
          <p:nvPr/>
        </p:nvSpPr>
        <p:spPr>
          <a:xfrm>
            <a:off x="990600" y="31667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chemeClr val="accent2"/>
                </a:solidFill>
                <a:latin typeface="Arial" panose="020B0604020202020204" pitchFamily="34" charset="0"/>
                <a:cs typeface="Arial" panose="020B0604020202020204" pitchFamily="34" charset="0"/>
              </a:rPr>
              <a:t>Cost of not having an online store</a:t>
            </a:r>
          </a:p>
        </p:txBody>
      </p:sp>
      <p:sp>
        <p:nvSpPr>
          <p:cNvPr id="180" name="Google Shape;3082;p148">
            <a:extLst>
              <a:ext uri="{FF2B5EF4-FFF2-40B4-BE49-F238E27FC236}">
                <a16:creationId xmlns:a16="http://schemas.microsoft.com/office/drawing/2014/main" id="{27582B2C-3518-76FC-7DFF-6CA3ED83CCA9}"/>
              </a:ext>
            </a:extLst>
          </p:cNvPr>
          <p:cNvSpPr txBox="1">
            <a:spLocks/>
          </p:cNvSpPr>
          <p:nvPr/>
        </p:nvSpPr>
        <p:spPr>
          <a:xfrm>
            <a:off x="1074104" y="1725838"/>
            <a:ext cx="4244515" cy="1864650"/>
          </a:xfrm>
          <a:prstGeom prst="rect">
            <a:avLst/>
          </a:prstGeom>
          <a:solidFill>
            <a:schemeClr val="accent2"/>
          </a:solid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200" b="1" dirty="0">
                <a:solidFill>
                  <a:schemeClr val="bg1"/>
                </a:solidFill>
                <a:latin typeface="Arial"/>
                <a:cs typeface="Arial"/>
              </a:rPr>
              <a:t>Lack of trust</a:t>
            </a:r>
          </a:p>
          <a:p>
            <a:pPr marL="171450" indent="-171450" algn="ctr">
              <a:spcBef>
                <a:spcPts val="0"/>
              </a:spcBef>
              <a:buClr>
                <a:srgbClr val="47464B"/>
              </a:buClr>
              <a:buNone/>
            </a:pPr>
            <a:r>
              <a:rPr lang="en-US" sz="1200" dirty="0">
                <a:solidFill>
                  <a:schemeClr val="bg1"/>
                </a:solidFill>
                <a:latin typeface="Arial"/>
                <a:cs typeface="Arial"/>
              </a:rPr>
              <a:t>Customers will purchase from businesses they can rely on. By making a store available 24/7 the business becomes more reliable and a brand customers trust.</a:t>
            </a:r>
            <a:endParaRPr lang="en-US" sz="1200" dirty="0">
              <a:solidFill>
                <a:schemeClr val="bg1"/>
              </a:solidFill>
              <a:latin typeface="Arial" panose="020B0604020202020204" pitchFamily="34" charset="0"/>
              <a:cs typeface="Arial" panose="020B0604020202020204" pitchFamily="34" charset="0"/>
            </a:endParaRPr>
          </a:p>
        </p:txBody>
      </p:sp>
      <p:sp>
        <p:nvSpPr>
          <p:cNvPr id="184" name="Google Shape;3082;p148">
            <a:extLst>
              <a:ext uri="{FF2B5EF4-FFF2-40B4-BE49-F238E27FC236}">
                <a16:creationId xmlns:a16="http://schemas.microsoft.com/office/drawing/2014/main" id="{6D4A3B30-6024-F8BC-C99D-CFA77605D151}"/>
              </a:ext>
            </a:extLst>
          </p:cNvPr>
          <p:cNvSpPr txBox="1">
            <a:spLocks/>
          </p:cNvSpPr>
          <p:nvPr/>
        </p:nvSpPr>
        <p:spPr>
          <a:xfrm>
            <a:off x="6457005" y="3983676"/>
            <a:ext cx="4750687" cy="1864650"/>
          </a:xfrm>
          <a:prstGeom prst="rect">
            <a:avLst/>
          </a:prstGeom>
          <a:solidFill>
            <a:schemeClr val="accent2"/>
          </a:solid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200" b="1" dirty="0">
                <a:solidFill>
                  <a:schemeClr val="bg1"/>
                </a:solidFill>
                <a:latin typeface="Arial" panose="020B0604020202020204" pitchFamily="34" charset="0"/>
                <a:cs typeface="Arial" panose="020B0604020202020204" pitchFamily="34" charset="0"/>
              </a:rPr>
              <a:t>Lack of flexibility</a:t>
            </a:r>
          </a:p>
          <a:p>
            <a:pPr marL="171450" indent="-171450" algn="ctr">
              <a:spcBef>
                <a:spcPts val="0"/>
              </a:spcBef>
              <a:buClr>
                <a:srgbClr val="47464B"/>
              </a:buClr>
              <a:buFont typeface="Arial"/>
              <a:buNone/>
            </a:pPr>
            <a:r>
              <a:rPr lang="en-US" sz="1200" dirty="0">
                <a:solidFill>
                  <a:schemeClr val="bg1"/>
                </a:solidFill>
                <a:latin typeface="Arial" panose="020B0604020202020204" pitchFamily="34" charset="0"/>
                <a:cs typeface="Arial" panose="020B0604020202020204" pitchFamily="34" charset="0"/>
              </a:rPr>
              <a:t>Having an online store means sales do not depend on a physical store’s hours of operation. This means business owners can sell products when their shop is closed.</a:t>
            </a:r>
          </a:p>
        </p:txBody>
      </p:sp>
      <p:sp>
        <p:nvSpPr>
          <p:cNvPr id="188" name="Google Shape;3082;p148">
            <a:extLst>
              <a:ext uri="{FF2B5EF4-FFF2-40B4-BE49-F238E27FC236}">
                <a16:creationId xmlns:a16="http://schemas.microsoft.com/office/drawing/2014/main" id="{11CF0FE0-172D-2DDC-2021-98427E780148}"/>
              </a:ext>
            </a:extLst>
          </p:cNvPr>
          <p:cNvSpPr txBox="1">
            <a:spLocks/>
          </p:cNvSpPr>
          <p:nvPr/>
        </p:nvSpPr>
        <p:spPr>
          <a:xfrm>
            <a:off x="1071833" y="3983675"/>
            <a:ext cx="4244515" cy="1864649"/>
          </a:xfrm>
          <a:prstGeom prst="rect">
            <a:avLst/>
          </a:prstGeom>
          <a:solidFill>
            <a:schemeClr val="accent2"/>
          </a:solid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200" b="1" dirty="0">
                <a:solidFill>
                  <a:schemeClr val="bg1"/>
                </a:solidFill>
                <a:latin typeface="Arial"/>
                <a:cs typeface="Arial"/>
              </a:rPr>
              <a:t>Missed sales opportunities</a:t>
            </a:r>
          </a:p>
          <a:p>
            <a:pPr marL="171450" indent="-171450" algn="ctr">
              <a:spcBef>
                <a:spcPts val="0"/>
              </a:spcBef>
              <a:buClr>
                <a:srgbClr val="47464B"/>
              </a:buClr>
              <a:buNone/>
            </a:pPr>
            <a:r>
              <a:rPr lang="en-US" sz="1200" dirty="0">
                <a:solidFill>
                  <a:schemeClr val="bg1"/>
                </a:solidFill>
                <a:latin typeface="Arial"/>
                <a:cs typeface="Arial"/>
              </a:rPr>
              <a:t>If customers are looking to buy online and a business doesn’t have an online store, they will find a competitor that does. </a:t>
            </a:r>
            <a:r>
              <a:rPr lang="en-US" sz="1200">
                <a:solidFill>
                  <a:schemeClr val="bg1"/>
                </a:solidFill>
                <a:latin typeface="Arial"/>
                <a:cs typeface="Arial"/>
              </a:rPr>
              <a:t>Businesses</a:t>
            </a:r>
            <a:r>
              <a:rPr lang="en-US" sz="1200" dirty="0">
                <a:solidFill>
                  <a:schemeClr val="bg1"/>
                </a:solidFill>
                <a:latin typeface="Arial"/>
                <a:cs typeface="Arial"/>
              </a:rPr>
              <a:t> are also missing out on promoting products online and across social platforms </a:t>
            </a:r>
            <a:endParaRPr lang="en-US" sz="1200" dirty="0">
              <a:solidFill>
                <a:schemeClr val="bg1"/>
              </a:solidFill>
              <a:latin typeface="Arial" panose="020B0604020202020204" pitchFamily="34" charset="0"/>
              <a:cs typeface="Arial" panose="020B0604020202020204" pitchFamily="34" charset="0"/>
            </a:endParaRPr>
          </a:p>
          <a:p>
            <a:pPr marL="171450" indent="-171450" algn="ctr">
              <a:spcBef>
                <a:spcPts val="0"/>
              </a:spcBef>
              <a:buClr>
                <a:srgbClr val="47464B"/>
              </a:buClr>
              <a:buFont typeface="Arial"/>
              <a:buNone/>
            </a:pPr>
            <a:endParaRPr lang="en-US" sz="1200" dirty="0">
              <a:solidFill>
                <a:schemeClr val="bg1"/>
              </a:solidFill>
              <a:latin typeface="Arial"/>
              <a:cs typeface="Arial"/>
            </a:endParaRPr>
          </a:p>
        </p:txBody>
      </p:sp>
      <p:sp>
        <p:nvSpPr>
          <p:cNvPr id="2" name="Google Shape;3082;p148">
            <a:extLst>
              <a:ext uri="{FF2B5EF4-FFF2-40B4-BE49-F238E27FC236}">
                <a16:creationId xmlns:a16="http://schemas.microsoft.com/office/drawing/2014/main" id="{4C74B299-19BD-37FD-4C0B-324DD8337EA2}"/>
              </a:ext>
            </a:extLst>
          </p:cNvPr>
          <p:cNvSpPr txBox="1">
            <a:spLocks/>
          </p:cNvSpPr>
          <p:nvPr/>
        </p:nvSpPr>
        <p:spPr>
          <a:xfrm>
            <a:off x="6457005" y="1725838"/>
            <a:ext cx="4750687" cy="1864650"/>
          </a:xfrm>
          <a:prstGeom prst="rect">
            <a:avLst/>
          </a:prstGeom>
          <a:solidFill>
            <a:schemeClr val="accent2"/>
          </a:solid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200" b="1" dirty="0">
                <a:solidFill>
                  <a:schemeClr val="bg1"/>
                </a:solidFill>
                <a:latin typeface="Arial"/>
                <a:cs typeface="Arial"/>
              </a:rPr>
              <a:t>Lack of insights</a:t>
            </a:r>
            <a:endParaRPr lang="en-US" sz="1200" b="1" dirty="0">
              <a:solidFill>
                <a:schemeClr val="bg1"/>
              </a:solidFill>
              <a:latin typeface="Arial" panose="020B0604020202020204" pitchFamily="34" charset="0"/>
              <a:cs typeface="Arial" panose="020B0604020202020204" pitchFamily="34" charset="0"/>
            </a:endParaRPr>
          </a:p>
          <a:p>
            <a:pPr marL="171450" indent="-171450" algn="ctr">
              <a:spcBef>
                <a:spcPts val="0"/>
              </a:spcBef>
              <a:buNone/>
            </a:pPr>
            <a:r>
              <a:rPr lang="en-US" sz="1200" dirty="0">
                <a:solidFill>
                  <a:schemeClr val="bg1"/>
                </a:solidFill>
                <a:latin typeface="Arial"/>
                <a:cs typeface="Arial"/>
              </a:rPr>
              <a:t>Businesses miss out on the opportunity to gather valuable data and insights about online customers, their preferences, and their buying behaviors. </a:t>
            </a:r>
            <a:endParaRPr lang="en-US" sz="3200" dirty="0">
              <a:solidFill>
                <a:schemeClr val="bg1"/>
              </a:solidFill>
            </a:endParaRPr>
          </a:p>
        </p:txBody>
      </p:sp>
    </p:spTree>
    <p:extLst>
      <p:ext uri="{BB962C8B-B14F-4D97-AF65-F5344CB8AC3E}">
        <p14:creationId xmlns:p14="http://schemas.microsoft.com/office/powerpoint/2010/main" val="6229250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3081;p148">
            <a:extLst>
              <a:ext uri="{FF2B5EF4-FFF2-40B4-BE49-F238E27FC236}">
                <a16:creationId xmlns:a16="http://schemas.microsoft.com/office/drawing/2014/main" id="{382D0398-FC79-9A79-8358-CC4B1D584724}"/>
              </a:ext>
            </a:extLst>
          </p:cNvPr>
          <p:cNvPicPr preferRelativeResize="0"/>
          <p:nvPr/>
        </p:nvPicPr>
        <p:blipFill rotWithShape="1">
          <a:blip r:embed="rId3">
            <a:alphaModFix/>
            <a:duotone>
              <a:schemeClr val="accent2">
                <a:shade val="45000"/>
                <a:satMod val="135000"/>
              </a:schemeClr>
              <a:prstClr val="white"/>
            </a:duotone>
          </a:blip>
          <a:srcRect/>
          <a:stretch/>
        </p:blipFill>
        <p:spPr>
          <a:xfrm>
            <a:off x="8445826" y="1669254"/>
            <a:ext cx="2667000" cy="3117850"/>
          </a:xfrm>
          <a:prstGeom prst="rect">
            <a:avLst/>
          </a:prstGeom>
          <a:noFill/>
          <a:ln>
            <a:noFill/>
          </a:ln>
        </p:spPr>
      </p:pic>
      <p:sp>
        <p:nvSpPr>
          <p:cNvPr id="2" name="Title 1">
            <a:extLst>
              <a:ext uri="{FF2B5EF4-FFF2-40B4-BE49-F238E27FC236}">
                <a16:creationId xmlns:a16="http://schemas.microsoft.com/office/drawing/2014/main" id="{057F7FE7-AF5C-5BF2-891D-EDC3FB61856F}"/>
              </a:ext>
            </a:extLst>
          </p:cNvPr>
          <p:cNvSpPr>
            <a:spLocks noGrp="1"/>
          </p:cNvSpPr>
          <p:nvPr>
            <p:ph type="title"/>
          </p:nvPr>
        </p:nvSpPr>
        <p:spPr/>
        <p:txBody>
          <a:bodyPr>
            <a:normAutofit/>
          </a:bodyPr>
          <a:lstStyle/>
          <a:p>
            <a:r>
              <a:rPr lang="en-US" sz="3200" b="1" i="0" dirty="0">
                <a:solidFill>
                  <a:schemeClr val="accent2"/>
                </a:solidFill>
                <a:effectLst/>
                <a:latin typeface="Arial"/>
                <a:cs typeface="Arial"/>
              </a:rPr>
              <a:t>Impact of Ecommerce on businesses</a:t>
            </a:r>
            <a:endParaRPr lang="en-US" sz="3200" b="1" dirty="0">
              <a:solidFill>
                <a:schemeClr val="accent2"/>
              </a:solidFill>
              <a:latin typeface="Arial"/>
              <a:cs typeface="Arial"/>
            </a:endParaRPr>
          </a:p>
        </p:txBody>
      </p:sp>
      <p:sp>
        <p:nvSpPr>
          <p:cNvPr id="86" name="Google Shape;3082;p148">
            <a:extLst>
              <a:ext uri="{FF2B5EF4-FFF2-40B4-BE49-F238E27FC236}">
                <a16:creationId xmlns:a16="http://schemas.microsoft.com/office/drawing/2014/main" id="{F6A81919-3767-EE27-2704-60EC5890B0C0}"/>
              </a:ext>
            </a:extLst>
          </p:cNvPr>
          <p:cNvSpPr txBox="1">
            <a:spLocks/>
          </p:cNvSpPr>
          <p:nvPr/>
        </p:nvSpPr>
        <p:spPr>
          <a:xfrm>
            <a:off x="4882465" y="4849874"/>
            <a:ext cx="3023319" cy="488550"/>
          </a:xfrm>
          <a:prstGeom prst="rect">
            <a:avLst/>
          </a:prstGeom>
          <a:no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200" dirty="0">
                <a:latin typeface="Arial" panose="020B0604020202020204" pitchFamily="34" charset="0"/>
                <a:cs typeface="Arial" panose="020B0604020202020204" pitchFamily="34" charset="0"/>
              </a:rPr>
              <a:t>The global e-commerce market is expected to total $6.3 trillion in 2023</a:t>
            </a:r>
          </a:p>
          <a:p>
            <a:pPr marL="171450" indent="-171450" algn="ctr">
              <a:spcBef>
                <a:spcPts val="0"/>
              </a:spcBef>
              <a:buClr>
                <a:srgbClr val="47464B"/>
              </a:buClr>
              <a:buNone/>
            </a:pPr>
            <a:r>
              <a:rPr lang="en-US" sz="1200" dirty="0">
                <a:latin typeface="Arial"/>
                <a:cs typeface="Arial"/>
                <a:hlinkClick r:id="rId4"/>
              </a:rPr>
              <a:t>Forbes</a:t>
            </a:r>
            <a:endParaRPr lang="en-US" sz="1200" dirty="0">
              <a:latin typeface="Arial"/>
              <a:cs typeface="Arial"/>
            </a:endParaRPr>
          </a:p>
          <a:p>
            <a:pPr marL="171450" indent="-171450" algn="ctr">
              <a:spcBef>
                <a:spcPts val="0"/>
              </a:spcBef>
              <a:buClr>
                <a:srgbClr val="47464B"/>
              </a:buClr>
              <a:buFont typeface="Arial"/>
              <a:buNone/>
            </a:pPr>
            <a:endParaRPr lang="en-US" sz="1200" dirty="0"/>
          </a:p>
        </p:txBody>
      </p:sp>
      <p:pic>
        <p:nvPicPr>
          <p:cNvPr id="87" name="Google Shape;3083;p148">
            <a:extLst>
              <a:ext uri="{FF2B5EF4-FFF2-40B4-BE49-F238E27FC236}">
                <a16:creationId xmlns:a16="http://schemas.microsoft.com/office/drawing/2014/main" id="{14F7C8EC-3CB1-345C-D8CA-6CA7B592DA43}"/>
              </a:ext>
            </a:extLst>
          </p:cNvPr>
          <p:cNvPicPr preferRelativeResize="0"/>
          <p:nvPr/>
        </p:nvPicPr>
        <p:blipFill rotWithShape="1">
          <a:blip r:embed="rId5">
            <a:alphaModFix/>
            <a:duotone>
              <a:schemeClr val="accent2">
                <a:shade val="45000"/>
                <a:satMod val="135000"/>
              </a:schemeClr>
              <a:prstClr val="white"/>
            </a:duotone>
          </a:blip>
          <a:srcRect/>
          <a:stretch/>
        </p:blipFill>
        <p:spPr>
          <a:xfrm rot="1800000">
            <a:off x="1439007" y="1762680"/>
            <a:ext cx="2667000" cy="3117850"/>
          </a:xfrm>
          <a:prstGeom prst="rect">
            <a:avLst/>
          </a:prstGeom>
          <a:noFill/>
          <a:ln>
            <a:noFill/>
          </a:ln>
        </p:spPr>
      </p:pic>
      <p:grpSp>
        <p:nvGrpSpPr>
          <p:cNvPr id="102" name="Google Shape;3098;p148">
            <a:extLst>
              <a:ext uri="{FF2B5EF4-FFF2-40B4-BE49-F238E27FC236}">
                <a16:creationId xmlns:a16="http://schemas.microsoft.com/office/drawing/2014/main" id="{66717580-4494-3E47-7DF1-37935096A69D}"/>
              </a:ext>
            </a:extLst>
          </p:cNvPr>
          <p:cNvGrpSpPr/>
          <p:nvPr/>
        </p:nvGrpSpPr>
        <p:grpSpPr>
          <a:xfrm>
            <a:off x="1476599" y="2025274"/>
            <a:ext cx="2591814" cy="2591814"/>
            <a:chOff x="3527425" y="860425"/>
            <a:chExt cx="5138738" cy="5138738"/>
          </a:xfrm>
        </p:grpSpPr>
        <p:sp>
          <p:nvSpPr>
            <p:cNvPr id="103" name="Google Shape;3099;p148">
              <a:extLst>
                <a:ext uri="{FF2B5EF4-FFF2-40B4-BE49-F238E27FC236}">
                  <a16:creationId xmlns:a16="http://schemas.microsoft.com/office/drawing/2014/main" id="{44D66C58-C2E7-B132-A896-1899916ACBDB}"/>
                </a:ext>
              </a:extLst>
            </p:cNvPr>
            <p:cNvSpPr/>
            <p:nvPr/>
          </p:nvSpPr>
          <p:spPr>
            <a:xfrm>
              <a:off x="6096000" y="860425"/>
              <a:ext cx="1511300" cy="2568575"/>
            </a:xfrm>
            <a:custGeom>
              <a:avLst/>
              <a:gdLst/>
              <a:ahLst/>
              <a:cxnLst/>
              <a:rect l="l" t="t" r="r" b="b"/>
              <a:pathLst>
                <a:path w="120000" h="120000" extrusionOk="0">
                  <a:moveTo>
                    <a:pt x="0" y="120000"/>
                  </a:moveTo>
                  <a:lnTo>
                    <a:pt x="120000" y="22917"/>
                  </a:lnTo>
                  <a:lnTo>
                    <a:pt x="113315" y="20135"/>
                  </a:lnTo>
                  <a:lnTo>
                    <a:pt x="106568" y="17651"/>
                  </a:lnTo>
                  <a:lnTo>
                    <a:pt x="99632" y="15203"/>
                  </a:lnTo>
                  <a:lnTo>
                    <a:pt x="92506" y="13016"/>
                  </a:lnTo>
                  <a:lnTo>
                    <a:pt x="85380" y="10939"/>
                  </a:lnTo>
                  <a:lnTo>
                    <a:pt x="78003" y="9085"/>
                  </a:lnTo>
                  <a:lnTo>
                    <a:pt x="70562" y="7379"/>
                  </a:lnTo>
                  <a:lnTo>
                    <a:pt x="63058" y="5822"/>
                  </a:lnTo>
                  <a:lnTo>
                    <a:pt x="55428" y="4487"/>
                  </a:lnTo>
                  <a:lnTo>
                    <a:pt x="47672" y="3263"/>
                  </a:lnTo>
                  <a:lnTo>
                    <a:pt x="39852" y="2262"/>
                  </a:lnTo>
                  <a:lnTo>
                    <a:pt x="31970" y="1409"/>
                  </a:lnTo>
                  <a:lnTo>
                    <a:pt x="24088" y="778"/>
                  </a:lnTo>
                  <a:lnTo>
                    <a:pt x="16079" y="333"/>
                  </a:lnTo>
                  <a:lnTo>
                    <a:pt x="8008" y="74"/>
                  </a:lnTo>
                  <a:lnTo>
                    <a:pt x="0" y="0"/>
                  </a:lnTo>
                  <a:lnTo>
                    <a:pt x="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04" name="Google Shape;3100;p148">
              <a:extLst>
                <a:ext uri="{FF2B5EF4-FFF2-40B4-BE49-F238E27FC236}">
                  <a16:creationId xmlns:a16="http://schemas.microsoft.com/office/drawing/2014/main" id="{F14CEE76-4061-4FF3-15A4-167FB32BE4EB}"/>
                </a:ext>
              </a:extLst>
            </p:cNvPr>
            <p:cNvSpPr/>
            <p:nvPr/>
          </p:nvSpPr>
          <p:spPr>
            <a:xfrm>
              <a:off x="6096000" y="1350963"/>
              <a:ext cx="2443163" cy="2078038"/>
            </a:xfrm>
            <a:custGeom>
              <a:avLst/>
              <a:gdLst/>
              <a:ahLst/>
              <a:cxnLst/>
              <a:rect l="l" t="t" r="r" b="b"/>
              <a:pathLst>
                <a:path w="120000" h="120000" extrusionOk="0">
                  <a:moveTo>
                    <a:pt x="0" y="120000"/>
                  </a:moveTo>
                  <a:lnTo>
                    <a:pt x="120000" y="74163"/>
                  </a:lnTo>
                  <a:lnTo>
                    <a:pt x="118440" y="68617"/>
                  </a:lnTo>
                  <a:lnTo>
                    <a:pt x="116569" y="63162"/>
                  </a:lnTo>
                  <a:lnTo>
                    <a:pt x="114619" y="57799"/>
                  </a:lnTo>
                  <a:lnTo>
                    <a:pt x="112436" y="52620"/>
                  </a:lnTo>
                  <a:lnTo>
                    <a:pt x="110097" y="47394"/>
                  </a:lnTo>
                  <a:lnTo>
                    <a:pt x="107563" y="42398"/>
                  </a:lnTo>
                  <a:lnTo>
                    <a:pt x="104951" y="37540"/>
                  </a:lnTo>
                  <a:lnTo>
                    <a:pt x="102105" y="32818"/>
                  </a:lnTo>
                  <a:lnTo>
                    <a:pt x="99103" y="28143"/>
                  </a:lnTo>
                  <a:lnTo>
                    <a:pt x="95984" y="23651"/>
                  </a:lnTo>
                  <a:lnTo>
                    <a:pt x="92670" y="19343"/>
                  </a:lnTo>
                  <a:lnTo>
                    <a:pt x="89317" y="15126"/>
                  </a:lnTo>
                  <a:lnTo>
                    <a:pt x="85692" y="11092"/>
                  </a:lnTo>
                  <a:lnTo>
                    <a:pt x="81949" y="7196"/>
                  </a:lnTo>
                  <a:lnTo>
                    <a:pt x="78167" y="3483"/>
                  </a:lnTo>
                  <a:lnTo>
                    <a:pt x="74191" y="0"/>
                  </a:lnTo>
                  <a:lnTo>
                    <a:pt x="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05" name="Google Shape;3101;p148">
              <a:extLst>
                <a:ext uri="{FF2B5EF4-FFF2-40B4-BE49-F238E27FC236}">
                  <a16:creationId xmlns:a16="http://schemas.microsoft.com/office/drawing/2014/main" id="{8B944D50-23D6-6F86-F64D-A2CAB7BA136A}"/>
                </a:ext>
              </a:extLst>
            </p:cNvPr>
            <p:cNvSpPr/>
            <p:nvPr/>
          </p:nvSpPr>
          <p:spPr>
            <a:xfrm>
              <a:off x="6096000" y="2635250"/>
              <a:ext cx="2570163" cy="1589088"/>
            </a:xfrm>
            <a:custGeom>
              <a:avLst/>
              <a:gdLst/>
              <a:ahLst/>
              <a:cxnLst/>
              <a:rect l="l" t="t" r="r" b="b"/>
              <a:pathLst>
                <a:path w="120000" h="120000" extrusionOk="0">
                  <a:moveTo>
                    <a:pt x="0" y="60000"/>
                  </a:moveTo>
                  <a:lnTo>
                    <a:pt x="114105" y="120000"/>
                  </a:lnTo>
                  <a:lnTo>
                    <a:pt x="115514" y="112620"/>
                  </a:lnTo>
                  <a:lnTo>
                    <a:pt x="116737" y="105240"/>
                  </a:lnTo>
                  <a:lnTo>
                    <a:pt x="117738" y="97800"/>
                  </a:lnTo>
                  <a:lnTo>
                    <a:pt x="118517" y="90300"/>
                  </a:lnTo>
                  <a:lnTo>
                    <a:pt x="119147" y="82680"/>
                  </a:lnTo>
                  <a:lnTo>
                    <a:pt x="119666" y="75180"/>
                  </a:lnTo>
                  <a:lnTo>
                    <a:pt x="119925" y="67620"/>
                  </a:lnTo>
                  <a:lnTo>
                    <a:pt x="120000" y="60000"/>
                  </a:lnTo>
                  <a:lnTo>
                    <a:pt x="119925" y="52380"/>
                  </a:lnTo>
                  <a:lnTo>
                    <a:pt x="119666" y="44820"/>
                  </a:lnTo>
                  <a:lnTo>
                    <a:pt x="119147" y="37200"/>
                  </a:lnTo>
                  <a:lnTo>
                    <a:pt x="118517" y="29700"/>
                  </a:lnTo>
                  <a:lnTo>
                    <a:pt x="117738" y="22200"/>
                  </a:lnTo>
                  <a:lnTo>
                    <a:pt x="116737" y="14760"/>
                  </a:lnTo>
                  <a:lnTo>
                    <a:pt x="115514" y="7260"/>
                  </a:lnTo>
                  <a:lnTo>
                    <a:pt x="114105" y="0"/>
                  </a:lnTo>
                  <a:lnTo>
                    <a:pt x="0" y="6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06" name="Google Shape;3102;p148">
              <a:extLst>
                <a:ext uri="{FF2B5EF4-FFF2-40B4-BE49-F238E27FC236}">
                  <a16:creationId xmlns:a16="http://schemas.microsoft.com/office/drawing/2014/main" id="{FABD5C76-2A90-533D-6B77-42F005079EF4}"/>
                </a:ext>
              </a:extLst>
            </p:cNvPr>
            <p:cNvSpPr/>
            <p:nvPr/>
          </p:nvSpPr>
          <p:spPr>
            <a:xfrm>
              <a:off x="6096000" y="3429000"/>
              <a:ext cx="2443163" cy="2079625"/>
            </a:xfrm>
            <a:custGeom>
              <a:avLst/>
              <a:gdLst/>
              <a:ahLst/>
              <a:cxnLst/>
              <a:rect l="l" t="t" r="r" b="b"/>
              <a:pathLst>
                <a:path w="120000" h="120000" extrusionOk="0">
                  <a:moveTo>
                    <a:pt x="0" y="0"/>
                  </a:moveTo>
                  <a:lnTo>
                    <a:pt x="74191" y="120000"/>
                  </a:lnTo>
                  <a:lnTo>
                    <a:pt x="78167" y="116470"/>
                  </a:lnTo>
                  <a:lnTo>
                    <a:pt x="81949" y="112711"/>
                  </a:lnTo>
                  <a:lnTo>
                    <a:pt x="85692" y="108815"/>
                  </a:lnTo>
                  <a:lnTo>
                    <a:pt x="89317" y="104873"/>
                  </a:lnTo>
                  <a:lnTo>
                    <a:pt x="92670" y="100656"/>
                  </a:lnTo>
                  <a:lnTo>
                    <a:pt x="95984" y="96256"/>
                  </a:lnTo>
                  <a:lnTo>
                    <a:pt x="99103" y="91764"/>
                  </a:lnTo>
                  <a:lnTo>
                    <a:pt x="102105" y="87181"/>
                  </a:lnTo>
                  <a:lnTo>
                    <a:pt x="104951" y="82459"/>
                  </a:lnTo>
                  <a:lnTo>
                    <a:pt x="107563" y="77509"/>
                  </a:lnTo>
                  <a:lnTo>
                    <a:pt x="110097" y="72513"/>
                  </a:lnTo>
                  <a:lnTo>
                    <a:pt x="112436" y="67379"/>
                  </a:lnTo>
                  <a:lnTo>
                    <a:pt x="114619" y="62108"/>
                  </a:lnTo>
                  <a:lnTo>
                    <a:pt x="116569" y="56837"/>
                  </a:lnTo>
                  <a:lnTo>
                    <a:pt x="118440" y="51382"/>
                  </a:lnTo>
                  <a:lnTo>
                    <a:pt x="120000" y="45836"/>
                  </a:lnTo>
                  <a:lnTo>
                    <a:pt x="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07" name="Google Shape;3103;p148">
              <a:extLst>
                <a:ext uri="{FF2B5EF4-FFF2-40B4-BE49-F238E27FC236}">
                  <a16:creationId xmlns:a16="http://schemas.microsoft.com/office/drawing/2014/main" id="{CC2A0F27-E553-D013-021E-6BAD9D73A176}"/>
                </a:ext>
              </a:extLst>
            </p:cNvPr>
            <p:cNvSpPr/>
            <p:nvPr/>
          </p:nvSpPr>
          <p:spPr>
            <a:xfrm>
              <a:off x="6096001" y="3429001"/>
              <a:ext cx="1511300" cy="2570162"/>
            </a:xfrm>
            <a:custGeom>
              <a:avLst/>
              <a:gdLst/>
              <a:ahLst/>
              <a:cxnLst/>
              <a:rect l="l" t="t" r="r" b="b"/>
              <a:pathLst>
                <a:path w="120000" h="120000" extrusionOk="0">
                  <a:moveTo>
                    <a:pt x="0" y="0"/>
                  </a:moveTo>
                  <a:lnTo>
                    <a:pt x="0" y="120000"/>
                  </a:lnTo>
                  <a:lnTo>
                    <a:pt x="8008" y="119851"/>
                  </a:lnTo>
                  <a:lnTo>
                    <a:pt x="16079" y="119592"/>
                  </a:lnTo>
                  <a:lnTo>
                    <a:pt x="24088" y="119147"/>
                  </a:lnTo>
                  <a:lnTo>
                    <a:pt x="31970" y="118516"/>
                  </a:lnTo>
                  <a:lnTo>
                    <a:pt x="39852" y="117663"/>
                  </a:lnTo>
                  <a:lnTo>
                    <a:pt x="47672" y="116662"/>
                  </a:lnTo>
                  <a:lnTo>
                    <a:pt x="55428" y="115438"/>
                  </a:lnTo>
                  <a:lnTo>
                    <a:pt x="63058" y="114103"/>
                  </a:lnTo>
                  <a:lnTo>
                    <a:pt x="70562" y="112620"/>
                  </a:lnTo>
                  <a:lnTo>
                    <a:pt x="78003" y="110914"/>
                  </a:lnTo>
                  <a:lnTo>
                    <a:pt x="85380" y="108986"/>
                  </a:lnTo>
                  <a:lnTo>
                    <a:pt x="92506" y="106909"/>
                  </a:lnTo>
                  <a:lnTo>
                    <a:pt x="99632" y="104721"/>
                  </a:lnTo>
                  <a:lnTo>
                    <a:pt x="106568" y="102348"/>
                  </a:lnTo>
                  <a:lnTo>
                    <a:pt x="113315" y="99789"/>
                  </a:lnTo>
                  <a:lnTo>
                    <a:pt x="120000" y="97082"/>
                  </a:lnTo>
                  <a:lnTo>
                    <a:pt x="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08" name="Google Shape;3104;p148">
              <a:extLst>
                <a:ext uri="{FF2B5EF4-FFF2-40B4-BE49-F238E27FC236}">
                  <a16:creationId xmlns:a16="http://schemas.microsoft.com/office/drawing/2014/main" id="{7E94B6A4-CB54-913E-C2FC-8D79A6584321}"/>
                </a:ext>
              </a:extLst>
            </p:cNvPr>
            <p:cNvSpPr/>
            <p:nvPr/>
          </p:nvSpPr>
          <p:spPr>
            <a:xfrm>
              <a:off x="4586288" y="3429000"/>
              <a:ext cx="1509713" cy="2570163"/>
            </a:xfrm>
            <a:custGeom>
              <a:avLst/>
              <a:gdLst/>
              <a:ahLst/>
              <a:cxnLst/>
              <a:rect l="l" t="t" r="r" b="b"/>
              <a:pathLst>
                <a:path w="120000" h="120000" extrusionOk="0">
                  <a:moveTo>
                    <a:pt x="120000" y="0"/>
                  </a:moveTo>
                  <a:lnTo>
                    <a:pt x="0" y="97082"/>
                  </a:lnTo>
                  <a:lnTo>
                    <a:pt x="6558" y="99789"/>
                  </a:lnTo>
                  <a:lnTo>
                    <a:pt x="13305" y="102348"/>
                  </a:lnTo>
                  <a:lnTo>
                    <a:pt x="20241" y="104721"/>
                  </a:lnTo>
                  <a:lnTo>
                    <a:pt x="27367" y="106909"/>
                  </a:lnTo>
                  <a:lnTo>
                    <a:pt x="34492" y="108986"/>
                  </a:lnTo>
                  <a:lnTo>
                    <a:pt x="41870" y="110914"/>
                  </a:lnTo>
                  <a:lnTo>
                    <a:pt x="49311" y="112620"/>
                  </a:lnTo>
                  <a:lnTo>
                    <a:pt x="56941" y="114103"/>
                  </a:lnTo>
                  <a:lnTo>
                    <a:pt x="64571" y="115438"/>
                  </a:lnTo>
                  <a:lnTo>
                    <a:pt x="72264" y="116662"/>
                  </a:lnTo>
                  <a:lnTo>
                    <a:pt x="80021" y="117663"/>
                  </a:lnTo>
                  <a:lnTo>
                    <a:pt x="87903" y="118516"/>
                  </a:lnTo>
                  <a:lnTo>
                    <a:pt x="95911" y="119147"/>
                  </a:lnTo>
                  <a:lnTo>
                    <a:pt x="103920" y="119592"/>
                  </a:lnTo>
                  <a:lnTo>
                    <a:pt x="111865" y="119851"/>
                  </a:lnTo>
                  <a:lnTo>
                    <a:pt x="120000" y="120000"/>
                  </a:lnTo>
                  <a:lnTo>
                    <a:pt x="12000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09" name="Google Shape;3105;p148">
              <a:extLst>
                <a:ext uri="{FF2B5EF4-FFF2-40B4-BE49-F238E27FC236}">
                  <a16:creationId xmlns:a16="http://schemas.microsoft.com/office/drawing/2014/main" id="{BC9EFB21-446C-09F2-59DF-84A649AC4393}"/>
                </a:ext>
              </a:extLst>
            </p:cNvPr>
            <p:cNvSpPr/>
            <p:nvPr/>
          </p:nvSpPr>
          <p:spPr>
            <a:xfrm>
              <a:off x="3652838" y="3429000"/>
              <a:ext cx="2443163" cy="2079625"/>
            </a:xfrm>
            <a:custGeom>
              <a:avLst/>
              <a:gdLst/>
              <a:ahLst/>
              <a:cxnLst/>
              <a:rect l="l" t="t" r="r" b="b"/>
              <a:pathLst>
                <a:path w="120000" h="120000" extrusionOk="0">
                  <a:moveTo>
                    <a:pt x="120000" y="0"/>
                  </a:moveTo>
                  <a:lnTo>
                    <a:pt x="0" y="45836"/>
                  </a:lnTo>
                  <a:lnTo>
                    <a:pt x="1636" y="51382"/>
                  </a:lnTo>
                  <a:lnTo>
                    <a:pt x="3428" y="56837"/>
                  </a:lnTo>
                  <a:lnTo>
                    <a:pt x="5454" y="62108"/>
                  </a:lnTo>
                  <a:lnTo>
                    <a:pt x="7636" y="67379"/>
                  </a:lnTo>
                  <a:lnTo>
                    <a:pt x="9935" y="72513"/>
                  </a:lnTo>
                  <a:lnTo>
                    <a:pt x="12428" y="77509"/>
                  </a:lnTo>
                  <a:lnTo>
                    <a:pt x="15116" y="82459"/>
                  </a:lnTo>
                  <a:lnTo>
                    <a:pt x="17961" y="87181"/>
                  </a:lnTo>
                  <a:lnTo>
                    <a:pt x="20883" y="91764"/>
                  </a:lnTo>
                  <a:lnTo>
                    <a:pt x="24000" y="96256"/>
                  </a:lnTo>
                  <a:lnTo>
                    <a:pt x="27311" y="100656"/>
                  </a:lnTo>
                  <a:lnTo>
                    <a:pt x="30740" y="104782"/>
                  </a:lnTo>
                  <a:lnTo>
                    <a:pt x="34324" y="108815"/>
                  </a:lnTo>
                  <a:lnTo>
                    <a:pt x="38025" y="112711"/>
                  </a:lnTo>
                  <a:lnTo>
                    <a:pt x="41805" y="116424"/>
                  </a:lnTo>
                  <a:lnTo>
                    <a:pt x="45857" y="120000"/>
                  </a:lnTo>
                  <a:lnTo>
                    <a:pt x="12000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10" name="Google Shape;3106;p148">
              <a:extLst>
                <a:ext uri="{FF2B5EF4-FFF2-40B4-BE49-F238E27FC236}">
                  <a16:creationId xmlns:a16="http://schemas.microsoft.com/office/drawing/2014/main" id="{DE63B285-5E13-7443-3F8E-D3F7543C003E}"/>
                </a:ext>
              </a:extLst>
            </p:cNvPr>
            <p:cNvSpPr/>
            <p:nvPr/>
          </p:nvSpPr>
          <p:spPr>
            <a:xfrm>
              <a:off x="3527425" y="2635250"/>
              <a:ext cx="2568575" cy="1589088"/>
            </a:xfrm>
            <a:custGeom>
              <a:avLst/>
              <a:gdLst/>
              <a:ahLst/>
              <a:cxnLst/>
              <a:rect l="l" t="t" r="r" b="b"/>
              <a:pathLst>
                <a:path w="120000" h="120000" extrusionOk="0">
                  <a:moveTo>
                    <a:pt x="120000" y="60000"/>
                  </a:moveTo>
                  <a:lnTo>
                    <a:pt x="5820" y="0"/>
                  </a:lnTo>
                  <a:lnTo>
                    <a:pt x="4485" y="7260"/>
                  </a:lnTo>
                  <a:lnTo>
                    <a:pt x="3262" y="14760"/>
                  </a:lnTo>
                  <a:lnTo>
                    <a:pt x="2261" y="22080"/>
                  </a:lnTo>
                  <a:lnTo>
                    <a:pt x="1408" y="29700"/>
                  </a:lnTo>
                  <a:lnTo>
                    <a:pt x="778" y="37200"/>
                  </a:lnTo>
                  <a:lnTo>
                    <a:pt x="333" y="44820"/>
                  </a:lnTo>
                  <a:lnTo>
                    <a:pt x="74" y="52380"/>
                  </a:lnTo>
                  <a:lnTo>
                    <a:pt x="0" y="60000"/>
                  </a:lnTo>
                  <a:lnTo>
                    <a:pt x="74" y="67620"/>
                  </a:lnTo>
                  <a:lnTo>
                    <a:pt x="333" y="75060"/>
                  </a:lnTo>
                  <a:lnTo>
                    <a:pt x="778" y="82680"/>
                  </a:lnTo>
                  <a:lnTo>
                    <a:pt x="1408" y="90300"/>
                  </a:lnTo>
                  <a:lnTo>
                    <a:pt x="2261" y="97800"/>
                  </a:lnTo>
                  <a:lnTo>
                    <a:pt x="3262" y="105240"/>
                  </a:lnTo>
                  <a:lnTo>
                    <a:pt x="4485" y="112620"/>
                  </a:lnTo>
                  <a:lnTo>
                    <a:pt x="5820" y="120000"/>
                  </a:lnTo>
                  <a:lnTo>
                    <a:pt x="120000" y="6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11" name="Google Shape;3107;p148">
              <a:extLst>
                <a:ext uri="{FF2B5EF4-FFF2-40B4-BE49-F238E27FC236}">
                  <a16:creationId xmlns:a16="http://schemas.microsoft.com/office/drawing/2014/main" id="{9D03300C-9E2A-E344-ED99-17A5110F7516}"/>
                </a:ext>
              </a:extLst>
            </p:cNvPr>
            <p:cNvSpPr/>
            <p:nvPr/>
          </p:nvSpPr>
          <p:spPr>
            <a:xfrm>
              <a:off x="3652838" y="1350963"/>
              <a:ext cx="2443163" cy="2078038"/>
            </a:xfrm>
            <a:custGeom>
              <a:avLst/>
              <a:gdLst/>
              <a:ahLst/>
              <a:cxnLst/>
              <a:rect l="l" t="t" r="r" b="b"/>
              <a:pathLst>
                <a:path w="120000" h="120000" extrusionOk="0">
                  <a:moveTo>
                    <a:pt x="120000" y="120000"/>
                  </a:moveTo>
                  <a:lnTo>
                    <a:pt x="45857" y="0"/>
                  </a:lnTo>
                  <a:lnTo>
                    <a:pt x="41805" y="3483"/>
                  </a:lnTo>
                  <a:lnTo>
                    <a:pt x="38025" y="7196"/>
                  </a:lnTo>
                  <a:lnTo>
                    <a:pt x="34324" y="11092"/>
                  </a:lnTo>
                  <a:lnTo>
                    <a:pt x="30740" y="15126"/>
                  </a:lnTo>
                  <a:lnTo>
                    <a:pt x="27311" y="19343"/>
                  </a:lnTo>
                  <a:lnTo>
                    <a:pt x="24000" y="23651"/>
                  </a:lnTo>
                  <a:lnTo>
                    <a:pt x="20883" y="28143"/>
                  </a:lnTo>
                  <a:lnTo>
                    <a:pt x="17961" y="32818"/>
                  </a:lnTo>
                  <a:lnTo>
                    <a:pt x="15116" y="37540"/>
                  </a:lnTo>
                  <a:lnTo>
                    <a:pt x="12428" y="42398"/>
                  </a:lnTo>
                  <a:lnTo>
                    <a:pt x="9935" y="47394"/>
                  </a:lnTo>
                  <a:lnTo>
                    <a:pt x="7636" y="52528"/>
                  </a:lnTo>
                  <a:lnTo>
                    <a:pt x="5454" y="57799"/>
                  </a:lnTo>
                  <a:lnTo>
                    <a:pt x="3428" y="63162"/>
                  </a:lnTo>
                  <a:lnTo>
                    <a:pt x="1636" y="68617"/>
                  </a:lnTo>
                  <a:lnTo>
                    <a:pt x="0" y="74163"/>
                  </a:lnTo>
                  <a:lnTo>
                    <a:pt x="12000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12" name="Google Shape;3108;p148">
              <a:extLst>
                <a:ext uri="{FF2B5EF4-FFF2-40B4-BE49-F238E27FC236}">
                  <a16:creationId xmlns:a16="http://schemas.microsoft.com/office/drawing/2014/main" id="{82430204-4C7B-F3C8-7CC0-0442A9CB0268}"/>
                </a:ext>
              </a:extLst>
            </p:cNvPr>
            <p:cNvSpPr/>
            <p:nvPr/>
          </p:nvSpPr>
          <p:spPr>
            <a:xfrm>
              <a:off x="4586288" y="860425"/>
              <a:ext cx="1509713" cy="2568575"/>
            </a:xfrm>
            <a:custGeom>
              <a:avLst/>
              <a:gdLst/>
              <a:ahLst/>
              <a:cxnLst/>
              <a:rect l="l" t="t" r="r" b="b"/>
              <a:pathLst>
                <a:path w="120000" h="120000" extrusionOk="0">
                  <a:moveTo>
                    <a:pt x="120000" y="120000"/>
                  </a:moveTo>
                  <a:lnTo>
                    <a:pt x="120000" y="0"/>
                  </a:lnTo>
                  <a:lnTo>
                    <a:pt x="111865" y="74"/>
                  </a:lnTo>
                  <a:lnTo>
                    <a:pt x="103920" y="333"/>
                  </a:lnTo>
                  <a:lnTo>
                    <a:pt x="95911" y="778"/>
                  </a:lnTo>
                  <a:lnTo>
                    <a:pt x="87903" y="1409"/>
                  </a:lnTo>
                  <a:lnTo>
                    <a:pt x="80021" y="2262"/>
                  </a:lnTo>
                  <a:lnTo>
                    <a:pt x="72264" y="3263"/>
                  </a:lnTo>
                  <a:lnTo>
                    <a:pt x="64571" y="4487"/>
                  </a:lnTo>
                  <a:lnTo>
                    <a:pt x="56941" y="5822"/>
                  </a:lnTo>
                  <a:lnTo>
                    <a:pt x="49311" y="7379"/>
                  </a:lnTo>
                  <a:lnTo>
                    <a:pt x="41870" y="9085"/>
                  </a:lnTo>
                  <a:lnTo>
                    <a:pt x="34492" y="10939"/>
                  </a:lnTo>
                  <a:lnTo>
                    <a:pt x="27367" y="13016"/>
                  </a:lnTo>
                  <a:lnTo>
                    <a:pt x="20241" y="15203"/>
                  </a:lnTo>
                  <a:lnTo>
                    <a:pt x="13305" y="17651"/>
                  </a:lnTo>
                  <a:lnTo>
                    <a:pt x="6558" y="20135"/>
                  </a:lnTo>
                  <a:lnTo>
                    <a:pt x="0" y="22917"/>
                  </a:lnTo>
                  <a:lnTo>
                    <a:pt x="12000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grpSp>
      <p:sp>
        <p:nvSpPr>
          <p:cNvPr id="125" name="Google Shape;3121;p148">
            <a:extLst>
              <a:ext uri="{FF2B5EF4-FFF2-40B4-BE49-F238E27FC236}">
                <a16:creationId xmlns:a16="http://schemas.microsoft.com/office/drawing/2014/main" id="{82BDCDCC-405F-EA5E-7157-D1EED237857A}"/>
              </a:ext>
            </a:extLst>
          </p:cNvPr>
          <p:cNvSpPr txBox="1">
            <a:spLocks/>
          </p:cNvSpPr>
          <p:nvPr/>
        </p:nvSpPr>
        <p:spPr>
          <a:xfrm>
            <a:off x="2296258" y="3150765"/>
            <a:ext cx="952501" cy="341632"/>
          </a:xfrm>
          <a:prstGeom prst="rect">
            <a:avLst/>
          </a:prstGeom>
          <a:noFill/>
          <a:ln>
            <a:noFill/>
          </a:ln>
        </p:spPr>
        <p:txBody>
          <a:bodyPr spcFirstLastPara="1" wrap="square" lIns="91425" tIns="45700" rIns="91425" bIns="4570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2000" b="1" dirty="0">
                <a:solidFill>
                  <a:srgbClr val="47464B"/>
                </a:solidFill>
                <a:latin typeface="Arial" panose="020B0604020202020204" pitchFamily="34" charset="0"/>
                <a:ea typeface="Calibri"/>
                <a:cs typeface="Arial" panose="020B0604020202020204" pitchFamily="34" charset="0"/>
                <a:sym typeface="Calibri"/>
              </a:rPr>
              <a:t>79%</a:t>
            </a:r>
          </a:p>
        </p:txBody>
      </p:sp>
      <p:sp>
        <p:nvSpPr>
          <p:cNvPr id="130" name="Google Shape;3082;p148">
            <a:extLst>
              <a:ext uri="{FF2B5EF4-FFF2-40B4-BE49-F238E27FC236}">
                <a16:creationId xmlns:a16="http://schemas.microsoft.com/office/drawing/2014/main" id="{C7E3B4A7-B30B-CAAD-232C-577E8D779B1D}"/>
              </a:ext>
            </a:extLst>
          </p:cNvPr>
          <p:cNvSpPr txBox="1">
            <a:spLocks/>
          </p:cNvSpPr>
          <p:nvPr/>
        </p:nvSpPr>
        <p:spPr>
          <a:xfrm>
            <a:off x="8028193" y="4624976"/>
            <a:ext cx="3272365" cy="779935"/>
          </a:xfrm>
          <a:prstGeom prst="rect">
            <a:avLst/>
          </a:prstGeom>
          <a:no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200" dirty="0">
                <a:latin typeface="Arial"/>
                <a:cs typeface="Arial"/>
              </a:rPr>
              <a:t>of online shoppers report shopping internationally</a:t>
            </a:r>
          </a:p>
          <a:p>
            <a:pPr marL="171450" indent="-171450" algn="ctr">
              <a:spcBef>
                <a:spcPts val="0"/>
              </a:spcBef>
              <a:buClr>
                <a:srgbClr val="47464B"/>
              </a:buClr>
              <a:buFont typeface="Arial"/>
              <a:buNone/>
            </a:pPr>
            <a:r>
              <a:rPr lang="en-US" sz="1200" dirty="0">
                <a:latin typeface="Arial"/>
                <a:cs typeface="Arial"/>
                <a:hlinkClick r:id="rId4"/>
              </a:rPr>
              <a:t>Forbes</a:t>
            </a:r>
            <a:endParaRPr lang="en-US" sz="1200" dirty="0">
              <a:latin typeface="Arial"/>
              <a:cs typeface="Arial"/>
            </a:endParaRPr>
          </a:p>
        </p:txBody>
      </p:sp>
      <p:sp>
        <p:nvSpPr>
          <p:cNvPr id="144" name="Google Shape;3082;p148">
            <a:extLst>
              <a:ext uri="{FF2B5EF4-FFF2-40B4-BE49-F238E27FC236}">
                <a16:creationId xmlns:a16="http://schemas.microsoft.com/office/drawing/2014/main" id="{52E3660B-A5F0-0F3B-CE5F-E2813C9FF9C0}"/>
              </a:ext>
            </a:extLst>
          </p:cNvPr>
          <p:cNvSpPr txBox="1">
            <a:spLocks/>
          </p:cNvSpPr>
          <p:nvPr/>
        </p:nvSpPr>
        <p:spPr>
          <a:xfrm>
            <a:off x="1135923" y="4787104"/>
            <a:ext cx="3272365" cy="568149"/>
          </a:xfrm>
          <a:prstGeom prst="rect">
            <a:avLst/>
          </a:prstGeom>
          <a:no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200" dirty="0">
                <a:latin typeface="Arial"/>
                <a:cs typeface="Arial"/>
              </a:rPr>
              <a:t>of shoppers shop online at least once a month</a:t>
            </a:r>
          </a:p>
          <a:p>
            <a:pPr marL="171450" indent="-171450" algn="ctr">
              <a:spcBef>
                <a:spcPts val="0"/>
              </a:spcBef>
              <a:buClr>
                <a:srgbClr val="47464B"/>
              </a:buClr>
              <a:buNone/>
            </a:pPr>
            <a:r>
              <a:rPr lang="en-US" sz="1200" dirty="0">
                <a:latin typeface="Arial"/>
                <a:cs typeface="Arial"/>
                <a:hlinkClick r:id="rId4"/>
              </a:rPr>
              <a:t>Forbes</a:t>
            </a:r>
            <a:endParaRPr lang="en-US" sz="1200" dirty="0">
              <a:latin typeface="Arial"/>
              <a:cs typeface="Arial"/>
            </a:endParaRPr>
          </a:p>
          <a:p>
            <a:pPr marL="171450" indent="-171450" algn="ctr">
              <a:spcBef>
                <a:spcPts val="0"/>
              </a:spcBef>
              <a:buClr>
                <a:srgbClr val="47464B"/>
              </a:buClr>
              <a:buFont typeface="Arial"/>
              <a:buNone/>
            </a:pPr>
            <a:endParaRPr lang="en-US" sz="1200" dirty="0">
              <a:latin typeface="Arial"/>
              <a:cs typeface="Arial"/>
            </a:endParaRPr>
          </a:p>
        </p:txBody>
      </p:sp>
      <p:pic>
        <p:nvPicPr>
          <p:cNvPr id="145" name="Google Shape;3083;p148">
            <a:extLst>
              <a:ext uri="{FF2B5EF4-FFF2-40B4-BE49-F238E27FC236}">
                <a16:creationId xmlns:a16="http://schemas.microsoft.com/office/drawing/2014/main" id="{8CF30444-B580-83B8-0391-7C86CBAC7563}"/>
              </a:ext>
            </a:extLst>
          </p:cNvPr>
          <p:cNvPicPr preferRelativeResize="0"/>
          <p:nvPr/>
        </p:nvPicPr>
        <p:blipFill rotWithShape="1">
          <a:blip r:embed="rId5">
            <a:alphaModFix/>
            <a:duotone>
              <a:schemeClr val="accent2">
                <a:shade val="45000"/>
                <a:satMod val="135000"/>
              </a:schemeClr>
              <a:prstClr val="white"/>
            </a:duotone>
          </a:blip>
          <a:srcRect/>
          <a:stretch/>
        </p:blipFill>
        <p:spPr>
          <a:xfrm rot="9873419">
            <a:off x="4994227" y="1841200"/>
            <a:ext cx="2667000" cy="3117850"/>
          </a:xfrm>
          <a:prstGeom prst="rect">
            <a:avLst/>
          </a:prstGeom>
          <a:noFill/>
          <a:ln>
            <a:noFill/>
          </a:ln>
        </p:spPr>
      </p:pic>
      <p:grpSp>
        <p:nvGrpSpPr>
          <p:cNvPr id="146" name="Google Shape;3098;p148">
            <a:extLst>
              <a:ext uri="{FF2B5EF4-FFF2-40B4-BE49-F238E27FC236}">
                <a16:creationId xmlns:a16="http://schemas.microsoft.com/office/drawing/2014/main" id="{00F9D3C5-9554-55D2-8437-E6AD4F0AA29A}"/>
              </a:ext>
            </a:extLst>
          </p:cNvPr>
          <p:cNvGrpSpPr/>
          <p:nvPr/>
        </p:nvGrpSpPr>
        <p:grpSpPr>
          <a:xfrm>
            <a:off x="8483819" y="2025274"/>
            <a:ext cx="2591814" cy="2591814"/>
            <a:chOff x="3527425" y="860425"/>
            <a:chExt cx="5138738" cy="5138738"/>
          </a:xfrm>
        </p:grpSpPr>
        <p:sp>
          <p:nvSpPr>
            <p:cNvPr id="147" name="Google Shape;3099;p148">
              <a:extLst>
                <a:ext uri="{FF2B5EF4-FFF2-40B4-BE49-F238E27FC236}">
                  <a16:creationId xmlns:a16="http://schemas.microsoft.com/office/drawing/2014/main" id="{F69B6919-71C4-8BCF-B452-8A5BCD12C490}"/>
                </a:ext>
              </a:extLst>
            </p:cNvPr>
            <p:cNvSpPr/>
            <p:nvPr/>
          </p:nvSpPr>
          <p:spPr>
            <a:xfrm>
              <a:off x="6096000" y="860425"/>
              <a:ext cx="1511300" cy="2568575"/>
            </a:xfrm>
            <a:custGeom>
              <a:avLst/>
              <a:gdLst/>
              <a:ahLst/>
              <a:cxnLst/>
              <a:rect l="l" t="t" r="r" b="b"/>
              <a:pathLst>
                <a:path w="120000" h="120000" extrusionOk="0">
                  <a:moveTo>
                    <a:pt x="0" y="120000"/>
                  </a:moveTo>
                  <a:lnTo>
                    <a:pt x="120000" y="22917"/>
                  </a:lnTo>
                  <a:lnTo>
                    <a:pt x="113315" y="20135"/>
                  </a:lnTo>
                  <a:lnTo>
                    <a:pt x="106568" y="17651"/>
                  </a:lnTo>
                  <a:lnTo>
                    <a:pt x="99632" y="15203"/>
                  </a:lnTo>
                  <a:lnTo>
                    <a:pt x="92506" y="13016"/>
                  </a:lnTo>
                  <a:lnTo>
                    <a:pt x="85380" y="10939"/>
                  </a:lnTo>
                  <a:lnTo>
                    <a:pt x="78003" y="9085"/>
                  </a:lnTo>
                  <a:lnTo>
                    <a:pt x="70562" y="7379"/>
                  </a:lnTo>
                  <a:lnTo>
                    <a:pt x="63058" y="5822"/>
                  </a:lnTo>
                  <a:lnTo>
                    <a:pt x="55428" y="4487"/>
                  </a:lnTo>
                  <a:lnTo>
                    <a:pt x="47672" y="3263"/>
                  </a:lnTo>
                  <a:lnTo>
                    <a:pt x="39852" y="2262"/>
                  </a:lnTo>
                  <a:lnTo>
                    <a:pt x="31970" y="1409"/>
                  </a:lnTo>
                  <a:lnTo>
                    <a:pt x="24088" y="778"/>
                  </a:lnTo>
                  <a:lnTo>
                    <a:pt x="16079" y="333"/>
                  </a:lnTo>
                  <a:lnTo>
                    <a:pt x="8008" y="74"/>
                  </a:lnTo>
                  <a:lnTo>
                    <a:pt x="0" y="0"/>
                  </a:lnTo>
                  <a:lnTo>
                    <a:pt x="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48" name="Google Shape;3100;p148">
              <a:extLst>
                <a:ext uri="{FF2B5EF4-FFF2-40B4-BE49-F238E27FC236}">
                  <a16:creationId xmlns:a16="http://schemas.microsoft.com/office/drawing/2014/main" id="{CD8E816A-5B8F-ADD4-F4AA-F8F0DCB34F72}"/>
                </a:ext>
              </a:extLst>
            </p:cNvPr>
            <p:cNvSpPr/>
            <p:nvPr/>
          </p:nvSpPr>
          <p:spPr>
            <a:xfrm>
              <a:off x="6096000" y="1350963"/>
              <a:ext cx="2443163" cy="2078038"/>
            </a:xfrm>
            <a:custGeom>
              <a:avLst/>
              <a:gdLst/>
              <a:ahLst/>
              <a:cxnLst/>
              <a:rect l="l" t="t" r="r" b="b"/>
              <a:pathLst>
                <a:path w="120000" h="120000" extrusionOk="0">
                  <a:moveTo>
                    <a:pt x="0" y="120000"/>
                  </a:moveTo>
                  <a:lnTo>
                    <a:pt x="120000" y="74163"/>
                  </a:lnTo>
                  <a:lnTo>
                    <a:pt x="118440" y="68617"/>
                  </a:lnTo>
                  <a:lnTo>
                    <a:pt x="116569" y="63162"/>
                  </a:lnTo>
                  <a:lnTo>
                    <a:pt x="114619" y="57799"/>
                  </a:lnTo>
                  <a:lnTo>
                    <a:pt x="112436" y="52620"/>
                  </a:lnTo>
                  <a:lnTo>
                    <a:pt x="110097" y="47394"/>
                  </a:lnTo>
                  <a:lnTo>
                    <a:pt x="107563" y="42398"/>
                  </a:lnTo>
                  <a:lnTo>
                    <a:pt x="104951" y="37540"/>
                  </a:lnTo>
                  <a:lnTo>
                    <a:pt x="102105" y="32818"/>
                  </a:lnTo>
                  <a:lnTo>
                    <a:pt x="99103" y="28143"/>
                  </a:lnTo>
                  <a:lnTo>
                    <a:pt x="95984" y="23651"/>
                  </a:lnTo>
                  <a:lnTo>
                    <a:pt x="92670" y="19343"/>
                  </a:lnTo>
                  <a:lnTo>
                    <a:pt x="89317" y="15126"/>
                  </a:lnTo>
                  <a:lnTo>
                    <a:pt x="85692" y="11092"/>
                  </a:lnTo>
                  <a:lnTo>
                    <a:pt x="81949" y="7196"/>
                  </a:lnTo>
                  <a:lnTo>
                    <a:pt x="78167" y="3483"/>
                  </a:lnTo>
                  <a:lnTo>
                    <a:pt x="74191" y="0"/>
                  </a:lnTo>
                  <a:lnTo>
                    <a:pt x="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49" name="Google Shape;3101;p148">
              <a:extLst>
                <a:ext uri="{FF2B5EF4-FFF2-40B4-BE49-F238E27FC236}">
                  <a16:creationId xmlns:a16="http://schemas.microsoft.com/office/drawing/2014/main" id="{DAD10C57-6589-BBAB-13E4-DA9B3674F39A}"/>
                </a:ext>
              </a:extLst>
            </p:cNvPr>
            <p:cNvSpPr/>
            <p:nvPr/>
          </p:nvSpPr>
          <p:spPr>
            <a:xfrm>
              <a:off x="6096000" y="2635250"/>
              <a:ext cx="2570163" cy="1589088"/>
            </a:xfrm>
            <a:custGeom>
              <a:avLst/>
              <a:gdLst/>
              <a:ahLst/>
              <a:cxnLst/>
              <a:rect l="l" t="t" r="r" b="b"/>
              <a:pathLst>
                <a:path w="120000" h="120000" extrusionOk="0">
                  <a:moveTo>
                    <a:pt x="0" y="60000"/>
                  </a:moveTo>
                  <a:lnTo>
                    <a:pt x="114105" y="120000"/>
                  </a:lnTo>
                  <a:lnTo>
                    <a:pt x="115514" y="112620"/>
                  </a:lnTo>
                  <a:lnTo>
                    <a:pt x="116737" y="105240"/>
                  </a:lnTo>
                  <a:lnTo>
                    <a:pt x="117738" y="97800"/>
                  </a:lnTo>
                  <a:lnTo>
                    <a:pt x="118517" y="90300"/>
                  </a:lnTo>
                  <a:lnTo>
                    <a:pt x="119147" y="82680"/>
                  </a:lnTo>
                  <a:lnTo>
                    <a:pt x="119666" y="75180"/>
                  </a:lnTo>
                  <a:lnTo>
                    <a:pt x="119925" y="67620"/>
                  </a:lnTo>
                  <a:lnTo>
                    <a:pt x="120000" y="60000"/>
                  </a:lnTo>
                  <a:lnTo>
                    <a:pt x="119925" y="52380"/>
                  </a:lnTo>
                  <a:lnTo>
                    <a:pt x="119666" y="44820"/>
                  </a:lnTo>
                  <a:lnTo>
                    <a:pt x="119147" y="37200"/>
                  </a:lnTo>
                  <a:lnTo>
                    <a:pt x="118517" y="29700"/>
                  </a:lnTo>
                  <a:lnTo>
                    <a:pt x="117738" y="22200"/>
                  </a:lnTo>
                  <a:lnTo>
                    <a:pt x="116737" y="14760"/>
                  </a:lnTo>
                  <a:lnTo>
                    <a:pt x="115514" y="7260"/>
                  </a:lnTo>
                  <a:lnTo>
                    <a:pt x="114105" y="0"/>
                  </a:lnTo>
                  <a:lnTo>
                    <a:pt x="0" y="6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50" name="Google Shape;3102;p148">
              <a:extLst>
                <a:ext uri="{FF2B5EF4-FFF2-40B4-BE49-F238E27FC236}">
                  <a16:creationId xmlns:a16="http://schemas.microsoft.com/office/drawing/2014/main" id="{2B81DC3F-37AF-5B9D-5123-A1E0421D20F3}"/>
                </a:ext>
              </a:extLst>
            </p:cNvPr>
            <p:cNvSpPr/>
            <p:nvPr/>
          </p:nvSpPr>
          <p:spPr>
            <a:xfrm>
              <a:off x="6096000" y="3429000"/>
              <a:ext cx="2443163" cy="2079625"/>
            </a:xfrm>
            <a:custGeom>
              <a:avLst/>
              <a:gdLst/>
              <a:ahLst/>
              <a:cxnLst/>
              <a:rect l="l" t="t" r="r" b="b"/>
              <a:pathLst>
                <a:path w="120000" h="120000" extrusionOk="0">
                  <a:moveTo>
                    <a:pt x="0" y="0"/>
                  </a:moveTo>
                  <a:lnTo>
                    <a:pt x="74191" y="120000"/>
                  </a:lnTo>
                  <a:lnTo>
                    <a:pt x="78167" y="116470"/>
                  </a:lnTo>
                  <a:lnTo>
                    <a:pt x="81949" y="112711"/>
                  </a:lnTo>
                  <a:lnTo>
                    <a:pt x="85692" y="108815"/>
                  </a:lnTo>
                  <a:lnTo>
                    <a:pt x="89317" y="104873"/>
                  </a:lnTo>
                  <a:lnTo>
                    <a:pt x="92670" y="100656"/>
                  </a:lnTo>
                  <a:lnTo>
                    <a:pt x="95984" y="96256"/>
                  </a:lnTo>
                  <a:lnTo>
                    <a:pt x="99103" y="91764"/>
                  </a:lnTo>
                  <a:lnTo>
                    <a:pt x="102105" y="87181"/>
                  </a:lnTo>
                  <a:lnTo>
                    <a:pt x="104951" y="82459"/>
                  </a:lnTo>
                  <a:lnTo>
                    <a:pt x="107563" y="77509"/>
                  </a:lnTo>
                  <a:lnTo>
                    <a:pt x="110097" y="72513"/>
                  </a:lnTo>
                  <a:lnTo>
                    <a:pt x="112436" y="67379"/>
                  </a:lnTo>
                  <a:lnTo>
                    <a:pt x="114619" y="62108"/>
                  </a:lnTo>
                  <a:lnTo>
                    <a:pt x="116569" y="56837"/>
                  </a:lnTo>
                  <a:lnTo>
                    <a:pt x="118440" y="51382"/>
                  </a:lnTo>
                  <a:lnTo>
                    <a:pt x="120000" y="45836"/>
                  </a:lnTo>
                  <a:lnTo>
                    <a:pt x="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51" name="Google Shape;3103;p148">
              <a:extLst>
                <a:ext uri="{FF2B5EF4-FFF2-40B4-BE49-F238E27FC236}">
                  <a16:creationId xmlns:a16="http://schemas.microsoft.com/office/drawing/2014/main" id="{8D152693-E4CE-091C-C8FE-DB2F7D65A7AB}"/>
                </a:ext>
              </a:extLst>
            </p:cNvPr>
            <p:cNvSpPr/>
            <p:nvPr/>
          </p:nvSpPr>
          <p:spPr>
            <a:xfrm>
              <a:off x="6096001" y="3429001"/>
              <a:ext cx="1511300" cy="2570162"/>
            </a:xfrm>
            <a:custGeom>
              <a:avLst/>
              <a:gdLst/>
              <a:ahLst/>
              <a:cxnLst/>
              <a:rect l="l" t="t" r="r" b="b"/>
              <a:pathLst>
                <a:path w="120000" h="120000" extrusionOk="0">
                  <a:moveTo>
                    <a:pt x="0" y="0"/>
                  </a:moveTo>
                  <a:lnTo>
                    <a:pt x="0" y="120000"/>
                  </a:lnTo>
                  <a:lnTo>
                    <a:pt x="8008" y="119851"/>
                  </a:lnTo>
                  <a:lnTo>
                    <a:pt x="16079" y="119592"/>
                  </a:lnTo>
                  <a:lnTo>
                    <a:pt x="24088" y="119147"/>
                  </a:lnTo>
                  <a:lnTo>
                    <a:pt x="31970" y="118516"/>
                  </a:lnTo>
                  <a:lnTo>
                    <a:pt x="39852" y="117663"/>
                  </a:lnTo>
                  <a:lnTo>
                    <a:pt x="47672" y="116662"/>
                  </a:lnTo>
                  <a:lnTo>
                    <a:pt x="55428" y="115438"/>
                  </a:lnTo>
                  <a:lnTo>
                    <a:pt x="63058" y="114103"/>
                  </a:lnTo>
                  <a:lnTo>
                    <a:pt x="70562" y="112620"/>
                  </a:lnTo>
                  <a:lnTo>
                    <a:pt x="78003" y="110914"/>
                  </a:lnTo>
                  <a:lnTo>
                    <a:pt x="85380" y="108986"/>
                  </a:lnTo>
                  <a:lnTo>
                    <a:pt x="92506" y="106909"/>
                  </a:lnTo>
                  <a:lnTo>
                    <a:pt x="99632" y="104721"/>
                  </a:lnTo>
                  <a:lnTo>
                    <a:pt x="106568" y="102348"/>
                  </a:lnTo>
                  <a:lnTo>
                    <a:pt x="113315" y="99789"/>
                  </a:lnTo>
                  <a:lnTo>
                    <a:pt x="120000" y="97082"/>
                  </a:lnTo>
                  <a:lnTo>
                    <a:pt x="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52" name="Google Shape;3104;p148">
              <a:extLst>
                <a:ext uri="{FF2B5EF4-FFF2-40B4-BE49-F238E27FC236}">
                  <a16:creationId xmlns:a16="http://schemas.microsoft.com/office/drawing/2014/main" id="{E8F7871A-6539-7222-2DEA-697414DDC6B8}"/>
                </a:ext>
              </a:extLst>
            </p:cNvPr>
            <p:cNvSpPr/>
            <p:nvPr/>
          </p:nvSpPr>
          <p:spPr>
            <a:xfrm>
              <a:off x="4586288" y="3429000"/>
              <a:ext cx="1509713" cy="2570163"/>
            </a:xfrm>
            <a:custGeom>
              <a:avLst/>
              <a:gdLst/>
              <a:ahLst/>
              <a:cxnLst/>
              <a:rect l="l" t="t" r="r" b="b"/>
              <a:pathLst>
                <a:path w="120000" h="120000" extrusionOk="0">
                  <a:moveTo>
                    <a:pt x="120000" y="0"/>
                  </a:moveTo>
                  <a:lnTo>
                    <a:pt x="0" y="97082"/>
                  </a:lnTo>
                  <a:lnTo>
                    <a:pt x="6558" y="99789"/>
                  </a:lnTo>
                  <a:lnTo>
                    <a:pt x="13305" y="102348"/>
                  </a:lnTo>
                  <a:lnTo>
                    <a:pt x="20241" y="104721"/>
                  </a:lnTo>
                  <a:lnTo>
                    <a:pt x="27367" y="106909"/>
                  </a:lnTo>
                  <a:lnTo>
                    <a:pt x="34492" y="108986"/>
                  </a:lnTo>
                  <a:lnTo>
                    <a:pt x="41870" y="110914"/>
                  </a:lnTo>
                  <a:lnTo>
                    <a:pt x="49311" y="112620"/>
                  </a:lnTo>
                  <a:lnTo>
                    <a:pt x="56941" y="114103"/>
                  </a:lnTo>
                  <a:lnTo>
                    <a:pt x="64571" y="115438"/>
                  </a:lnTo>
                  <a:lnTo>
                    <a:pt x="72264" y="116662"/>
                  </a:lnTo>
                  <a:lnTo>
                    <a:pt x="80021" y="117663"/>
                  </a:lnTo>
                  <a:lnTo>
                    <a:pt x="87903" y="118516"/>
                  </a:lnTo>
                  <a:lnTo>
                    <a:pt x="95911" y="119147"/>
                  </a:lnTo>
                  <a:lnTo>
                    <a:pt x="103920" y="119592"/>
                  </a:lnTo>
                  <a:lnTo>
                    <a:pt x="111865" y="119851"/>
                  </a:lnTo>
                  <a:lnTo>
                    <a:pt x="120000" y="120000"/>
                  </a:lnTo>
                  <a:lnTo>
                    <a:pt x="12000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53" name="Google Shape;3105;p148">
              <a:extLst>
                <a:ext uri="{FF2B5EF4-FFF2-40B4-BE49-F238E27FC236}">
                  <a16:creationId xmlns:a16="http://schemas.microsoft.com/office/drawing/2014/main" id="{73D68CED-5019-2D22-6152-D7D81A3E3D70}"/>
                </a:ext>
              </a:extLst>
            </p:cNvPr>
            <p:cNvSpPr/>
            <p:nvPr/>
          </p:nvSpPr>
          <p:spPr>
            <a:xfrm>
              <a:off x="3652838" y="3429000"/>
              <a:ext cx="2443163" cy="2079625"/>
            </a:xfrm>
            <a:custGeom>
              <a:avLst/>
              <a:gdLst/>
              <a:ahLst/>
              <a:cxnLst/>
              <a:rect l="l" t="t" r="r" b="b"/>
              <a:pathLst>
                <a:path w="120000" h="120000" extrusionOk="0">
                  <a:moveTo>
                    <a:pt x="120000" y="0"/>
                  </a:moveTo>
                  <a:lnTo>
                    <a:pt x="0" y="45836"/>
                  </a:lnTo>
                  <a:lnTo>
                    <a:pt x="1636" y="51382"/>
                  </a:lnTo>
                  <a:lnTo>
                    <a:pt x="3428" y="56837"/>
                  </a:lnTo>
                  <a:lnTo>
                    <a:pt x="5454" y="62108"/>
                  </a:lnTo>
                  <a:lnTo>
                    <a:pt x="7636" y="67379"/>
                  </a:lnTo>
                  <a:lnTo>
                    <a:pt x="9935" y="72513"/>
                  </a:lnTo>
                  <a:lnTo>
                    <a:pt x="12428" y="77509"/>
                  </a:lnTo>
                  <a:lnTo>
                    <a:pt x="15116" y="82459"/>
                  </a:lnTo>
                  <a:lnTo>
                    <a:pt x="17961" y="87181"/>
                  </a:lnTo>
                  <a:lnTo>
                    <a:pt x="20883" y="91764"/>
                  </a:lnTo>
                  <a:lnTo>
                    <a:pt x="24000" y="96256"/>
                  </a:lnTo>
                  <a:lnTo>
                    <a:pt x="27311" y="100656"/>
                  </a:lnTo>
                  <a:lnTo>
                    <a:pt x="30740" y="104782"/>
                  </a:lnTo>
                  <a:lnTo>
                    <a:pt x="34324" y="108815"/>
                  </a:lnTo>
                  <a:lnTo>
                    <a:pt x="38025" y="112711"/>
                  </a:lnTo>
                  <a:lnTo>
                    <a:pt x="41805" y="116424"/>
                  </a:lnTo>
                  <a:lnTo>
                    <a:pt x="45857" y="120000"/>
                  </a:lnTo>
                  <a:lnTo>
                    <a:pt x="12000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54" name="Google Shape;3106;p148">
              <a:extLst>
                <a:ext uri="{FF2B5EF4-FFF2-40B4-BE49-F238E27FC236}">
                  <a16:creationId xmlns:a16="http://schemas.microsoft.com/office/drawing/2014/main" id="{62F44A62-769D-4AA7-8D86-625AFC95249A}"/>
                </a:ext>
              </a:extLst>
            </p:cNvPr>
            <p:cNvSpPr/>
            <p:nvPr/>
          </p:nvSpPr>
          <p:spPr>
            <a:xfrm>
              <a:off x="3527425" y="2635250"/>
              <a:ext cx="2568575" cy="1589088"/>
            </a:xfrm>
            <a:custGeom>
              <a:avLst/>
              <a:gdLst/>
              <a:ahLst/>
              <a:cxnLst/>
              <a:rect l="l" t="t" r="r" b="b"/>
              <a:pathLst>
                <a:path w="120000" h="120000" extrusionOk="0">
                  <a:moveTo>
                    <a:pt x="120000" y="60000"/>
                  </a:moveTo>
                  <a:lnTo>
                    <a:pt x="5820" y="0"/>
                  </a:lnTo>
                  <a:lnTo>
                    <a:pt x="4485" y="7260"/>
                  </a:lnTo>
                  <a:lnTo>
                    <a:pt x="3262" y="14760"/>
                  </a:lnTo>
                  <a:lnTo>
                    <a:pt x="2261" y="22080"/>
                  </a:lnTo>
                  <a:lnTo>
                    <a:pt x="1408" y="29700"/>
                  </a:lnTo>
                  <a:lnTo>
                    <a:pt x="778" y="37200"/>
                  </a:lnTo>
                  <a:lnTo>
                    <a:pt x="333" y="44820"/>
                  </a:lnTo>
                  <a:lnTo>
                    <a:pt x="74" y="52380"/>
                  </a:lnTo>
                  <a:lnTo>
                    <a:pt x="0" y="60000"/>
                  </a:lnTo>
                  <a:lnTo>
                    <a:pt x="74" y="67620"/>
                  </a:lnTo>
                  <a:lnTo>
                    <a:pt x="333" y="75060"/>
                  </a:lnTo>
                  <a:lnTo>
                    <a:pt x="778" y="82680"/>
                  </a:lnTo>
                  <a:lnTo>
                    <a:pt x="1408" y="90300"/>
                  </a:lnTo>
                  <a:lnTo>
                    <a:pt x="2261" y="97800"/>
                  </a:lnTo>
                  <a:lnTo>
                    <a:pt x="3262" y="105240"/>
                  </a:lnTo>
                  <a:lnTo>
                    <a:pt x="4485" y="112620"/>
                  </a:lnTo>
                  <a:lnTo>
                    <a:pt x="5820" y="120000"/>
                  </a:lnTo>
                  <a:lnTo>
                    <a:pt x="120000" y="6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55" name="Google Shape;3107;p148">
              <a:extLst>
                <a:ext uri="{FF2B5EF4-FFF2-40B4-BE49-F238E27FC236}">
                  <a16:creationId xmlns:a16="http://schemas.microsoft.com/office/drawing/2014/main" id="{6E33A581-747F-05D1-A4B9-C5054C4A7BD4}"/>
                </a:ext>
              </a:extLst>
            </p:cNvPr>
            <p:cNvSpPr/>
            <p:nvPr/>
          </p:nvSpPr>
          <p:spPr>
            <a:xfrm>
              <a:off x="3652838" y="1350963"/>
              <a:ext cx="2443163" cy="2078038"/>
            </a:xfrm>
            <a:custGeom>
              <a:avLst/>
              <a:gdLst/>
              <a:ahLst/>
              <a:cxnLst/>
              <a:rect l="l" t="t" r="r" b="b"/>
              <a:pathLst>
                <a:path w="120000" h="120000" extrusionOk="0">
                  <a:moveTo>
                    <a:pt x="120000" y="120000"/>
                  </a:moveTo>
                  <a:lnTo>
                    <a:pt x="45857" y="0"/>
                  </a:lnTo>
                  <a:lnTo>
                    <a:pt x="41805" y="3483"/>
                  </a:lnTo>
                  <a:lnTo>
                    <a:pt x="38025" y="7196"/>
                  </a:lnTo>
                  <a:lnTo>
                    <a:pt x="34324" y="11092"/>
                  </a:lnTo>
                  <a:lnTo>
                    <a:pt x="30740" y="15126"/>
                  </a:lnTo>
                  <a:lnTo>
                    <a:pt x="27311" y="19343"/>
                  </a:lnTo>
                  <a:lnTo>
                    <a:pt x="24000" y="23651"/>
                  </a:lnTo>
                  <a:lnTo>
                    <a:pt x="20883" y="28143"/>
                  </a:lnTo>
                  <a:lnTo>
                    <a:pt x="17961" y="32818"/>
                  </a:lnTo>
                  <a:lnTo>
                    <a:pt x="15116" y="37540"/>
                  </a:lnTo>
                  <a:lnTo>
                    <a:pt x="12428" y="42398"/>
                  </a:lnTo>
                  <a:lnTo>
                    <a:pt x="9935" y="47394"/>
                  </a:lnTo>
                  <a:lnTo>
                    <a:pt x="7636" y="52528"/>
                  </a:lnTo>
                  <a:lnTo>
                    <a:pt x="5454" y="57799"/>
                  </a:lnTo>
                  <a:lnTo>
                    <a:pt x="3428" y="63162"/>
                  </a:lnTo>
                  <a:lnTo>
                    <a:pt x="1636" y="68617"/>
                  </a:lnTo>
                  <a:lnTo>
                    <a:pt x="0" y="74163"/>
                  </a:lnTo>
                  <a:lnTo>
                    <a:pt x="12000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56" name="Google Shape;3108;p148">
              <a:extLst>
                <a:ext uri="{FF2B5EF4-FFF2-40B4-BE49-F238E27FC236}">
                  <a16:creationId xmlns:a16="http://schemas.microsoft.com/office/drawing/2014/main" id="{91E4CF46-20D1-2529-E516-45987E6A46E8}"/>
                </a:ext>
              </a:extLst>
            </p:cNvPr>
            <p:cNvSpPr/>
            <p:nvPr/>
          </p:nvSpPr>
          <p:spPr>
            <a:xfrm>
              <a:off x="4586288" y="860425"/>
              <a:ext cx="1509713" cy="2568575"/>
            </a:xfrm>
            <a:custGeom>
              <a:avLst/>
              <a:gdLst/>
              <a:ahLst/>
              <a:cxnLst/>
              <a:rect l="l" t="t" r="r" b="b"/>
              <a:pathLst>
                <a:path w="120000" h="120000" extrusionOk="0">
                  <a:moveTo>
                    <a:pt x="120000" y="120000"/>
                  </a:moveTo>
                  <a:lnTo>
                    <a:pt x="120000" y="0"/>
                  </a:lnTo>
                  <a:lnTo>
                    <a:pt x="111865" y="74"/>
                  </a:lnTo>
                  <a:lnTo>
                    <a:pt x="103920" y="333"/>
                  </a:lnTo>
                  <a:lnTo>
                    <a:pt x="95911" y="778"/>
                  </a:lnTo>
                  <a:lnTo>
                    <a:pt x="87903" y="1409"/>
                  </a:lnTo>
                  <a:lnTo>
                    <a:pt x="80021" y="2262"/>
                  </a:lnTo>
                  <a:lnTo>
                    <a:pt x="72264" y="3263"/>
                  </a:lnTo>
                  <a:lnTo>
                    <a:pt x="64571" y="4487"/>
                  </a:lnTo>
                  <a:lnTo>
                    <a:pt x="56941" y="5822"/>
                  </a:lnTo>
                  <a:lnTo>
                    <a:pt x="49311" y="7379"/>
                  </a:lnTo>
                  <a:lnTo>
                    <a:pt x="41870" y="9085"/>
                  </a:lnTo>
                  <a:lnTo>
                    <a:pt x="34492" y="10939"/>
                  </a:lnTo>
                  <a:lnTo>
                    <a:pt x="27367" y="13016"/>
                  </a:lnTo>
                  <a:lnTo>
                    <a:pt x="20241" y="15203"/>
                  </a:lnTo>
                  <a:lnTo>
                    <a:pt x="13305" y="17651"/>
                  </a:lnTo>
                  <a:lnTo>
                    <a:pt x="6558" y="20135"/>
                  </a:lnTo>
                  <a:lnTo>
                    <a:pt x="0" y="22917"/>
                  </a:lnTo>
                  <a:lnTo>
                    <a:pt x="12000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grpSp>
      <p:sp>
        <p:nvSpPr>
          <p:cNvPr id="157" name="Google Shape;3121;p148">
            <a:extLst>
              <a:ext uri="{FF2B5EF4-FFF2-40B4-BE49-F238E27FC236}">
                <a16:creationId xmlns:a16="http://schemas.microsoft.com/office/drawing/2014/main" id="{3F585280-CD7C-1485-5CA4-63639F05AFDE}"/>
              </a:ext>
            </a:extLst>
          </p:cNvPr>
          <p:cNvSpPr txBox="1">
            <a:spLocks/>
          </p:cNvSpPr>
          <p:nvPr/>
        </p:nvSpPr>
        <p:spPr>
          <a:xfrm>
            <a:off x="9303478" y="3150765"/>
            <a:ext cx="952501" cy="341632"/>
          </a:xfrm>
          <a:prstGeom prst="rect">
            <a:avLst/>
          </a:prstGeom>
          <a:noFill/>
          <a:ln>
            <a:noFill/>
          </a:ln>
        </p:spPr>
        <p:txBody>
          <a:bodyPr spcFirstLastPara="1" wrap="square" lIns="91425" tIns="45700" rIns="91425" bIns="4570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2000" b="1" dirty="0">
                <a:solidFill>
                  <a:srgbClr val="47464B"/>
                </a:solidFill>
                <a:latin typeface="Arial" panose="020B0604020202020204" pitchFamily="34" charset="0"/>
                <a:ea typeface="Calibri"/>
                <a:cs typeface="Arial" panose="020B0604020202020204" pitchFamily="34" charset="0"/>
                <a:sym typeface="Calibri"/>
              </a:rPr>
              <a:t>57%</a:t>
            </a:r>
            <a:endParaRPr lang="en-US" sz="2000" b="1" dirty="0">
              <a:solidFill>
                <a:srgbClr val="47464B"/>
              </a:solidFill>
              <a:latin typeface="Arial" panose="020B0604020202020204" pitchFamily="34" charset="0"/>
              <a:ea typeface="Calibri"/>
              <a:cs typeface="Arial" panose="020B0604020202020204" pitchFamily="34" charset="0"/>
            </a:endParaRPr>
          </a:p>
        </p:txBody>
      </p:sp>
      <p:grpSp>
        <p:nvGrpSpPr>
          <p:cNvPr id="159" name="Google Shape;3087;p148">
            <a:extLst>
              <a:ext uri="{FF2B5EF4-FFF2-40B4-BE49-F238E27FC236}">
                <a16:creationId xmlns:a16="http://schemas.microsoft.com/office/drawing/2014/main" id="{6C9BDCDE-35CE-D26B-AB29-9A605D81BDE0}"/>
              </a:ext>
            </a:extLst>
          </p:cNvPr>
          <p:cNvGrpSpPr/>
          <p:nvPr/>
        </p:nvGrpSpPr>
        <p:grpSpPr>
          <a:xfrm>
            <a:off x="5034920" y="2028534"/>
            <a:ext cx="2591814" cy="2591814"/>
            <a:chOff x="3527425" y="860425"/>
            <a:chExt cx="5138738" cy="5138738"/>
          </a:xfrm>
        </p:grpSpPr>
        <p:sp>
          <p:nvSpPr>
            <p:cNvPr id="160" name="Google Shape;3088;p148">
              <a:extLst>
                <a:ext uri="{FF2B5EF4-FFF2-40B4-BE49-F238E27FC236}">
                  <a16:creationId xmlns:a16="http://schemas.microsoft.com/office/drawing/2014/main" id="{6DA6DE97-D541-DA93-DC46-72713E7EE36E}"/>
                </a:ext>
              </a:extLst>
            </p:cNvPr>
            <p:cNvSpPr/>
            <p:nvPr/>
          </p:nvSpPr>
          <p:spPr>
            <a:xfrm>
              <a:off x="6096000" y="860425"/>
              <a:ext cx="1511300" cy="2568575"/>
            </a:xfrm>
            <a:custGeom>
              <a:avLst/>
              <a:gdLst/>
              <a:ahLst/>
              <a:cxnLst/>
              <a:rect l="l" t="t" r="r" b="b"/>
              <a:pathLst>
                <a:path w="120000" h="120000" extrusionOk="0">
                  <a:moveTo>
                    <a:pt x="0" y="120000"/>
                  </a:moveTo>
                  <a:lnTo>
                    <a:pt x="120000" y="22917"/>
                  </a:lnTo>
                  <a:lnTo>
                    <a:pt x="113315" y="20135"/>
                  </a:lnTo>
                  <a:lnTo>
                    <a:pt x="106568" y="17651"/>
                  </a:lnTo>
                  <a:lnTo>
                    <a:pt x="99632" y="15203"/>
                  </a:lnTo>
                  <a:lnTo>
                    <a:pt x="92506" y="13016"/>
                  </a:lnTo>
                  <a:lnTo>
                    <a:pt x="85380" y="10939"/>
                  </a:lnTo>
                  <a:lnTo>
                    <a:pt x="78003" y="9085"/>
                  </a:lnTo>
                  <a:lnTo>
                    <a:pt x="70562" y="7379"/>
                  </a:lnTo>
                  <a:lnTo>
                    <a:pt x="63058" y="5822"/>
                  </a:lnTo>
                  <a:lnTo>
                    <a:pt x="55428" y="4487"/>
                  </a:lnTo>
                  <a:lnTo>
                    <a:pt x="47672" y="3263"/>
                  </a:lnTo>
                  <a:lnTo>
                    <a:pt x="39852" y="2262"/>
                  </a:lnTo>
                  <a:lnTo>
                    <a:pt x="31970" y="1409"/>
                  </a:lnTo>
                  <a:lnTo>
                    <a:pt x="24088" y="778"/>
                  </a:lnTo>
                  <a:lnTo>
                    <a:pt x="16079" y="333"/>
                  </a:lnTo>
                  <a:lnTo>
                    <a:pt x="8008" y="74"/>
                  </a:lnTo>
                  <a:lnTo>
                    <a:pt x="0" y="0"/>
                  </a:lnTo>
                  <a:lnTo>
                    <a:pt x="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1" name="Google Shape;3089;p148">
              <a:extLst>
                <a:ext uri="{FF2B5EF4-FFF2-40B4-BE49-F238E27FC236}">
                  <a16:creationId xmlns:a16="http://schemas.microsoft.com/office/drawing/2014/main" id="{7560D3B5-2E30-FCD3-E7E4-B8AEB165D40F}"/>
                </a:ext>
              </a:extLst>
            </p:cNvPr>
            <p:cNvSpPr/>
            <p:nvPr/>
          </p:nvSpPr>
          <p:spPr>
            <a:xfrm>
              <a:off x="6096000" y="1350963"/>
              <a:ext cx="2443163" cy="2078038"/>
            </a:xfrm>
            <a:custGeom>
              <a:avLst/>
              <a:gdLst/>
              <a:ahLst/>
              <a:cxnLst/>
              <a:rect l="l" t="t" r="r" b="b"/>
              <a:pathLst>
                <a:path w="120000" h="120000" extrusionOk="0">
                  <a:moveTo>
                    <a:pt x="0" y="120000"/>
                  </a:moveTo>
                  <a:lnTo>
                    <a:pt x="120000" y="74163"/>
                  </a:lnTo>
                  <a:lnTo>
                    <a:pt x="118440" y="68617"/>
                  </a:lnTo>
                  <a:lnTo>
                    <a:pt x="116569" y="63162"/>
                  </a:lnTo>
                  <a:lnTo>
                    <a:pt x="114619" y="57799"/>
                  </a:lnTo>
                  <a:lnTo>
                    <a:pt x="112436" y="52620"/>
                  </a:lnTo>
                  <a:lnTo>
                    <a:pt x="110097" y="47394"/>
                  </a:lnTo>
                  <a:lnTo>
                    <a:pt x="107563" y="42398"/>
                  </a:lnTo>
                  <a:lnTo>
                    <a:pt x="104951" y="37540"/>
                  </a:lnTo>
                  <a:lnTo>
                    <a:pt x="102105" y="32818"/>
                  </a:lnTo>
                  <a:lnTo>
                    <a:pt x="99103" y="28143"/>
                  </a:lnTo>
                  <a:lnTo>
                    <a:pt x="95984" y="23651"/>
                  </a:lnTo>
                  <a:lnTo>
                    <a:pt x="92670" y="19343"/>
                  </a:lnTo>
                  <a:lnTo>
                    <a:pt x="89317" y="15126"/>
                  </a:lnTo>
                  <a:lnTo>
                    <a:pt x="85692" y="11092"/>
                  </a:lnTo>
                  <a:lnTo>
                    <a:pt x="81949" y="7196"/>
                  </a:lnTo>
                  <a:lnTo>
                    <a:pt x="78167" y="3483"/>
                  </a:lnTo>
                  <a:lnTo>
                    <a:pt x="74191" y="0"/>
                  </a:lnTo>
                  <a:lnTo>
                    <a:pt x="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2" name="Google Shape;3090;p148">
              <a:extLst>
                <a:ext uri="{FF2B5EF4-FFF2-40B4-BE49-F238E27FC236}">
                  <a16:creationId xmlns:a16="http://schemas.microsoft.com/office/drawing/2014/main" id="{C7641BC1-651D-E5FB-7F0F-D40754894BE9}"/>
                </a:ext>
              </a:extLst>
            </p:cNvPr>
            <p:cNvSpPr/>
            <p:nvPr/>
          </p:nvSpPr>
          <p:spPr>
            <a:xfrm>
              <a:off x="6096000" y="2635250"/>
              <a:ext cx="2570163" cy="1589088"/>
            </a:xfrm>
            <a:custGeom>
              <a:avLst/>
              <a:gdLst/>
              <a:ahLst/>
              <a:cxnLst/>
              <a:rect l="l" t="t" r="r" b="b"/>
              <a:pathLst>
                <a:path w="120000" h="120000" extrusionOk="0">
                  <a:moveTo>
                    <a:pt x="0" y="60000"/>
                  </a:moveTo>
                  <a:lnTo>
                    <a:pt x="114105" y="120000"/>
                  </a:lnTo>
                  <a:lnTo>
                    <a:pt x="115514" y="112620"/>
                  </a:lnTo>
                  <a:lnTo>
                    <a:pt x="116737" y="105240"/>
                  </a:lnTo>
                  <a:lnTo>
                    <a:pt x="117738" y="97800"/>
                  </a:lnTo>
                  <a:lnTo>
                    <a:pt x="118517" y="90300"/>
                  </a:lnTo>
                  <a:lnTo>
                    <a:pt x="119147" y="82680"/>
                  </a:lnTo>
                  <a:lnTo>
                    <a:pt x="119666" y="75180"/>
                  </a:lnTo>
                  <a:lnTo>
                    <a:pt x="119925" y="67620"/>
                  </a:lnTo>
                  <a:lnTo>
                    <a:pt x="120000" y="60000"/>
                  </a:lnTo>
                  <a:lnTo>
                    <a:pt x="119925" y="52380"/>
                  </a:lnTo>
                  <a:lnTo>
                    <a:pt x="119666" y="44820"/>
                  </a:lnTo>
                  <a:lnTo>
                    <a:pt x="119147" y="37200"/>
                  </a:lnTo>
                  <a:lnTo>
                    <a:pt x="118517" y="29700"/>
                  </a:lnTo>
                  <a:lnTo>
                    <a:pt x="117738" y="22200"/>
                  </a:lnTo>
                  <a:lnTo>
                    <a:pt x="116737" y="14760"/>
                  </a:lnTo>
                  <a:lnTo>
                    <a:pt x="115514" y="7260"/>
                  </a:lnTo>
                  <a:lnTo>
                    <a:pt x="114105" y="0"/>
                  </a:lnTo>
                  <a:lnTo>
                    <a:pt x="0" y="6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3" name="Google Shape;3091;p148">
              <a:extLst>
                <a:ext uri="{FF2B5EF4-FFF2-40B4-BE49-F238E27FC236}">
                  <a16:creationId xmlns:a16="http://schemas.microsoft.com/office/drawing/2014/main" id="{D0C9D32C-9768-F4DA-6587-4CE2B5349722}"/>
                </a:ext>
              </a:extLst>
            </p:cNvPr>
            <p:cNvSpPr/>
            <p:nvPr/>
          </p:nvSpPr>
          <p:spPr>
            <a:xfrm>
              <a:off x="6096000" y="3429000"/>
              <a:ext cx="2443163" cy="2079625"/>
            </a:xfrm>
            <a:custGeom>
              <a:avLst/>
              <a:gdLst/>
              <a:ahLst/>
              <a:cxnLst/>
              <a:rect l="l" t="t" r="r" b="b"/>
              <a:pathLst>
                <a:path w="120000" h="120000" extrusionOk="0">
                  <a:moveTo>
                    <a:pt x="0" y="0"/>
                  </a:moveTo>
                  <a:lnTo>
                    <a:pt x="74191" y="120000"/>
                  </a:lnTo>
                  <a:lnTo>
                    <a:pt x="78167" y="116470"/>
                  </a:lnTo>
                  <a:lnTo>
                    <a:pt x="81949" y="112711"/>
                  </a:lnTo>
                  <a:lnTo>
                    <a:pt x="85692" y="108815"/>
                  </a:lnTo>
                  <a:lnTo>
                    <a:pt x="89317" y="104873"/>
                  </a:lnTo>
                  <a:lnTo>
                    <a:pt x="92670" y="100656"/>
                  </a:lnTo>
                  <a:lnTo>
                    <a:pt x="95984" y="96256"/>
                  </a:lnTo>
                  <a:lnTo>
                    <a:pt x="99103" y="91764"/>
                  </a:lnTo>
                  <a:lnTo>
                    <a:pt x="102105" y="87181"/>
                  </a:lnTo>
                  <a:lnTo>
                    <a:pt x="104951" y="82459"/>
                  </a:lnTo>
                  <a:lnTo>
                    <a:pt x="107563" y="77509"/>
                  </a:lnTo>
                  <a:lnTo>
                    <a:pt x="110097" y="72513"/>
                  </a:lnTo>
                  <a:lnTo>
                    <a:pt x="112436" y="67379"/>
                  </a:lnTo>
                  <a:lnTo>
                    <a:pt x="114619" y="62108"/>
                  </a:lnTo>
                  <a:lnTo>
                    <a:pt x="116569" y="56837"/>
                  </a:lnTo>
                  <a:lnTo>
                    <a:pt x="118440" y="51382"/>
                  </a:lnTo>
                  <a:lnTo>
                    <a:pt x="120000" y="45836"/>
                  </a:lnTo>
                  <a:lnTo>
                    <a:pt x="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4" name="Google Shape;3092;p148">
              <a:extLst>
                <a:ext uri="{FF2B5EF4-FFF2-40B4-BE49-F238E27FC236}">
                  <a16:creationId xmlns:a16="http://schemas.microsoft.com/office/drawing/2014/main" id="{5B8D89CE-81E6-2945-8CE4-E633040963FC}"/>
                </a:ext>
              </a:extLst>
            </p:cNvPr>
            <p:cNvSpPr/>
            <p:nvPr/>
          </p:nvSpPr>
          <p:spPr>
            <a:xfrm>
              <a:off x="6096000" y="3429000"/>
              <a:ext cx="1511300" cy="2570163"/>
            </a:xfrm>
            <a:custGeom>
              <a:avLst/>
              <a:gdLst/>
              <a:ahLst/>
              <a:cxnLst/>
              <a:rect l="l" t="t" r="r" b="b"/>
              <a:pathLst>
                <a:path w="120000" h="120000" extrusionOk="0">
                  <a:moveTo>
                    <a:pt x="0" y="0"/>
                  </a:moveTo>
                  <a:lnTo>
                    <a:pt x="0" y="120000"/>
                  </a:lnTo>
                  <a:lnTo>
                    <a:pt x="8008" y="119851"/>
                  </a:lnTo>
                  <a:lnTo>
                    <a:pt x="16079" y="119592"/>
                  </a:lnTo>
                  <a:lnTo>
                    <a:pt x="24088" y="119147"/>
                  </a:lnTo>
                  <a:lnTo>
                    <a:pt x="31970" y="118516"/>
                  </a:lnTo>
                  <a:lnTo>
                    <a:pt x="39852" y="117663"/>
                  </a:lnTo>
                  <a:lnTo>
                    <a:pt x="47672" y="116662"/>
                  </a:lnTo>
                  <a:lnTo>
                    <a:pt x="55428" y="115438"/>
                  </a:lnTo>
                  <a:lnTo>
                    <a:pt x="63058" y="114103"/>
                  </a:lnTo>
                  <a:lnTo>
                    <a:pt x="70562" y="112620"/>
                  </a:lnTo>
                  <a:lnTo>
                    <a:pt x="78003" y="110914"/>
                  </a:lnTo>
                  <a:lnTo>
                    <a:pt x="85380" y="108986"/>
                  </a:lnTo>
                  <a:lnTo>
                    <a:pt x="92506" y="106909"/>
                  </a:lnTo>
                  <a:lnTo>
                    <a:pt x="99632" y="104721"/>
                  </a:lnTo>
                  <a:lnTo>
                    <a:pt x="106568" y="102348"/>
                  </a:lnTo>
                  <a:lnTo>
                    <a:pt x="113315" y="99789"/>
                  </a:lnTo>
                  <a:lnTo>
                    <a:pt x="120000" y="97082"/>
                  </a:lnTo>
                  <a:lnTo>
                    <a:pt x="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5" name="Google Shape;3093;p148">
              <a:extLst>
                <a:ext uri="{FF2B5EF4-FFF2-40B4-BE49-F238E27FC236}">
                  <a16:creationId xmlns:a16="http://schemas.microsoft.com/office/drawing/2014/main" id="{80329582-221B-FC50-3482-FE1F811A6BB3}"/>
                </a:ext>
              </a:extLst>
            </p:cNvPr>
            <p:cNvSpPr/>
            <p:nvPr/>
          </p:nvSpPr>
          <p:spPr>
            <a:xfrm>
              <a:off x="4586288" y="3429000"/>
              <a:ext cx="1509713" cy="2570163"/>
            </a:xfrm>
            <a:custGeom>
              <a:avLst/>
              <a:gdLst/>
              <a:ahLst/>
              <a:cxnLst/>
              <a:rect l="l" t="t" r="r" b="b"/>
              <a:pathLst>
                <a:path w="120000" h="120000" extrusionOk="0">
                  <a:moveTo>
                    <a:pt x="120000" y="0"/>
                  </a:moveTo>
                  <a:lnTo>
                    <a:pt x="0" y="97082"/>
                  </a:lnTo>
                  <a:lnTo>
                    <a:pt x="6558" y="99789"/>
                  </a:lnTo>
                  <a:lnTo>
                    <a:pt x="13305" y="102348"/>
                  </a:lnTo>
                  <a:lnTo>
                    <a:pt x="20241" y="104721"/>
                  </a:lnTo>
                  <a:lnTo>
                    <a:pt x="27367" y="106909"/>
                  </a:lnTo>
                  <a:lnTo>
                    <a:pt x="34492" y="108986"/>
                  </a:lnTo>
                  <a:lnTo>
                    <a:pt x="41870" y="110914"/>
                  </a:lnTo>
                  <a:lnTo>
                    <a:pt x="49311" y="112620"/>
                  </a:lnTo>
                  <a:lnTo>
                    <a:pt x="56941" y="114103"/>
                  </a:lnTo>
                  <a:lnTo>
                    <a:pt x="64571" y="115438"/>
                  </a:lnTo>
                  <a:lnTo>
                    <a:pt x="72264" y="116662"/>
                  </a:lnTo>
                  <a:lnTo>
                    <a:pt x="80021" y="117663"/>
                  </a:lnTo>
                  <a:lnTo>
                    <a:pt x="87903" y="118516"/>
                  </a:lnTo>
                  <a:lnTo>
                    <a:pt x="95911" y="119147"/>
                  </a:lnTo>
                  <a:lnTo>
                    <a:pt x="103920" y="119592"/>
                  </a:lnTo>
                  <a:lnTo>
                    <a:pt x="111865" y="119851"/>
                  </a:lnTo>
                  <a:lnTo>
                    <a:pt x="120000" y="120000"/>
                  </a:lnTo>
                  <a:lnTo>
                    <a:pt x="12000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6" name="Google Shape;3094;p148">
              <a:extLst>
                <a:ext uri="{FF2B5EF4-FFF2-40B4-BE49-F238E27FC236}">
                  <a16:creationId xmlns:a16="http://schemas.microsoft.com/office/drawing/2014/main" id="{63680F1A-F41F-96BF-F763-1AFC2AF65476}"/>
                </a:ext>
              </a:extLst>
            </p:cNvPr>
            <p:cNvSpPr/>
            <p:nvPr/>
          </p:nvSpPr>
          <p:spPr>
            <a:xfrm>
              <a:off x="3652838" y="3429000"/>
              <a:ext cx="2443163" cy="2079625"/>
            </a:xfrm>
            <a:custGeom>
              <a:avLst/>
              <a:gdLst/>
              <a:ahLst/>
              <a:cxnLst/>
              <a:rect l="l" t="t" r="r" b="b"/>
              <a:pathLst>
                <a:path w="120000" h="120000" extrusionOk="0">
                  <a:moveTo>
                    <a:pt x="120000" y="0"/>
                  </a:moveTo>
                  <a:lnTo>
                    <a:pt x="0" y="45836"/>
                  </a:lnTo>
                  <a:lnTo>
                    <a:pt x="1636" y="51382"/>
                  </a:lnTo>
                  <a:lnTo>
                    <a:pt x="3428" y="56837"/>
                  </a:lnTo>
                  <a:lnTo>
                    <a:pt x="5454" y="62108"/>
                  </a:lnTo>
                  <a:lnTo>
                    <a:pt x="7636" y="67379"/>
                  </a:lnTo>
                  <a:lnTo>
                    <a:pt x="9935" y="72513"/>
                  </a:lnTo>
                  <a:lnTo>
                    <a:pt x="12428" y="77509"/>
                  </a:lnTo>
                  <a:lnTo>
                    <a:pt x="15116" y="82459"/>
                  </a:lnTo>
                  <a:lnTo>
                    <a:pt x="17961" y="87181"/>
                  </a:lnTo>
                  <a:lnTo>
                    <a:pt x="20883" y="91764"/>
                  </a:lnTo>
                  <a:lnTo>
                    <a:pt x="24000" y="96256"/>
                  </a:lnTo>
                  <a:lnTo>
                    <a:pt x="27311" y="100656"/>
                  </a:lnTo>
                  <a:lnTo>
                    <a:pt x="30740" y="104782"/>
                  </a:lnTo>
                  <a:lnTo>
                    <a:pt x="34324" y="108815"/>
                  </a:lnTo>
                  <a:lnTo>
                    <a:pt x="38025" y="112711"/>
                  </a:lnTo>
                  <a:lnTo>
                    <a:pt x="41805" y="116424"/>
                  </a:lnTo>
                  <a:lnTo>
                    <a:pt x="45857" y="120000"/>
                  </a:lnTo>
                  <a:lnTo>
                    <a:pt x="12000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7" name="Google Shape;3095;p148">
              <a:extLst>
                <a:ext uri="{FF2B5EF4-FFF2-40B4-BE49-F238E27FC236}">
                  <a16:creationId xmlns:a16="http://schemas.microsoft.com/office/drawing/2014/main" id="{851E0B5B-9347-6CB1-3BE1-C4855F124C07}"/>
                </a:ext>
              </a:extLst>
            </p:cNvPr>
            <p:cNvSpPr/>
            <p:nvPr/>
          </p:nvSpPr>
          <p:spPr>
            <a:xfrm>
              <a:off x="3527425" y="2635250"/>
              <a:ext cx="2568575" cy="1589088"/>
            </a:xfrm>
            <a:custGeom>
              <a:avLst/>
              <a:gdLst/>
              <a:ahLst/>
              <a:cxnLst/>
              <a:rect l="l" t="t" r="r" b="b"/>
              <a:pathLst>
                <a:path w="120000" h="120000" extrusionOk="0">
                  <a:moveTo>
                    <a:pt x="120000" y="60000"/>
                  </a:moveTo>
                  <a:lnTo>
                    <a:pt x="5820" y="0"/>
                  </a:lnTo>
                  <a:lnTo>
                    <a:pt x="4485" y="7260"/>
                  </a:lnTo>
                  <a:lnTo>
                    <a:pt x="3262" y="14760"/>
                  </a:lnTo>
                  <a:lnTo>
                    <a:pt x="2261" y="22080"/>
                  </a:lnTo>
                  <a:lnTo>
                    <a:pt x="1408" y="29700"/>
                  </a:lnTo>
                  <a:lnTo>
                    <a:pt x="778" y="37200"/>
                  </a:lnTo>
                  <a:lnTo>
                    <a:pt x="333" y="44820"/>
                  </a:lnTo>
                  <a:lnTo>
                    <a:pt x="74" y="52380"/>
                  </a:lnTo>
                  <a:lnTo>
                    <a:pt x="0" y="60000"/>
                  </a:lnTo>
                  <a:lnTo>
                    <a:pt x="74" y="67620"/>
                  </a:lnTo>
                  <a:lnTo>
                    <a:pt x="333" y="75060"/>
                  </a:lnTo>
                  <a:lnTo>
                    <a:pt x="778" y="82680"/>
                  </a:lnTo>
                  <a:lnTo>
                    <a:pt x="1408" y="90300"/>
                  </a:lnTo>
                  <a:lnTo>
                    <a:pt x="2261" y="97800"/>
                  </a:lnTo>
                  <a:lnTo>
                    <a:pt x="3262" y="105240"/>
                  </a:lnTo>
                  <a:lnTo>
                    <a:pt x="4485" y="112620"/>
                  </a:lnTo>
                  <a:lnTo>
                    <a:pt x="5820" y="120000"/>
                  </a:lnTo>
                  <a:lnTo>
                    <a:pt x="120000" y="6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8" name="Google Shape;3096;p148">
              <a:extLst>
                <a:ext uri="{FF2B5EF4-FFF2-40B4-BE49-F238E27FC236}">
                  <a16:creationId xmlns:a16="http://schemas.microsoft.com/office/drawing/2014/main" id="{9DD7611F-3417-0F52-936E-499E6ED06EE3}"/>
                </a:ext>
              </a:extLst>
            </p:cNvPr>
            <p:cNvSpPr/>
            <p:nvPr/>
          </p:nvSpPr>
          <p:spPr>
            <a:xfrm>
              <a:off x="3652838" y="1350963"/>
              <a:ext cx="2443163" cy="2078038"/>
            </a:xfrm>
            <a:custGeom>
              <a:avLst/>
              <a:gdLst/>
              <a:ahLst/>
              <a:cxnLst/>
              <a:rect l="l" t="t" r="r" b="b"/>
              <a:pathLst>
                <a:path w="120000" h="120000" extrusionOk="0">
                  <a:moveTo>
                    <a:pt x="120000" y="120000"/>
                  </a:moveTo>
                  <a:lnTo>
                    <a:pt x="45857" y="0"/>
                  </a:lnTo>
                  <a:lnTo>
                    <a:pt x="41805" y="3483"/>
                  </a:lnTo>
                  <a:lnTo>
                    <a:pt x="38025" y="7196"/>
                  </a:lnTo>
                  <a:lnTo>
                    <a:pt x="34324" y="11092"/>
                  </a:lnTo>
                  <a:lnTo>
                    <a:pt x="30740" y="15126"/>
                  </a:lnTo>
                  <a:lnTo>
                    <a:pt x="27311" y="19343"/>
                  </a:lnTo>
                  <a:lnTo>
                    <a:pt x="24000" y="23651"/>
                  </a:lnTo>
                  <a:lnTo>
                    <a:pt x="20883" y="28143"/>
                  </a:lnTo>
                  <a:lnTo>
                    <a:pt x="17961" y="32818"/>
                  </a:lnTo>
                  <a:lnTo>
                    <a:pt x="15116" y="37540"/>
                  </a:lnTo>
                  <a:lnTo>
                    <a:pt x="12428" y="42398"/>
                  </a:lnTo>
                  <a:lnTo>
                    <a:pt x="9935" y="47394"/>
                  </a:lnTo>
                  <a:lnTo>
                    <a:pt x="7636" y="52528"/>
                  </a:lnTo>
                  <a:lnTo>
                    <a:pt x="5454" y="57799"/>
                  </a:lnTo>
                  <a:lnTo>
                    <a:pt x="3428" y="63162"/>
                  </a:lnTo>
                  <a:lnTo>
                    <a:pt x="1636" y="68617"/>
                  </a:lnTo>
                  <a:lnTo>
                    <a:pt x="0" y="74163"/>
                  </a:lnTo>
                  <a:lnTo>
                    <a:pt x="12000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9" name="Google Shape;3097;p148">
              <a:extLst>
                <a:ext uri="{FF2B5EF4-FFF2-40B4-BE49-F238E27FC236}">
                  <a16:creationId xmlns:a16="http://schemas.microsoft.com/office/drawing/2014/main" id="{1864DF2D-34AB-411F-631D-3737DA3A360A}"/>
                </a:ext>
              </a:extLst>
            </p:cNvPr>
            <p:cNvSpPr/>
            <p:nvPr/>
          </p:nvSpPr>
          <p:spPr>
            <a:xfrm>
              <a:off x="4586288" y="860425"/>
              <a:ext cx="1509713" cy="2568575"/>
            </a:xfrm>
            <a:custGeom>
              <a:avLst/>
              <a:gdLst/>
              <a:ahLst/>
              <a:cxnLst/>
              <a:rect l="l" t="t" r="r" b="b"/>
              <a:pathLst>
                <a:path w="120000" h="120000" extrusionOk="0">
                  <a:moveTo>
                    <a:pt x="120000" y="120000"/>
                  </a:moveTo>
                  <a:lnTo>
                    <a:pt x="120000" y="0"/>
                  </a:lnTo>
                  <a:lnTo>
                    <a:pt x="111865" y="74"/>
                  </a:lnTo>
                  <a:lnTo>
                    <a:pt x="103920" y="333"/>
                  </a:lnTo>
                  <a:lnTo>
                    <a:pt x="95911" y="778"/>
                  </a:lnTo>
                  <a:lnTo>
                    <a:pt x="87903" y="1409"/>
                  </a:lnTo>
                  <a:lnTo>
                    <a:pt x="80021" y="2262"/>
                  </a:lnTo>
                  <a:lnTo>
                    <a:pt x="72264" y="3263"/>
                  </a:lnTo>
                  <a:lnTo>
                    <a:pt x="64571" y="4487"/>
                  </a:lnTo>
                  <a:lnTo>
                    <a:pt x="56941" y="5822"/>
                  </a:lnTo>
                  <a:lnTo>
                    <a:pt x="49311" y="7379"/>
                  </a:lnTo>
                  <a:lnTo>
                    <a:pt x="41870" y="9085"/>
                  </a:lnTo>
                  <a:lnTo>
                    <a:pt x="34492" y="10939"/>
                  </a:lnTo>
                  <a:lnTo>
                    <a:pt x="27367" y="13016"/>
                  </a:lnTo>
                  <a:lnTo>
                    <a:pt x="20241" y="15203"/>
                  </a:lnTo>
                  <a:lnTo>
                    <a:pt x="13305" y="17651"/>
                  </a:lnTo>
                  <a:lnTo>
                    <a:pt x="6558" y="20135"/>
                  </a:lnTo>
                  <a:lnTo>
                    <a:pt x="0" y="22917"/>
                  </a:lnTo>
                  <a:lnTo>
                    <a:pt x="12000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grpSp>
      <p:sp>
        <p:nvSpPr>
          <p:cNvPr id="170" name="Google Shape;3120;p148">
            <a:extLst>
              <a:ext uri="{FF2B5EF4-FFF2-40B4-BE49-F238E27FC236}">
                <a16:creationId xmlns:a16="http://schemas.microsoft.com/office/drawing/2014/main" id="{40888CAF-551B-ABE8-D21F-2A4E9F6D8D8A}"/>
              </a:ext>
            </a:extLst>
          </p:cNvPr>
          <p:cNvSpPr txBox="1">
            <a:spLocks/>
          </p:cNvSpPr>
          <p:nvPr/>
        </p:nvSpPr>
        <p:spPr>
          <a:xfrm>
            <a:off x="5807587" y="3220882"/>
            <a:ext cx="952501" cy="341632"/>
          </a:xfrm>
          <a:prstGeom prst="rect">
            <a:avLst/>
          </a:prstGeom>
          <a:noFill/>
          <a:ln>
            <a:noFill/>
          </a:ln>
        </p:spPr>
        <p:txBody>
          <a:bodyPr spcFirstLastPara="1" wrap="square" lIns="91425" tIns="45700" rIns="91425" bIns="4570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2000" b="1" dirty="0">
                <a:solidFill>
                  <a:srgbClr val="47464B"/>
                </a:solidFill>
                <a:latin typeface="Arial" panose="020B0604020202020204" pitchFamily="34" charset="0"/>
                <a:ea typeface="Calibri"/>
                <a:cs typeface="Arial" panose="020B0604020202020204" pitchFamily="34" charset="0"/>
                <a:sym typeface="Calibri"/>
              </a:rPr>
              <a:t>$6.3 </a:t>
            </a:r>
            <a:r>
              <a:rPr lang="en-US" sz="1400" dirty="0">
                <a:solidFill>
                  <a:srgbClr val="47464B"/>
                </a:solidFill>
                <a:latin typeface="Arial" panose="020B0604020202020204" pitchFamily="34" charset="0"/>
                <a:ea typeface="Calibri"/>
                <a:cs typeface="Arial" panose="020B0604020202020204" pitchFamily="34" charset="0"/>
                <a:sym typeface="Calibri"/>
              </a:rPr>
              <a:t>trillion</a:t>
            </a:r>
            <a:endParaRPr lang="en-US" sz="2000" dirty="0">
              <a:solidFill>
                <a:srgbClr val="47464B"/>
              </a:solidFill>
              <a:latin typeface="Arial" panose="020B0604020202020204" pitchFamily="34" charset="0"/>
              <a:ea typeface="Calibri"/>
              <a:cs typeface="Arial" panose="020B0604020202020204" pitchFamily="34" charset="0"/>
            </a:endParaRPr>
          </a:p>
        </p:txBody>
      </p:sp>
    </p:spTree>
    <p:extLst>
      <p:ext uri="{BB962C8B-B14F-4D97-AF65-F5344CB8AC3E}">
        <p14:creationId xmlns:p14="http://schemas.microsoft.com/office/powerpoint/2010/main" val="1496286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9">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1">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7CFE162-2B72-DECB-B17E-7A2BA5626B69}"/>
              </a:ext>
            </a:extLst>
          </p:cNvPr>
          <p:cNvSpPr>
            <a:spLocks noGrp="1"/>
          </p:cNvSpPr>
          <p:nvPr>
            <p:ph idx="1"/>
          </p:nvPr>
        </p:nvSpPr>
        <p:spPr>
          <a:xfrm>
            <a:off x="804672" y="1658678"/>
            <a:ext cx="4765949" cy="4625163"/>
          </a:xfrm>
        </p:spPr>
        <p:txBody>
          <a:bodyPr anchor="t">
            <a:normAutofit/>
          </a:bodyPr>
          <a:lstStyle/>
          <a:p>
            <a:pPr marL="342900" indent="-342900">
              <a:lnSpc>
                <a:spcPct val="100000"/>
              </a:lnSpc>
              <a:spcBef>
                <a:spcPts val="1800"/>
              </a:spcBef>
              <a:buFont typeface="Symbol" panose="05050102010706020507" pitchFamily="18" charset="2"/>
              <a:buChar char=""/>
            </a:pPr>
            <a:r>
              <a:rPr lang="en-US" sz="1600" dirty="0">
                <a:latin typeface="Arial"/>
                <a:ea typeface="Cambria"/>
                <a:cs typeface="Arial"/>
              </a:rPr>
              <a:t>Simple</a:t>
            </a:r>
          </a:p>
          <a:p>
            <a:pPr marL="342900" indent="-342900">
              <a:lnSpc>
                <a:spcPct val="100000"/>
              </a:lnSpc>
              <a:spcBef>
                <a:spcPts val="1800"/>
              </a:spcBef>
              <a:buFont typeface="Symbol" panose="05050102010706020507" pitchFamily="18" charset="2"/>
              <a:buChar char=""/>
            </a:pPr>
            <a:r>
              <a:rPr lang="en-US" sz="1600" dirty="0">
                <a:latin typeface="Arial"/>
                <a:ea typeface="Cambria"/>
                <a:cs typeface="Arial"/>
              </a:rPr>
              <a:t>Professional</a:t>
            </a:r>
            <a:endParaRPr lang="en-US" sz="1600" dirty="0">
              <a:effectLst/>
              <a:latin typeface="Arial" panose="020B0604020202020204" pitchFamily="34" charset="0"/>
              <a:ea typeface="Cambria" panose="02040503050406030204" pitchFamily="18" charset="0"/>
              <a:cs typeface="Arial"/>
            </a:endParaRPr>
          </a:p>
          <a:p>
            <a:pPr marL="342900" indent="-342900">
              <a:lnSpc>
                <a:spcPct val="100000"/>
              </a:lnSpc>
              <a:spcBef>
                <a:spcPts val="1800"/>
              </a:spcBef>
              <a:buFont typeface="Symbol" panose="05050102010706020507" pitchFamily="18" charset="2"/>
              <a:buChar char=""/>
            </a:pPr>
            <a:r>
              <a:rPr lang="en-US" sz="1600" dirty="0">
                <a:effectLst/>
                <a:latin typeface="Arial"/>
                <a:ea typeface="Cambria"/>
                <a:cs typeface="Arial"/>
              </a:rPr>
              <a:t>Accessible on any device</a:t>
            </a:r>
            <a:endParaRPr lang="en-US" sz="1600" dirty="0">
              <a:effectLst/>
              <a:latin typeface="Arial" panose="020B0604020202020204" pitchFamily="34" charset="0"/>
              <a:ea typeface="Cambria" panose="02040503050406030204" pitchFamily="18" charset="0"/>
            </a:endParaRPr>
          </a:p>
          <a:p>
            <a:pPr marL="342900" indent="-342900">
              <a:lnSpc>
                <a:spcPct val="100000"/>
              </a:lnSpc>
              <a:spcBef>
                <a:spcPts val="1800"/>
              </a:spcBef>
              <a:buFont typeface="Symbol" panose="05050102010706020507" pitchFamily="18" charset="2"/>
              <a:buChar char=""/>
            </a:pPr>
            <a:r>
              <a:rPr lang="en-US" sz="1600" dirty="0">
                <a:latin typeface="Arial"/>
                <a:ea typeface="Cambria"/>
                <a:cs typeface="Arial"/>
              </a:rPr>
              <a:t>Ease of use</a:t>
            </a:r>
          </a:p>
          <a:p>
            <a:pPr marL="342900" indent="-342900">
              <a:lnSpc>
                <a:spcPct val="100000"/>
              </a:lnSpc>
              <a:spcBef>
                <a:spcPts val="1800"/>
              </a:spcBef>
              <a:buFont typeface="Symbol" panose="05050102010706020507" pitchFamily="18" charset="2"/>
              <a:buChar char=""/>
            </a:pPr>
            <a:r>
              <a:rPr lang="en-US" sz="1600" dirty="0">
                <a:latin typeface="Arial"/>
                <a:ea typeface="Cambria"/>
                <a:cs typeface="Arial"/>
              </a:rPr>
              <a:t>Safe and secure</a:t>
            </a:r>
          </a:p>
          <a:p>
            <a:pPr marL="342900" indent="-342900">
              <a:lnSpc>
                <a:spcPct val="100000"/>
              </a:lnSpc>
              <a:spcBef>
                <a:spcPts val="1800"/>
              </a:spcBef>
              <a:buFont typeface="Symbol" panose="05050102010706020507" pitchFamily="18" charset="2"/>
              <a:buChar char=""/>
            </a:pPr>
            <a:r>
              <a:rPr lang="en-US" sz="1600" dirty="0">
                <a:effectLst/>
                <a:latin typeface="Arial"/>
                <a:ea typeface="Cambria"/>
                <a:cs typeface="Arial"/>
              </a:rPr>
              <a:t>Cost savings </a:t>
            </a:r>
          </a:p>
        </p:txBody>
      </p:sp>
      <p:grpSp>
        <p:nvGrpSpPr>
          <p:cNvPr id="14" name="Group 13">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5" name="Freeform: Shape 14">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descr="Layout of website design sketches on white paper">
            <a:extLst>
              <a:ext uri="{FF2B5EF4-FFF2-40B4-BE49-F238E27FC236}">
                <a16:creationId xmlns:a16="http://schemas.microsoft.com/office/drawing/2014/main" id="{9F95BC6D-1521-1A62-2F43-594381C2A3B1}"/>
              </a:ext>
            </a:extLst>
          </p:cNvPr>
          <p:cNvPicPr>
            <a:picLocks noChangeAspect="1"/>
          </p:cNvPicPr>
          <p:nvPr/>
        </p:nvPicPr>
        <p:blipFill>
          <a:blip r:embed="rId3">
            <a:extLst>
              <a:ext uri="{28A0092B-C50C-407E-A947-70E740481C1C}">
                <a14:useLocalDpi xmlns:a14="http://schemas.microsoft.com/office/drawing/2010/main" val="0"/>
              </a:ext>
            </a:extLst>
          </a:blip>
          <a:srcRect l="14157" r="14157"/>
          <a:stretch/>
        </p:blipFill>
        <p:spPr>
          <a:xfrm>
            <a:off x="7211567" y="1759139"/>
            <a:ext cx="4336527" cy="3180507"/>
          </a:xfrm>
          <a:prstGeom prst="rect">
            <a:avLst/>
          </a:prstGeom>
        </p:spPr>
      </p:pic>
      <p:sp>
        <p:nvSpPr>
          <p:cNvPr id="6" name="Title 1">
            <a:extLst>
              <a:ext uri="{FF2B5EF4-FFF2-40B4-BE49-F238E27FC236}">
                <a16:creationId xmlns:a16="http://schemas.microsoft.com/office/drawing/2014/main" id="{C6F4B2F6-1299-CA17-A2EC-54FF9654EB06}"/>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i="0" dirty="0">
                <a:solidFill>
                  <a:schemeClr val="accent2"/>
                </a:solidFill>
                <a:effectLst/>
                <a:latin typeface="Arial" panose="020B0604020202020204" pitchFamily="34" charset="0"/>
                <a:cs typeface="Arial" panose="020B0604020202020204" pitchFamily="34" charset="0"/>
              </a:rPr>
              <a:t>Online Store</a:t>
            </a:r>
            <a:endParaRPr lang="en-US" sz="3200" b="1" dirty="0">
              <a:solidFill>
                <a:schemeClr val="accent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451394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1">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3">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045988D-9CB0-43D9-323F-CDD5BA7AA567}"/>
              </a:ext>
            </a:extLst>
          </p:cNvPr>
          <p:cNvSpPr txBox="1">
            <a:spLocks/>
          </p:cNvSpPr>
          <p:nvPr/>
        </p:nvSpPr>
        <p:spPr>
          <a:xfrm>
            <a:off x="366489" y="557827"/>
            <a:ext cx="3739341" cy="133083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sz="3200" b="1" kern="1200" dirty="0">
                <a:solidFill>
                  <a:srgbClr val="ED7D31"/>
                </a:solidFill>
                <a:latin typeface="Arial" panose="020B0604020202020204" pitchFamily="34" charset="0"/>
                <a:cs typeface="Arial" panose="020B0604020202020204" pitchFamily="34" charset="0"/>
              </a:rPr>
              <a:t>One Seamless Experience</a:t>
            </a:r>
          </a:p>
        </p:txBody>
      </p:sp>
      <p:sp>
        <p:nvSpPr>
          <p:cNvPr id="6" name="TextBox 5">
            <a:extLst>
              <a:ext uri="{FF2B5EF4-FFF2-40B4-BE49-F238E27FC236}">
                <a16:creationId xmlns:a16="http://schemas.microsoft.com/office/drawing/2014/main" id="{4F45A191-89EB-1A99-1E7C-F8302FA9F1D2}"/>
              </a:ext>
            </a:extLst>
          </p:cNvPr>
          <p:cNvSpPr txBox="1"/>
          <p:nvPr/>
        </p:nvSpPr>
        <p:spPr>
          <a:xfrm>
            <a:off x="366489" y="1940439"/>
            <a:ext cx="4208425" cy="4712031"/>
          </a:xfrm>
          <a:prstGeom prst="rect">
            <a:avLst/>
          </a:prstGeom>
        </p:spPr>
        <p:txBody>
          <a:bodyPr vert="horz" lIns="91440" tIns="45720" rIns="91440" bIns="45720" rtlCol="0">
            <a:normAutofit/>
          </a:bodyPr>
          <a:lstStyle/>
          <a:p>
            <a:pPr marL="342900" marR="54610" lvl="0" indent="-342900">
              <a:spcBef>
                <a:spcPts val="600"/>
              </a:spcBef>
              <a:spcAft>
                <a:spcPts val="600"/>
              </a:spcAft>
              <a:buSzPts val="800"/>
              <a:buFont typeface="Symbol" panose="05050102010706020507" pitchFamily="18" charset="2"/>
              <a:buChar char=""/>
            </a:pPr>
            <a:r>
              <a:rPr lang="en-US" sz="1800" dirty="0">
                <a:effectLst/>
                <a:latin typeface="Arial" panose="020B0604020202020204" pitchFamily="34" charset="0"/>
                <a:ea typeface="Times New Roman" panose="02020603050405020304" pitchFamily="18" charset="0"/>
                <a:cs typeface="Arial" panose="020B0604020202020204" pitchFamily="34" charset="0"/>
              </a:rPr>
              <a:t>Full-featured e-commerce platform is integrated within Online Presence Builder – simply click a button to add it to the website.</a:t>
            </a:r>
            <a:endParaRPr lang="en-US" sz="1800" dirty="0">
              <a:effectLst/>
              <a:latin typeface="Cambria" panose="02040503050406030204" pitchFamily="18" charset="0"/>
              <a:ea typeface="Cambria" panose="02040503050406030204" pitchFamily="18" charset="0"/>
              <a:cs typeface="Arial" panose="020B0604020202020204" pitchFamily="34" charset="0"/>
            </a:endParaRPr>
          </a:p>
          <a:p>
            <a:pPr marL="342900" marR="54610" lvl="0" indent="-342900">
              <a:spcBef>
                <a:spcPts val="600"/>
              </a:spcBef>
              <a:spcAft>
                <a:spcPts val="600"/>
              </a:spcAft>
              <a:buSzPts val="800"/>
              <a:buFont typeface="Symbol" panose="05050102010706020507" pitchFamily="18" charset="2"/>
              <a:buChar char=""/>
            </a:pPr>
            <a:r>
              <a:rPr lang="en-US" sz="1800" dirty="0">
                <a:effectLst/>
                <a:latin typeface="Arial" panose="020B0604020202020204" pitchFamily="34" charset="0"/>
                <a:ea typeface="Times New Roman" panose="02020603050405020304" pitchFamily="18" charset="0"/>
                <a:cs typeface="Arial" panose="020B0604020202020204" pitchFamily="34" charset="0"/>
              </a:rPr>
              <a:t>Sell products directly on the website, blog and through Facebook.</a:t>
            </a:r>
            <a:endParaRPr lang="en-US" sz="1800" dirty="0">
              <a:effectLst/>
              <a:latin typeface="Cambria" panose="02040503050406030204" pitchFamily="18" charset="0"/>
              <a:ea typeface="Cambria" panose="02040503050406030204" pitchFamily="18" charset="0"/>
              <a:cs typeface="Arial" panose="020B0604020202020204" pitchFamily="34" charset="0"/>
            </a:endParaRPr>
          </a:p>
          <a:p>
            <a:pPr marL="342900" marR="54610" lvl="0" indent="-342900">
              <a:spcBef>
                <a:spcPts val="600"/>
              </a:spcBef>
              <a:spcAft>
                <a:spcPts val="600"/>
              </a:spcAft>
              <a:buSzPts val="800"/>
              <a:buFont typeface="Symbol" panose="05050102010706020507" pitchFamily="18" charset="2"/>
              <a:buChar char=""/>
            </a:pPr>
            <a:r>
              <a:rPr lang="en-US" sz="1800" dirty="0">
                <a:effectLst/>
                <a:latin typeface="Arial" panose="020B0604020202020204" pitchFamily="34" charset="0"/>
                <a:ea typeface="Times New Roman" panose="02020603050405020304" pitchFamily="18" charset="0"/>
                <a:cs typeface="Arial" panose="020B0604020202020204" pitchFamily="34" charset="0"/>
              </a:rPr>
              <a:t>Customize how the store will look to customers; edit layout, colors, fonts and more.</a:t>
            </a:r>
            <a:endParaRPr lang="en-US" sz="1800" dirty="0">
              <a:effectLst/>
              <a:latin typeface="Cambria" panose="02040503050406030204" pitchFamily="18" charset="0"/>
              <a:ea typeface="Cambria" panose="02040503050406030204" pitchFamily="18" charset="0"/>
              <a:cs typeface="Arial" panose="020B0604020202020204" pitchFamily="34" charset="0"/>
            </a:endParaRPr>
          </a:p>
          <a:p>
            <a:r>
              <a:rPr lang="en-US" sz="1800" dirty="0">
                <a:effectLst/>
                <a:latin typeface="Arial" panose="020B0604020202020204" pitchFamily="34" charset="0"/>
                <a:ea typeface="Times New Roman" panose="02020603050405020304" pitchFamily="18" charset="0"/>
              </a:rPr>
              <a:t>Mobile responsive storefront (desktop, tablet, mobile).</a:t>
            </a:r>
            <a:endParaRPr lang="en-US" dirty="0">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468B852A-32EF-6B1E-B4D7-1EFB8581EB20}"/>
              </a:ext>
            </a:extLst>
          </p:cNvPr>
          <p:cNvSpPr txBox="1">
            <a:spLocks/>
          </p:cNvSpPr>
          <p:nvPr/>
        </p:nvSpPr>
        <p:spPr>
          <a:xfrm>
            <a:off x="804672" y="1836893"/>
            <a:ext cx="4765949" cy="3353476"/>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lvl="0" indent="0">
              <a:spcBef>
                <a:spcPts val="600"/>
              </a:spcBef>
              <a:spcAft>
                <a:spcPts val="600"/>
              </a:spcAft>
              <a:buSzPts val="800"/>
              <a:buNone/>
            </a:pPr>
            <a:endParaRPr lang="en-US" sz="1300">
              <a:latin typeface="Arial" panose="020B0604020202020204" pitchFamily="34" charset="0"/>
              <a:ea typeface="Cambria" panose="02040503050406030204" pitchFamily="18" charset="0"/>
              <a:cs typeface="Arial" panose="020B0604020202020204" pitchFamily="34" charset="0"/>
            </a:endParaRPr>
          </a:p>
        </p:txBody>
      </p:sp>
      <p:pic>
        <p:nvPicPr>
          <p:cNvPr id="7" name="Picture 6" descr="Hands typing on laptop">
            <a:extLst>
              <a:ext uri="{FF2B5EF4-FFF2-40B4-BE49-F238E27FC236}">
                <a16:creationId xmlns:a16="http://schemas.microsoft.com/office/drawing/2014/main" id="{C9690A22-EFFB-8203-E8C7-0BFCF347C74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77250" y="2101052"/>
            <a:ext cx="6989354" cy="3245271"/>
          </a:xfrm>
          <a:prstGeom prst="rect">
            <a:avLst/>
          </a:prstGeom>
        </p:spPr>
      </p:pic>
    </p:spTree>
    <p:extLst>
      <p:ext uri="{BB962C8B-B14F-4D97-AF65-F5344CB8AC3E}">
        <p14:creationId xmlns:p14="http://schemas.microsoft.com/office/powerpoint/2010/main" val="3210314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A3F5E-5657-4559-B316-42A9F0D93257}"/>
              </a:ext>
            </a:extLst>
          </p:cNvPr>
          <p:cNvSpPr>
            <a:spLocks noGrp="1"/>
          </p:cNvSpPr>
          <p:nvPr>
            <p:ph type="title"/>
          </p:nvPr>
        </p:nvSpPr>
        <p:spPr/>
        <p:txBody>
          <a:bodyPr>
            <a:normAutofit/>
          </a:bodyPr>
          <a:lstStyle/>
          <a:p>
            <a:r>
              <a:rPr lang="en-US" sz="3200" b="1" dirty="0">
                <a:solidFill>
                  <a:schemeClr val="accent2"/>
                </a:solidFill>
                <a:latin typeface="Arial" panose="020B0604020202020204" pitchFamily="34" charset="0"/>
                <a:cs typeface="Arial" panose="020B0604020202020204" pitchFamily="34" charset="0"/>
              </a:rPr>
              <a:t>Features</a:t>
            </a:r>
            <a:endParaRPr lang="en-US" sz="3200" dirty="0">
              <a:solidFill>
                <a:schemeClr val="accent2"/>
              </a:solidFill>
            </a:endParaRPr>
          </a:p>
        </p:txBody>
      </p:sp>
      <p:sp>
        <p:nvSpPr>
          <p:cNvPr id="3" name="Content Placeholder 2">
            <a:extLst>
              <a:ext uri="{FF2B5EF4-FFF2-40B4-BE49-F238E27FC236}">
                <a16:creationId xmlns:a16="http://schemas.microsoft.com/office/drawing/2014/main" id="{8A1F4D27-22C8-3401-54C2-4D4ABFEFED75}"/>
              </a:ext>
            </a:extLst>
          </p:cNvPr>
          <p:cNvSpPr>
            <a:spLocks noGrp="1"/>
          </p:cNvSpPr>
          <p:nvPr>
            <p:ph idx="1"/>
          </p:nvPr>
        </p:nvSpPr>
        <p:spPr>
          <a:xfrm>
            <a:off x="838199" y="1825625"/>
            <a:ext cx="4669971" cy="2301758"/>
          </a:xfrm>
        </p:spPr>
        <p:txBody>
          <a:bodyPr>
            <a:noAutofit/>
          </a:bodyPr>
          <a:lstStyle/>
          <a:p>
            <a:pPr marL="0" marR="54610" lvl="0" indent="0">
              <a:spcBef>
                <a:spcPts val="600"/>
              </a:spcBef>
              <a:spcAft>
                <a:spcPts val="600"/>
              </a:spcAft>
              <a:buSzPts val="800"/>
              <a:buNone/>
            </a:pPr>
            <a:r>
              <a:rPr lang="en-US" sz="1600" b="1" dirty="0">
                <a:solidFill>
                  <a:schemeClr val="accent2"/>
                </a:solidFill>
                <a:latin typeface="Arial" panose="020B0604020202020204" pitchFamily="34" charset="0"/>
                <a:ea typeface="MS Mincho" panose="02020609040205080304" pitchFamily="49" charset="-128"/>
              </a:rPr>
              <a:t>Payments</a:t>
            </a:r>
            <a:r>
              <a:rPr lang="en-US" sz="1600" dirty="0">
                <a:solidFill>
                  <a:schemeClr val="accent2"/>
                </a:solidFill>
                <a:latin typeface="Arial" panose="020B0604020202020204" pitchFamily="34" charset="0"/>
                <a:ea typeface="MS Mincho" panose="02020609040205080304" pitchFamily="49" charset="-128"/>
              </a:rPr>
              <a:t> </a:t>
            </a:r>
          </a:p>
          <a:p>
            <a:pPr marL="0" marR="54610" lvl="0" indent="0">
              <a:spcBef>
                <a:spcPts val="600"/>
              </a:spcBef>
              <a:spcAft>
                <a:spcPts val="600"/>
              </a:spcAft>
              <a:buSzPts val="800"/>
              <a:buNone/>
            </a:pPr>
            <a:r>
              <a:rPr lang="en-US" sz="1600" dirty="0">
                <a:effectLst/>
                <a:latin typeface="Arial" panose="020B0604020202020204" pitchFamily="34" charset="0"/>
                <a:ea typeface="Times New Roman" panose="02020603050405020304" pitchFamily="18" charset="0"/>
                <a:cs typeface="Arial" panose="020B0604020202020204" pitchFamily="34" charset="0"/>
              </a:rPr>
              <a:t>Select the most suitable way to collect payments from  customers, including check, cash and credit card payments.</a:t>
            </a:r>
            <a:r>
              <a:rPr lang="en-US" sz="1600" dirty="0">
                <a:latin typeface="Cambria" panose="02040503050406030204" pitchFamily="18" charset="0"/>
                <a:ea typeface="Cambria" panose="02040503050406030204" pitchFamily="18" charset="0"/>
                <a:cs typeface="Arial" panose="020B0604020202020204" pitchFamily="34" charset="0"/>
              </a:rPr>
              <a:t> </a:t>
            </a:r>
            <a:r>
              <a:rPr lang="en-US" sz="1600" dirty="0">
                <a:effectLst/>
                <a:latin typeface="Arial" panose="020B0604020202020204" pitchFamily="34" charset="0"/>
                <a:ea typeface="Times New Roman" panose="02020603050405020304" pitchFamily="18" charset="0"/>
                <a:cs typeface="Arial" panose="020B0604020202020204" pitchFamily="34" charset="0"/>
              </a:rPr>
              <a:t>Integrates with top payment providers like PayPal, Authorize.net or First Data to make online purchases with the store fast and easy.</a:t>
            </a:r>
            <a:r>
              <a:rPr lang="en-US" sz="1600" dirty="0">
                <a:latin typeface="Cambria" panose="02040503050406030204" pitchFamily="18" charset="0"/>
                <a:ea typeface="Cambria" panose="02040503050406030204" pitchFamily="18" charset="0"/>
                <a:cs typeface="Arial" panose="020B0604020202020204" pitchFamily="34" charset="0"/>
              </a:rPr>
              <a:t> </a:t>
            </a:r>
            <a:r>
              <a:rPr lang="en-US" sz="1600" dirty="0">
                <a:effectLst/>
                <a:latin typeface="Arial" panose="020B0604020202020204" pitchFamily="34" charset="0"/>
                <a:ea typeface="Times New Roman" panose="02020603050405020304" pitchFamily="18" charset="0"/>
                <a:cs typeface="Arial" panose="020B0604020202020204" pitchFamily="34" charset="0"/>
              </a:rPr>
              <a:t>Safe and secure payment processing.</a:t>
            </a:r>
            <a:r>
              <a:rPr lang="en-US" sz="1600" dirty="0">
                <a:latin typeface="Cambria" panose="02040503050406030204" pitchFamily="18" charset="0"/>
                <a:ea typeface="Cambria" panose="02040503050406030204" pitchFamily="18" charset="0"/>
                <a:cs typeface="Arial" panose="020B0604020202020204" pitchFamily="34" charset="0"/>
              </a:rPr>
              <a:t> </a:t>
            </a:r>
            <a:r>
              <a:rPr lang="en-US" sz="1600" dirty="0" err="1">
                <a:effectLst/>
                <a:latin typeface="Arial" panose="020B0604020202020204" pitchFamily="34" charset="0"/>
                <a:ea typeface="Times New Roman" panose="02020603050405020304" pitchFamily="18" charset="0"/>
                <a:cs typeface="Arial" panose="020B0604020202020204" pitchFamily="34" charset="0"/>
              </a:rPr>
              <a:t>Quickbook</a:t>
            </a:r>
            <a:r>
              <a:rPr lang="en-US" sz="1600" dirty="0">
                <a:effectLst/>
                <a:latin typeface="Arial" panose="020B0604020202020204" pitchFamily="34" charset="0"/>
                <a:ea typeface="Times New Roman" panose="02020603050405020304" pitchFamily="18" charset="0"/>
                <a:cs typeface="Arial" panose="020B0604020202020204" pitchFamily="34" charset="0"/>
              </a:rPr>
              <a:t> compatible.</a:t>
            </a:r>
            <a:r>
              <a:rPr lang="en-US" sz="1600" dirty="0">
                <a:latin typeface="Cambria" panose="02040503050406030204" pitchFamily="18" charset="0"/>
                <a:ea typeface="Cambria" panose="02040503050406030204" pitchFamily="18" charset="0"/>
                <a:cs typeface="Arial" panose="020B0604020202020204" pitchFamily="34" charset="0"/>
              </a:rPr>
              <a:t> </a:t>
            </a:r>
            <a:r>
              <a:rPr lang="en-US" sz="1600" dirty="0">
                <a:effectLst/>
                <a:latin typeface="Arial" panose="020B0604020202020204" pitchFamily="34" charset="0"/>
                <a:ea typeface="Times New Roman" panose="02020603050405020304" pitchFamily="18" charset="0"/>
              </a:rPr>
              <a:t>Customer can create profile or checkout as a guest (configurable).</a:t>
            </a:r>
            <a:endParaRPr lang="en-US" sz="1600" dirty="0"/>
          </a:p>
        </p:txBody>
      </p:sp>
      <p:sp>
        <p:nvSpPr>
          <p:cNvPr id="5" name="TextBox 4">
            <a:extLst>
              <a:ext uri="{FF2B5EF4-FFF2-40B4-BE49-F238E27FC236}">
                <a16:creationId xmlns:a16="http://schemas.microsoft.com/office/drawing/2014/main" id="{046D975E-87C2-A54F-E965-DA767CC63EDE}"/>
              </a:ext>
            </a:extLst>
          </p:cNvPr>
          <p:cNvSpPr txBox="1"/>
          <p:nvPr/>
        </p:nvSpPr>
        <p:spPr>
          <a:xfrm>
            <a:off x="6902043" y="1825625"/>
            <a:ext cx="3856838" cy="1723549"/>
          </a:xfrm>
          <a:prstGeom prst="rect">
            <a:avLst/>
          </a:prstGeom>
          <a:noFill/>
        </p:spPr>
        <p:txBody>
          <a:bodyPr wrap="square">
            <a:spAutoFit/>
          </a:bodyPr>
          <a:lstStyle/>
          <a:p>
            <a:pPr marR="54610" lvl="0">
              <a:spcBef>
                <a:spcPts val="600"/>
              </a:spcBef>
              <a:spcAft>
                <a:spcPts val="600"/>
              </a:spcAft>
              <a:buSzPts val="800"/>
            </a:pPr>
            <a:r>
              <a:rPr lang="en-US" sz="1600" b="1" dirty="0">
                <a:solidFill>
                  <a:schemeClr val="accent2"/>
                </a:solidFill>
                <a:effectLst/>
                <a:latin typeface="Arial" panose="020B0604020202020204" pitchFamily="34" charset="0"/>
                <a:ea typeface="MS Mincho" panose="02020609040205080304" pitchFamily="49" charset="-128"/>
              </a:rPr>
              <a:t>Tracking</a:t>
            </a:r>
            <a:endParaRPr lang="en-US" sz="1600" b="1" dirty="0">
              <a:solidFill>
                <a:schemeClr val="accent2"/>
              </a:solidFill>
              <a:latin typeface="Arial" panose="020B0604020202020204" pitchFamily="34" charset="0"/>
              <a:ea typeface="MS Mincho" panose="02020609040205080304" pitchFamily="49" charset="-128"/>
            </a:endParaRPr>
          </a:p>
          <a:p>
            <a:pPr marR="54610" lvl="0">
              <a:spcBef>
                <a:spcPts val="600"/>
              </a:spcBef>
              <a:spcAft>
                <a:spcPts val="600"/>
              </a:spcAft>
              <a:buSzPts val="800"/>
            </a:pPr>
            <a:r>
              <a:rPr lang="en-US" sz="1600" dirty="0">
                <a:effectLst/>
                <a:latin typeface="Arial" panose="020B0604020202020204" pitchFamily="34" charset="0"/>
                <a:ea typeface="Times New Roman" panose="02020603050405020304" pitchFamily="18" charset="0"/>
                <a:cs typeface="Arial" panose="020B0604020202020204" pitchFamily="34" charset="0"/>
              </a:rPr>
              <a:t>Customizable order email notifications to multiple recipients.</a:t>
            </a:r>
            <a:r>
              <a:rPr lang="en-US" sz="1600" dirty="0">
                <a:latin typeface="Cambria" panose="02040503050406030204" pitchFamily="18" charset="0"/>
                <a:ea typeface="Cambria" panose="02040503050406030204" pitchFamily="18" charset="0"/>
                <a:cs typeface="Arial" panose="020B0604020202020204" pitchFamily="34" charset="0"/>
              </a:rPr>
              <a:t> </a:t>
            </a:r>
            <a:r>
              <a:rPr lang="en-US" sz="1600" dirty="0">
                <a:effectLst/>
                <a:latin typeface="Arial" panose="020B0604020202020204" pitchFamily="34" charset="0"/>
                <a:ea typeface="Times New Roman" panose="02020603050405020304" pitchFamily="18" charset="0"/>
                <a:cs typeface="Arial" panose="020B0604020202020204" pitchFamily="34" charset="0"/>
              </a:rPr>
              <a:t>Mange product inventory. Order history for customers and administrator.</a:t>
            </a:r>
            <a:r>
              <a:rPr lang="en-US" sz="1600" dirty="0">
                <a:latin typeface="Cambria" panose="02040503050406030204" pitchFamily="18" charset="0"/>
                <a:ea typeface="Cambria" panose="02040503050406030204" pitchFamily="18" charset="0"/>
                <a:cs typeface="Arial" panose="020B0604020202020204" pitchFamily="34" charset="0"/>
              </a:rPr>
              <a:t> </a:t>
            </a:r>
            <a:r>
              <a:rPr lang="en-US" sz="1600" dirty="0">
                <a:effectLst/>
                <a:latin typeface="Arial" panose="020B0604020202020204" pitchFamily="34" charset="0"/>
                <a:ea typeface="Times New Roman" panose="02020603050405020304" pitchFamily="18" charset="0"/>
                <a:cs typeface="Arial" panose="020B0604020202020204" pitchFamily="34" charset="0"/>
              </a:rPr>
              <a:t>Track payment and shipping status.</a:t>
            </a:r>
            <a:endParaRPr lang="en-US" sz="1600" dirty="0">
              <a:effectLst/>
              <a:latin typeface="Cambria" panose="02040503050406030204" pitchFamily="18" charset="0"/>
              <a:ea typeface="Cambria" panose="02040503050406030204" pitchFamily="18" charset="0"/>
              <a:cs typeface="Arial" panose="020B0604020202020204" pitchFamily="34" charset="0"/>
            </a:endParaRPr>
          </a:p>
        </p:txBody>
      </p:sp>
      <p:sp>
        <p:nvSpPr>
          <p:cNvPr id="7" name="TextBox 6">
            <a:extLst>
              <a:ext uri="{FF2B5EF4-FFF2-40B4-BE49-F238E27FC236}">
                <a16:creationId xmlns:a16="http://schemas.microsoft.com/office/drawing/2014/main" id="{89B77419-BFC5-3900-30BD-1244233B758F}"/>
              </a:ext>
            </a:extLst>
          </p:cNvPr>
          <p:cNvSpPr txBox="1"/>
          <p:nvPr/>
        </p:nvSpPr>
        <p:spPr>
          <a:xfrm>
            <a:off x="838199" y="4541554"/>
            <a:ext cx="4669970" cy="1498872"/>
          </a:xfrm>
          <a:prstGeom prst="rect">
            <a:avLst/>
          </a:prstGeom>
          <a:noFill/>
        </p:spPr>
        <p:txBody>
          <a:bodyPr wrap="square">
            <a:spAutoFit/>
          </a:bodyPr>
          <a:lstStyle/>
          <a:p>
            <a:pPr marL="57150" marR="0" lvl="0" indent="0" algn="l" defTabSz="914400" rtl="0" eaLnBrk="1" fontAlgn="auto" latinLnBrk="0" hangingPunct="1">
              <a:lnSpc>
                <a:spcPct val="90000"/>
              </a:lnSpc>
              <a:spcBef>
                <a:spcPts val="600"/>
              </a:spcBef>
              <a:spcAft>
                <a:spcPts val="0"/>
              </a:spcAft>
              <a:buClrTx/>
              <a:buSzTx/>
              <a:buFont typeface="Arial" panose="020B0604020202020204" pitchFamily="34" charset="0"/>
              <a:buNone/>
              <a:tabLst/>
              <a:defRPr/>
            </a:pPr>
            <a:r>
              <a:rPr kumimoji="0" lang="en-US" sz="1600" b="1" i="0" u="none" strike="noStrike" kern="1200" cap="none" spc="0" normalizeH="0" baseline="0" noProof="0" dirty="0">
                <a:ln>
                  <a:noFill/>
                </a:ln>
                <a:solidFill>
                  <a:schemeClr val="accent2"/>
                </a:solidFill>
                <a:effectLst/>
                <a:uLnTx/>
                <a:uFillTx/>
                <a:latin typeface="Arial" panose="020B0604020202020204" pitchFamily="34" charset="0"/>
                <a:ea typeface="MS Mincho" panose="02020609040205080304" pitchFamily="49" charset="-128"/>
                <a:cs typeface="+mn-cs"/>
              </a:rPr>
              <a:t>Management</a:t>
            </a:r>
            <a:endParaRPr lang="en-US" sz="1600" b="1" dirty="0">
              <a:solidFill>
                <a:schemeClr val="accent2"/>
              </a:solidFill>
              <a:latin typeface="Arial" panose="020B0604020202020204" pitchFamily="34" charset="0"/>
              <a:ea typeface="MS Mincho" panose="02020609040205080304" pitchFamily="49" charset="-128"/>
            </a:endParaRPr>
          </a:p>
          <a:p>
            <a:pPr marL="57150" marR="0" lvl="0" indent="0" algn="l" defTabSz="914400" rtl="0" eaLnBrk="1" fontAlgn="auto" latinLnBrk="0" hangingPunct="1">
              <a:lnSpc>
                <a:spcPct val="90000"/>
              </a:lnSpc>
              <a:spcBef>
                <a:spcPts val="600"/>
              </a:spcBef>
              <a:spcAft>
                <a:spcPts val="0"/>
              </a:spcAft>
              <a:buClrTx/>
              <a:buSzTx/>
              <a:buFont typeface="Arial" panose="020B0604020202020204" pitchFamily="34" charset="0"/>
              <a:buNone/>
              <a:tabLst/>
              <a:defRPr/>
            </a:pP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S Mincho" panose="02020609040205080304" pitchFamily="49" charset="-128"/>
                <a:cs typeface="+mn-cs"/>
              </a:rPr>
              <a:t>Includes </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Dashboard, sales, ability to manage the store using the mobile app, catalog (manage products and categories), Customers, promotion (coupons and volume discounts) and system settings</a:t>
            </a:r>
          </a:p>
        </p:txBody>
      </p:sp>
      <p:sp>
        <p:nvSpPr>
          <p:cNvPr id="6" name="TextBox 5">
            <a:extLst>
              <a:ext uri="{FF2B5EF4-FFF2-40B4-BE49-F238E27FC236}">
                <a16:creationId xmlns:a16="http://schemas.microsoft.com/office/drawing/2014/main" id="{3C583D09-77DA-CD49-0D9E-8F4D55F605C7}"/>
              </a:ext>
            </a:extLst>
          </p:cNvPr>
          <p:cNvSpPr txBox="1"/>
          <p:nvPr/>
        </p:nvSpPr>
        <p:spPr>
          <a:xfrm>
            <a:off x="6902041" y="4467688"/>
            <a:ext cx="4081643" cy="1723549"/>
          </a:xfrm>
          <a:prstGeom prst="rect">
            <a:avLst/>
          </a:prstGeom>
          <a:noFill/>
        </p:spPr>
        <p:txBody>
          <a:bodyPr wrap="square">
            <a:spAutoFit/>
          </a:bodyPr>
          <a:lstStyle/>
          <a:p>
            <a:pPr marR="54610" lvl="0">
              <a:spcBef>
                <a:spcPts val="600"/>
              </a:spcBef>
              <a:spcAft>
                <a:spcPts val="600"/>
              </a:spcAft>
              <a:buSzPts val="800"/>
            </a:pPr>
            <a:r>
              <a:rPr lang="en-US" sz="1600" b="1" dirty="0">
                <a:solidFill>
                  <a:schemeClr val="accent2"/>
                </a:solidFill>
                <a:effectLst/>
                <a:latin typeface="Arial" panose="020B0604020202020204" pitchFamily="34" charset="0"/>
                <a:ea typeface="Calibri" panose="020F0502020204030204" pitchFamily="34" charset="0"/>
              </a:rPr>
              <a:t>Customized options</a:t>
            </a:r>
          </a:p>
          <a:p>
            <a:pPr marR="54610" lvl="0">
              <a:spcBef>
                <a:spcPts val="600"/>
              </a:spcBef>
              <a:spcAft>
                <a:spcPts val="600"/>
              </a:spcAft>
              <a:buSzPts val="800"/>
            </a:pPr>
            <a:r>
              <a:rPr lang="en-US" sz="1600" dirty="0">
                <a:effectLst/>
                <a:latin typeface="Arial" panose="020B0604020202020204" pitchFamily="34" charset="0"/>
                <a:ea typeface="Times New Roman" panose="02020603050405020304" pitchFamily="18" charset="0"/>
                <a:cs typeface="Arial" panose="020B0604020202020204" pitchFamily="34" charset="0"/>
              </a:rPr>
              <a:t>Geographic and local customization automatically sets currency, tax and calculates shipping rates.</a:t>
            </a:r>
            <a:r>
              <a:rPr lang="en-US" sz="1600" dirty="0">
                <a:latin typeface="Cambria" panose="02040503050406030204" pitchFamily="18" charset="0"/>
                <a:ea typeface="Cambria" panose="02040503050406030204" pitchFamily="18" charset="0"/>
                <a:cs typeface="Arial" panose="020B0604020202020204" pitchFamily="34" charset="0"/>
              </a:rPr>
              <a:t> </a:t>
            </a:r>
            <a:r>
              <a:rPr lang="en-US" sz="1600" dirty="0">
                <a:effectLst/>
                <a:latin typeface="Arial" panose="020B0604020202020204" pitchFamily="34" charset="0"/>
                <a:ea typeface="Times New Roman" panose="02020603050405020304" pitchFamily="18" charset="0"/>
                <a:cs typeface="Arial" panose="020B0604020202020204" pitchFamily="34" charset="0"/>
              </a:rPr>
              <a:t>Sync company information</a:t>
            </a:r>
            <a:r>
              <a:rPr lang="en-US" sz="1600" dirty="0">
                <a:latin typeface="Cambria" panose="02040503050406030204" pitchFamily="18" charset="0"/>
                <a:ea typeface="Cambria" panose="02040503050406030204" pitchFamily="18" charset="0"/>
                <a:cs typeface="Arial" panose="020B0604020202020204" pitchFamily="34" charset="0"/>
              </a:rPr>
              <a:t>. </a:t>
            </a:r>
            <a:r>
              <a:rPr lang="en-US" sz="1600" dirty="0">
                <a:effectLst/>
                <a:latin typeface="Arial" panose="020B0604020202020204" pitchFamily="34" charset="0"/>
                <a:ea typeface="Times New Roman" panose="02020603050405020304" pitchFamily="18" charset="0"/>
              </a:rPr>
              <a:t>Set-up shipping methods and rates. </a:t>
            </a:r>
            <a:endParaRPr kumimoji="0" lang="en-US" sz="16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683184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7E3C2-DCAB-FD94-9203-29001E72E6DD}"/>
              </a:ext>
            </a:extLst>
          </p:cNvPr>
          <p:cNvSpPr>
            <a:spLocks noGrp="1"/>
          </p:cNvSpPr>
          <p:nvPr>
            <p:ph type="title"/>
          </p:nvPr>
        </p:nvSpPr>
        <p:spPr/>
        <p:txBody>
          <a:bodyPr>
            <a:normAutofit/>
          </a:bodyPr>
          <a:lstStyle/>
          <a:p>
            <a:r>
              <a:rPr lang="en-US" sz="3200" b="1" dirty="0">
                <a:solidFill>
                  <a:schemeClr val="bg1"/>
                </a:solidFill>
                <a:latin typeface="Arial" panose="020B0604020202020204" pitchFamily="34" charset="0"/>
                <a:cs typeface="Arial" panose="020B0604020202020204" pitchFamily="34" charset="0"/>
              </a:rPr>
              <a:t>How it works</a:t>
            </a:r>
            <a:endParaRPr lang="en-US" sz="3200" dirty="0">
              <a:solidFill>
                <a:schemeClr val="bg1"/>
              </a:solidFill>
            </a:endParaRPr>
          </a:p>
        </p:txBody>
      </p:sp>
    </p:spTree>
    <p:extLst>
      <p:ext uri="{BB962C8B-B14F-4D97-AF65-F5344CB8AC3E}">
        <p14:creationId xmlns:p14="http://schemas.microsoft.com/office/powerpoint/2010/main" val="9834385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FAD79-696F-725E-91C7-FF7EF9C17F19}"/>
              </a:ext>
            </a:extLst>
          </p:cNvPr>
          <p:cNvSpPr>
            <a:spLocks noGrp="1"/>
          </p:cNvSpPr>
          <p:nvPr>
            <p:ph type="title"/>
          </p:nvPr>
        </p:nvSpPr>
        <p:spPr/>
        <p:txBody>
          <a:bodyPr>
            <a:normAutofit/>
          </a:bodyPr>
          <a:lstStyle/>
          <a:p>
            <a:r>
              <a:rPr lang="en-US" sz="3200" b="1" dirty="0">
                <a:solidFill>
                  <a:schemeClr val="accent2"/>
                </a:solidFill>
                <a:latin typeface="Arial" panose="020B0604020202020204" pitchFamily="34" charset="0"/>
                <a:ea typeface="MS Mincho" panose="02020609040205080304" pitchFamily="49" charset="-128"/>
              </a:rPr>
              <a:t>Activate the online store</a:t>
            </a:r>
            <a:endParaRPr lang="en-US" sz="6600" b="1" dirty="0">
              <a:solidFill>
                <a:schemeClr val="accent2"/>
              </a:solidFill>
            </a:endParaRPr>
          </a:p>
        </p:txBody>
      </p:sp>
      <p:sp>
        <p:nvSpPr>
          <p:cNvPr id="9" name="Content Placeholder 8">
            <a:extLst>
              <a:ext uri="{FF2B5EF4-FFF2-40B4-BE49-F238E27FC236}">
                <a16:creationId xmlns:a16="http://schemas.microsoft.com/office/drawing/2014/main" id="{3D039334-CE0F-0FBD-53E3-2F2811018D74}"/>
              </a:ext>
            </a:extLst>
          </p:cNvPr>
          <p:cNvSpPr>
            <a:spLocks noGrp="1"/>
          </p:cNvSpPr>
          <p:nvPr>
            <p:ph idx="1"/>
          </p:nvPr>
        </p:nvSpPr>
        <p:spPr>
          <a:xfrm>
            <a:off x="838201" y="1847396"/>
            <a:ext cx="4953000" cy="4351338"/>
          </a:xfrm>
        </p:spPr>
        <p:txBody>
          <a:bodyPr>
            <a:normAutofit/>
          </a:bodyPr>
          <a:lstStyle/>
          <a:p>
            <a:pPr>
              <a:lnSpc>
                <a:spcPct val="150000"/>
              </a:lnSpc>
            </a:pPr>
            <a:r>
              <a:rPr lang="en-US" sz="1500" dirty="0">
                <a:latin typeface="Arial" panose="020B0604020202020204" pitchFamily="34" charset="0"/>
                <a:ea typeface="MS Mincho" panose="02020609040205080304" pitchFamily="49" charset="-128"/>
              </a:rPr>
              <a:t>Login to the portal and activate the online store, to launch the on-boarder</a:t>
            </a:r>
          </a:p>
          <a:p>
            <a:pPr>
              <a:lnSpc>
                <a:spcPct val="150000"/>
              </a:lnSpc>
            </a:pPr>
            <a:r>
              <a:rPr lang="en-US" sz="1500" dirty="0">
                <a:latin typeface="Arial" panose="020B0604020202020204" pitchFamily="34" charset="0"/>
                <a:ea typeface="MS Mincho" panose="02020609040205080304" pitchFamily="49" charset="-128"/>
              </a:rPr>
              <a:t>Add products you want to sell including a photo, description and price. </a:t>
            </a:r>
          </a:p>
          <a:p>
            <a:pPr>
              <a:lnSpc>
                <a:spcPct val="150000"/>
              </a:lnSpc>
            </a:pPr>
            <a:r>
              <a:rPr lang="en-US" sz="1500" dirty="0">
                <a:latin typeface="Arial" panose="020B0604020202020204" pitchFamily="34" charset="0"/>
                <a:ea typeface="MS Mincho" panose="02020609040205080304" pitchFamily="49" charset="-128"/>
              </a:rPr>
              <a:t>Customize the store for the location i.e. currency and metrics.</a:t>
            </a:r>
          </a:p>
          <a:p>
            <a:pPr>
              <a:lnSpc>
                <a:spcPct val="150000"/>
              </a:lnSpc>
            </a:pPr>
            <a:r>
              <a:rPr lang="en-US" sz="1500" dirty="0">
                <a:latin typeface="Arial" panose="020B0604020202020204" pitchFamily="34" charset="0"/>
                <a:ea typeface="MS Mincho" panose="02020609040205080304" pitchFamily="49" charset="-128"/>
              </a:rPr>
              <a:t>Set up shipping, choose a carrier, rates and other options like setting a flat rate or choosing a local carrier.</a:t>
            </a:r>
          </a:p>
          <a:p>
            <a:pPr>
              <a:lnSpc>
                <a:spcPct val="150000"/>
              </a:lnSpc>
            </a:pPr>
            <a:r>
              <a:rPr lang="en-US" sz="1500" dirty="0">
                <a:latin typeface="Arial" panose="020B0604020202020204" pitchFamily="34" charset="0"/>
                <a:ea typeface="MS Mincho" panose="02020609040205080304" pitchFamily="49" charset="-128"/>
              </a:rPr>
              <a:t>Set up a way to receive payments</a:t>
            </a:r>
          </a:p>
        </p:txBody>
      </p:sp>
      <p:pic>
        <p:nvPicPr>
          <p:cNvPr id="4" name="Picture 3" descr="A picture containing text, software, multimedia software, website&#10;&#10;Description automatically generated">
            <a:extLst>
              <a:ext uri="{FF2B5EF4-FFF2-40B4-BE49-F238E27FC236}">
                <a16:creationId xmlns:a16="http://schemas.microsoft.com/office/drawing/2014/main" id="{3AD057BF-16BB-D4B7-8BAF-59EC223E8FB1}"/>
              </a:ext>
            </a:extLst>
          </p:cNvPr>
          <p:cNvPicPr>
            <a:picLocks noChangeAspect="1"/>
          </p:cNvPicPr>
          <p:nvPr/>
        </p:nvPicPr>
        <p:blipFill>
          <a:blip r:embed="rId2"/>
          <a:stretch>
            <a:fillRect/>
          </a:stretch>
        </p:blipFill>
        <p:spPr>
          <a:xfrm>
            <a:off x="6096000" y="2271703"/>
            <a:ext cx="5759450" cy="2750820"/>
          </a:xfrm>
          <a:prstGeom prst="rect">
            <a:avLst/>
          </a:prstGeom>
        </p:spPr>
      </p:pic>
    </p:spTree>
    <p:extLst>
      <p:ext uri="{BB962C8B-B14F-4D97-AF65-F5344CB8AC3E}">
        <p14:creationId xmlns:p14="http://schemas.microsoft.com/office/powerpoint/2010/main" val="37721584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FAD79-696F-725E-91C7-FF7EF9C17F19}"/>
              </a:ext>
            </a:extLst>
          </p:cNvPr>
          <p:cNvSpPr>
            <a:spLocks noGrp="1"/>
          </p:cNvSpPr>
          <p:nvPr>
            <p:ph type="title"/>
          </p:nvPr>
        </p:nvSpPr>
        <p:spPr/>
        <p:txBody>
          <a:bodyPr>
            <a:normAutofit/>
          </a:bodyPr>
          <a:lstStyle/>
          <a:p>
            <a:r>
              <a:rPr lang="en-US" sz="3200" b="1" dirty="0">
                <a:solidFill>
                  <a:schemeClr val="accent2"/>
                </a:solidFill>
                <a:effectLst/>
                <a:latin typeface="Arial" panose="020B0604020202020204" pitchFamily="34" charset="0"/>
                <a:ea typeface="MS Mincho" panose="02020609040205080304" pitchFamily="49" charset="-128"/>
              </a:rPr>
              <a:t>Benefits</a:t>
            </a:r>
            <a:endParaRPr lang="en-US" sz="6600" b="1" dirty="0">
              <a:solidFill>
                <a:schemeClr val="accent2"/>
              </a:solidFill>
            </a:endParaRPr>
          </a:p>
        </p:txBody>
      </p:sp>
      <p:sp>
        <p:nvSpPr>
          <p:cNvPr id="4" name="Content Placeholder 3">
            <a:extLst>
              <a:ext uri="{FF2B5EF4-FFF2-40B4-BE49-F238E27FC236}">
                <a16:creationId xmlns:a16="http://schemas.microsoft.com/office/drawing/2014/main" id="{5C3130C1-C1D2-5514-76F0-DDF764D06147}"/>
              </a:ext>
            </a:extLst>
          </p:cNvPr>
          <p:cNvSpPr>
            <a:spLocks noGrp="1"/>
          </p:cNvSpPr>
          <p:nvPr>
            <p:ph idx="1"/>
          </p:nvPr>
        </p:nvSpPr>
        <p:spPr>
          <a:xfrm>
            <a:off x="6508749" y="1478955"/>
            <a:ext cx="4845050" cy="817243"/>
          </a:xfrm>
        </p:spPr>
        <p:txBody>
          <a:bodyPr>
            <a:noAutofit/>
          </a:bodyPr>
          <a:lstStyle/>
          <a:p>
            <a:pPr marL="0" marR="54610" lvl="0" indent="0">
              <a:spcBef>
                <a:spcPts val="600"/>
              </a:spcBef>
              <a:spcAft>
                <a:spcPts val="600"/>
              </a:spcAft>
              <a:buSzPts val="800"/>
              <a:buNone/>
            </a:pPr>
            <a:r>
              <a:rPr lang="en-US" sz="1400" dirty="0">
                <a:effectLst/>
                <a:latin typeface="Arial" panose="020B0604020202020204" pitchFamily="34" charset="0"/>
                <a:ea typeface="Times New Roman" panose="02020603050405020304" pitchFamily="18" charset="0"/>
                <a:cs typeface="Arial" panose="020B0604020202020204" pitchFamily="34" charset="0"/>
              </a:rPr>
              <a:t>Creating a store is easy; no technical knowledge necessary. </a:t>
            </a:r>
            <a:r>
              <a:rPr lang="en-US" sz="1400" dirty="0">
                <a:effectLst/>
                <a:latin typeface="Arial" panose="020B0604020202020204" pitchFamily="34" charset="0"/>
                <a:ea typeface="Times New Roman" panose="02020603050405020304" pitchFamily="18" charset="0"/>
              </a:rPr>
              <a:t>It is directly integrated with Online Presence builder</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 name="Content Placeholder 3">
            <a:extLst>
              <a:ext uri="{FF2B5EF4-FFF2-40B4-BE49-F238E27FC236}">
                <a16:creationId xmlns:a16="http://schemas.microsoft.com/office/drawing/2014/main" id="{2635EBA5-264F-A4E5-3722-0EB486DB843E}"/>
              </a:ext>
            </a:extLst>
          </p:cNvPr>
          <p:cNvSpPr txBox="1">
            <a:spLocks/>
          </p:cNvSpPr>
          <p:nvPr/>
        </p:nvSpPr>
        <p:spPr>
          <a:xfrm>
            <a:off x="840197" y="1701989"/>
            <a:ext cx="5257800" cy="5209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indent="0">
              <a:spcBef>
                <a:spcPts val="600"/>
              </a:spcBef>
              <a:spcAft>
                <a:spcPts val="600"/>
              </a:spcAft>
              <a:buNone/>
            </a:pPr>
            <a:r>
              <a:rPr lang="en-US" sz="1600" dirty="0">
                <a:effectLst/>
                <a:latin typeface="Arial" panose="020B0604020202020204" pitchFamily="34" charset="0"/>
                <a:ea typeface="MS Mincho" panose="02020609040205080304" pitchFamily="49" charset="-128"/>
              </a:rPr>
              <a:t>Simple</a:t>
            </a:r>
            <a:endParaRPr lang="en-US" sz="2400" dirty="0"/>
          </a:p>
        </p:txBody>
      </p:sp>
      <p:sp>
        <p:nvSpPr>
          <p:cNvPr id="13" name="Content Placeholder 3">
            <a:extLst>
              <a:ext uri="{FF2B5EF4-FFF2-40B4-BE49-F238E27FC236}">
                <a16:creationId xmlns:a16="http://schemas.microsoft.com/office/drawing/2014/main" id="{AEDEE1FA-ABA7-3648-2FE7-2E22B26020AA}"/>
              </a:ext>
            </a:extLst>
          </p:cNvPr>
          <p:cNvSpPr txBox="1">
            <a:spLocks/>
          </p:cNvSpPr>
          <p:nvPr/>
        </p:nvSpPr>
        <p:spPr>
          <a:xfrm>
            <a:off x="805543" y="2760423"/>
            <a:ext cx="3797595" cy="5209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indent="0">
              <a:spcBef>
                <a:spcPts val="600"/>
              </a:spcBef>
              <a:spcAft>
                <a:spcPts val="600"/>
              </a:spcAft>
              <a:buNone/>
            </a:pPr>
            <a:r>
              <a:rPr lang="en-US" sz="1600" dirty="0">
                <a:effectLst/>
                <a:latin typeface="Arial" panose="020B0604020202020204" pitchFamily="34" charset="0"/>
                <a:ea typeface="MS Mincho" panose="02020609040205080304" pitchFamily="49" charset="-128"/>
              </a:rPr>
              <a:t>Cost </a:t>
            </a:r>
            <a:r>
              <a:rPr lang="en-US" sz="1600" dirty="0">
                <a:latin typeface="Arial" panose="020B0604020202020204" pitchFamily="34" charset="0"/>
                <a:ea typeface="MS Mincho" panose="02020609040205080304" pitchFamily="49" charset="-128"/>
              </a:rPr>
              <a:t>effective</a:t>
            </a:r>
            <a:endParaRPr lang="en-US" sz="2400" dirty="0"/>
          </a:p>
        </p:txBody>
      </p:sp>
      <p:sp>
        <p:nvSpPr>
          <p:cNvPr id="15" name="Content Placeholder 3">
            <a:extLst>
              <a:ext uri="{FF2B5EF4-FFF2-40B4-BE49-F238E27FC236}">
                <a16:creationId xmlns:a16="http://schemas.microsoft.com/office/drawing/2014/main" id="{E1D11F32-F7B4-22CE-B974-B5CF6AC13841}"/>
              </a:ext>
            </a:extLst>
          </p:cNvPr>
          <p:cNvSpPr txBox="1">
            <a:spLocks/>
          </p:cNvSpPr>
          <p:nvPr/>
        </p:nvSpPr>
        <p:spPr>
          <a:xfrm>
            <a:off x="805543" y="4059271"/>
            <a:ext cx="5257800" cy="5209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indent="0">
              <a:spcBef>
                <a:spcPts val="600"/>
              </a:spcBef>
              <a:spcAft>
                <a:spcPts val="600"/>
              </a:spcAft>
              <a:buNone/>
            </a:pPr>
            <a:r>
              <a:rPr lang="en-US" sz="1600" dirty="0">
                <a:effectLst/>
                <a:latin typeface="Arial" panose="020B0604020202020204" pitchFamily="34" charset="0"/>
                <a:ea typeface="MS Mincho" panose="02020609040205080304" pitchFamily="49" charset="-128"/>
              </a:rPr>
              <a:t>Professional</a:t>
            </a:r>
            <a:endParaRPr lang="en-US" sz="2400" dirty="0"/>
          </a:p>
        </p:txBody>
      </p:sp>
      <p:cxnSp>
        <p:nvCxnSpPr>
          <p:cNvPr id="22" name="Straight Connector 21">
            <a:extLst>
              <a:ext uri="{FF2B5EF4-FFF2-40B4-BE49-F238E27FC236}">
                <a16:creationId xmlns:a16="http://schemas.microsoft.com/office/drawing/2014/main" id="{3E1A3FE8-41F1-6589-6459-10CA720ADDFC}"/>
              </a:ext>
            </a:extLst>
          </p:cNvPr>
          <p:cNvCxnSpPr>
            <a:cxnSpLocks/>
          </p:cNvCxnSpPr>
          <p:nvPr/>
        </p:nvCxnSpPr>
        <p:spPr>
          <a:xfrm>
            <a:off x="3605349" y="1808922"/>
            <a:ext cx="2490651"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5" name="Content Placeholder 3">
            <a:extLst>
              <a:ext uri="{FF2B5EF4-FFF2-40B4-BE49-F238E27FC236}">
                <a16:creationId xmlns:a16="http://schemas.microsoft.com/office/drawing/2014/main" id="{51E5BF24-0F75-7190-8C9E-8A82A22608ED}"/>
              </a:ext>
            </a:extLst>
          </p:cNvPr>
          <p:cNvSpPr txBox="1">
            <a:spLocks/>
          </p:cNvSpPr>
          <p:nvPr/>
        </p:nvSpPr>
        <p:spPr>
          <a:xfrm>
            <a:off x="6508749" y="2629748"/>
            <a:ext cx="5257800" cy="6325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spcBef>
                <a:spcPts val="0"/>
              </a:spcBef>
              <a:spcAft>
                <a:spcPts val="0"/>
              </a:spcAft>
              <a:buNone/>
            </a:pPr>
            <a:r>
              <a:rPr lang="en-US" sz="1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Online Store is an affordable and cost-effective solution, with a low monthly subscription rate and no transaction fees.   </a:t>
            </a:r>
            <a:endParaRPr lang="en-US" sz="1400" dirty="0">
              <a:effectLst/>
              <a:latin typeface="Cambria" panose="02040503050406030204" pitchFamily="18" charset="0"/>
              <a:ea typeface="Cambria" panose="02040503050406030204" pitchFamily="18" charset="0"/>
              <a:cs typeface="Arial" panose="020B0604020202020204" pitchFamily="34" charset="0"/>
            </a:endParaRPr>
          </a:p>
          <a:p>
            <a:pPr marL="0" marR="54610" lvl="0" indent="0">
              <a:spcBef>
                <a:spcPts val="600"/>
              </a:spcBef>
              <a:spcAft>
                <a:spcPts val="600"/>
              </a:spcAft>
              <a:buSzPts val="800"/>
              <a:buNone/>
            </a:pPr>
            <a:endParaRPr lang="en-US" sz="1400" dirty="0">
              <a:effectLst/>
              <a:latin typeface="Cambria" panose="02040503050406030204" pitchFamily="18" charset="0"/>
              <a:ea typeface="Cambria" panose="02040503050406030204" pitchFamily="18" charset="0"/>
              <a:cs typeface="Arial" panose="020B0604020202020204" pitchFamily="34" charset="0"/>
            </a:endParaRPr>
          </a:p>
        </p:txBody>
      </p:sp>
      <p:sp>
        <p:nvSpPr>
          <p:cNvPr id="6" name="Content Placeholder 3">
            <a:extLst>
              <a:ext uri="{FF2B5EF4-FFF2-40B4-BE49-F238E27FC236}">
                <a16:creationId xmlns:a16="http://schemas.microsoft.com/office/drawing/2014/main" id="{DBFF0A62-047F-C7E4-734A-B4391B671A21}"/>
              </a:ext>
            </a:extLst>
          </p:cNvPr>
          <p:cNvSpPr txBox="1">
            <a:spLocks/>
          </p:cNvSpPr>
          <p:nvPr/>
        </p:nvSpPr>
        <p:spPr>
          <a:xfrm>
            <a:off x="6360525" y="3730593"/>
            <a:ext cx="5257800" cy="108578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spcBef>
                <a:spcPts val="0"/>
              </a:spcBef>
              <a:spcAft>
                <a:spcPts val="0"/>
              </a:spcAft>
              <a:buNone/>
            </a:pPr>
            <a:r>
              <a:rPr lang="en-US" sz="1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Create a great looking online store that uses modern themes, a free gallery of professional images, and simple options to add products, market services on different social media sites, create discounts and more. </a:t>
            </a:r>
            <a:endParaRPr lang="en-US" sz="1400" dirty="0">
              <a:effectLst/>
              <a:latin typeface="Cambria" panose="02040503050406030204" pitchFamily="18" charset="0"/>
              <a:ea typeface="Cambria" panose="02040503050406030204" pitchFamily="18" charset="0"/>
              <a:cs typeface="Arial" panose="020B0604020202020204" pitchFamily="34" charset="0"/>
            </a:endParaRPr>
          </a:p>
        </p:txBody>
      </p:sp>
      <p:sp>
        <p:nvSpPr>
          <p:cNvPr id="11" name="Content Placeholder 3">
            <a:extLst>
              <a:ext uri="{FF2B5EF4-FFF2-40B4-BE49-F238E27FC236}">
                <a16:creationId xmlns:a16="http://schemas.microsoft.com/office/drawing/2014/main" id="{3F9F3536-8C42-26E0-2CE8-8D62057BDC3F}"/>
              </a:ext>
            </a:extLst>
          </p:cNvPr>
          <p:cNvSpPr txBox="1">
            <a:spLocks/>
          </p:cNvSpPr>
          <p:nvPr/>
        </p:nvSpPr>
        <p:spPr>
          <a:xfrm>
            <a:off x="838197" y="5424238"/>
            <a:ext cx="5257800" cy="5209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indent="0">
              <a:spcBef>
                <a:spcPts val="600"/>
              </a:spcBef>
              <a:spcAft>
                <a:spcPts val="600"/>
              </a:spcAft>
              <a:buNone/>
            </a:pPr>
            <a:r>
              <a:rPr lang="en-US" sz="1600" dirty="0">
                <a:effectLst/>
                <a:latin typeface="Arial" panose="020B0604020202020204" pitchFamily="34" charset="0"/>
                <a:ea typeface="MS Mincho" panose="02020609040205080304" pitchFamily="49" charset="-128"/>
              </a:rPr>
              <a:t>Secure</a:t>
            </a:r>
            <a:endParaRPr lang="en-US" sz="2400" dirty="0"/>
          </a:p>
        </p:txBody>
      </p:sp>
      <p:sp>
        <p:nvSpPr>
          <p:cNvPr id="19" name="Content Placeholder 3">
            <a:extLst>
              <a:ext uri="{FF2B5EF4-FFF2-40B4-BE49-F238E27FC236}">
                <a16:creationId xmlns:a16="http://schemas.microsoft.com/office/drawing/2014/main" id="{3D74B603-EF63-26CE-F334-415D4E306A37}"/>
              </a:ext>
            </a:extLst>
          </p:cNvPr>
          <p:cNvSpPr txBox="1">
            <a:spLocks/>
          </p:cNvSpPr>
          <p:nvPr/>
        </p:nvSpPr>
        <p:spPr>
          <a:xfrm>
            <a:off x="6360525" y="5311180"/>
            <a:ext cx="5257800" cy="65454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indent="0">
              <a:spcBef>
                <a:spcPts val="600"/>
              </a:spcBef>
              <a:spcAft>
                <a:spcPts val="600"/>
              </a:spcAft>
              <a:buNone/>
            </a:pPr>
            <a:r>
              <a:rPr lang="en-US" sz="1400" dirty="0">
                <a:effectLst/>
                <a:latin typeface="Arial" panose="020B0604020202020204" pitchFamily="34" charset="0"/>
                <a:ea typeface="Times New Roman" panose="02020603050405020304" pitchFamily="18" charset="0"/>
              </a:rPr>
              <a:t>All data is safe and secure; all credit card and transaction data is transmitted via secure HTTPS protocols and follows gold standards for secure e-commerce.</a:t>
            </a:r>
            <a:endParaRPr lang="en-US" sz="1400" dirty="0">
              <a:latin typeface="Arial" panose="020B0604020202020204" pitchFamily="34" charset="0"/>
              <a:cs typeface="Arial" panose="020B0604020202020204" pitchFamily="34" charset="0"/>
            </a:endParaRPr>
          </a:p>
        </p:txBody>
      </p:sp>
      <p:cxnSp>
        <p:nvCxnSpPr>
          <p:cNvPr id="10" name="Straight Connector 9">
            <a:extLst>
              <a:ext uri="{FF2B5EF4-FFF2-40B4-BE49-F238E27FC236}">
                <a16:creationId xmlns:a16="http://schemas.microsoft.com/office/drawing/2014/main" id="{FBF409B1-97DB-6ED2-ECFB-04E21B77658D}"/>
              </a:ext>
            </a:extLst>
          </p:cNvPr>
          <p:cNvCxnSpPr>
            <a:cxnSpLocks/>
          </p:cNvCxnSpPr>
          <p:nvPr/>
        </p:nvCxnSpPr>
        <p:spPr>
          <a:xfrm>
            <a:off x="3605348" y="2858944"/>
            <a:ext cx="2490651"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4D559EB-4E12-2054-D67D-7A73C8DCEF8E}"/>
              </a:ext>
            </a:extLst>
          </p:cNvPr>
          <p:cNvCxnSpPr>
            <a:cxnSpLocks/>
          </p:cNvCxnSpPr>
          <p:nvPr/>
        </p:nvCxnSpPr>
        <p:spPr>
          <a:xfrm>
            <a:off x="3605347" y="4143857"/>
            <a:ext cx="2490651"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8AFC8AB-6122-65F3-4CD8-0670079A3942}"/>
              </a:ext>
            </a:extLst>
          </p:cNvPr>
          <p:cNvCxnSpPr>
            <a:cxnSpLocks/>
          </p:cNvCxnSpPr>
          <p:nvPr/>
        </p:nvCxnSpPr>
        <p:spPr>
          <a:xfrm>
            <a:off x="3605346" y="5512661"/>
            <a:ext cx="2490651"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70732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7E3C2-DCAB-FD94-9203-29001E72E6DD}"/>
              </a:ext>
            </a:extLst>
          </p:cNvPr>
          <p:cNvSpPr>
            <a:spLocks noGrp="1"/>
          </p:cNvSpPr>
          <p:nvPr>
            <p:ph type="title"/>
          </p:nvPr>
        </p:nvSpPr>
        <p:spPr/>
        <p:txBody>
          <a:bodyPr>
            <a:normAutofit/>
          </a:bodyPr>
          <a:lstStyle/>
          <a:p>
            <a:r>
              <a:rPr lang="en-US" sz="3200" b="1" dirty="0">
                <a:solidFill>
                  <a:schemeClr val="bg1"/>
                </a:solidFill>
                <a:latin typeface="Arial" panose="020B0604020202020204" pitchFamily="34" charset="0"/>
                <a:cs typeface="Arial" panose="020B0604020202020204" pitchFamily="34" charset="0"/>
              </a:rPr>
              <a:t>Q &amp; A / Next steps</a:t>
            </a:r>
            <a:endParaRPr lang="en-US" sz="3200" dirty="0">
              <a:solidFill>
                <a:schemeClr val="bg1"/>
              </a:solidFill>
            </a:endParaRPr>
          </a:p>
        </p:txBody>
      </p:sp>
    </p:spTree>
    <p:extLst>
      <p:ext uri="{BB962C8B-B14F-4D97-AF65-F5344CB8AC3E}">
        <p14:creationId xmlns:p14="http://schemas.microsoft.com/office/powerpoint/2010/main" val="20529436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7E3C2-DCAB-FD94-9203-29001E72E6DD}"/>
              </a:ext>
            </a:extLst>
          </p:cNvPr>
          <p:cNvSpPr>
            <a:spLocks noGrp="1"/>
          </p:cNvSpPr>
          <p:nvPr>
            <p:ph type="title"/>
          </p:nvPr>
        </p:nvSpPr>
        <p:spPr/>
        <p:txBody>
          <a:bodyPr>
            <a:normAutofit/>
          </a:bodyPr>
          <a:lstStyle/>
          <a:p>
            <a:r>
              <a:rPr lang="en-US" sz="3200" b="1" dirty="0">
                <a:solidFill>
                  <a:schemeClr val="bg1"/>
                </a:solidFill>
                <a:latin typeface="Arial" panose="020B0604020202020204" pitchFamily="34" charset="0"/>
                <a:cs typeface="Arial" panose="020B0604020202020204" pitchFamily="34" charset="0"/>
              </a:rPr>
              <a:t>Frequently Asked Questions</a:t>
            </a:r>
            <a:endParaRPr lang="en-US" sz="3200" dirty="0">
              <a:solidFill>
                <a:schemeClr val="bg1"/>
              </a:solidFill>
            </a:endParaRPr>
          </a:p>
        </p:txBody>
      </p:sp>
    </p:spTree>
    <p:extLst>
      <p:ext uri="{BB962C8B-B14F-4D97-AF65-F5344CB8AC3E}">
        <p14:creationId xmlns:p14="http://schemas.microsoft.com/office/powerpoint/2010/main" val="27205415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468B852A-32EF-6B1E-B4D7-1EFB8581EB20}"/>
              </a:ext>
            </a:extLst>
          </p:cNvPr>
          <p:cNvSpPr txBox="1">
            <a:spLocks/>
          </p:cNvSpPr>
          <p:nvPr/>
        </p:nvSpPr>
        <p:spPr>
          <a:xfrm>
            <a:off x="559266" y="581568"/>
            <a:ext cx="4370832" cy="307167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spcBef>
                <a:spcPts val="500"/>
              </a:spcBef>
              <a:spcAft>
                <a:spcPts val="0"/>
              </a:spcAft>
              <a:buNone/>
            </a:pPr>
            <a:r>
              <a:rPr lang="en-US" sz="1400" b="1" dirty="0">
                <a:solidFill>
                  <a:schemeClr val="accent2"/>
                </a:solidFill>
                <a:effectLst/>
                <a:latin typeface="Arial" panose="020B0604020202020204" pitchFamily="34" charset="0"/>
                <a:ea typeface="MS Mincho" panose="02020609040205080304" pitchFamily="49" charset="-128"/>
                <a:cs typeface="Arial" panose="020B0604020202020204" pitchFamily="34" charset="0"/>
              </a:rPr>
              <a:t>1. What is Online Store?</a:t>
            </a:r>
            <a:endParaRPr lang="en-US" sz="1400" b="1" dirty="0">
              <a:solidFill>
                <a:schemeClr val="accent2"/>
              </a:solidFill>
              <a:latin typeface="Arial" panose="020B0604020202020204" pitchFamily="34" charset="0"/>
              <a:ea typeface="MS Mincho" panose="02020609040205080304" pitchFamily="49" charset="-128"/>
              <a:cs typeface="Arial" panose="020B0604020202020204" pitchFamily="34" charset="0"/>
            </a:endParaRPr>
          </a:p>
          <a:p>
            <a:pPr marL="342900" marR="0" indent="-342900">
              <a:spcBef>
                <a:spcPts val="500"/>
              </a:spcBef>
              <a:spcAft>
                <a:spcPts val="0"/>
              </a:spcAft>
              <a:buAutoNum type="arabicPeriod"/>
            </a:pP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a:spcBef>
                <a:spcPts val="500"/>
              </a:spcBef>
              <a:spcAft>
                <a:spcPts val="0"/>
              </a:spcAft>
              <a:buNone/>
            </a:pPr>
            <a:r>
              <a:rPr lang="en-US" sz="1400" dirty="0">
                <a:effectLst/>
                <a:latin typeface="Arial" panose="020B0604020202020204" pitchFamily="34" charset="0"/>
                <a:ea typeface="Times New Roman" panose="02020603050405020304" pitchFamily="18" charset="0"/>
                <a:cs typeface="Arial" panose="020B0604020202020204" pitchFamily="34" charset="0"/>
              </a:rPr>
              <a:t>Online Store is a powerful shopping cart/storefront that seamlessly integrates with your existing website. It’s an add-on feature within the easy-to-use cloud-based Online Presence Builder, which allows anyone to build impressive websites that perform on every screen, and helps you get found online.</a:t>
            </a:r>
            <a:endParaRPr lang="en-US" sz="1400" dirty="0">
              <a:effectLst/>
              <a:latin typeface="Arial" panose="020B0604020202020204" pitchFamily="34" charset="0"/>
              <a:ea typeface="MS Mincho" panose="02020609040205080304" pitchFamily="49" charset="-128"/>
              <a:cs typeface="Arial" panose="020B0604020202020204" pitchFamily="34" charset="0"/>
            </a:endParaRPr>
          </a:p>
          <a:p>
            <a:pPr marL="0" indent="0">
              <a:buNone/>
            </a:pPr>
            <a:r>
              <a:rPr lang="en-US" sz="1400" dirty="0">
                <a:effectLst/>
                <a:latin typeface="Arial" panose="020B0604020202020204" pitchFamily="34" charset="0"/>
                <a:ea typeface="Times New Roman" panose="02020603050405020304" pitchFamily="18" charset="0"/>
                <a:cs typeface="Arial" panose="020B0604020202020204" pitchFamily="34" charset="0"/>
              </a:rPr>
              <a:t>With Online Store, anyone can add products for sale, set tax and shipping rates, and receive automatic notices when orders are received online. </a:t>
            </a:r>
            <a:endParaRPr lang="en-US" sz="1400" dirty="0">
              <a:effectLst/>
              <a:latin typeface="Arial" panose="020B0604020202020204" pitchFamily="34" charset="0"/>
              <a:ea typeface="MS Mincho" panose="02020609040205080304" pitchFamily="49" charset="-128"/>
              <a:cs typeface="Arial" panose="020B0604020202020204" pitchFamily="34" charset="0"/>
            </a:endParaRPr>
          </a:p>
        </p:txBody>
      </p:sp>
      <p:sp>
        <p:nvSpPr>
          <p:cNvPr id="2" name="Content Placeholder 2">
            <a:extLst>
              <a:ext uri="{FF2B5EF4-FFF2-40B4-BE49-F238E27FC236}">
                <a16:creationId xmlns:a16="http://schemas.microsoft.com/office/drawing/2014/main" id="{B07F7BBF-03E8-2C23-302A-6C9602879203}"/>
              </a:ext>
            </a:extLst>
          </p:cNvPr>
          <p:cNvSpPr txBox="1">
            <a:spLocks/>
          </p:cNvSpPr>
          <p:nvPr/>
        </p:nvSpPr>
        <p:spPr>
          <a:xfrm>
            <a:off x="6096000" y="571815"/>
            <a:ext cx="4593728" cy="3191333"/>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spcBef>
                <a:spcPts val="0"/>
              </a:spcBef>
              <a:spcAft>
                <a:spcPts val="0"/>
              </a:spcAft>
              <a:buNone/>
            </a:pPr>
            <a:r>
              <a:rPr lang="en-US" sz="1400" b="1" dirty="0">
                <a:solidFill>
                  <a:schemeClr val="accent2"/>
                </a:solidFill>
                <a:effectLst/>
                <a:latin typeface="Arial" panose="020B0604020202020204" pitchFamily="34" charset="0"/>
                <a:ea typeface="MS Mincho" panose="02020609040205080304" pitchFamily="49" charset="-128"/>
                <a:cs typeface="Arial" panose="020B0604020202020204" pitchFamily="34" charset="0"/>
              </a:rPr>
              <a:t>2. How can I accept payments?</a:t>
            </a:r>
          </a:p>
          <a:p>
            <a:pPr marL="0" marR="0" indent="0" fontAlgn="base">
              <a:spcBef>
                <a:spcPts val="0"/>
              </a:spcBef>
              <a:spcAft>
                <a:spcPts val="0"/>
              </a:spcAft>
              <a:buNone/>
            </a:pPr>
            <a:endParaRPr lang="en-US" sz="1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p>
            <a:pPr marL="0" marR="0" indent="0">
              <a:spcBef>
                <a:spcPts val="500"/>
              </a:spcBef>
              <a:spcAft>
                <a:spcPts val="0"/>
              </a:spcAft>
              <a:buNone/>
            </a:pPr>
            <a:r>
              <a:rPr lang="en-US" sz="1400" dirty="0">
                <a:effectLst/>
                <a:latin typeface="Arial" panose="020B0604020202020204" pitchFamily="34" charset="0"/>
                <a:ea typeface="Times New Roman" panose="02020603050405020304" pitchFamily="18" charset="0"/>
                <a:cs typeface="Arial" panose="020B0604020202020204" pitchFamily="34" charset="0"/>
              </a:rPr>
              <a:t>Online Store provides various payment methods, starting from accepting credit cards via PayPal to manual order processing. With Sell 100 or above, you will be able to connect your store to major payment processors such as PayPal, </a:t>
            </a:r>
            <a:r>
              <a:rPr lang="en-US" sz="1400" dirty="0" err="1">
                <a:effectLst/>
                <a:latin typeface="Arial" panose="020B0604020202020204" pitchFamily="34" charset="0"/>
                <a:ea typeface="Times New Roman" panose="02020603050405020304" pitchFamily="18" charset="0"/>
                <a:cs typeface="Arial" panose="020B0604020202020204" pitchFamily="34" charset="0"/>
              </a:rPr>
              <a:t>Authorize.Net</a:t>
            </a:r>
            <a:r>
              <a:rPr lang="en-US" sz="1400" dirty="0">
                <a:effectLst/>
                <a:latin typeface="Arial" panose="020B0604020202020204" pitchFamily="34" charset="0"/>
                <a:ea typeface="Times New Roman" panose="02020603050405020304" pitchFamily="18" charset="0"/>
                <a:cs typeface="Arial" panose="020B0604020202020204" pitchFamily="34" charset="0"/>
              </a:rPr>
              <a:t>, Stripe, 2checkout and many more.  </a:t>
            </a:r>
          </a:p>
          <a:p>
            <a:pPr marL="0" marR="0" indent="0">
              <a:spcBef>
                <a:spcPts val="500"/>
              </a:spcBef>
              <a:spcAft>
                <a:spcPts val="0"/>
              </a:spcAft>
              <a:buNone/>
            </a:pPr>
            <a:r>
              <a:rPr lang="en-US" sz="1400" dirty="0">
                <a:effectLst/>
                <a:latin typeface="Arial" panose="020B0604020202020204" pitchFamily="34" charset="0"/>
                <a:ea typeface="Times New Roman" panose="02020603050405020304" pitchFamily="18" charset="0"/>
                <a:cs typeface="Arial" panose="020B0604020202020204" pitchFamily="34" charset="0"/>
              </a:rPr>
              <a:t>Online Store doesn't store or transfer the money to you; rather it serves as a go-between in processing payments. Online Store keeps your customers' and orders data and provides you with tools to arrange payment and manage the orders. </a:t>
            </a:r>
            <a:endParaRPr lang="en-US" sz="1400" dirty="0">
              <a:effectLst/>
              <a:latin typeface="Arial" panose="020B0604020202020204" pitchFamily="34" charset="0"/>
              <a:ea typeface="MS Mincho" panose="02020609040205080304" pitchFamily="49" charset="-128"/>
              <a:cs typeface="Arial" panose="020B0604020202020204" pitchFamily="34" charset="0"/>
            </a:endParaRPr>
          </a:p>
          <a:p>
            <a:pPr marL="0" marR="0" indent="0">
              <a:lnSpc>
                <a:spcPct val="107000"/>
              </a:lnSpc>
              <a:spcBef>
                <a:spcPts val="500"/>
              </a:spcBef>
              <a:spcAft>
                <a:spcPts val="800"/>
              </a:spcAft>
              <a:buNone/>
            </a:pPr>
            <a:r>
              <a:rPr lang="en-US" sz="1400" dirty="0">
                <a:effectLst/>
                <a:latin typeface="Arial" panose="020B0604020202020204" pitchFamily="34" charset="0"/>
                <a:ea typeface="Times New Roman" panose="02020603050405020304" pitchFamily="18" charset="0"/>
                <a:cs typeface="Arial" panose="020B0604020202020204" pitchFamily="34" charset="0"/>
              </a:rPr>
              <a:t>‘Payment Methods’ in Online Store is where you set up a way to receive payments. Generally, every online store can support two types of payment methods: online and offline. </a:t>
            </a:r>
            <a:endParaRPr lang="en-US" sz="1400" dirty="0">
              <a:effectLst/>
              <a:latin typeface="Arial" panose="020B0604020202020204" pitchFamily="34" charset="0"/>
              <a:ea typeface="MS Mincho" panose="02020609040205080304" pitchFamily="49" charset="-128"/>
              <a:cs typeface="Arial" panose="020B0604020202020204" pitchFamily="34" charset="0"/>
            </a:endParaRPr>
          </a:p>
          <a:p>
            <a:pPr marL="0" marR="0" indent="0">
              <a:spcBef>
                <a:spcPts val="500"/>
              </a:spcBef>
              <a:spcAft>
                <a:spcPts val="0"/>
              </a:spcAft>
              <a:buNone/>
            </a:pPr>
            <a:endParaRPr lang="en-US" sz="1400" dirty="0">
              <a:effectLst/>
              <a:latin typeface="Arial" panose="020B0604020202020204" pitchFamily="34" charset="0"/>
              <a:ea typeface="MS Mincho" panose="02020609040205080304" pitchFamily="49" charset="-128"/>
              <a:cs typeface="Arial" panose="020B0604020202020204" pitchFamily="34" charset="0"/>
            </a:endParaRPr>
          </a:p>
        </p:txBody>
      </p:sp>
      <p:sp>
        <p:nvSpPr>
          <p:cNvPr id="4" name="Content Placeholder 2">
            <a:extLst>
              <a:ext uri="{FF2B5EF4-FFF2-40B4-BE49-F238E27FC236}">
                <a16:creationId xmlns:a16="http://schemas.microsoft.com/office/drawing/2014/main" id="{D3F1B8E2-2F32-2061-F50E-0B1D6E6209DF}"/>
              </a:ext>
            </a:extLst>
          </p:cNvPr>
          <p:cNvSpPr txBox="1">
            <a:spLocks/>
          </p:cNvSpPr>
          <p:nvPr/>
        </p:nvSpPr>
        <p:spPr>
          <a:xfrm>
            <a:off x="559266" y="3763148"/>
            <a:ext cx="4370832" cy="249861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spcBef>
                <a:spcPts val="500"/>
              </a:spcBef>
              <a:spcAft>
                <a:spcPts val="0"/>
              </a:spcAft>
              <a:buNone/>
            </a:pPr>
            <a:r>
              <a:rPr lang="en-US" sz="1400" b="1" dirty="0">
                <a:solidFill>
                  <a:schemeClr val="accent2"/>
                </a:solidFill>
                <a:latin typeface="Arial" panose="020B0604020202020204" pitchFamily="34" charset="0"/>
                <a:ea typeface="MS Mincho" panose="02020609040205080304" pitchFamily="49" charset="-128"/>
                <a:cs typeface="Arial" panose="020B0604020202020204" pitchFamily="34" charset="0"/>
              </a:rPr>
              <a:t>3</a:t>
            </a:r>
            <a:r>
              <a:rPr lang="en-US" sz="1400" b="1" dirty="0">
                <a:solidFill>
                  <a:schemeClr val="accent2"/>
                </a:solidFill>
                <a:effectLst/>
                <a:latin typeface="Arial" panose="020B0604020202020204" pitchFamily="34" charset="0"/>
                <a:ea typeface="MS Mincho" panose="02020609040205080304" pitchFamily="49" charset="-128"/>
                <a:cs typeface="Arial" panose="020B0604020202020204" pitchFamily="34" charset="0"/>
              </a:rPr>
              <a:t>. Can drop-shippers use Online Store?</a:t>
            </a:r>
            <a:endParaRPr lang="en-US" sz="1400" dirty="0">
              <a:solidFill>
                <a:schemeClr val="accent2"/>
              </a:solidFill>
              <a:effectLst/>
              <a:latin typeface="Arial" panose="020B0604020202020204" pitchFamily="34" charset="0"/>
              <a:ea typeface="Times New Roman" panose="02020603050405020304" pitchFamily="18" charset="0"/>
              <a:cs typeface="Arial" panose="020B0604020202020204" pitchFamily="34" charset="0"/>
            </a:endParaRPr>
          </a:p>
          <a:p>
            <a:pPr marL="0" marR="228600" indent="0">
              <a:spcBef>
                <a:spcPts val="0"/>
              </a:spcBef>
              <a:spcAft>
                <a:spcPts val="400"/>
              </a:spcAft>
              <a:buNone/>
            </a:pPr>
            <a:r>
              <a:rPr lang="en-US" sz="1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Yes! We have many customers who use drop shipping services. In fact, </a:t>
            </a:r>
            <a:r>
              <a:rPr lang="en-US" sz="14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Doba</a:t>
            </a:r>
            <a:r>
              <a:rPr lang="en-US" sz="1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one of the largest US based drop-shipping fulfillment companies recommends their customers to Online Store. Also, merchants can enter their fulfillment service’s email address in System Settings &gt; Mail to receive order notifications automatically. Bonus!</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p>
            <a:endParaRPr lang="en-US" sz="1400" dirty="0">
              <a:effectLst/>
              <a:latin typeface="Arial" panose="020B0604020202020204" pitchFamily="34" charset="0"/>
              <a:ea typeface="Times New Roman" panose="02020603050405020304" pitchFamily="18" charset="0"/>
              <a:cs typeface="Arial" panose="020B0604020202020204" pitchFamily="34" charset="0"/>
            </a:endParaRPr>
          </a:p>
        </p:txBody>
      </p:sp>
      <p:sp>
        <p:nvSpPr>
          <p:cNvPr id="6" name="Content Placeholder 2">
            <a:extLst>
              <a:ext uri="{FF2B5EF4-FFF2-40B4-BE49-F238E27FC236}">
                <a16:creationId xmlns:a16="http://schemas.microsoft.com/office/drawing/2014/main" id="{2BF6A380-B2ED-72B3-89F0-D340F2359286}"/>
              </a:ext>
            </a:extLst>
          </p:cNvPr>
          <p:cNvSpPr txBox="1">
            <a:spLocks/>
          </p:cNvSpPr>
          <p:nvPr/>
        </p:nvSpPr>
        <p:spPr>
          <a:xfrm>
            <a:off x="6096000" y="4579325"/>
            <a:ext cx="4370832" cy="170686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spcBef>
                <a:spcPts val="500"/>
              </a:spcBef>
              <a:spcAft>
                <a:spcPts val="0"/>
              </a:spcAft>
              <a:buNone/>
            </a:pPr>
            <a:r>
              <a:rPr lang="en-US" sz="1400" b="1" dirty="0">
                <a:solidFill>
                  <a:schemeClr val="accent2"/>
                </a:solidFill>
                <a:latin typeface="Arial" panose="020B0604020202020204" pitchFamily="34" charset="0"/>
                <a:ea typeface="MS Mincho" panose="02020609040205080304" pitchFamily="49" charset="-128"/>
                <a:cs typeface="Arial" panose="020B0604020202020204" pitchFamily="34" charset="0"/>
              </a:rPr>
              <a:t>4</a:t>
            </a:r>
            <a:r>
              <a:rPr lang="en-US" sz="1400" b="1" dirty="0">
                <a:solidFill>
                  <a:schemeClr val="accent2"/>
                </a:solidFill>
                <a:effectLst/>
                <a:latin typeface="Arial" panose="020B0604020202020204" pitchFamily="34" charset="0"/>
                <a:ea typeface="MS Mincho" panose="02020609040205080304" pitchFamily="49" charset="-128"/>
                <a:cs typeface="Arial" panose="020B0604020202020204" pitchFamily="34" charset="0"/>
              </a:rPr>
              <a:t>. How do I ship my items?</a:t>
            </a:r>
            <a:endParaRPr lang="en-US" sz="1400" dirty="0">
              <a:solidFill>
                <a:schemeClr val="accent2"/>
              </a:solidFill>
              <a:effectLst/>
              <a:latin typeface="Arial" panose="020B0604020202020204" pitchFamily="34" charset="0"/>
              <a:ea typeface="Times New Roman" panose="02020603050405020304" pitchFamily="18" charset="0"/>
              <a:cs typeface="Arial" panose="020B0604020202020204" pitchFamily="34" charset="0"/>
            </a:endParaRPr>
          </a:p>
          <a:p>
            <a:pPr marL="0" marR="0" indent="0">
              <a:spcBef>
                <a:spcPts val="500"/>
              </a:spcBef>
              <a:spcAft>
                <a:spcPts val="0"/>
              </a:spcAft>
              <a:buNone/>
            </a:pPr>
            <a:r>
              <a:rPr lang="en-US" sz="1400" dirty="0">
                <a:effectLst/>
                <a:latin typeface="Arial" panose="020B0604020202020204" pitchFamily="34" charset="0"/>
                <a:ea typeface="Times New Roman" panose="02020603050405020304" pitchFamily="18" charset="0"/>
                <a:cs typeface="Arial" panose="020B0604020202020204" pitchFamily="34" charset="0"/>
              </a:rPr>
              <a:t>Online Store offers you a flexible mechanism to calculate and charge delivery rates. Choose a local carrier or set flat local, national, and worldwide shipping rates.</a:t>
            </a:r>
            <a:endParaRPr lang="en-US" sz="1400" dirty="0">
              <a:effectLst/>
              <a:latin typeface="Arial" panose="020B0604020202020204" pitchFamily="34" charset="0"/>
              <a:ea typeface="MS Mincho" panose="02020609040205080304" pitchFamily="49" charset="-128"/>
              <a:cs typeface="Arial" panose="020B0604020202020204" pitchFamily="34" charset="0"/>
            </a:endParaRPr>
          </a:p>
          <a:p>
            <a:pPr marL="0" marR="0" indent="0">
              <a:spcBef>
                <a:spcPts val="500"/>
              </a:spcBef>
              <a:spcAft>
                <a:spcPts val="0"/>
              </a:spcAft>
              <a:buNone/>
            </a:pPr>
            <a:endParaRPr lang="en-US" sz="1400" dirty="0">
              <a:effectLst/>
              <a:latin typeface="Arial" panose="020B0604020202020204" pitchFamily="34" charset="0"/>
              <a:ea typeface="MS Mincho" panose="02020609040205080304" pitchFamily="49" charset="-128"/>
              <a:cs typeface="Arial" panose="020B0604020202020204" pitchFamily="34" charset="0"/>
            </a:endParaRPr>
          </a:p>
        </p:txBody>
      </p:sp>
    </p:spTree>
    <p:extLst>
      <p:ext uri="{BB962C8B-B14F-4D97-AF65-F5344CB8AC3E}">
        <p14:creationId xmlns:p14="http://schemas.microsoft.com/office/powerpoint/2010/main" val="16967605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7E3C2-DCAB-FD94-9203-29001E72E6DD}"/>
              </a:ext>
            </a:extLst>
          </p:cNvPr>
          <p:cNvSpPr>
            <a:spLocks noGrp="1"/>
          </p:cNvSpPr>
          <p:nvPr>
            <p:ph type="title"/>
          </p:nvPr>
        </p:nvSpPr>
        <p:spPr/>
        <p:txBody>
          <a:bodyPr>
            <a:normAutofit/>
          </a:bodyPr>
          <a:lstStyle/>
          <a:p>
            <a:r>
              <a:rPr lang="en-US" sz="3200" b="1" dirty="0">
                <a:solidFill>
                  <a:schemeClr val="bg1"/>
                </a:solidFill>
                <a:latin typeface="Arial" panose="020B0604020202020204" pitchFamily="34" charset="0"/>
                <a:cs typeface="Arial" panose="020B0604020202020204" pitchFamily="34" charset="0"/>
              </a:rPr>
              <a:t>Probing Questions</a:t>
            </a:r>
            <a:endParaRPr lang="en-US" sz="3200" dirty="0">
              <a:solidFill>
                <a:schemeClr val="bg1"/>
              </a:solidFill>
            </a:endParaRPr>
          </a:p>
        </p:txBody>
      </p:sp>
    </p:spTree>
    <p:extLst>
      <p:ext uri="{BB962C8B-B14F-4D97-AF65-F5344CB8AC3E}">
        <p14:creationId xmlns:p14="http://schemas.microsoft.com/office/powerpoint/2010/main" val="10657000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468B852A-32EF-6B1E-B4D7-1EFB8581EB20}"/>
              </a:ext>
            </a:extLst>
          </p:cNvPr>
          <p:cNvSpPr txBox="1">
            <a:spLocks/>
          </p:cNvSpPr>
          <p:nvPr/>
        </p:nvSpPr>
        <p:spPr>
          <a:xfrm>
            <a:off x="804672" y="744574"/>
            <a:ext cx="4702993" cy="631574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fontAlgn="base">
              <a:spcBef>
                <a:spcPts val="0"/>
              </a:spcBef>
              <a:spcAft>
                <a:spcPts val="0"/>
              </a:spcAft>
            </a:pPr>
            <a:endParaRPr lang="en-US" sz="1800" dirty="0">
              <a:effectLst/>
              <a:latin typeface="Arial" panose="020B0604020202020204" pitchFamily="34" charset="0"/>
              <a:ea typeface="MS Mincho" panose="02020609040205080304" pitchFamily="49" charset="-128"/>
            </a:endParaRPr>
          </a:p>
        </p:txBody>
      </p:sp>
      <p:sp>
        <p:nvSpPr>
          <p:cNvPr id="2" name="Content Placeholder 2">
            <a:extLst>
              <a:ext uri="{FF2B5EF4-FFF2-40B4-BE49-F238E27FC236}">
                <a16:creationId xmlns:a16="http://schemas.microsoft.com/office/drawing/2014/main" id="{964A6A1F-E180-469E-AAC1-916AFCB06DFD}"/>
              </a:ext>
            </a:extLst>
          </p:cNvPr>
          <p:cNvSpPr txBox="1">
            <a:spLocks/>
          </p:cNvSpPr>
          <p:nvPr/>
        </p:nvSpPr>
        <p:spPr>
          <a:xfrm>
            <a:off x="6349793" y="3566051"/>
            <a:ext cx="4702993" cy="264577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spcBef>
                <a:spcPts val="0"/>
              </a:spcBef>
              <a:buNone/>
            </a:pPr>
            <a:r>
              <a:rPr lang="en-US" sz="1400" b="1" dirty="0">
                <a:solidFill>
                  <a:schemeClr val="accent2"/>
                </a:solidFill>
                <a:effectLst/>
                <a:latin typeface="Arial" panose="020B0604020202020204" pitchFamily="34" charset="0"/>
                <a:ea typeface="Times New Roman" panose="02020603050405020304" pitchFamily="18" charset="0"/>
                <a:cs typeface="Arial" panose="020B0604020202020204" pitchFamily="34" charset="0"/>
              </a:rPr>
              <a:t>Have you thought about selling gift certificates?</a:t>
            </a:r>
          </a:p>
          <a:p>
            <a:pPr marL="0" indent="0" fontAlgn="base">
              <a:spcBef>
                <a:spcPts val="0"/>
              </a:spcBef>
              <a:buNone/>
            </a:pPr>
            <a:endParaRPr lang="en-US" sz="1400" b="1" dirty="0">
              <a:solidFill>
                <a:srgbClr val="2CADB2"/>
              </a:solidFill>
              <a:effectLst/>
              <a:latin typeface="Arial" panose="020B0604020202020204" pitchFamily="34" charset="0"/>
              <a:ea typeface="Times New Roman" panose="02020603050405020304" pitchFamily="18" charset="0"/>
              <a:cs typeface="Arial" panose="020B0604020202020204" pitchFamily="34" charset="0"/>
            </a:endParaRPr>
          </a:p>
          <a:p>
            <a:pPr marL="0" indent="0" fontAlgn="base">
              <a:spcBef>
                <a:spcPts val="0"/>
              </a:spcBef>
              <a:buNone/>
            </a:pPr>
            <a:r>
              <a:rPr lang="en-US" sz="1400" dirty="0">
                <a:effectLst/>
                <a:latin typeface="Arial" panose="020B0604020202020204" pitchFamily="34" charset="0"/>
                <a:ea typeface="Times New Roman" panose="02020603050405020304" pitchFamily="18" charset="0"/>
                <a:cs typeface="Arial" panose="020B0604020202020204" pitchFamily="34" charset="0"/>
              </a:rPr>
              <a:t>You don’t have to sell products to sell online. As a business that sell services, you can offer your customers the ability to purchase gift certificates that they can use towards a future purchase. Consider using gift certificates to sell products during high-opportunity occasions, such as Valentine’s Day, birthdays, Halloween or the holidays. </a:t>
            </a:r>
          </a:p>
          <a:p>
            <a:pPr marL="0" indent="0" fontAlgn="base">
              <a:spcBef>
                <a:spcPts val="0"/>
              </a:spcBef>
              <a:buNone/>
            </a:pPr>
            <a:endParaRPr lang="en-US" sz="1400" b="1" dirty="0">
              <a:solidFill>
                <a:srgbClr val="2CADB2"/>
              </a:solidFill>
              <a:effectLst/>
              <a:latin typeface="Arial" panose="020B0604020202020204" pitchFamily="34" charset="0"/>
              <a:ea typeface="Times New Roman" panose="02020603050405020304" pitchFamily="18" charset="0"/>
              <a:cs typeface="Arial" panose="020B0604020202020204" pitchFamily="34" charset="0"/>
            </a:endParaRPr>
          </a:p>
          <a:p>
            <a:pPr marL="0" indent="0" fontAlgn="base">
              <a:spcBef>
                <a:spcPts val="0"/>
              </a:spcBef>
              <a:buNone/>
            </a:pPr>
            <a:br>
              <a:rPr lang="en-US" sz="1400" dirty="0">
                <a:effectLst/>
                <a:latin typeface="Arial" panose="020B0604020202020204" pitchFamily="34" charset="0"/>
                <a:ea typeface="Times New Roman" panose="02020603050405020304" pitchFamily="18" charset="0"/>
                <a:cs typeface="Arial" panose="020B0604020202020204" pitchFamily="34" charset="0"/>
              </a:rPr>
            </a:b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p:txBody>
      </p:sp>
      <p:sp>
        <p:nvSpPr>
          <p:cNvPr id="3" name="Content Placeholder 2">
            <a:extLst>
              <a:ext uri="{FF2B5EF4-FFF2-40B4-BE49-F238E27FC236}">
                <a16:creationId xmlns:a16="http://schemas.microsoft.com/office/drawing/2014/main" id="{1E3E736E-02FD-5C00-7E1F-0B7E4E121E12}"/>
              </a:ext>
            </a:extLst>
          </p:cNvPr>
          <p:cNvSpPr txBox="1">
            <a:spLocks/>
          </p:cNvSpPr>
          <p:nvPr/>
        </p:nvSpPr>
        <p:spPr>
          <a:xfrm>
            <a:off x="804670" y="509690"/>
            <a:ext cx="4874677" cy="4641149"/>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spcBef>
                <a:spcPts val="0"/>
              </a:spcBef>
              <a:spcAft>
                <a:spcPts val="0"/>
              </a:spcAft>
              <a:buNone/>
            </a:pPr>
            <a:r>
              <a:rPr lang="en-US" sz="1400" b="1" dirty="0">
                <a:solidFill>
                  <a:schemeClr val="accent2"/>
                </a:solidFill>
                <a:effectLst/>
                <a:latin typeface="Arial" panose="020B0604020202020204" pitchFamily="34" charset="0"/>
                <a:ea typeface="Times New Roman" panose="02020603050405020304" pitchFamily="18" charset="0"/>
                <a:cs typeface="Arial" panose="020B0604020202020204" pitchFamily="34" charset="0"/>
              </a:rPr>
              <a:t>Are you currently selling products on your website with an Online Store?</a:t>
            </a:r>
          </a:p>
          <a:p>
            <a:pPr marL="0" marR="0" indent="0" fontAlgn="base">
              <a:spcBef>
                <a:spcPts val="0"/>
              </a:spcBef>
              <a:spcAft>
                <a:spcPts val="0"/>
              </a:spcAft>
              <a:buNone/>
            </a:pPr>
            <a:endParaRPr lang="en-US" sz="1400" b="1" dirty="0">
              <a:solidFill>
                <a:schemeClr val="accent2"/>
              </a:solidFill>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spcBef>
                <a:spcPts val="0"/>
              </a:spcBef>
              <a:spcAft>
                <a:spcPts val="0"/>
              </a:spcAft>
              <a:buNone/>
            </a:pPr>
            <a:r>
              <a:rPr lang="en-US" sz="1400" b="1" dirty="0">
                <a:solidFill>
                  <a:schemeClr val="accent2"/>
                </a:solidFill>
                <a:effectLst/>
                <a:latin typeface="Arial" panose="020B0604020202020204" pitchFamily="34" charset="0"/>
                <a:ea typeface="Times New Roman" panose="02020603050405020304" pitchFamily="18" charset="0"/>
                <a:cs typeface="Arial" panose="020B0604020202020204" pitchFamily="34" charset="0"/>
              </a:rPr>
              <a:t>•No.</a:t>
            </a:r>
          </a:p>
          <a:p>
            <a:pPr fontAlgn="base">
              <a:spcBef>
                <a:spcPts val="0"/>
              </a:spcBef>
            </a:pPr>
            <a:r>
              <a:rPr lang="en-US" sz="1400" dirty="0">
                <a:effectLst/>
                <a:latin typeface="Arial" panose="020B0604020202020204" pitchFamily="34" charset="0"/>
                <a:ea typeface="Times New Roman" panose="02020603050405020304" pitchFamily="18" charset="0"/>
                <a:cs typeface="Arial" panose="020B0604020202020204" pitchFamily="34" charset="0"/>
              </a:rPr>
              <a:t>With more people going online first to search for products and services, you want to be in a position to convert these shoppers into buyers by offering them the ability to purchase online.  </a:t>
            </a:r>
          </a:p>
          <a:p>
            <a:pPr fontAlgn="base">
              <a:spcBef>
                <a:spcPts val="0"/>
              </a:spcBef>
            </a:pPr>
            <a:r>
              <a:rPr lang="en-US" sz="1400" dirty="0">
                <a:effectLst/>
                <a:latin typeface="Arial" panose="020B0604020202020204" pitchFamily="34" charset="0"/>
                <a:ea typeface="Times New Roman" panose="02020603050405020304" pitchFamily="18" charset="0"/>
                <a:cs typeface="Arial" panose="020B0604020202020204" pitchFamily="34" charset="0"/>
              </a:rPr>
              <a:t>Getting started to sell online is simple. Setup your store in minutes. An easy to use on-boarder walks you through adding the product and details and setting basic tax and shipping rates. </a:t>
            </a:r>
          </a:p>
          <a:p>
            <a:pPr fontAlgn="base">
              <a:spcBef>
                <a:spcPts val="0"/>
              </a:spcBef>
            </a:pP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spcBef>
                <a:spcPts val="0"/>
              </a:spcBef>
              <a:spcAft>
                <a:spcPts val="0"/>
              </a:spcAft>
              <a:buNone/>
            </a:pPr>
            <a:r>
              <a:rPr lang="en-US" sz="1400" b="1" dirty="0">
                <a:solidFill>
                  <a:schemeClr val="accent2"/>
                </a:solidFill>
                <a:effectLst/>
                <a:latin typeface="Arial" panose="020B0604020202020204" pitchFamily="34" charset="0"/>
                <a:ea typeface="Times New Roman" panose="02020603050405020304" pitchFamily="18" charset="0"/>
                <a:cs typeface="Arial" panose="020B0604020202020204" pitchFamily="34" charset="0"/>
              </a:rPr>
              <a:t>•Yes. </a:t>
            </a:r>
            <a:r>
              <a:rPr lang="en-US" sz="1400" dirty="0">
                <a:effectLst/>
                <a:latin typeface="Arial" panose="020B0604020202020204" pitchFamily="34" charset="0"/>
                <a:ea typeface="Times New Roman" panose="02020603050405020304" pitchFamily="18" charset="0"/>
                <a:cs typeface="Arial" panose="020B0604020202020204" pitchFamily="34" charset="0"/>
              </a:rPr>
              <a:t>That’s great. </a:t>
            </a:r>
          </a:p>
          <a:p>
            <a:pPr fontAlgn="base">
              <a:spcBef>
                <a:spcPts val="0"/>
              </a:spcBef>
            </a:pPr>
            <a:r>
              <a:rPr lang="en-US" sz="1400" dirty="0">
                <a:effectLst/>
                <a:latin typeface="Arial" panose="020B0604020202020204" pitchFamily="34" charset="0"/>
                <a:ea typeface="Times New Roman" panose="02020603050405020304" pitchFamily="18" charset="0"/>
                <a:cs typeface="Arial" panose="020B0604020202020204" pitchFamily="34" charset="0"/>
              </a:rPr>
              <a:t>Is it easy to manage? </a:t>
            </a:r>
          </a:p>
          <a:p>
            <a:pPr fontAlgn="base">
              <a:spcBef>
                <a:spcPts val="0"/>
              </a:spcBef>
            </a:pPr>
            <a:r>
              <a:rPr lang="en-US" sz="1400" dirty="0">
                <a:effectLst/>
                <a:latin typeface="Arial" panose="020B0604020202020204" pitchFamily="34" charset="0"/>
                <a:ea typeface="Times New Roman" panose="02020603050405020304" pitchFamily="18" charset="0"/>
                <a:cs typeface="Arial" panose="020B0604020202020204" pitchFamily="34" charset="0"/>
              </a:rPr>
              <a:t>Do you have to use a different tool to manage your storefront versus your website?</a:t>
            </a:r>
          </a:p>
          <a:p>
            <a:pPr fontAlgn="base">
              <a:spcBef>
                <a:spcPts val="0"/>
              </a:spcBef>
            </a:pPr>
            <a:r>
              <a:rPr lang="en-US" sz="1400" dirty="0">
                <a:effectLst/>
                <a:latin typeface="Arial" panose="020B0604020202020204" pitchFamily="34" charset="0"/>
                <a:ea typeface="Times New Roman" panose="02020603050405020304" pitchFamily="18" charset="0"/>
                <a:cs typeface="Arial" panose="020B0604020202020204" pitchFamily="34" charset="0"/>
              </a:rPr>
              <a:t>Do you have proper reporting to manage your product inventory, order history and track payment and shipping status?</a:t>
            </a:r>
          </a:p>
          <a:p>
            <a:pPr fontAlgn="base">
              <a:spcBef>
                <a:spcPts val="0"/>
              </a:spcBef>
            </a:pPr>
            <a:r>
              <a:rPr lang="en-US" sz="1400" dirty="0">
                <a:effectLst/>
                <a:latin typeface="Arial" panose="020B0604020202020204" pitchFamily="34" charset="0"/>
                <a:ea typeface="Times New Roman" panose="02020603050405020304" pitchFamily="18" charset="0"/>
                <a:cs typeface="Arial" panose="020B0604020202020204" pitchFamily="34" charset="0"/>
              </a:rPr>
              <a:t>Are you paying transaction fees with your current solution?</a:t>
            </a:r>
          </a:p>
          <a:p>
            <a:pPr marL="0" marR="0" indent="0" fontAlgn="base">
              <a:spcBef>
                <a:spcPts val="0"/>
              </a:spcBef>
              <a:spcAft>
                <a:spcPts val="0"/>
              </a:spcAft>
              <a:buNone/>
            </a:pP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p:txBody>
      </p:sp>
      <p:sp>
        <p:nvSpPr>
          <p:cNvPr id="6" name="Content Placeholder 2">
            <a:extLst>
              <a:ext uri="{FF2B5EF4-FFF2-40B4-BE49-F238E27FC236}">
                <a16:creationId xmlns:a16="http://schemas.microsoft.com/office/drawing/2014/main" id="{7163A6A9-5C02-DCA8-F133-35F7733ED09D}"/>
              </a:ext>
            </a:extLst>
          </p:cNvPr>
          <p:cNvSpPr txBox="1">
            <a:spLocks/>
          </p:cNvSpPr>
          <p:nvPr/>
        </p:nvSpPr>
        <p:spPr>
          <a:xfrm>
            <a:off x="6349793" y="509691"/>
            <a:ext cx="4702993" cy="2889916"/>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spcBef>
                <a:spcPts val="0"/>
              </a:spcBef>
              <a:spcAft>
                <a:spcPts val="0"/>
              </a:spcAft>
              <a:buNone/>
            </a:pPr>
            <a:r>
              <a:rPr lang="en-US" sz="1400" b="1" dirty="0">
                <a:solidFill>
                  <a:schemeClr val="accent2"/>
                </a:solidFill>
                <a:effectLst/>
                <a:latin typeface="Arial" panose="020B0604020202020204" pitchFamily="34" charset="0"/>
                <a:ea typeface="Times New Roman" panose="02020603050405020304" pitchFamily="18" charset="0"/>
                <a:cs typeface="Arial" panose="020B0604020202020204" pitchFamily="34" charset="0"/>
              </a:rPr>
              <a:t>Do you have a Facebook page?</a:t>
            </a:r>
          </a:p>
          <a:p>
            <a:pPr marL="0" marR="0" indent="0" fontAlgn="base">
              <a:spcBef>
                <a:spcPts val="0"/>
              </a:spcBef>
              <a:spcAft>
                <a:spcPts val="0"/>
              </a:spcAft>
              <a:buNone/>
            </a:pPr>
            <a:endParaRPr lang="en-US" sz="1400" b="1" dirty="0">
              <a:solidFill>
                <a:srgbClr val="2CADB2"/>
              </a:solidFill>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spcBef>
                <a:spcPts val="0"/>
              </a:spcBef>
              <a:spcAft>
                <a:spcPts val="0"/>
              </a:spcAft>
              <a:buNone/>
            </a:pPr>
            <a:r>
              <a:rPr lang="en-US" sz="1400" b="1" dirty="0">
                <a:solidFill>
                  <a:schemeClr val="accent2"/>
                </a:solidFill>
                <a:effectLst/>
                <a:latin typeface="Arial" panose="020B0604020202020204" pitchFamily="34" charset="0"/>
                <a:ea typeface="Times New Roman" panose="02020603050405020304" pitchFamily="18" charset="0"/>
                <a:cs typeface="Arial" panose="020B0604020202020204" pitchFamily="34" charset="0"/>
              </a:rPr>
              <a:t>•Yes? </a:t>
            </a:r>
            <a:r>
              <a:rPr lang="en-US" sz="1400" dirty="0">
                <a:effectLst/>
                <a:latin typeface="Arial" panose="020B0604020202020204" pitchFamily="34" charset="0"/>
                <a:ea typeface="Times New Roman" panose="02020603050405020304" pitchFamily="18" charset="0"/>
                <a:cs typeface="Arial" panose="020B0604020202020204" pitchFamily="34" charset="0"/>
              </a:rPr>
              <a:t>Great, Online Store can be integrated right into your Facebook page, as a new tab. It’s quick and easy and you can be selling through your Facebook page today.</a:t>
            </a:r>
          </a:p>
          <a:p>
            <a:pPr marL="0" marR="0" indent="0" fontAlgn="base">
              <a:spcBef>
                <a:spcPts val="0"/>
              </a:spcBef>
              <a:spcAft>
                <a:spcPts val="0"/>
              </a:spcAft>
              <a:buNone/>
            </a:pPr>
            <a:endParaRPr lang="en-US" sz="1400" b="1" dirty="0">
              <a:solidFill>
                <a:srgbClr val="2CADB2"/>
              </a:solidFill>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spcBef>
                <a:spcPts val="0"/>
              </a:spcBef>
              <a:spcAft>
                <a:spcPts val="0"/>
              </a:spcAft>
              <a:buNone/>
            </a:pPr>
            <a:r>
              <a:rPr lang="en-US" sz="1400" b="1" dirty="0">
                <a:solidFill>
                  <a:schemeClr val="accent2"/>
                </a:solidFill>
                <a:effectLst/>
                <a:latin typeface="Arial" panose="020B0604020202020204" pitchFamily="34" charset="0"/>
                <a:ea typeface="Times New Roman" panose="02020603050405020304" pitchFamily="18" charset="0"/>
                <a:cs typeface="Arial" panose="020B0604020202020204" pitchFamily="34" charset="0"/>
              </a:rPr>
              <a:t>•No? </a:t>
            </a:r>
            <a:r>
              <a:rPr lang="en-US" sz="1400" dirty="0">
                <a:effectLst/>
                <a:latin typeface="Arial" panose="020B0604020202020204" pitchFamily="34" charset="0"/>
                <a:ea typeface="Times New Roman" panose="02020603050405020304" pitchFamily="18" charset="0"/>
                <a:cs typeface="Arial" panose="020B0604020202020204" pitchFamily="34" charset="0"/>
              </a:rPr>
              <a:t>Facebook business pages are free, and in just a few minutes you can be selling your products through the most popular social network with Online Presence Builder.</a:t>
            </a:r>
          </a:p>
        </p:txBody>
      </p:sp>
    </p:spTree>
    <p:extLst>
      <p:ext uri="{BB962C8B-B14F-4D97-AF65-F5344CB8AC3E}">
        <p14:creationId xmlns:p14="http://schemas.microsoft.com/office/powerpoint/2010/main" val="6667505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7E3C2-DCAB-FD94-9203-29001E72E6DD}"/>
              </a:ext>
            </a:extLst>
          </p:cNvPr>
          <p:cNvSpPr>
            <a:spLocks noGrp="1"/>
          </p:cNvSpPr>
          <p:nvPr>
            <p:ph type="title"/>
          </p:nvPr>
        </p:nvSpPr>
        <p:spPr/>
        <p:txBody>
          <a:bodyPr>
            <a:normAutofit/>
          </a:bodyPr>
          <a:lstStyle/>
          <a:p>
            <a:r>
              <a:rPr lang="en-US" sz="3200" b="1" dirty="0">
                <a:solidFill>
                  <a:schemeClr val="bg1"/>
                </a:solidFill>
                <a:latin typeface="Arial" panose="020B0604020202020204" pitchFamily="34" charset="0"/>
                <a:cs typeface="Arial" panose="020B0604020202020204" pitchFamily="34" charset="0"/>
              </a:rPr>
              <a:t>Objection Handlers</a:t>
            </a:r>
            <a:endParaRPr lang="en-US" sz="3200" dirty="0">
              <a:solidFill>
                <a:schemeClr val="bg1"/>
              </a:solidFill>
            </a:endParaRPr>
          </a:p>
        </p:txBody>
      </p:sp>
    </p:spTree>
    <p:extLst>
      <p:ext uri="{BB962C8B-B14F-4D97-AF65-F5344CB8AC3E}">
        <p14:creationId xmlns:p14="http://schemas.microsoft.com/office/powerpoint/2010/main" val="5061680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468B852A-32EF-6B1E-B4D7-1EFB8581EB20}"/>
              </a:ext>
            </a:extLst>
          </p:cNvPr>
          <p:cNvSpPr txBox="1">
            <a:spLocks/>
          </p:cNvSpPr>
          <p:nvPr/>
        </p:nvSpPr>
        <p:spPr>
          <a:xfrm>
            <a:off x="475118" y="357050"/>
            <a:ext cx="4702993" cy="3837446"/>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lnSpc>
                <a:spcPct val="120000"/>
              </a:lnSpc>
              <a:spcBef>
                <a:spcPts val="0"/>
              </a:spcBef>
              <a:spcAft>
                <a:spcPts val="0"/>
              </a:spcAft>
              <a:buNone/>
            </a:pPr>
            <a:r>
              <a:rPr lang="en-US" sz="1400" b="1" dirty="0">
                <a:solidFill>
                  <a:schemeClr val="accent2"/>
                </a:solidFill>
                <a:effectLst/>
                <a:latin typeface="Arial"/>
                <a:ea typeface="Times New Roman" panose="02020603050405020304" pitchFamily="18" charset="0"/>
                <a:cs typeface="Arial"/>
              </a:rPr>
              <a:t>Selling online is difficult, and I don’t have time to manage it.</a:t>
            </a:r>
          </a:p>
          <a:p>
            <a:pPr marL="0" marR="0" indent="0">
              <a:spcBef>
                <a:spcPts val="1200"/>
              </a:spcBef>
              <a:spcAft>
                <a:spcPts val="600"/>
              </a:spcAft>
              <a:buNone/>
            </a:pPr>
            <a:r>
              <a:rPr lang="en-US" sz="1400" dirty="0">
                <a:solidFill>
                  <a:srgbClr val="000000"/>
                </a:solidFill>
                <a:effectLst/>
                <a:latin typeface="Arial" panose="020B0604020202020204" pitchFamily="34" charset="0"/>
                <a:ea typeface="Times New Roman" panose="02020603050405020304" pitchFamily="18" charset="0"/>
              </a:rPr>
              <a:t>The good news is that it has never been easier to start selling online. Anyone can do it and it only takes a few minutes of time to get started. </a:t>
            </a:r>
            <a:endParaRPr lang="en-US" sz="1400" dirty="0">
              <a:effectLst/>
              <a:latin typeface="Arial" panose="020B0604020202020204" pitchFamily="34" charset="0"/>
              <a:ea typeface="MS Mincho" panose="02020609040205080304" pitchFamily="49" charset="-128"/>
            </a:endParaRPr>
          </a:p>
          <a:p>
            <a:pPr marL="0" marR="0" indent="0">
              <a:spcBef>
                <a:spcPts val="1200"/>
              </a:spcBef>
              <a:spcAft>
                <a:spcPts val="600"/>
              </a:spcAft>
              <a:buNone/>
            </a:pPr>
            <a:r>
              <a:rPr lang="en-US" sz="1400" dirty="0">
                <a:solidFill>
                  <a:srgbClr val="000000"/>
                </a:solidFill>
                <a:effectLst/>
                <a:latin typeface="Arial" panose="020B0604020202020204" pitchFamily="34" charset="0"/>
                <a:ea typeface="Times New Roman" panose="02020603050405020304" pitchFamily="18" charset="0"/>
              </a:rPr>
              <a:t>There’s a quick step-by-step on-boarder that walks you through how to start adding products, how to setup your currency settings and shipping options. Lastly the on-boarder will help you setup your payment options and Payment Processor. </a:t>
            </a:r>
            <a:endParaRPr lang="en-US" sz="1400" dirty="0">
              <a:effectLst/>
              <a:latin typeface="Arial" panose="020B0604020202020204" pitchFamily="34" charset="0"/>
              <a:ea typeface="MS Mincho" panose="02020609040205080304" pitchFamily="49" charset="-128"/>
            </a:endParaRPr>
          </a:p>
          <a:p>
            <a:pPr marL="0" marR="0" indent="0">
              <a:spcBef>
                <a:spcPts val="1200"/>
              </a:spcBef>
              <a:spcAft>
                <a:spcPts val="600"/>
              </a:spcAft>
              <a:buNone/>
            </a:pPr>
            <a:r>
              <a:rPr lang="en-US" sz="1400" dirty="0">
                <a:solidFill>
                  <a:srgbClr val="000000"/>
                </a:solidFill>
                <a:effectLst/>
                <a:latin typeface="Arial" panose="020B0604020202020204" pitchFamily="34" charset="0"/>
                <a:ea typeface="Times New Roman" panose="02020603050405020304" pitchFamily="18" charset="0"/>
              </a:rPr>
              <a:t>The store will automatically send you an email when an order is placed, and keep you notified when your stock is running low. Online Store does all of the heavy lifting, so you don’t have to. </a:t>
            </a:r>
            <a:endParaRPr lang="en-US" sz="1400" dirty="0">
              <a:effectLst/>
              <a:latin typeface="Arial" panose="020B0604020202020204" pitchFamily="34" charset="0"/>
              <a:ea typeface="MS Mincho" panose="02020609040205080304" pitchFamily="49" charset="-128"/>
            </a:endParaRPr>
          </a:p>
          <a:p>
            <a:pPr marL="0" indent="0">
              <a:lnSpc>
                <a:spcPct val="120000"/>
              </a:lnSpc>
              <a:spcBef>
                <a:spcPts val="500"/>
              </a:spcBef>
              <a:buNone/>
            </a:pPr>
            <a:endParaRPr lang="en-US" sz="1000" dirty="0">
              <a:effectLst/>
              <a:latin typeface="Arial" panose="020B0604020202020204" pitchFamily="34" charset="0"/>
              <a:ea typeface="MS Mincho" panose="02020609040205080304" pitchFamily="49" charset="-128"/>
              <a:cs typeface="Arial" panose="020B0604020202020204" pitchFamily="34" charset="0"/>
            </a:endParaRPr>
          </a:p>
        </p:txBody>
      </p:sp>
      <p:sp>
        <p:nvSpPr>
          <p:cNvPr id="3" name="Content Placeholder 2">
            <a:extLst>
              <a:ext uri="{FF2B5EF4-FFF2-40B4-BE49-F238E27FC236}">
                <a16:creationId xmlns:a16="http://schemas.microsoft.com/office/drawing/2014/main" id="{509E700F-6E44-3DE7-7400-7C7AAB98CE92}"/>
              </a:ext>
            </a:extLst>
          </p:cNvPr>
          <p:cNvSpPr txBox="1">
            <a:spLocks/>
          </p:cNvSpPr>
          <p:nvPr/>
        </p:nvSpPr>
        <p:spPr>
          <a:xfrm>
            <a:off x="475118" y="4194496"/>
            <a:ext cx="10323874" cy="2291542"/>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spcBef>
                <a:spcPts val="0"/>
              </a:spcBef>
              <a:buNone/>
            </a:pPr>
            <a:r>
              <a:rPr lang="en-US" sz="1400" b="1" dirty="0">
                <a:solidFill>
                  <a:schemeClr val="accent2"/>
                </a:solidFill>
                <a:effectLst/>
                <a:latin typeface="Arial"/>
                <a:ea typeface="Times New Roman" panose="02020603050405020304" pitchFamily="18" charset="0"/>
                <a:cs typeface="Arial"/>
              </a:rPr>
              <a:t>I’d rather invest in social. </a:t>
            </a:r>
          </a:p>
          <a:p>
            <a:pPr marL="0" indent="0" fontAlgn="base">
              <a:spcBef>
                <a:spcPts val="0"/>
              </a:spcBef>
              <a:buNone/>
            </a:pPr>
            <a:endParaRPr lang="en-US" sz="1400" b="1" dirty="0">
              <a:solidFill>
                <a:srgbClr val="2CADB2"/>
              </a:solidFill>
              <a:latin typeface="Arial"/>
              <a:ea typeface="Cambria" panose="02040503050406030204" pitchFamily="18" charset="0"/>
              <a:cs typeface="Arial"/>
            </a:endParaRPr>
          </a:p>
          <a:p>
            <a:pPr marL="0" marR="0" indent="0">
              <a:spcBef>
                <a:spcPts val="1200"/>
              </a:spcBef>
              <a:spcAft>
                <a:spcPts val="600"/>
              </a:spcAft>
              <a:buNone/>
            </a:pPr>
            <a:r>
              <a:rPr lang="en-US" sz="1400" dirty="0">
                <a:solidFill>
                  <a:srgbClr val="000000"/>
                </a:solidFill>
                <a:effectLst/>
                <a:latin typeface="Arial" panose="020B0604020202020204" pitchFamily="34" charset="0"/>
                <a:ea typeface="Times New Roman" panose="02020603050405020304" pitchFamily="18" charset="0"/>
              </a:rPr>
              <a:t>With Online Store you can sell your products directly on your Facebook page! This gives your customers a convenient way to buy</a:t>
            </a:r>
            <a:r>
              <a:rPr lang="en-US" sz="1400" dirty="0">
                <a:solidFill>
                  <a:srgbClr val="333333"/>
                </a:solidFill>
                <a:effectLst/>
                <a:latin typeface="Arial" panose="020B0604020202020204" pitchFamily="34" charset="0"/>
                <a:ea typeface="MS Mincho" panose="02020609040205080304" pitchFamily="49" charset="-128"/>
              </a:rPr>
              <a:t> your products while syncing directly to your central inventory.</a:t>
            </a:r>
            <a:r>
              <a:rPr lang="en-US" sz="1400" dirty="0">
                <a:solidFill>
                  <a:srgbClr val="000000"/>
                </a:solidFill>
                <a:effectLst/>
                <a:latin typeface="Arial" panose="020B0604020202020204" pitchFamily="34" charset="0"/>
                <a:ea typeface="Times New Roman" panose="02020603050405020304" pitchFamily="18" charset="0"/>
              </a:rPr>
              <a:t> </a:t>
            </a:r>
            <a:r>
              <a:rPr lang="en-US" sz="1400" dirty="0">
                <a:solidFill>
                  <a:srgbClr val="333333"/>
                </a:solidFill>
                <a:effectLst/>
                <a:latin typeface="Arial" panose="020B0604020202020204" pitchFamily="34" charset="0"/>
                <a:ea typeface="MS Mincho" panose="02020609040205080304" pitchFamily="49" charset="-128"/>
              </a:rPr>
              <a:t>You can add Online Store to multiple websites, blogs or social media pages, all while managing it in one spot. This makes managing your online presence incredibly simple and strengthens your brand across sites. </a:t>
            </a:r>
            <a:endParaRPr lang="en-US" sz="1400" dirty="0">
              <a:effectLst/>
              <a:latin typeface="Arial" panose="020B0604020202020204" pitchFamily="34" charset="0"/>
              <a:ea typeface="MS Mincho" panose="02020609040205080304" pitchFamily="49" charset="-128"/>
            </a:endParaRPr>
          </a:p>
          <a:p>
            <a:pPr marL="0" indent="0">
              <a:lnSpc>
                <a:spcPct val="120000"/>
              </a:lnSpc>
              <a:spcBef>
                <a:spcPts val="500"/>
              </a:spcBef>
              <a:buNone/>
            </a:pPr>
            <a:endParaRPr lang="en-US" sz="1000" dirty="0">
              <a:effectLst/>
              <a:latin typeface="Arial" panose="020B0604020202020204" pitchFamily="34" charset="0"/>
              <a:ea typeface="MS Mincho" panose="02020609040205080304" pitchFamily="49" charset="-128"/>
              <a:cs typeface="Arial" panose="020B0604020202020204" pitchFamily="34" charset="0"/>
            </a:endParaRPr>
          </a:p>
        </p:txBody>
      </p:sp>
      <p:sp>
        <p:nvSpPr>
          <p:cNvPr id="6" name="Content Placeholder 2">
            <a:extLst>
              <a:ext uri="{FF2B5EF4-FFF2-40B4-BE49-F238E27FC236}">
                <a16:creationId xmlns:a16="http://schemas.microsoft.com/office/drawing/2014/main" id="{49D6E387-4C36-7671-A51A-FCE29B1B5571}"/>
              </a:ext>
            </a:extLst>
          </p:cNvPr>
          <p:cNvSpPr txBox="1">
            <a:spLocks/>
          </p:cNvSpPr>
          <p:nvPr/>
        </p:nvSpPr>
        <p:spPr>
          <a:xfrm>
            <a:off x="6095999" y="546947"/>
            <a:ext cx="4702993" cy="3398036"/>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lnSpc>
                <a:spcPct val="120000"/>
              </a:lnSpc>
              <a:spcBef>
                <a:spcPts val="0"/>
              </a:spcBef>
              <a:spcAft>
                <a:spcPts val="600"/>
              </a:spcAft>
              <a:buNone/>
            </a:pPr>
            <a:r>
              <a:rPr lang="en-US" sz="1400" b="1" dirty="0">
                <a:solidFill>
                  <a:schemeClr val="accent2"/>
                </a:solidFill>
                <a:effectLst/>
                <a:latin typeface="Arial"/>
                <a:ea typeface="Times New Roman" panose="02020603050405020304" pitchFamily="18" charset="0"/>
                <a:cs typeface="Arial"/>
              </a:rPr>
              <a:t>I already have a website and I don’t want to rebuild it on your system. </a:t>
            </a:r>
          </a:p>
          <a:p>
            <a:pPr marL="0" marR="0" indent="0">
              <a:spcBef>
                <a:spcPts val="1200"/>
              </a:spcBef>
              <a:spcAft>
                <a:spcPts val="600"/>
              </a:spcAft>
              <a:buNone/>
            </a:pPr>
            <a:r>
              <a:rPr lang="en-US" sz="1400" dirty="0">
                <a:solidFill>
                  <a:srgbClr val="000000"/>
                </a:solidFill>
                <a:effectLst/>
                <a:latin typeface="Arial" panose="020B0604020202020204" pitchFamily="34" charset="0"/>
                <a:ea typeface="Times New Roman" panose="02020603050405020304" pitchFamily="18" charset="0"/>
              </a:rPr>
              <a:t>Online Presence Builder makes it easy to manage your website and store in one place; and if you have an existing website built on our platform then you can easily add Online Store in a few clicks. </a:t>
            </a:r>
            <a:endParaRPr lang="en-US" sz="1400" dirty="0">
              <a:effectLst/>
              <a:latin typeface="Arial" panose="020B0604020202020204" pitchFamily="34" charset="0"/>
              <a:ea typeface="MS Mincho" panose="02020609040205080304" pitchFamily="49" charset="-128"/>
            </a:endParaRPr>
          </a:p>
          <a:p>
            <a:pPr marL="0" marR="0" indent="0">
              <a:spcBef>
                <a:spcPts val="1200"/>
              </a:spcBef>
              <a:spcAft>
                <a:spcPts val="600"/>
              </a:spcAft>
              <a:buNone/>
            </a:pPr>
            <a:r>
              <a:rPr lang="en-US" sz="1400" dirty="0">
                <a:solidFill>
                  <a:srgbClr val="000000"/>
                </a:solidFill>
                <a:effectLst/>
                <a:latin typeface="Arial" panose="020B0604020202020204" pitchFamily="34" charset="0"/>
                <a:ea typeface="Times New Roman" panose="02020603050405020304" pitchFamily="18" charset="0"/>
              </a:rPr>
              <a:t>Unlike other ecommerce companies our Online Store offers a great deal of flexibility allowing you to completely integrate with your current Online Presence Builder website. </a:t>
            </a:r>
            <a:endParaRPr lang="en-US" sz="1400" dirty="0">
              <a:effectLst/>
              <a:latin typeface="Arial" panose="020B0604020202020204" pitchFamily="34" charset="0"/>
              <a:ea typeface="MS Mincho" panose="02020609040205080304" pitchFamily="49" charset="-128"/>
            </a:endParaRPr>
          </a:p>
          <a:p>
            <a:pPr marL="0" marR="0" indent="0">
              <a:spcBef>
                <a:spcPts val="1200"/>
              </a:spcBef>
              <a:spcAft>
                <a:spcPts val="600"/>
              </a:spcAft>
              <a:buNone/>
            </a:pPr>
            <a:r>
              <a:rPr lang="en-US" sz="1400" dirty="0">
                <a:solidFill>
                  <a:srgbClr val="000000"/>
                </a:solidFill>
                <a:effectLst/>
                <a:latin typeface="Arial" panose="020B0604020202020204" pitchFamily="34" charset="0"/>
                <a:ea typeface="Times New Roman" panose="02020603050405020304" pitchFamily="18" charset="0"/>
              </a:rPr>
              <a:t>That means you will not have to rebuild anything!</a:t>
            </a:r>
            <a:endParaRPr lang="en-US" sz="1400" dirty="0">
              <a:effectLst/>
              <a:latin typeface="Arial" panose="020B0604020202020204" pitchFamily="34" charset="0"/>
              <a:ea typeface="MS Mincho" panose="02020609040205080304" pitchFamily="49" charset="-128"/>
            </a:endParaRPr>
          </a:p>
          <a:p>
            <a:pPr marL="0" indent="0">
              <a:lnSpc>
                <a:spcPct val="120000"/>
              </a:lnSpc>
              <a:spcBef>
                <a:spcPts val="500"/>
              </a:spcBef>
              <a:buNone/>
            </a:pPr>
            <a:endParaRPr lang="en-US" sz="1000" dirty="0">
              <a:effectLst/>
              <a:latin typeface="Arial" panose="020B0604020202020204" pitchFamily="34" charset="0"/>
              <a:ea typeface="MS Mincho" panose="02020609040205080304" pitchFamily="49" charset="-128"/>
              <a:cs typeface="Arial" panose="020B0604020202020204" pitchFamily="34" charset="0"/>
            </a:endParaRPr>
          </a:p>
        </p:txBody>
      </p:sp>
    </p:spTree>
    <p:extLst>
      <p:ext uri="{BB962C8B-B14F-4D97-AF65-F5344CB8AC3E}">
        <p14:creationId xmlns:p14="http://schemas.microsoft.com/office/powerpoint/2010/main" val="37524535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7E3C2-DCAB-FD94-9203-29001E72E6DD}"/>
              </a:ext>
            </a:extLst>
          </p:cNvPr>
          <p:cNvSpPr>
            <a:spLocks noGrp="1"/>
          </p:cNvSpPr>
          <p:nvPr>
            <p:ph type="title"/>
          </p:nvPr>
        </p:nvSpPr>
        <p:spPr/>
        <p:txBody>
          <a:bodyPr>
            <a:normAutofit/>
          </a:bodyPr>
          <a:lstStyle/>
          <a:p>
            <a:r>
              <a:rPr lang="en-US" sz="3200" b="1" dirty="0">
                <a:solidFill>
                  <a:schemeClr val="bg1"/>
                </a:solidFill>
                <a:latin typeface="Arial" panose="020B0604020202020204" pitchFamily="34" charset="0"/>
                <a:cs typeface="Arial" panose="020B0604020202020204" pitchFamily="34" charset="0"/>
              </a:rPr>
              <a:t>Test your Knowledge</a:t>
            </a:r>
            <a:endParaRPr lang="en-US" sz="3200" dirty="0">
              <a:solidFill>
                <a:schemeClr val="bg1"/>
              </a:solidFill>
            </a:endParaRPr>
          </a:p>
        </p:txBody>
      </p:sp>
    </p:spTree>
    <p:extLst>
      <p:ext uri="{BB962C8B-B14F-4D97-AF65-F5344CB8AC3E}">
        <p14:creationId xmlns:p14="http://schemas.microsoft.com/office/powerpoint/2010/main" val="31094880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468B852A-32EF-6B1E-B4D7-1EFB8581EB20}"/>
              </a:ext>
            </a:extLst>
          </p:cNvPr>
          <p:cNvSpPr txBox="1">
            <a:spLocks/>
          </p:cNvSpPr>
          <p:nvPr/>
        </p:nvSpPr>
        <p:spPr>
          <a:xfrm>
            <a:off x="6836736" y="593572"/>
            <a:ext cx="4885365" cy="5922926"/>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lnSpc>
                <a:spcPct val="120000"/>
              </a:lnSpc>
              <a:spcBef>
                <a:spcPts val="0"/>
              </a:spcBef>
              <a:spcAft>
                <a:spcPts val="0"/>
              </a:spcAft>
              <a:buNone/>
            </a:pPr>
            <a:r>
              <a:rPr lang="en-US" sz="1050" b="1" dirty="0">
                <a:effectLst/>
                <a:latin typeface="Arial" panose="020B0604020202020204" pitchFamily="34" charset="0"/>
                <a:ea typeface="Times New Roman" panose="02020603050405020304" pitchFamily="18" charset="0"/>
                <a:cs typeface="Arial" panose="020B0604020202020204" pitchFamily="34" charset="0"/>
              </a:rPr>
              <a:t>6. What percentage of customers shop online at leas</a:t>
            </a:r>
            <a:r>
              <a:rPr lang="en-US" sz="1050" b="1" dirty="0">
                <a:latin typeface="Arial" panose="020B0604020202020204" pitchFamily="34" charset="0"/>
                <a:ea typeface="Times New Roman" panose="02020603050405020304" pitchFamily="18" charset="0"/>
                <a:cs typeface="Arial" panose="020B0604020202020204" pitchFamily="34" charset="0"/>
              </a:rPr>
              <a:t>t once a week</a:t>
            </a:r>
            <a:r>
              <a:rPr lang="en-US" sz="1050" b="1" dirty="0">
                <a:effectLst/>
                <a:latin typeface="Arial" panose="020B0604020202020204" pitchFamily="34" charset="0"/>
                <a:ea typeface="Times New Roman" panose="02020603050405020304" pitchFamily="18" charset="0"/>
                <a:cs typeface="Arial" panose="020B0604020202020204" pitchFamily="34" charset="0"/>
              </a:rPr>
              <a:t>?</a:t>
            </a:r>
          </a:p>
          <a:p>
            <a:pPr marL="0" indent="0">
              <a:spcBef>
                <a:spcPts val="500"/>
              </a:spcBef>
              <a:buNone/>
            </a:pPr>
            <a:r>
              <a:rPr lang="en-US" sz="1050" dirty="0">
                <a:latin typeface="Arial" panose="020B0604020202020204" pitchFamily="34" charset="0"/>
                <a:ea typeface="Times New Roman" panose="02020603050405020304" pitchFamily="18" charset="0"/>
                <a:cs typeface="Arial" panose="020B0604020202020204" pitchFamily="34" charset="0"/>
              </a:rPr>
              <a:t>A) 50%</a:t>
            </a:r>
          </a:p>
          <a:p>
            <a:pPr marL="0" indent="0">
              <a:spcBef>
                <a:spcPts val="500"/>
              </a:spcBef>
              <a:buNone/>
            </a:pPr>
            <a:r>
              <a:rPr lang="en-US" sz="1050" dirty="0">
                <a:latin typeface="Arial" panose="020B0604020202020204" pitchFamily="34" charset="0"/>
                <a:ea typeface="Times New Roman" panose="02020603050405020304" pitchFamily="18" charset="0"/>
                <a:cs typeface="Arial" panose="020B0604020202020204" pitchFamily="34" charset="0"/>
              </a:rPr>
              <a:t>B) 30%</a:t>
            </a:r>
          </a:p>
          <a:p>
            <a:pPr marL="0" indent="0">
              <a:spcBef>
                <a:spcPts val="500"/>
              </a:spcBef>
              <a:buNone/>
            </a:pPr>
            <a:r>
              <a:rPr lang="en-US" sz="1050" dirty="0">
                <a:effectLst/>
                <a:latin typeface="Arial" panose="020B0604020202020204" pitchFamily="34" charset="0"/>
                <a:ea typeface="Times New Roman" panose="02020603050405020304" pitchFamily="18" charset="0"/>
                <a:cs typeface="Arial" panose="020B0604020202020204" pitchFamily="34" charset="0"/>
              </a:rPr>
              <a:t>C) </a:t>
            </a:r>
            <a:r>
              <a:rPr lang="en-US" sz="1050" dirty="0">
                <a:latin typeface="Arial" panose="020B0604020202020204" pitchFamily="34" charset="0"/>
                <a:ea typeface="Times New Roman" panose="02020603050405020304" pitchFamily="18" charset="0"/>
                <a:cs typeface="Arial" panose="020B0604020202020204" pitchFamily="34" charset="0"/>
              </a:rPr>
              <a:t>22%</a:t>
            </a:r>
            <a:endParaRPr lang="en-US" sz="1050" dirty="0">
              <a:effectLst/>
              <a:latin typeface="Arial" panose="020B0604020202020204" pitchFamily="34" charset="0"/>
              <a:ea typeface="Times New Roman" panose="02020603050405020304" pitchFamily="18" charset="0"/>
              <a:cs typeface="Arial" panose="020B0604020202020204" pitchFamily="34" charset="0"/>
            </a:endParaRPr>
          </a:p>
          <a:p>
            <a:pPr marL="0" indent="0">
              <a:spcBef>
                <a:spcPts val="500"/>
              </a:spcBef>
              <a:buNone/>
            </a:pPr>
            <a:r>
              <a:rPr lang="en-US" sz="1050" dirty="0">
                <a:effectLst/>
                <a:latin typeface="Arial" panose="020B0604020202020204" pitchFamily="34" charset="0"/>
                <a:ea typeface="Times New Roman" panose="02020603050405020304" pitchFamily="18" charset="0"/>
                <a:cs typeface="Arial" panose="020B0604020202020204" pitchFamily="34" charset="0"/>
              </a:rPr>
              <a:t>D) </a:t>
            </a:r>
            <a:r>
              <a:rPr lang="en-US" sz="1050" dirty="0">
                <a:latin typeface="Arial" panose="020B0604020202020204" pitchFamily="34" charset="0"/>
                <a:ea typeface="Times New Roman" panose="02020603050405020304" pitchFamily="18" charset="0"/>
                <a:cs typeface="Arial" panose="020B0604020202020204" pitchFamily="34" charset="0"/>
              </a:rPr>
              <a:t>65%</a:t>
            </a:r>
            <a:r>
              <a:rPr lang="en-US" sz="1050" dirty="0">
                <a:effectLst/>
                <a:latin typeface="Arial" panose="020B0604020202020204" pitchFamily="34" charset="0"/>
                <a:ea typeface="Times New Roman" panose="02020603050405020304" pitchFamily="18" charset="0"/>
                <a:cs typeface="Arial" panose="020B0604020202020204" pitchFamily="34" charset="0"/>
              </a:rPr>
              <a:t> </a:t>
            </a:r>
          </a:p>
          <a:p>
            <a:pPr marL="0" marR="0" indent="0" fontAlgn="base">
              <a:lnSpc>
                <a:spcPct val="120000"/>
              </a:lnSpc>
              <a:spcBef>
                <a:spcPts val="0"/>
              </a:spcBef>
              <a:spcAft>
                <a:spcPts val="0"/>
              </a:spcAft>
              <a:buNone/>
            </a:pPr>
            <a:endParaRPr lang="en-US" sz="105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050" b="1" dirty="0">
                <a:effectLst/>
                <a:latin typeface="Arial" panose="020B0604020202020204" pitchFamily="34" charset="0"/>
                <a:ea typeface="Times New Roman" panose="02020603050405020304" pitchFamily="18" charset="0"/>
                <a:cs typeface="Arial" panose="020B0604020202020204" pitchFamily="34" charset="0"/>
              </a:rPr>
              <a:t>7. True or False: Selling onlin</a:t>
            </a:r>
            <a:r>
              <a:rPr lang="en-US" sz="1050" b="1" dirty="0">
                <a:latin typeface="Arial" panose="020B0604020202020204" pitchFamily="34" charset="0"/>
                <a:ea typeface="Times New Roman" panose="02020603050405020304" pitchFamily="18" charset="0"/>
                <a:cs typeface="Arial" panose="020B0604020202020204" pitchFamily="34" charset="0"/>
              </a:rPr>
              <a:t>e is difficult</a:t>
            </a:r>
            <a:r>
              <a:rPr lang="en-US" sz="1050" b="1" dirty="0">
                <a:effectLst/>
                <a:latin typeface="Arial" panose="020B0604020202020204" pitchFamily="34" charset="0"/>
                <a:ea typeface="Times New Roman" panose="02020603050405020304" pitchFamily="18" charset="0"/>
                <a:cs typeface="Arial" panose="020B0604020202020204" pitchFamily="34" charset="0"/>
              </a:rPr>
              <a:t>.</a:t>
            </a:r>
          </a:p>
          <a:p>
            <a:pPr marL="0" marR="0" indent="0" fontAlgn="base">
              <a:lnSpc>
                <a:spcPct val="120000"/>
              </a:lnSpc>
              <a:spcBef>
                <a:spcPts val="0"/>
              </a:spcBef>
              <a:spcAft>
                <a:spcPts val="0"/>
              </a:spcAft>
              <a:buNone/>
            </a:pPr>
            <a:r>
              <a:rPr lang="en-US" sz="1050" dirty="0">
                <a:effectLst/>
                <a:latin typeface="Arial" panose="020B0604020202020204" pitchFamily="34" charset="0"/>
                <a:ea typeface="Times New Roman" panose="02020603050405020304" pitchFamily="18" charset="0"/>
                <a:cs typeface="Arial" panose="020B0604020202020204" pitchFamily="34" charset="0"/>
              </a:rPr>
              <a:t>A) True</a:t>
            </a:r>
          </a:p>
          <a:p>
            <a:pPr marL="0" marR="0" indent="0" fontAlgn="base">
              <a:lnSpc>
                <a:spcPct val="120000"/>
              </a:lnSpc>
              <a:spcBef>
                <a:spcPts val="0"/>
              </a:spcBef>
              <a:spcAft>
                <a:spcPts val="0"/>
              </a:spcAft>
              <a:buNone/>
            </a:pPr>
            <a:r>
              <a:rPr lang="en-US" sz="1050" dirty="0">
                <a:effectLst/>
                <a:latin typeface="Arial" panose="020B0604020202020204" pitchFamily="34" charset="0"/>
                <a:ea typeface="Times New Roman" panose="02020603050405020304" pitchFamily="18" charset="0"/>
                <a:cs typeface="Arial" panose="020B0604020202020204" pitchFamily="34" charset="0"/>
              </a:rPr>
              <a:t>B) False</a:t>
            </a:r>
          </a:p>
          <a:p>
            <a:pPr marL="0" marR="0" indent="0" fontAlgn="base">
              <a:lnSpc>
                <a:spcPct val="120000"/>
              </a:lnSpc>
              <a:spcBef>
                <a:spcPts val="0"/>
              </a:spcBef>
              <a:spcAft>
                <a:spcPts val="0"/>
              </a:spcAft>
              <a:buNone/>
            </a:pPr>
            <a:endParaRPr lang="en-US" sz="105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050" b="1" dirty="0">
                <a:effectLst/>
                <a:latin typeface="Arial" panose="020B0604020202020204" pitchFamily="34" charset="0"/>
                <a:ea typeface="Times New Roman" panose="02020603050405020304" pitchFamily="18" charset="0"/>
                <a:cs typeface="Arial" panose="020B0604020202020204" pitchFamily="34" charset="0"/>
              </a:rPr>
              <a:t>8.Where can you sell using online store?</a:t>
            </a:r>
          </a:p>
          <a:p>
            <a:pPr marL="0" marR="0" indent="0" fontAlgn="base">
              <a:lnSpc>
                <a:spcPct val="120000"/>
              </a:lnSpc>
              <a:spcBef>
                <a:spcPts val="0"/>
              </a:spcBef>
              <a:spcAft>
                <a:spcPts val="0"/>
              </a:spcAft>
              <a:buNone/>
            </a:pPr>
            <a:r>
              <a:rPr lang="en-US" sz="1050" dirty="0">
                <a:effectLst/>
                <a:latin typeface="Arial" panose="020B0604020202020204" pitchFamily="34" charset="0"/>
                <a:ea typeface="Times New Roman" panose="02020603050405020304" pitchFamily="18" charset="0"/>
                <a:cs typeface="Arial" panose="020B0604020202020204" pitchFamily="34" charset="0"/>
              </a:rPr>
              <a:t>A) </a:t>
            </a:r>
            <a:r>
              <a:rPr lang="en-US" sz="1050" dirty="0">
                <a:latin typeface="Arial" panose="020B0604020202020204" pitchFamily="34" charset="0"/>
                <a:ea typeface="Times New Roman" panose="02020603050405020304" pitchFamily="18" charset="0"/>
                <a:cs typeface="Arial" panose="020B0604020202020204" pitchFamily="34" charset="0"/>
              </a:rPr>
              <a:t>W</a:t>
            </a:r>
            <a:r>
              <a:rPr lang="en-US" sz="1050" dirty="0">
                <a:effectLst/>
                <a:latin typeface="Arial" panose="020B0604020202020204" pitchFamily="34" charset="0"/>
                <a:ea typeface="Times New Roman" panose="02020603050405020304" pitchFamily="18" charset="0"/>
                <a:cs typeface="Arial" panose="020B0604020202020204" pitchFamily="34" charset="0"/>
              </a:rPr>
              <a:t>ebsite</a:t>
            </a:r>
          </a:p>
          <a:p>
            <a:pPr marL="0" marR="0" indent="0" fontAlgn="base">
              <a:lnSpc>
                <a:spcPct val="120000"/>
              </a:lnSpc>
              <a:spcBef>
                <a:spcPts val="0"/>
              </a:spcBef>
              <a:spcAft>
                <a:spcPts val="0"/>
              </a:spcAft>
              <a:buNone/>
            </a:pPr>
            <a:r>
              <a:rPr lang="en-US" sz="1050" dirty="0">
                <a:effectLst/>
                <a:latin typeface="Arial" panose="020B0604020202020204" pitchFamily="34" charset="0"/>
                <a:ea typeface="Times New Roman" panose="02020603050405020304" pitchFamily="18" charset="0"/>
                <a:cs typeface="Arial" panose="020B0604020202020204" pitchFamily="34" charset="0"/>
              </a:rPr>
              <a:t>B) Blog</a:t>
            </a:r>
          </a:p>
          <a:p>
            <a:pPr marL="0" marR="0" indent="0" fontAlgn="base">
              <a:lnSpc>
                <a:spcPct val="120000"/>
              </a:lnSpc>
              <a:spcBef>
                <a:spcPts val="0"/>
              </a:spcBef>
              <a:spcAft>
                <a:spcPts val="0"/>
              </a:spcAft>
              <a:buNone/>
            </a:pPr>
            <a:r>
              <a:rPr lang="en-US" sz="1050" dirty="0">
                <a:effectLst/>
                <a:latin typeface="Arial" panose="020B0604020202020204" pitchFamily="34" charset="0"/>
                <a:ea typeface="Times New Roman" panose="02020603050405020304" pitchFamily="18" charset="0"/>
                <a:cs typeface="Arial" panose="020B0604020202020204" pitchFamily="34" charset="0"/>
              </a:rPr>
              <a:t>C) Facebook</a:t>
            </a:r>
          </a:p>
          <a:p>
            <a:pPr marL="0" marR="0" indent="0" fontAlgn="base">
              <a:lnSpc>
                <a:spcPct val="120000"/>
              </a:lnSpc>
              <a:spcBef>
                <a:spcPts val="0"/>
              </a:spcBef>
              <a:spcAft>
                <a:spcPts val="0"/>
              </a:spcAft>
              <a:buNone/>
            </a:pPr>
            <a:r>
              <a:rPr lang="en-US" sz="1050" dirty="0">
                <a:effectLst/>
                <a:latin typeface="Arial" panose="020B0604020202020204" pitchFamily="34" charset="0"/>
                <a:ea typeface="Times New Roman" panose="02020603050405020304" pitchFamily="18" charset="0"/>
                <a:cs typeface="Arial" panose="020B0604020202020204" pitchFamily="34" charset="0"/>
              </a:rPr>
              <a:t>D) All of the above</a:t>
            </a:r>
          </a:p>
          <a:p>
            <a:pPr marL="0" marR="0" indent="0" fontAlgn="base">
              <a:lnSpc>
                <a:spcPct val="120000"/>
              </a:lnSpc>
              <a:spcBef>
                <a:spcPts val="0"/>
              </a:spcBef>
              <a:spcAft>
                <a:spcPts val="0"/>
              </a:spcAft>
              <a:buNone/>
            </a:pPr>
            <a:endParaRPr lang="en-US" sz="105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050" b="1" dirty="0">
                <a:effectLst/>
                <a:latin typeface="Arial" panose="020B0604020202020204" pitchFamily="34" charset="0"/>
                <a:ea typeface="Times New Roman" panose="02020603050405020304" pitchFamily="18" charset="0"/>
                <a:cs typeface="Arial" panose="020B0604020202020204" pitchFamily="34" charset="0"/>
              </a:rPr>
              <a:t>9. Which are </a:t>
            </a:r>
            <a:r>
              <a:rPr lang="en-US" sz="1050" b="1" dirty="0">
                <a:latin typeface="Arial" panose="020B0604020202020204" pitchFamily="34" charset="0"/>
                <a:ea typeface="Times New Roman" panose="02020603050405020304" pitchFamily="18" charset="0"/>
                <a:cs typeface="Arial" panose="020B0604020202020204" pitchFamily="34" charset="0"/>
              </a:rPr>
              <a:t>key features of Online Store?</a:t>
            </a:r>
            <a:endParaRPr lang="en-US" sz="1050" b="1" dirty="0">
              <a:effectLst/>
              <a:latin typeface="Arial" panose="020B0604020202020204" pitchFamily="34" charset="0"/>
              <a:ea typeface="Times New Roman" panose="02020603050405020304" pitchFamily="18" charset="0"/>
              <a:cs typeface="Arial" panose="020B0604020202020204" pitchFamily="34" charset="0"/>
            </a:endParaRPr>
          </a:p>
          <a:p>
            <a:pPr marL="0" indent="0" fontAlgn="base">
              <a:lnSpc>
                <a:spcPct val="120000"/>
              </a:lnSpc>
              <a:spcBef>
                <a:spcPts val="0"/>
              </a:spcBef>
              <a:buNone/>
            </a:pPr>
            <a:r>
              <a:rPr lang="en-US" sz="1050" dirty="0">
                <a:effectLst/>
                <a:latin typeface="Arial" panose="020B0604020202020204" pitchFamily="34" charset="0"/>
                <a:ea typeface="Times New Roman" panose="02020603050405020304" pitchFamily="18" charset="0"/>
                <a:cs typeface="Arial" panose="020B0604020202020204" pitchFamily="34" charset="0"/>
              </a:rPr>
              <a:t>A) </a:t>
            </a:r>
            <a:r>
              <a:rPr lang="en-US" sz="1050" dirty="0">
                <a:latin typeface="Arial" panose="020B0604020202020204" pitchFamily="34" charset="0"/>
                <a:ea typeface="Times New Roman" panose="02020603050405020304" pitchFamily="18" charset="0"/>
                <a:cs typeface="Arial" panose="020B0604020202020204" pitchFamily="34" charset="0"/>
              </a:rPr>
              <a:t>Payments</a:t>
            </a:r>
            <a:endParaRPr lang="en-US" sz="1050" dirty="0">
              <a:effectLst/>
              <a:latin typeface="Arial" panose="020B0604020202020204" pitchFamily="34" charset="0"/>
              <a:ea typeface="Times New Roman" panose="02020603050405020304" pitchFamily="18" charset="0"/>
              <a:cs typeface="Arial" panose="020B0604020202020204" pitchFamily="34" charset="0"/>
            </a:endParaRPr>
          </a:p>
          <a:p>
            <a:pPr marL="0" indent="0" fontAlgn="base">
              <a:lnSpc>
                <a:spcPct val="120000"/>
              </a:lnSpc>
              <a:spcBef>
                <a:spcPts val="0"/>
              </a:spcBef>
              <a:buNone/>
            </a:pPr>
            <a:r>
              <a:rPr lang="en-US" sz="1050" dirty="0">
                <a:effectLst/>
                <a:latin typeface="Arial" panose="020B0604020202020204" pitchFamily="34" charset="0"/>
                <a:ea typeface="Times New Roman" panose="02020603050405020304" pitchFamily="18" charset="0"/>
                <a:cs typeface="Arial" panose="020B0604020202020204" pitchFamily="34" charset="0"/>
              </a:rPr>
              <a:t>B) </a:t>
            </a:r>
            <a:r>
              <a:rPr lang="en-US" sz="1050" dirty="0">
                <a:latin typeface="Arial" panose="020B0604020202020204" pitchFamily="34" charset="0"/>
                <a:ea typeface="Times New Roman" panose="02020603050405020304" pitchFamily="18" charset="0"/>
                <a:cs typeface="Arial" panose="020B0604020202020204" pitchFamily="34" charset="0"/>
              </a:rPr>
              <a:t>Tracking</a:t>
            </a:r>
            <a:endParaRPr lang="en-US" sz="105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050" dirty="0">
                <a:effectLst/>
                <a:latin typeface="Arial" panose="020B0604020202020204" pitchFamily="34" charset="0"/>
                <a:ea typeface="Times New Roman" panose="02020603050405020304" pitchFamily="18" charset="0"/>
                <a:cs typeface="Arial" panose="020B0604020202020204" pitchFamily="34" charset="0"/>
              </a:rPr>
              <a:t>C) Customized options </a:t>
            </a:r>
          </a:p>
          <a:p>
            <a:pPr marL="0" marR="0" indent="0" fontAlgn="base">
              <a:lnSpc>
                <a:spcPct val="120000"/>
              </a:lnSpc>
              <a:spcBef>
                <a:spcPts val="0"/>
              </a:spcBef>
              <a:spcAft>
                <a:spcPts val="0"/>
              </a:spcAft>
              <a:buNone/>
            </a:pPr>
            <a:r>
              <a:rPr lang="en-US" sz="1050" dirty="0">
                <a:effectLst/>
                <a:latin typeface="Arial" panose="020B0604020202020204" pitchFamily="34" charset="0"/>
                <a:ea typeface="Times New Roman" panose="02020603050405020304" pitchFamily="18" charset="0"/>
                <a:cs typeface="Arial" panose="020B0604020202020204" pitchFamily="34" charset="0"/>
              </a:rPr>
              <a:t>D) All of the above</a:t>
            </a:r>
          </a:p>
          <a:p>
            <a:pPr marL="0" marR="0" indent="0" fontAlgn="base">
              <a:lnSpc>
                <a:spcPct val="120000"/>
              </a:lnSpc>
              <a:spcBef>
                <a:spcPts val="0"/>
              </a:spcBef>
              <a:spcAft>
                <a:spcPts val="0"/>
              </a:spcAft>
              <a:buNone/>
            </a:pPr>
            <a:endParaRPr lang="en-US" sz="105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050" b="1" dirty="0">
                <a:effectLst/>
                <a:latin typeface="Arial" panose="020B0604020202020204" pitchFamily="34" charset="0"/>
                <a:ea typeface="Times New Roman" panose="02020603050405020304" pitchFamily="18" charset="0"/>
                <a:cs typeface="Arial" panose="020B0604020202020204" pitchFamily="34" charset="0"/>
              </a:rPr>
              <a:t>10. Which statement is false?</a:t>
            </a:r>
          </a:p>
          <a:p>
            <a:pPr marL="0" marR="0" indent="0" fontAlgn="base">
              <a:lnSpc>
                <a:spcPct val="120000"/>
              </a:lnSpc>
              <a:spcBef>
                <a:spcPts val="0"/>
              </a:spcBef>
              <a:spcAft>
                <a:spcPts val="0"/>
              </a:spcAft>
              <a:buNone/>
            </a:pPr>
            <a:r>
              <a:rPr lang="en-US" sz="1050" dirty="0">
                <a:effectLst/>
                <a:latin typeface="Arial" panose="020B0604020202020204" pitchFamily="34" charset="0"/>
                <a:ea typeface="Times New Roman" panose="02020603050405020304" pitchFamily="18" charset="0"/>
                <a:cs typeface="Arial" panose="020B0604020202020204" pitchFamily="34" charset="0"/>
              </a:rPr>
              <a:t>A) Ecommerce sales decreased during covid</a:t>
            </a:r>
          </a:p>
          <a:p>
            <a:pPr marL="0" marR="0" indent="0" fontAlgn="base">
              <a:lnSpc>
                <a:spcPct val="120000"/>
              </a:lnSpc>
              <a:spcBef>
                <a:spcPts val="0"/>
              </a:spcBef>
              <a:spcAft>
                <a:spcPts val="0"/>
              </a:spcAft>
              <a:buNone/>
            </a:pPr>
            <a:r>
              <a:rPr lang="en-US" sz="1050" dirty="0">
                <a:effectLst/>
                <a:latin typeface="Arial" panose="020B0604020202020204" pitchFamily="34" charset="0"/>
                <a:ea typeface="Times New Roman" panose="02020603050405020304" pitchFamily="18" charset="0"/>
                <a:cs typeface="Arial" panose="020B0604020202020204" pitchFamily="34" charset="0"/>
              </a:rPr>
              <a:t>B) Having an online store allows business owners to sell outside of store hours</a:t>
            </a:r>
          </a:p>
          <a:p>
            <a:pPr marL="0" marR="0" indent="0" fontAlgn="base">
              <a:lnSpc>
                <a:spcPct val="120000"/>
              </a:lnSpc>
              <a:spcBef>
                <a:spcPts val="0"/>
              </a:spcBef>
              <a:spcAft>
                <a:spcPts val="0"/>
              </a:spcAft>
              <a:buNone/>
            </a:pPr>
            <a:r>
              <a:rPr lang="en-US" sz="1050" dirty="0">
                <a:effectLst/>
                <a:latin typeface="Arial" panose="020B0604020202020204" pitchFamily="34" charset="0"/>
                <a:ea typeface="Times New Roman" panose="02020603050405020304" pitchFamily="18" charset="0"/>
                <a:cs typeface="Arial" panose="020B0604020202020204" pitchFamily="34" charset="0"/>
              </a:rPr>
              <a:t>C) Ecommerce sales increased during covid</a:t>
            </a:r>
          </a:p>
          <a:p>
            <a:pPr marL="0" marR="0" indent="0" fontAlgn="base">
              <a:lnSpc>
                <a:spcPct val="120000"/>
              </a:lnSpc>
              <a:spcBef>
                <a:spcPts val="0"/>
              </a:spcBef>
              <a:spcAft>
                <a:spcPts val="0"/>
              </a:spcAft>
              <a:buNone/>
            </a:pPr>
            <a:r>
              <a:rPr lang="en-US" sz="1050" dirty="0">
                <a:effectLst/>
                <a:latin typeface="Arial" panose="020B0604020202020204" pitchFamily="34" charset="0"/>
                <a:ea typeface="Times New Roman" panose="02020603050405020304" pitchFamily="18" charset="0"/>
                <a:cs typeface="Arial" panose="020B0604020202020204" pitchFamily="34" charset="0"/>
              </a:rPr>
              <a:t>D) Seamless integration with online presence builder makes adding an online store easy</a:t>
            </a:r>
            <a:endParaRPr lang="en-US" sz="1050" dirty="0">
              <a:effectLst/>
              <a:latin typeface="Arial" panose="020B0604020202020204" pitchFamily="34" charset="0"/>
              <a:ea typeface="MS Mincho" panose="02020609040205080304" pitchFamily="49" charset="-128"/>
              <a:cs typeface="Arial" panose="020B0604020202020204" pitchFamily="34" charset="0"/>
            </a:endParaRPr>
          </a:p>
        </p:txBody>
      </p:sp>
      <p:sp>
        <p:nvSpPr>
          <p:cNvPr id="3" name="Content Placeholder 2">
            <a:extLst>
              <a:ext uri="{FF2B5EF4-FFF2-40B4-BE49-F238E27FC236}">
                <a16:creationId xmlns:a16="http://schemas.microsoft.com/office/drawing/2014/main" id="{E8CC447A-EE98-AAA9-1D05-19E5CBB16F45}"/>
              </a:ext>
            </a:extLst>
          </p:cNvPr>
          <p:cNvSpPr txBox="1">
            <a:spLocks/>
          </p:cNvSpPr>
          <p:nvPr/>
        </p:nvSpPr>
        <p:spPr>
          <a:xfrm>
            <a:off x="652273" y="593572"/>
            <a:ext cx="4702993" cy="6109232"/>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lnSpc>
                <a:spcPct val="120000"/>
              </a:lnSpc>
              <a:spcBef>
                <a:spcPts val="0"/>
              </a:spcBef>
              <a:spcAft>
                <a:spcPts val="0"/>
              </a:spcAft>
              <a:buNone/>
            </a:pPr>
            <a:r>
              <a:rPr lang="en-US" sz="1100" b="1" dirty="0">
                <a:effectLst/>
                <a:latin typeface="Arial" panose="020B0604020202020204" pitchFamily="34" charset="0"/>
                <a:ea typeface="Times New Roman" panose="02020603050405020304" pitchFamily="18" charset="0"/>
                <a:cs typeface="Arial" panose="020B0604020202020204" pitchFamily="34" charset="0"/>
              </a:rPr>
              <a:t>1. What percentage of shoppers buy internationally ?</a:t>
            </a:r>
          </a:p>
          <a:p>
            <a:pPr marL="0" marR="0" indent="0" fontAlgn="base">
              <a:lnSpc>
                <a:spcPct val="12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A) 33%</a:t>
            </a:r>
          </a:p>
          <a:p>
            <a:pPr marL="0" marR="0" indent="0" fontAlgn="base">
              <a:lnSpc>
                <a:spcPct val="12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B) </a:t>
            </a:r>
            <a:r>
              <a:rPr lang="en-US" sz="1100" dirty="0">
                <a:latin typeface="Arial" panose="020B0604020202020204" pitchFamily="34" charset="0"/>
                <a:ea typeface="Times New Roman" panose="02020603050405020304" pitchFamily="18" charset="0"/>
                <a:cs typeface="Arial" panose="020B0604020202020204" pitchFamily="34" charset="0"/>
              </a:rPr>
              <a:t>72%</a:t>
            </a:r>
            <a:endParaRPr lang="en-US" sz="110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C) </a:t>
            </a:r>
            <a:r>
              <a:rPr lang="en-US" sz="1100" dirty="0">
                <a:latin typeface="Arial" panose="020B0604020202020204" pitchFamily="34" charset="0"/>
                <a:ea typeface="Times New Roman" panose="02020603050405020304" pitchFamily="18" charset="0"/>
                <a:cs typeface="Arial" panose="020B0604020202020204" pitchFamily="34" charset="0"/>
              </a:rPr>
              <a:t>57</a:t>
            </a:r>
            <a:r>
              <a:rPr lang="en-US" sz="1100" dirty="0">
                <a:effectLst/>
                <a:latin typeface="Arial" panose="020B0604020202020204" pitchFamily="34" charset="0"/>
                <a:ea typeface="Times New Roman" panose="02020603050405020304" pitchFamily="18" charset="0"/>
                <a:cs typeface="Arial" panose="020B0604020202020204" pitchFamily="34" charset="0"/>
              </a:rPr>
              <a:t>%</a:t>
            </a:r>
          </a:p>
          <a:p>
            <a:pPr marL="0" marR="0" indent="0" fontAlgn="base">
              <a:lnSpc>
                <a:spcPct val="120000"/>
              </a:lnSpc>
              <a:spcBef>
                <a:spcPts val="0"/>
              </a:spcBef>
              <a:spcAft>
                <a:spcPts val="0"/>
              </a:spcAft>
              <a:buNone/>
            </a:pPr>
            <a:r>
              <a:rPr lang="en-US" sz="1100" dirty="0">
                <a:latin typeface="Arial" panose="020B0604020202020204" pitchFamily="34" charset="0"/>
                <a:ea typeface="Times New Roman" panose="02020603050405020304" pitchFamily="18" charset="0"/>
                <a:cs typeface="Arial" panose="020B0604020202020204" pitchFamily="34" charset="0"/>
              </a:rPr>
              <a:t>D) 64%</a:t>
            </a:r>
            <a:endParaRPr lang="en-US" sz="110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endParaRPr lang="en-US" sz="110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100" b="1" dirty="0">
                <a:effectLst/>
                <a:latin typeface="Arial" panose="020B0604020202020204" pitchFamily="34" charset="0"/>
                <a:ea typeface="Times New Roman" panose="02020603050405020304" pitchFamily="18" charset="0"/>
                <a:cs typeface="Arial" panose="020B0604020202020204" pitchFamily="34" charset="0"/>
              </a:rPr>
              <a:t>2.What is Online store</a:t>
            </a:r>
            <a:r>
              <a:rPr lang="en-US" sz="1100" b="1" dirty="0">
                <a:latin typeface="Arial" panose="020B0604020202020204" pitchFamily="34" charset="0"/>
                <a:ea typeface="Times New Roman" panose="02020603050405020304" pitchFamily="18" charset="0"/>
                <a:cs typeface="Arial" panose="020B0604020202020204" pitchFamily="34" charset="0"/>
              </a:rPr>
              <a:t>?</a:t>
            </a:r>
            <a:endParaRPr lang="en-US" sz="1100" b="1" dirty="0">
              <a:effectLst/>
              <a:latin typeface="Arial" panose="020B0604020202020204" pitchFamily="34" charset="0"/>
              <a:ea typeface="Times New Roman" panose="02020603050405020304" pitchFamily="18" charset="0"/>
              <a:cs typeface="Arial" panose="020B0604020202020204" pitchFamily="34" charset="0"/>
            </a:endParaRPr>
          </a:p>
          <a:p>
            <a:pPr marL="0" indent="0" fontAlgn="base">
              <a:lnSpc>
                <a:spcPct val="120000"/>
              </a:lnSpc>
              <a:spcBef>
                <a:spcPts val="0"/>
              </a:spcBef>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A) A shopping cart that takes customers to another site to complete the sale</a:t>
            </a:r>
          </a:p>
          <a:p>
            <a:pPr marL="0" marR="0" indent="0">
              <a:spcBef>
                <a:spcPts val="50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B) A powerful shopping cart/storefront that seamlessly integrates with Online presence builder. </a:t>
            </a:r>
          </a:p>
          <a:p>
            <a:pPr marL="0" marR="0" indent="0">
              <a:spcBef>
                <a:spcPts val="500"/>
              </a:spcBef>
              <a:spcAft>
                <a:spcPts val="0"/>
              </a:spcAft>
              <a:buNone/>
            </a:pPr>
            <a:r>
              <a:rPr lang="en-US" sz="1100" dirty="0">
                <a:latin typeface="Arial" panose="020B0604020202020204" pitchFamily="34" charset="0"/>
                <a:ea typeface="Times New Roman" panose="02020603050405020304" pitchFamily="18" charset="0"/>
                <a:cs typeface="Arial" panose="020B0604020202020204" pitchFamily="34" charset="0"/>
              </a:rPr>
              <a:t>C)</a:t>
            </a:r>
            <a:r>
              <a:rPr lang="en-US" sz="1100" dirty="0">
                <a:effectLst/>
                <a:latin typeface="Arial" panose="020B0604020202020204" pitchFamily="34" charset="0"/>
                <a:ea typeface="Times New Roman" panose="02020603050405020304" pitchFamily="18" charset="0"/>
                <a:cs typeface="Arial" panose="020B0604020202020204" pitchFamily="34" charset="0"/>
              </a:rPr>
              <a:t> </a:t>
            </a:r>
            <a:r>
              <a:rPr lang="en-US" sz="1100" dirty="0">
                <a:latin typeface="Arial" panose="020B0604020202020204" pitchFamily="34" charset="0"/>
                <a:ea typeface="Times New Roman" panose="02020603050405020304" pitchFamily="18" charset="0"/>
                <a:cs typeface="Arial" panose="020B0604020202020204" pitchFamily="34" charset="0"/>
              </a:rPr>
              <a:t>A shopping cart that doesn’t manage your inventory</a:t>
            </a:r>
            <a:endParaRPr lang="en-US" sz="1100" dirty="0">
              <a:effectLst/>
              <a:latin typeface="Arial" panose="020B0604020202020204" pitchFamily="34" charset="0"/>
              <a:ea typeface="Times New Roman" panose="02020603050405020304" pitchFamily="18" charset="0"/>
              <a:cs typeface="Arial" panose="020B0604020202020204" pitchFamily="34" charset="0"/>
            </a:endParaRPr>
          </a:p>
          <a:p>
            <a:pPr marL="0" indent="0" fontAlgn="base">
              <a:lnSpc>
                <a:spcPct val="120000"/>
              </a:lnSpc>
              <a:spcBef>
                <a:spcPts val="0"/>
              </a:spcBef>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D) None of the above</a:t>
            </a:r>
          </a:p>
          <a:p>
            <a:pPr marL="0" marR="0" indent="0" fontAlgn="base">
              <a:lnSpc>
                <a:spcPct val="120000"/>
              </a:lnSpc>
              <a:spcBef>
                <a:spcPts val="0"/>
              </a:spcBef>
              <a:spcAft>
                <a:spcPts val="0"/>
              </a:spcAft>
              <a:buNone/>
            </a:pPr>
            <a:endParaRPr lang="en-US" sz="1100" b="1"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100" b="1" dirty="0">
                <a:effectLst/>
                <a:latin typeface="Arial" panose="020B0604020202020204" pitchFamily="34" charset="0"/>
                <a:ea typeface="Times New Roman" panose="02020603050405020304" pitchFamily="18" charset="0"/>
                <a:cs typeface="Arial" panose="020B0604020202020204" pitchFamily="34" charset="0"/>
              </a:rPr>
              <a:t>3. True or False: The online store integrates with online presence builder.</a:t>
            </a:r>
          </a:p>
          <a:p>
            <a:pPr marL="0" marR="0" indent="0" fontAlgn="base">
              <a:lnSpc>
                <a:spcPct val="12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A) True</a:t>
            </a:r>
          </a:p>
          <a:p>
            <a:pPr marL="0" marR="0" indent="0" fontAlgn="base">
              <a:lnSpc>
                <a:spcPct val="12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B) False</a:t>
            </a:r>
          </a:p>
          <a:p>
            <a:pPr marL="0" marR="0" indent="0" fontAlgn="base">
              <a:lnSpc>
                <a:spcPct val="120000"/>
              </a:lnSpc>
              <a:spcBef>
                <a:spcPts val="0"/>
              </a:spcBef>
              <a:spcAft>
                <a:spcPts val="0"/>
              </a:spcAft>
              <a:buNone/>
            </a:pPr>
            <a:endParaRPr lang="en-US" sz="1100" b="1"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100" b="1" dirty="0">
                <a:effectLst/>
                <a:latin typeface="Arial" panose="020B0604020202020204" pitchFamily="34" charset="0"/>
                <a:ea typeface="Times New Roman" panose="02020603050405020304" pitchFamily="18" charset="0"/>
                <a:cs typeface="Arial" panose="020B0604020202020204" pitchFamily="34" charset="0"/>
              </a:rPr>
              <a:t>4. What are benefits of using online store?</a:t>
            </a:r>
          </a:p>
          <a:p>
            <a:pPr marL="0" marR="0" indent="0" fontAlgn="base">
              <a:lnSpc>
                <a:spcPct val="12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A) Simple</a:t>
            </a:r>
          </a:p>
          <a:p>
            <a:pPr marL="0" marR="0" indent="0" fontAlgn="base">
              <a:lnSpc>
                <a:spcPct val="12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B) </a:t>
            </a:r>
            <a:r>
              <a:rPr lang="en-US" sz="1100" dirty="0">
                <a:latin typeface="Arial" panose="020B0604020202020204" pitchFamily="34" charset="0"/>
                <a:ea typeface="Times New Roman" panose="02020603050405020304" pitchFamily="18" charset="0"/>
                <a:cs typeface="Arial" panose="020B0604020202020204" pitchFamily="34" charset="0"/>
              </a:rPr>
              <a:t>Cost effective</a:t>
            </a:r>
            <a:endParaRPr lang="en-US" sz="110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100" dirty="0">
                <a:latin typeface="Arial" panose="020B0604020202020204" pitchFamily="34" charset="0"/>
                <a:ea typeface="Times New Roman" panose="02020603050405020304" pitchFamily="18" charset="0"/>
                <a:cs typeface="Arial" panose="020B0604020202020204" pitchFamily="34" charset="0"/>
              </a:rPr>
              <a:t>C) Secure</a:t>
            </a:r>
          </a:p>
          <a:p>
            <a:pPr marL="0" marR="0" indent="0" fontAlgn="base">
              <a:lnSpc>
                <a:spcPct val="12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D) All of the above</a:t>
            </a:r>
          </a:p>
          <a:p>
            <a:pPr marL="0" marR="0" indent="0" fontAlgn="base">
              <a:lnSpc>
                <a:spcPct val="120000"/>
              </a:lnSpc>
              <a:spcBef>
                <a:spcPts val="0"/>
              </a:spcBef>
              <a:spcAft>
                <a:spcPts val="0"/>
              </a:spcAft>
              <a:buNone/>
            </a:pPr>
            <a:endParaRPr lang="en-US" sz="1100" b="1"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100" b="1" dirty="0">
                <a:effectLst/>
                <a:latin typeface="Arial" panose="020B0604020202020204" pitchFamily="34" charset="0"/>
                <a:ea typeface="Times New Roman" panose="02020603050405020304" pitchFamily="18" charset="0"/>
                <a:cs typeface="Arial" panose="020B0604020202020204" pitchFamily="34" charset="0"/>
              </a:rPr>
              <a:t>5. What can you track with online store?</a:t>
            </a:r>
          </a:p>
          <a:p>
            <a:pPr marL="0" marR="0" indent="0" fontAlgn="base">
              <a:lnSpc>
                <a:spcPct val="120000"/>
              </a:lnSpc>
              <a:spcBef>
                <a:spcPts val="0"/>
              </a:spcBef>
              <a:spcAft>
                <a:spcPts val="0"/>
              </a:spcAft>
              <a:buNone/>
            </a:pPr>
            <a:r>
              <a:rPr lang="en-US" sz="1100" dirty="0">
                <a:effectLst/>
                <a:latin typeface="Arial" panose="020B0604020202020204" pitchFamily="34" charset="0"/>
                <a:ea typeface="MS Mincho" panose="02020609040205080304" pitchFamily="49" charset="-128"/>
              </a:rPr>
              <a:t>A) Inventory</a:t>
            </a:r>
          </a:p>
          <a:p>
            <a:pPr marL="0" marR="0" indent="0" fontAlgn="base">
              <a:lnSpc>
                <a:spcPct val="12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B) Order history</a:t>
            </a:r>
          </a:p>
          <a:p>
            <a:pPr marL="0" marR="0" indent="0" fontAlgn="base">
              <a:lnSpc>
                <a:spcPct val="12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C) </a:t>
            </a:r>
            <a:r>
              <a:rPr lang="en-US" sz="1100" dirty="0">
                <a:effectLst/>
                <a:latin typeface="Arial" panose="020B0604020202020204" pitchFamily="34" charset="0"/>
                <a:ea typeface="MS Mincho" panose="02020609040205080304" pitchFamily="49" charset="-128"/>
              </a:rPr>
              <a:t>Both A and B</a:t>
            </a:r>
          </a:p>
          <a:p>
            <a:pPr marL="0" marR="0" indent="0" fontAlgn="base">
              <a:lnSpc>
                <a:spcPct val="12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D) </a:t>
            </a:r>
            <a:r>
              <a:rPr lang="en-US" sz="1100" dirty="0">
                <a:effectLst/>
                <a:latin typeface="Arial" panose="020B0604020202020204" pitchFamily="34" charset="0"/>
                <a:ea typeface="MS Mincho" panose="02020609040205080304" pitchFamily="49" charset="-128"/>
                <a:cs typeface="Arial" panose="020B0604020202020204" pitchFamily="34" charset="0"/>
              </a:rPr>
              <a:t>None of the above</a:t>
            </a:r>
          </a:p>
        </p:txBody>
      </p:sp>
    </p:spTree>
    <p:extLst>
      <p:ext uri="{BB962C8B-B14F-4D97-AF65-F5344CB8AC3E}">
        <p14:creationId xmlns:p14="http://schemas.microsoft.com/office/powerpoint/2010/main" val="25342053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468B852A-32EF-6B1E-B4D7-1EFB8581EB20}"/>
              </a:ext>
            </a:extLst>
          </p:cNvPr>
          <p:cNvSpPr txBox="1">
            <a:spLocks/>
          </p:cNvSpPr>
          <p:nvPr/>
        </p:nvSpPr>
        <p:spPr>
          <a:xfrm>
            <a:off x="804672" y="744574"/>
            <a:ext cx="4702993" cy="5922926"/>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buFont typeface="+mj-lt"/>
              <a:buAutoNum type="arabicPeriod"/>
            </a:pPr>
            <a:endParaRPr lang="en-US" sz="800" b="0" i="0">
              <a:solidFill>
                <a:srgbClr val="374151"/>
              </a:solidFill>
              <a:effectLst/>
              <a:latin typeface="Söhne"/>
            </a:endParaRPr>
          </a:p>
        </p:txBody>
      </p:sp>
      <p:sp>
        <p:nvSpPr>
          <p:cNvPr id="3" name="Content Placeholder 2">
            <a:extLst>
              <a:ext uri="{FF2B5EF4-FFF2-40B4-BE49-F238E27FC236}">
                <a16:creationId xmlns:a16="http://schemas.microsoft.com/office/drawing/2014/main" id="{E8CC447A-EE98-AAA9-1D05-19E5CBB16F45}"/>
              </a:ext>
            </a:extLst>
          </p:cNvPr>
          <p:cNvSpPr txBox="1">
            <a:spLocks/>
          </p:cNvSpPr>
          <p:nvPr/>
        </p:nvSpPr>
        <p:spPr>
          <a:xfrm>
            <a:off x="1223772" y="1468474"/>
            <a:ext cx="6231128" cy="5922926"/>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fontAlgn="base">
              <a:lnSpc>
                <a:spcPct val="200000"/>
              </a:lnSpc>
              <a:spcBef>
                <a:spcPts val="0"/>
              </a:spcBef>
              <a:spcAft>
                <a:spcPts val="0"/>
              </a:spcAft>
              <a:buFont typeface="+mj-lt"/>
              <a:buAutoNum type="arabicPeriod"/>
            </a:pPr>
            <a:r>
              <a:rPr lang="en-US" sz="1200" dirty="0">
                <a:effectLst/>
                <a:latin typeface="Arial" panose="020B0604020202020204" pitchFamily="34" charset="0"/>
                <a:ea typeface="Times New Roman" panose="02020603050405020304" pitchFamily="18" charset="0"/>
                <a:cs typeface="Arial" panose="020B0604020202020204" pitchFamily="34" charset="0"/>
              </a:rPr>
              <a:t>C) 57%</a:t>
            </a:r>
          </a:p>
          <a:p>
            <a:pPr fontAlgn="base">
              <a:lnSpc>
                <a:spcPct val="200000"/>
              </a:lnSpc>
              <a:spcBef>
                <a:spcPts val="0"/>
              </a:spcBef>
              <a:buFont typeface="+mj-lt"/>
              <a:buAutoNum type="arabicPeriod"/>
            </a:pPr>
            <a:r>
              <a:rPr lang="en-US" sz="1200" dirty="0">
                <a:latin typeface="Arial" panose="020B0604020202020204" pitchFamily="34" charset="0"/>
                <a:ea typeface="Times New Roman" panose="02020603050405020304" pitchFamily="18" charset="0"/>
                <a:cs typeface="Arial" panose="020B0604020202020204" pitchFamily="34" charset="0"/>
              </a:rPr>
              <a:t>B) </a:t>
            </a:r>
            <a:r>
              <a:rPr lang="en-US" sz="1200" dirty="0">
                <a:effectLst/>
                <a:latin typeface="Arial" panose="020B0604020202020204" pitchFamily="34" charset="0"/>
                <a:ea typeface="Times New Roman" panose="02020603050405020304" pitchFamily="18" charset="0"/>
                <a:cs typeface="Arial" panose="020B0604020202020204" pitchFamily="34" charset="0"/>
              </a:rPr>
              <a:t>A powerful shopping cart/storefront that seamlessly integrates with Online presence builder. </a:t>
            </a:r>
            <a:endParaRPr lang="en-US" sz="1200" dirty="0">
              <a:latin typeface="Arial" panose="020B0604020202020204" pitchFamily="34" charset="0"/>
              <a:ea typeface="Times New Roman" panose="02020603050405020304" pitchFamily="18" charset="0"/>
              <a:cs typeface="Arial" panose="020B0604020202020204" pitchFamily="34" charset="0"/>
            </a:endParaRPr>
          </a:p>
          <a:p>
            <a:pPr marR="0" fontAlgn="base">
              <a:lnSpc>
                <a:spcPct val="200000"/>
              </a:lnSpc>
              <a:spcBef>
                <a:spcPts val="0"/>
              </a:spcBef>
              <a:spcAft>
                <a:spcPts val="0"/>
              </a:spcAft>
              <a:buFont typeface="+mj-lt"/>
              <a:buAutoNum type="arabicPeriod"/>
            </a:pPr>
            <a:r>
              <a:rPr lang="en-US" sz="1200" dirty="0">
                <a:latin typeface="Arial" panose="020B0604020202020204" pitchFamily="34" charset="0"/>
                <a:ea typeface="Times New Roman" panose="02020603050405020304" pitchFamily="18" charset="0"/>
                <a:cs typeface="Arial" panose="020B0604020202020204" pitchFamily="34" charset="0"/>
              </a:rPr>
              <a:t>A</a:t>
            </a:r>
            <a:r>
              <a:rPr lang="en-US" sz="1200" dirty="0">
                <a:effectLst/>
                <a:latin typeface="Arial" panose="020B0604020202020204" pitchFamily="34" charset="0"/>
                <a:ea typeface="Times New Roman" panose="02020603050405020304" pitchFamily="18" charset="0"/>
                <a:cs typeface="Arial" panose="020B0604020202020204" pitchFamily="34" charset="0"/>
              </a:rPr>
              <a:t>) True</a:t>
            </a:r>
          </a:p>
          <a:p>
            <a:pPr marR="0" fontAlgn="base">
              <a:lnSpc>
                <a:spcPct val="200000"/>
              </a:lnSpc>
              <a:spcBef>
                <a:spcPts val="0"/>
              </a:spcBef>
              <a:spcAft>
                <a:spcPts val="0"/>
              </a:spcAft>
              <a:buFont typeface="+mj-lt"/>
              <a:buAutoNum type="arabicPeriod"/>
            </a:pPr>
            <a:r>
              <a:rPr lang="en-US" sz="1200" dirty="0">
                <a:effectLst/>
                <a:latin typeface="Arial" panose="020B0604020202020204" pitchFamily="34" charset="0"/>
                <a:ea typeface="Times New Roman" panose="02020603050405020304" pitchFamily="18" charset="0"/>
                <a:cs typeface="Arial" panose="020B0604020202020204" pitchFamily="34" charset="0"/>
              </a:rPr>
              <a:t>D) All of the above</a:t>
            </a:r>
          </a:p>
          <a:p>
            <a:pPr marR="0" fontAlgn="base">
              <a:lnSpc>
                <a:spcPct val="200000"/>
              </a:lnSpc>
              <a:spcBef>
                <a:spcPts val="0"/>
              </a:spcBef>
              <a:spcAft>
                <a:spcPts val="0"/>
              </a:spcAft>
              <a:buFont typeface="+mj-lt"/>
              <a:buAutoNum type="arabicPeriod"/>
            </a:pPr>
            <a:r>
              <a:rPr lang="en-US" sz="1200" dirty="0">
                <a:effectLst/>
                <a:latin typeface="Arial" panose="020B0604020202020204" pitchFamily="34" charset="0"/>
                <a:ea typeface="Times New Roman" panose="02020603050405020304" pitchFamily="18" charset="0"/>
                <a:cs typeface="Arial" panose="020B0604020202020204" pitchFamily="34" charset="0"/>
              </a:rPr>
              <a:t>C) Both A and B</a:t>
            </a:r>
          </a:p>
          <a:p>
            <a:pPr marR="0" fontAlgn="base">
              <a:lnSpc>
                <a:spcPct val="200000"/>
              </a:lnSpc>
              <a:spcBef>
                <a:spcPts val="0"/>
              </a:spcBef>
              <a:spcAft>
                <a:spcPts val="0"/>
              </a:spcAft>
              <a:buFont typeface="+mj-lt"/>
              <a:buAutoNum type="arabicPeriod"/>
            </a:pPr>
            <a:r>
              <a:rPr lang="en-US" sz="1200" dirty="0">
                <a:effectLst/>
                <a:latin typeface="Arial" panose="020B0604020202020204" pitchFamily="34" charset="0"/>
                <a:ea typeface="Times New Roman" panose="02020603050405020304" pitchFamily="18" charset="0"/>
                <a:cs typeface="Arial" panose="020B0604020202020204" pitchFamily="34" charset="0"/>
              </a:rPr>
              <a:t>C) 22%</a:t>
            </a:r>
          </a:p>
          <a:p>
            <a:pPr marR="0" fontAlgn="base">
              <a:lnSpc>
                <a:spcPct val="200000"/>
              </a:lnSpc>
              <a:spcBef>
                <a:spcPts val="0"/>
              </a:spcBef>
              <a:spcAft>
                <a:spcPts val="0"/>
              </a:spcAft>
              <a:buFont typeface="+mj-lt"/>
              <a:buAutoNum type="arabicPeriod"/>
            </a:pPr>
            <a:r>
              <a:rPr lang="en-US" sz="1200" dirty="0">
                <a:latin typeface="Arial" panose="020B0604020202020204" pitchFamily="34" charset="0"/>
                <a:ea typeface="Times New Roman" panose="02020603050405020304" pitchFamily="18" charset="0"/>
                <a:cs typeface="Arial" panose="020B0604020202020204" pitchFamily="34" charset="0"/>
              </a:rPr>
              <a:t>B</a:t>
            </a:r>
            <a:r>
              <a:rPr lang="en-US" sz="1200" dirty="0">
                <a:effectLst/>
                <a:latin typeface="Arial" panose="020B0604020202020204" pitchFamily="34" charset="0"/>
                <a:ea typeface="Times New Roman" panose="02020603050405020304" pitchFamily="18" charset="0"/>
                <a:cs typeface="Arial" panose="020B0604020202020204" pitchFamily="34" charset="0"/>
              </a:rPr>
              <a:t>) False</a:t>
            </a:r>
          </a:p>
          <a:p>
            <a:pPr marR="0" fontAlgn="base">
              <a:lnSpc>
                <a:spcPct val="200000"/>
              </a:lnSpc>
              <a:spcBef>
                <a:spcPts val="0"/>
              </a:spcBef>
              <a:spcAft>
                <a:spcPts val="0"/>
              </a:spcAft>
              <a:buFont typeface="+mj-lt"/>
              <a:buAutoNum type="arabicPeriod"/>
            </a:pPr>
            <a:r>
              <a:rPr lang="en-US" sz="1200" dirty="0">
                <a:effectLst/>
                <a:latin typeface="Arial" panose="020B0604020202020204" pitchFamily="34" charset="0"/>
                <a:ea typeface="Times New Roman" panose="02020603050405020304" pitchFamily="18" charset="0"/>
                <a:cs typeface="Arial" panose="020B0604020202020204" pitchFamily="34" charset="0"/>
              </a:rPr>
              <a:t>D) All of the above</a:t>
            </a:r>
          </a:p>
          <a:p>
            <a:pPr marR="0" fontAlgn="base">
              <a:lnSpc>
                <a:spcPct val="200000"/>
              </a:lnSpc>
              <a:spcBef>
                <a:spcPts val="0"/>
              </a:spcBef>
              <a:spcAft>
                <a:spcPts val="0"/>
              </a:spcAft>
              <a:buFont typeface="+mj-lt"/>
              <a:buAutoNum type="arabicPeriod"/>
            </a:pPr>
            <a:r>
              <a:rPr lang="en-US" sz="1200" dirty="0">
                <a:effectLst/>
                <a:latin typeface="Arial" panose="020B0604020202020204" pitchFamily="34" charset="0"/>
                <a:ea typeface="Times New Roman" panose="02020603050405020304" pitchFamily="18" charset="0"/>
                <a:cs typeface="Arial" panose="020B0604020202020204" pitchFamily="34" charset="0"/>
              </a:rPr>
              <a:t>D) All of the above</a:t>
            </a:r>
          </a:p>
          <a:p>
            <a:pPr fontAlgn="base">
              <a:lnSpc>
                <a:spcPct val="200000"/>
              </a:lnSpc>
              <a:spcBef>
                <a:spcPts val="0"/>
              </a:spcBef>
              <a:buFont typeface="+mj-lt"/>
              <a:buAutoNum type="arabicPeriod"/>
            </a:pPr>
            <a:r>
              <a:rPr lang="en-US" sz="1200" dirty="0">
                <a:effectLst/>
                <a:latin typeface="Arial" panose="020B0604020202020204" pitchFamily="34" charset="0"/>
                <a:ea typeface="Times New Roman" panose="02020603050405020304" pitchFamily="18" charset="0"/>
                <a:cs typeface="Arial" panose="020B0604020202020204" pitchFamily="34" charset="0"/>
              </a:rPr>
              <a:t>A) Ecommerce sa</a:t>
            </a:r>
            <a:r>
              <a:rPr lang="en-US" sz="1200" dirty="0">
                <a:latin typeface="Arial" panose="020B0604020202020204" pitchFamily="34" charset="0"/>
                <a:ea typeface="Times New Roman" panose="02020603050405020304" pitchFamily="18" charset="0"/>
                <a:cs typeface="Arial" panose="020B0604020202020204" pitchFamily="34" charset="0"/>
              </a:rPr>
              <a:t>les</a:t>
            </a:r>
            <a:r>
              <a:rPr lang="en-US" sz="1200" dirty="0">
                <a:effectLst/>
                <a:latin typeface="Arial" panose="020B0604020202020204" pitchFamily="34" charset="0"/>
                <a:ea typeface="Times New Roman" panose="02020603050405020304" pitchFamily="18" charset="0"/>
                <a:cs typeface="Arial" panose="020B0604020202020204" pitchFamily="34" charset="0"/>
              </a:rPr>
              <a:t> decreased during covid</a:t>
            </a:r>
          </a:p>
          <a:p>
            <a:pPr marL="0" marR="0" indent="0" fontAlgn="base">
              <a:lnSpc>
                <a:spcPct val="200000"/>
              </a:lnSpc>
              <a:spcBef>
                <a:spcPts val="0"/>
              </a:spcBef>
              <a:spcAft>
                <a:spcPts val="0"/>
              </a:spcAft>
              <a:buNone/>
            </a:pPr>
            <a:endParaRPr lang="en-US" sz="1200" dirty="0">
              <a:effectLst/>
              <a:latin typeface="Arial" panose="020B0604020202020204" pitchFamily="34" charset="0"/>
              <a:ea typeface="Times New Roman" panose="02020603050405020304" pitchFamily="18" charset="0"/>
              <a:cs typeface="Arial" panose="020B0604020202020204" pitchFamily="34" charset="0"/>
            </a:endParaRPr>
          </a:p>
        </p:txBody>
      </p:sp>
      <p:sp>
        <p:nvSpPr>
          <p:cNvPr id="6" name="Title 1">
            <a:extLst>
              <a:ext uri="{FF2B5EF4-FFF2-40B4-BE49-F238E27FC236}">
                <a16:creationId xmlns:a16="http://schemas.microsoft.com/office/drawing/2014/main" id="{4EC76ECD-341B-9003-FACB-F170EE7B8AD1}"/>
              </a:ext>
            </a:extLst>
          </p:cNvPr>
          <p:cNvSpPr>
            <a:spLocks noGrp="1"/>
          </p:cNvSpPr>
          <p:nvPr>
            <p:ph type="title"/>
          </p:nvPr>
        </p:nvSpPr>
        <p:spPr>
          <a:xfrm>
            <a:off x="838200" y="365125"/>
            <a:ext cx="10515600" cy="1325563"/>
          </a:xfrm>
        </p:spPr>
        <p:txBody>
          <a:bodyPr>
            <a:normAutofit/>
          </a:bodyPr>
          <a:lstStyle/>
          <a:p>
            <a:r>
              <a:rPr lang="en-US" sz="3200" b="1" dirty="0">
                <a:solidFill>
                  <a:schemeClr val="accent2"/>
                </a:solidFill>
                <a:latin typeface="Arial" panose="020B0604020202020204" pitchFamily="34" charset="0"/>
                <a:ea typeface="MS Mincho" panose="02020609040205080304" pitchFamily="49" charset="-128"/>
              </a:rPr>
              <a:t>Correct Answers</a:t>
            </a:r>
            <a:endParaRPr lang="en-US" sz="6600" b="1" dirty="0">
              <a:solidFill>
                <a:schemeClr val="accent2"/>
              </a:solidFill>
            </a:endParaRPr>
          </a:p>
        </p:txBody>
      </p:sp>
    </p:spTree>
    <p:extLst>
      <p:ext uri="{BB962C8B-B14F-4D97-AF65-F5344CB8AC3E}">
        <p14:creationId xmlns:p14="http://schemas.microsoft.com/office/powerpoint/2010/main" val="42666426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4584</TotalTime>
  <Words>2027</Words>
  <Application>Microsoft Office PowerPoint</Application>
  <PresentationFormat>Widescreen</PresentationFormat>
  <Paragraphs>200</Paragraphs>
  <Slides>21</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Calibri Light</vt:lpstr>
      <vt:lpstr>Cambria</vt:lpstr>
      <vt:lpstr>Söhne</vt:lpstr>
      <vt:lpstr>Symbol</vt:lpstr>
      <vt:lpstr>Office Theme</vt:lpstr>
      <vt:lpstr>Ecommerce</vt:lpstr>
      <vt:lpstr>Agenda</vt:lpstr>
      <vt:lpstr>Ecommerce allows businesses to make sales outside of business hours </vt:lpstr>
      <vt:lpstr>PowerPoint Presentation</vt:lpstr>
      <vt:lpstr>Impact of Ecommerce on businesses</vt:lpstr>
      <vt:lpstr>PowerPoint Presentation</vt:lpstr>
      <vt:lpstr>PowerPoint Presentation</vt:lpstr>
      <vt:lpstr>Features</vt:lpstr>
      <vt:lpstr>How it works</vt:lpstr>
      <vt:lpstr>Activate the online store</vt:lpstr>
      <vt:lpstr>Benefits</vt:lpstr>
      <vt:lpstr>Q &amp; A / Next steps</vt:lpstr>
      <vt:lpstr>Frequently Asked Questions</vt:lpstr>
      <vt:lpstr>PowerPoint Presentation</vt:lpstr>
      <vt:lpstr>Probing Questions</vt:lpstr>
      <vt:lpstr>PowerPoint Presentation</vt:lpstr>
      <vt:lpstr>Objection Handlers</vt:lpstr>
      <vt:lpstr>PowerPoint Presentation</vt:lpstr>
      <vt:lpstr>Test your Knowledge</vt:lpstr>
      <vt:lpstr>PowerPoint Presentation</vt:lpstr>
      <vt:lpstr>Correct Answers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Ecommerce</dc:title>
  <dc:creator>Fejdasz, Kayla</dc:creator>
  <cp:lastModifiedBy>Shujaat, Faizan</cp:lastModifiedBy>
  <cp:revision>2</cp:revision>
  <dcterms:created xsi:type="dcterms:W3CDTF">2023-06-06T16:25:32Z</dcterms:created>
  <dcterms:modified xsi:type="dcterms:W3CDTF">2023-07-09T18:28:30Z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9208c94-c58f-41ad-a867-99d88e16cd43_Enabled">
    <vt:lpwstr>true</vt:lpwstr>
  </property>
  <property fmtid="{D5CDD505-2E9C-101B-9397-08002B2CF9AE}" pid="3" name="MSIP_Label_59208c94-c58f-41ad-a867-99d88e16cd43_SetDate">
    <vt:lpwstr>2023-06-06T16:27:09Z</vt:lpwstr>
  </property>
  <property fmtid="{D5CDD505-2E9C-101B-9397-08002B2CF9AE}" pid="4" name="MSIP_Label_59208c94-c58f-41ad-a867-99d88e16cd43_Method">
    <vt:lpwstr>Privileged</vt:lpwstr>
  </property>
  <property fmtid="{D5CDD505-2E9C-101B-9397-08002B2CF9AE}" pid="5" name="MSIP_Label_59208c94-c58f-41ad-a867-99d88e16cd43_Name">
    <vt:lpwstr>Internal</vt:lpwstr>
  </property>
  <property fmtid="{D5CDD505-2E9C-101B-9397-08002B2CF9AE}" pid="6" name="MSIP_Label_59208c94-c58f-41ad-a867-99d88e16cd43_SiteId">
    <vt:lpwstr>1f7c1878-7408-4f86-b429-cf17f96a717c</vt:lpwstr>
  </property>
  <property fmtid="{D5CDD505-2E9C-101B-9397-08002B2CF9AE}" pid="7" name="MSIP_Label_59208c94-c58f-41ad-a867-99d88e16cd43_ActionId">
    <vt:lpwstr>c7e13bb6-be24-43a8-8f34-76e809c85a90</vt:lpwstr>
  </property>
  <property fmtid="{D5CDD505-2E9C-101B-9397-08002B2CF9AE}" pid="8" name="MSIP_Label_59208c94-c58f-41ad-a867-99d88e16cd43_ContentBits">
    <vt:lpwstr>2</vt:lpwstr>
  </property>
  <property fmtid="{D5CDD505-2E9C-101B-9397-08002B2CF9AE}" pid="9" name="ClassificationContentMarkingFooterLocations">
    <vt:lpwstr>Office Theme:8</vt:lpwstr>
  </property>
  <property fmtid="{D5CDD505-2E9C-101B-9397-08002B2CF9AE}" pid="10" name="ClassificationContentMarkingFooterText">
    <vt:lpwstr>Internal </vt:lpwstr>
  </property>
</Properties>
</file>