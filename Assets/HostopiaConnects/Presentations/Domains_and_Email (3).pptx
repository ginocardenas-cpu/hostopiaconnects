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AD54B6-E828-41B8-80BD-594884BC4C51}" v="2" dt="2023-07-09T17:24:24.951"/>
    <p1510:client id="{76C700BE-4081-4726-A6CF-7B71759E3DDF}" v="7" dt="2023-07-09T17:11:03.0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78" d="100"/>
          <a:sy n="78" d="100"/>
        </p:scale>
        <p:origin x="715"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0CCCE075-E2E3-4113-BA8F-B831744AAA5E}" type="datetimeFigureOut">
              <a:rPr lang="en-US" smtClean="0"/>
              <a:pPr/>
              <a:t>7/9/2023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F2E775EC-5F9A-4F65-8BEB-2531841EC7E4}" type="slidenum">
              <a:rPr lang="en-US" smtClean="0"/>
              <a:pPr/>
              <a:t>‹#›</a:t>
            </a:fld>
            <a:endParaRPr lang="en-US" dirty="0"/>
          </a:p>
        </p:txBody>
      </p:sp>
    </p:spTree>
    <p:extLst>
      <p:ext uri="{BB962C8B-B14F-4D97-AF65-F5344CB8AC3E}">
        <p14:creationId xmlns:p14="http://schemas.microsoft.com/office/powerpoint/2010/main" val="143119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a:t>
            </a:fld>
            <a:endParaRPr lang="en-US"/>
          </a:p>
        </p:txBody>
      </p:sp>
    </p:spTree>
    <p:extLst>
      <p:ext uri="{BB962C8B-B14F-4D97-AF65-F5344CB8AC3E}">
        <p14:creationId xmlns:p14="http://schemas.microsoft.com/office/powerpoint/2010/main" val="2457568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a:t>
            </a:fld>
            <a:endParaRPr lang="en-US"/>
          </a:p>
        </p:txBody>
      </p:sp>
    </p:spTree>
    <p:extLst>
      <p:ext uri="{BB962C8B-B14F-4D97-AF65-F5344CB8AC3E}">
        <p14:creationId xmlns:p14="http://schemas.microsoft.com/office/powerpoint/2010/main" val="380043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3</a:t>
            </a:fld>
            <a:endParaRPr lang="en-US"/>
          </a:p>
        </p:txBody>
      </p:sp>
    </p:spTree>
    <p:extLst>
      <p:ext uri="{BB962C8B-B14F-4D97-AF65-F5344CB8AC3E}">
        <p14:creationId xmlns:p14="http://schemas.microsoft.com/office/powerpoint/2010/main" val="2350320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4</a:t>
            </a:fld>
            <a:endParaRPr lang="en-US"/>
          </a:p>
        </p:txBody>
      </p:sp>
    </p:spTree>
    <p:extLst>
      <p:ext uri="{BB962C8B-B14F-4D97-AF65-F5344CB8AC3E}">
        <p14:creationId xmlns:p14="http://schemas.microsoft.com/office/powerpoint/2010/main" val="3783951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5</a:t>
            </a:fld>
            <a:endParaRPr lang="en-US"/>
          </a:p>
        </p:txBody>
      </p:sp>
    </p:spTree>
    <p:extLst>
      <p:ext uri="{BB962C8B-B14F-4D97-AF65-F5344CB8AC3E}">
        <p14:creationId xmlns:p14="http://schemas.microsoft.com/office/powerpoint/2010/main" val="251464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6</a:t>
            </a:fld>
            <a:endParaRPr lang="en-US"/>
          </a:p>
        </p:txBody>
      </p:sp>
    </p:spTree>
    <p:extLst>
      <p:ext uri="{BB962C8B-B14F-4D97-AF65-F5344CB8AC3E}">
        <p14:creationId xmlns:p14="http://schemas.microsoft.com/office/powerpoint/2010/main" val="128743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17</a:t>
            </a:fld>
            <a:endParaRPr lang="en-US"/>
          </a:p>
        </p:txBody>
      </p:sp>
    </p:spTree>
    <p:extLst>
      <p:ext uri="{BB962C8B-B14F-4D97-AF65-F5344CB8AC3E}">
        <p14:creationId xmlns:p14="http://schemas.microsoft.com/office/powerpoint/2010/main" val="2602795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19</a:t>
            </a:fld>
            <a:endParaRPr lang="en-US"/>
          </a:p>
        </p:txBody>
      </p:sp>
    </p:spTree>
    <p:extLst>
      <p:ext uri="{BB962C8B-B14F-4D97-AF65-F5344CB8AC3E}">
        <p14:creationId xmlns:p14="http://schemas.microsoft.com/office/powerpoint/2010/main" val="670546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21</a:t>
            </a:fld>
            <a:endParaRPr lang="en-US"/>
          </a:p>
        </p:txBody>
      </p:sp>
    </p:spTree>
    <p:extLst>
      <p:ext uri="{BB962C8B-B14F-4D97-AF65-F5344CB8AC3E}">
        <p14:creationId xmlns:p14="http://schemas.microsoft.com/office/powerpoint/2010/main" val="396808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22</a:t>
            </a:fld>
            <a:endParaRPr lang="en-US"/>
          </a:p>
        </p:txBody>
      </p:sp>
    </p:spTree>
    <p:extLst>
      <p:ext uri="{BB962C8B-B14F-4D97-AF65-F5344CB8AC3E}">
        <p14:creationId xmlns:p14="http://schemas.microsoft.com/office/powerpoint/2010/main" val="1047089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FBD4D-DE77-5C33-C1E1-4B77626BB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41061D-A7C8-E47A-6BD7-28BBD1404F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D2CD9-C9F6-971F-444C-84E3ACA3E3F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5CF0053D-D9F9-6C93-DB61-DD0C5BF9C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048C4C-1CFB-6731-5BE7-6E0C67C232FF}"/>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43729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9847-DA81-ED5C-D168-41B0B4C876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D067F-E0E6-F4B3-AA9E-1C7FD4961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CD895-F0EE-0454-D274-87C83DAAA4D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1A52C02-6EE3-6AA7-10F1-F57408319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01FA4-3F5A-0CA7-2EF5-E93FF49225E9}"/>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75121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9D32D7-C89C-996C-FD67-E140DD583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9C94FC-427F-F8E1-F09D-8C8087D4A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0F26E8-989A-28B3-F80A-EB24AA36E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C57D70A5-BF3C-4DA7-987D-578DEFCFF55E}" type="datetimeFigureOut">
              <a:rPr lang="en-US" smtClean="0"/>
              <a:pPr/>
              <a:t>7/9/2023</a:t>
            </a:fld>
            <a:endParaRPr lang="en-US" dirty="0"/>
          </a:p>
        </p:txBody>
      </p:sp>
      <p:sp>
        <p:nvSpPr>
          <p:cNvPr id="5" name="Footer Placeholder 4">
            <a:extLst>
              <a:ext uri="{FF2B5EF4-FFF2-40B4-BE49-F238E27FC236}">
                <a16:creationId xmlns:a16="http://schemas.microsoft.com/office/drawing/2014/main" id="{B8243039-64B4-63D2-FAA7-514095D30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F4AE4C7A-8A5C-E747-DDEF-95A9C1FFA0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DBB7DFA0-4D9A-4002-B4D9-D990D290019E}" type="slidenum">
              <a:rPr lang="en-US" smtClean="0"/>
              <a:pPr/>
              <a:t>‹#›</a:t>
            </a:fld>
            <a:endParaRPr lang="en-US" dirty="0"/>
          </a:p>
        </p:txBody>
      </p:sp>
      <p:sp>
        <p:nvSpPr>
          <p:cNvPr id="8" name="TextBox 7">
            <a:extLst>
              <a:ext uri="{FF2B5EF4-FFF2-40B4-BE49-F238E27FC236}">
                <a16:creationId xmlns:a16="http://schemas.microsoft.com/office/drawing/2014/main" id="{248E54A4-C7C2-B6A8-FB3A-03C6649A3867}"/>
              </a:ext>
            </a:extLst>
          </p:cNvPr>
          <p:cNvSpPr txBox="1"/>
          <p:nvPr>
            <p:extLst>
              <p:ext uri="{1162E1C5-73C7-4A58-AE30-91384D911F3F}">
                <p184:classification xmlns:p184="http://schemas.microsoft.com/office/powerpoint/2018/4/main" val="ftr"/>
              </p:ext>
            </p:extLst>
          </p:nvPr>
        </p:nvSpPr>
        <p:spPr>
          <a:xfrm>
            <a:off x="5893562" y="6705600"/>
            <a:ext cx="461963" cy="152400"/>
          </a:xfrm>
          <a:prstGeom prst="rect">
            <a:avLst/>
          </a:prstGeom>
        </p:spPr>
        <p:txBody>
          <a:bodyPr horzOverflow="overflow" lIns="0" tIns="0" rIns="0" bIns="0">
            <a:spAutoFit/>
          </a:bodyPr>
          <a:lstStyle/>
          <a:p>
            <a:pPr algn="l"/>
            <a:r>
              <a:rPr lang="en-US" sz="1000" dirty="0">
                <a:solidFill>
                  <a:srgbClr val="000000"/>
                </a:solidFill>
                <a:latin typeface="Arial" panose="020B0604020202020204" pitchFamily="34" charset="0"/>
                <a:cs typeface="Arial" panose="020B0604020202020204" pitchFamily="34" charset="0"/>
              </a:rPr>
              <a:t>Internal </a:t>
            </a:r>
          </a:p>
        </p:txBody>
      </p:sp>
    </p:spTree>
    <p:extLst>
      <p:ext uri="{BB962C8B-B14F-4D97-AF65-F5344CB8AC3E}">
        <p14:creationId xmlns:p14="http://schemas.microsoft.com/office/powerpoint/2010/main" val="3158090915"/>
      </p:ext>
    </p:extLst>
  </p:cSld>
  <p:clrMap bg1="lt1" tx1="dk1" bg2="lt2" tx2="dk2" accent1="accent1" accent2="accent2" accent3="accent3" accent4="accent4" accent5="accent5" accent6="accent6" hlink="hlink" folHlink="folHlink"/>
  <p:sldLayoutIdLst>
    <p:sldLayoutId id="2147483650" r:id="rId1"/>
    <p:sldLayoutId id="214748364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getmailbird.com/ultimate-business-email-guide/"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blog.hubspot.com/marketing/email-marketing-stats" TargetMode="External"/><Relationship Id="rId5" Type="http://schemas.openxmlformats.org/officeDocument/2006/relationships/image" Target="../media/image4.png"/><Relationship Id="rId4" Type="http://schemas.openxmlformats.org/officeDocument/2006/relationships/hyperlink" Target="https://www.privy.com/blog/how-to-improve-email-deliverability"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 name="Title 1">
            <a:extLst>
              <a:ext uri="{FF2B5EF4-FFF2-40B4-BE49-F238E27FC236}">
                <a16:creationId xmlns:a16="http://schemas.microsoft.com/office/drawing/2014/main" id="{303D6B2D-04E2-FEDA-6E81-829D960118D8}"/>
              </a:ext>
            </a:extLst>
          </p:cNvPr>
          <p:cNvSpPr>
            <a:spLocks noGrp="1"/>
          </p:cNvSpPr>
          <p:nvPr>
            <p:ph type="ctrTitle"/>
          </p:nvPr>
        </p:nvSpPr>
        <p:spPr>
          <a:xfrm>
            <a:off x="970908" y="1220919"/>
            <a:ext cx="5425781" cy="2387600"/>
          </a:xfrm>
        </p:spPr>
        <p:txBody>
          <a:bodyPr>
            <a:normAutofit/>
          </a:bodyPr>
          <a:lstStyle/>
          <a:p>
            <a:pPr algn="l"/>
            <a:r>
              <a:rPr lang="en-US" b="1" dirty="0">
                <a:solidFill>
                  <a:srgbClr val="C00000"/>
                </a:solidFill>
                <a:latin typeface="Arial"/>
                <a:cs typeface="Arial"/>
              </a:rPr>
              <a:t>Domains &amp; Email</a:t>
            </a:r>
          </a:p>
        </p:txBody>
      </p:sp>
      <p:sp>
        <p:nvSpPr>
          <p:cNvPr id="3" name="Subtitle 2">
            <a:extLst>
              <a:ext uri="{FF2B5EF4-FFF2-40B4-BE49-F238E27FC236}">
                <a16:creationId xmlns:a16="http://schemas.microsoft.com/office/drawing/2014/main" id="{B908F796-3D75-659C-A611-BD58C9DC6D0B}"/>
              </a:ext>
            </a:extLst>
          </p:cNvPr>
          <p:cNvSpPr>
            <a:spLocks noGrp="1"/>
          </p:cNvSpPr>
          <p:nvPr>
            <p:ph type="subTitle" idx="1"/>
          </p:nvPr>
        </p:nvSpPr>
        <p:spPr>
          <a:xfrm>
            <a:off x="970909" y="3700594"/>
            <a:ext cx="3550292" cy="1655762"/>
          </a:xfrm>
        </p:spPr>
        <p:txBody>
          <a:bodyPr vert="horz" lIns="91440" tIns="45720" rIns="91440" bIns="45720" rtlCol="0" anchor="t">
            <a:normAutofit/>
          </a:bodyPr>
          <a:lstStyle/>
          <a:p>
            <a:pPr algn="l"/>
            <a:r>
              <a:rPr lang="en-US" sz="1400" dirty="0">
                <a:effectLst/>
                <a:latin typeface="Arial"/>
                <a:ea typeface="MS Mincho"/>
                <a:cs typeface="Arial"/>
              </a:rPr>
              <a:t>Engage with existing customers, </a:t>
            </a:r>
            <a:r>
              <a:rPr lang="en-US" sz="1400" dirty="0">
                <a:latin typeface="Arial"/>
                <a:ea typeface="MS Mincho"/>
                <a:cs typeface="Arial"/>
              </a:rPr>
              <a:t>promote</a:t>
            </a:r>
            <a:r>
              <a:rPr lang="en-US" sz="1400" dirty="0">
                <a:effectLst/>
                <a:latin typeface="Arial"/>
                <a:ea typeface="MS Mincho"/>
                <a:cs typeface="Arial"/>
              </a:rPr>
              <a:t> products and drive traffic.</a:t>
            </a:r>
          </a:p>
        </p:txBody>
      </p:sp>
      <p:sp>
        <p:nvSpPr>
          <p:cNvPr id="46" name="Freeform: Shape 3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Arial" panose="020B0604020202020204" pitchFamily="34" charset="0"/>
            </a:endParaRPr>
          </a:p>
        </p:txBody>
      </p:sp>
      <p:sp>
        <p:nvSpPr>
          <p:cNvPr id="48" name="Oval 4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43" name="Block Arc 4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sp>
        <p:nvSpPr>
          <p:cNvPr id="45" name="Freeform: Shape 4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latin typeface="Arial" panose="020B0604020202020204" pitchFamily="34" charset="0"/>
            </a:endParaRPr>
          </a:p>
        </p:txBody>
      </p:sp>
      <p:cxnSp>
        <p:nvCxnSpPr>
          <p:cNvPr id="47" name="Straight Connector 4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dirty="0">
              <a:latin typeface="Arial" panose="020B0604020202020204" pitchFamily="34" charset="0"/>
            </a:endParaRPr>
          </a:p>
        </p:txBody>
      </p:sp>
      <p:sp>
        <p:nvSpPr>
          <p:cNvPr id="51" name="Arc 5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sp>
        <p:nvSpPr>
          <p:cNvPr id="53" name="Freeform: Shape 5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298293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rgbClr val="C00000"/>
                </a:solidFill>
                <a:effectLst/>
                <a:latin typeface="Arial" panose="020B0604020202020204" pitchFamily="34" charset="0"/>
                <a:cs typeface="Arial" panose="020B0604020202020204" pitchFamily="34" charset="0"/>
              </a:rPr>
              <a:t>Agenda</a:t>
            </a:r>
          </a:p>
        </p:txBody>
      </p:sp>
      <p:sp>
        <p:nvSpPr>
          <p:cNvPr id="23" name="Rectangle 22">
            <a:extLst>
              <a:ext uri="{FF2B5EF4-FFF2-40B4-BE49-F238E27FC236}">
                <a16:creationId xmlns:a16="http://schemas.microsoft.com/office/drawing/2014/main" id="{C72990FB-DE43-7032-61F9-AF5F76786CE5}"/>
              </a:ext>
            </a:extLst>
          </p:cNvPr>
          <p:cNvSpPr/>
          <p:nvPr/>
        </p:nvSpPr>
        <p:spPr>
          <a:xfrm>
            <a:off x="3630746" y="402126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dirty="0">
                <a:latin typeface="Arial" panose="020B0604020202020204" pitchFamily="34" charset="0"/>
                <a:cs typeface="Arial" panose="020B0604020202020204" pitchFamily="34" charset="0"/>
              </a:rPr>
              <a:t>Domains and Emails</a:t>
            </a:r>
          </a:p>
        </p:txBody>
      </p:sp>
      <p:sp>
        <p:nvSpPr>
          <p:cNvPr id="21" name="Rectangle 20">
            <a:extLst>
              <a:ext uri="{FF2B5EF4-FFF2-40B4-BE49-F238E27FC236}">
                <a16:creationId xmlns:a16="http://schemas.microsoft.com/office/drawing/2014/main" id="{5EA074DA-D237-1567-4FD7-E70D2422830C}"/>
              </a:ext>
            </a:extLst>
          </p:cNvPr>
          <p:cNvSpPr/>
          <p:nvPr/>
        </p:nvSpPr>
        <p:spPr>
          <a:xfrm>
            <a:off x="6416069" y="402126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dirty="0">
                <a:latin typeface="Arial" panose="020B0604020202020204" pitchFamily="34" charset="0"/>
                <a:cs typeface="Arial" panose="020B0604020202020204" pitchFamily="34" charset="0"/>
              </a:rPr>
              <a:t>Features &amp; Benefits Overview</a:t>
            </a:r>
          </a:p>
        </p:txBody>
      </p:sp>
      <p:sp>
        <p:nvSpPr>
          <p:cNvPr id="19" name="Rectangle 18">
            <a:extLst>
              <a:ext uri="{FF2B5EF4-FFF2-40B4-BE49-F238E27FC236}">
                <a16:creationId xmlns:a16="http://schemas.microsoft.com/office/drawing/2014/main" id="{09A63A92-4674-1FF0-F1CC-F3F721EDFC6C}"/>
              </a:ext>
            </a:extLst>
          </p:cNvPr>
          <p:cNvSpPr/>
          <p:nvPr/>
        </p:nvSpPr>
        <p:spPr>
          <a:xfrm>
            <a:off x="9201396" y="4004597"/>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dirty="0">
                <a:latin typeface="Arial" panose="020B0604020202020204" pitchFamily="34" charset="0"/>
                <a:cs typeface="Arial" panose="020B0604020202020204" pitchFamily="34" charset="0"/>
              </a:rPr>
              <a:t>Addressing Common Concerns</a:t>
            </a:r>
          </a:p>
        </p:txBody>
      </p:sp>
      <p:grpSp>
        <p:nvGrpSpPr>
          <p:cNvPr id="27" name="Group 26">
            <a:extLst>
              <a:ext uri="{FF2B5EF4-FFF2-40B4-BE49-F238E27FC236}">
                <a16:creationId xmlns:a16="http://schemas.microsoft.com/office/drawing/2014/main" id="{4B6E6B5D-F3A3-F47C-56E6-D1A967FBE0E3}"/>
              </a:ext>
            </a:extLst>
          </p:cNvPr>
          <p:cNvGrpSpPr/>
          <p:nvPr/>
        </p:nvGrpSpPr>
        <p:grpSpPr>
          <a:xfrm>
            <a:off x="845421" y="2590533"/>
            <a:ext cx="2370489" cy="720000"/>
            <a:chOff x="100682" y="2684598"/>
            <a:chExt cx="2370489" cy="720000"/>
          </a:xfrm>
        </p:grpSpPr>
        <p:sp>
          <p:nvSpPr>
            <p:cNvPr id="28" name="Rectangle 27">
              <a:extLst>
                <a:ext uri="{FF2B5EF4-FFF2-40B4-BE49-F238E27FC236}">
                  <a16:creationId xmlns:a16="http://schemas.microsoft.com/office/drawing/2014/main" id="{E3BB154A-4D47-F10A-8EC5-4D82A4ED9A99}"/>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TextBox 28">
              <a:extLst>
                <a:ext uri="{FF2B5EF4-FFF2-40B4-BE49-F238E27FC236}">
                  <a16:creationId xmlns:a16="http://schemas.microsoft.com/office/drawing/2014/main" id="{1BD6821F-D700-B7FD-1880-8871BF6F74DF}"/>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1</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42C9A0F1-A826-9A0E-4E9D-048F0D5F5670}"/>
              </a:ext>
            </a:extLst>
          </p:cNvPr>
          <p:cNvGrpSpPr/>
          <p:nvPr/>
        </p:nvGrpSpPr>
        <p:grpSpPr>
          <a:xfrm>
            <a:off x="3630746" y="2590533"/>
            <a:ext cx="2370489" cy="720000"/>
            <a:chOff x="100682" y="2684598"/>
            <a:chExt cx="2370489" cy="720000"/>
          </a:xfrm>
        </p:grpSpPr>
        <p:sp>
          <p:nvSpPr>
            <p:cNvPr id="31" name="Rectangle 30">
              <a:extLst>
                <a:ext uri="{FF2B5EF4-FFF2-40B4-BE49-F238E27FC236}">
                  <a16:creationId xmlns:a16="http://schemas.microsoft.com/office/drawing/2014/main" id="{7D3183A4-7B7F-11E5-9989-56863262EC36}"/>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TextBox 31">
              <a:extLst>
                <a:ext uri="{FF2B5EF4-FFF2-40B4-BE49-F238E27FC236}">
                  <a16:creationId xmlns:a16="http://schemas.microsoft.com/office/drawing/2014/main" id="{D9F63762-0A34-62FF-45B8-FBEE03884A98}"/>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2</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A222FE1F-9C65-EAB2-5EAA-6DDE9F00D337}"/>
              </a:ext>
            </a:extLst>
          </p:cNvPr>
          <p:cNvGrpSpPr/>
          <p:nvPr/>
        </p:nvGrpSpPr>
        <p:grpSpPr>
          <a:xfrm>
            <a:off x="6416070" y="2590533"/>
            <a:ext cx="2370489" cy="720000"/>
            <a:chOff x="100682" y="2684598"/>
            <a:chExt cx="2370489" cy="720000"/>
          </a:xfrm>
        </p:grpSpPr>
        <p:sp>
          <p:nvSpPr>
            <p:cNvPr id="34" name="Rectangle 33">
              <a:extLst>
                <a:ext uri="{FF2B5EF4-FFF2-40B4-BE49-F238E27FC236}">
                  <a16:creationId xmlns:a16="http://schemas.microsoft.com/office/drawing/2014/main" id="{B190ACAF-580F-C7C9-47DB-2F6A45810714}"/>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5" name="TextBox 34">
              <a:extLst>
                <a:ext uri="{FF2B5EF4-FFF2-40B4-BE49-F238E27FC236}">
                  <a16:creationId xmlns:a16="http://schemas.microsoft.com/office/drawing/2014/main" id="{34E23768-A24A-9030-A4CD-97D74AAF1BC7}"/>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3</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7E6A717D-00FA-6874-C9D8-015CB952CE1B}"/>
              </a:ext>
            </a:extLst>
          </p:cNvPr>
          <p:cNvGrpSpPr/>
          <p:nvPr/>
        </p:nvGrpSpPr>
        <p:grpSpPr>
          <a:xfrm>
            <a:off x="9201396" y="2590533"/>
            <a:ext cx="2370489" cy="720000"/>
            <a:chOff x="100682" y="2684598"/>
            <a:chExt cx="2370489" cy="720000"/>
          </a:xfrm>
        </p:grpSpPr>
        <p:sp>
          <p:nvSpPr>
            <p:cNvPr id="37" name="Rectangle 36">
              <a:extLst>
                <a:ext uri="{FF2B5EF4-FFF2-40B4-BE49-F238E27FC236}">
                  <a16:creationId xmlns:a16="http://schemas.microsoft.com/office/drawing/2014/main" id="{A40C570F-F284-1A73-9333-3BDF8C182B8A}"/>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8" name="TextBox 37">
              <a:extLst>
                <a:ext uri="{FF2B5EF4-FFF2-40B4-BE49-F238E27FC236}">
                  <a16:creationId xmlns:a16="http://schemas.microsoft.com/office/drawing/2014/main" id="{615C1030-EACF-22AB-8FE3-2C1D3A2D8B3B}"/>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4</a:t>
              </a:r>
              <a:endParaRPr lang="en-US" sz="7200" b="1" kern="1200" cap="none" dirty="0">
                <a:solidFill>
                  <a:srgbClr val="24282B"/>
                </a:solidFill>
                <a:latin typeface="Arial" panose="020B0604020202020204" pitchFamily="34" charset="0"/>
                <a:cs typeface="Arial" panose="020B0604020202020204" pitchFamily="34" charset="0"/>
              </a:endParaRPr>
            </a:p>
          </p:txBody>
        </p:sp>
      </p:grpSp>
      <p:sp>
        <p:nvSpPr>
          <p:cNvPr id="3" name="TextBox 2">
            <a:extLst>
              <a:ext uri="{FF2B5EF4-FFF2-40B4-BE49-F238E27FC236}">
                <a16:creationId xmlns:a16="http://schemas.microsoft.com/office/drawing/2014/main" id="{95FB3501-A264-441C-BA6F-33110B7081D2}"/>
              </a:ext>
            </a:extLst>
          </p:cNvPr>
          <p:cNvSpPr txBox="1"/>
          <p:nvPr/>
        </p:nvSpPr>
        <p:spPr>
          <a:xfrm>
            <a:off x="1160687" y="3919603"/>
            <a:ext cx="2055223"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Importance of Domains/emails</a:t>
            </a:r>
          </a:p>
        </p:txBody>
      </p:sp>
    </p:spTree>
    <p:extLst>
      <p:ext uri="{BB962C8B-B14F-4D97-AF65-F5344CB8AC3E}">
        <p14:creationId xmlns:p14="http://schemas.microsoft.com/office/powerpoint/2010/main" val="221078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rgbClr val="C00000"/>
                </a:solidFill>
                <a:effectLst/>
                <a:latin typeface="Arial"/>
                <a:cs typeface="Arial"/>
              </a:rPr>
              <a:t>Domain and email are key to building trust and rapport</a:t>
            </a: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38200" y="1705488"/>
            <a:ext cx="10515600" cy="2081842"/>
          </a:xfrm>
        </p:spPr>
        <p:txBody>
          <a:bodyPr vert="horz" lIns="91440" tIns="45720" rIns="91440" bIns="45720" rtlCol="0" anchor="t">
            <a:noAutofit/>
          </a:bodyPr>
          <a:lstStyle/>
          <a:p>
            <a:pPr marL="0" indent="0">
              <a:buNone/>
            </a:pPr>
            <a:r>
              <a:rPr lang="en-US" sz="1400" dirty="0">
                <a:latin typeface="Arial"/>
                <a:cs typeface="Arial"/>
              </a:rPr>
              <a:t>Domain and email help customers get to know a business and start to build trust. Receiving emails from an email address that includes the company name inspires trust and confidence.</a:t>
            </a:r>
          </a:p>
          <a:p>
            <a:pPr marL="0" indent="0">
              <a:buNone/>
            </a:pPr>
            <a:endParaRPr lang="en-US" sz="1400" dirty="0">
              <a:latin typeface="Arial"/>
              <a:cs typeface="Arial"/>
            </a:endParaRPr>
          </a:p>
          <a:p>
            <a:pPr marL="0" indent="0">
              <a:buNone/>
            </a:pPr>
            <a:r>
              <a:rPr lang="en-US" sz="1400" dirty="0">
                <a:latin typeface="Arial"/>
                <a:cs typeface="Arial"/>
              </a:rPr>
              <a:t>A domain is a building block for a website and email, it’s a great way to start building rapport with customers as they begin to associate the domain with your company. It’s also a great way to differentiate a business from the competition.</a:t>
            </a:r>
          </a:p>
          <a:p>
            <a:pPr marL="0" indent="0">
              <a:buNone/>
            </a:pPr>
            <a:endParaRPr lang="en-US" sz="1400" dirty="0">
              <a:latin typeface="Arial"/>
              <a:cs typeface="Arial"/>
            </a:endParaRPr>
          </a:p>
          <a:p>
            <a:pPr marL="0" indent="0">
              <a:buNone/>
            </a:pPr>
            <a:r>
              <a:rPr lang="en-US" sz="1400" dirty="0">
                <a:latin typeface="Arial"/>
                <a:cs typeface="Arial"/>
              </a:rPr>
              <a:t>As per local </a:t>
            </a:r>
            <a:r>
              <a:rPr lang="en-US" sz="1400" dirty="0">
                <a:latin typeface="Arial"/>
                <a:cs typeface="Arial"/>
                <a:hlinkClick r:id="rId3"/>
              </a:rPr>
              <a:t>Mailbird, 2022</a:t>
            </a:r>
            <a:endParaRPr lang="en-US" sz="14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2B0F5887-39A2-95AB-1749-C7A849B9D95E}"/>
              </a:ext>
            </a:extLst>
          </p:cNvPr>
          <p:cNvSpPr txBox="1">
            <a:spLocks/>
          </p:cNvSpPr>
          <p:nvPr/>
        </p:nvSpPr>
        <p:spPr>
          <a:xfrm>
            <a:off x="838200" y="3787330"/>
            <a:ext cx="2564219" cy="134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800" b="1" dirty="0">
                <a:solidFill>
                  <a:srgbClr val="C00000"/>
                </a:solidFill>
                <a:latin typeface="Arial" panose="020B0604020202020204" pitchFamily="34" charset="0"/>
                <a:cs typeface="Arial" panose="020B0604020202020204" pitchFamily="34" charset="0"/>
              </a:rPr>
              <a:t>75%</a:t>
            </a:r>
          </a:p>
        </p:txBody>
      </p:sp>
      <p:sp>
        <p:nvSpPr>
          <p:cNvPr id="7" name="Content Placeholder 2">
            <a:extLst>
              <a:ext uri="{FF2B5EF4-FFF2-40B4-BE49-F238E27FC236}">
                <a16:creationId xmlns:a16="http://schemas.microsoft.com/office/drawing/2014/main" id="{224B0AA7-1BFA-7DBF-53DA-5E5F3AA24A17}"/>
              </a:ext>
            </a:extLst>
          </p:cNvPr>
          <p:cNvSpPr txBox="1">
            <a:spLocks/>
          </p:cNvSpPr>
          <p:nvPr/>
        </p:nvSpPr>
        <p:spPr>
          <a:xfrm>
            <a:off x="3847213" y="4006888"/>
            <a:ext cx="2564219" cy="11456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latin typeface="Arial" panose="020B0604020202020204" pitchFamily="34" charset="0"/>
                <a:cs typeface="Arial" panose="020B0604020202020204" pitchFamily="34" charset="0"/>
              </a:rPr>
              <a:t>Of consumers say professional email addresses are key to trust.</a:t>
            </a:r>
          </a:p>
        </p:txBody>
      </p:sp>
      <p:cxnSp>
        <p:nvCxnSpPr>
          <p:cNvPr id="9" name="Straight Connector 8">
            <a:extLst>
              <a:ext uri="{FF2B5EF4-FFF2-40B4-BE49-F238E27FC236}">
                <a16:creationId xmlns:a16="http://schemas.microsoft.com/office/drawing/2014/main" id="{D38CBF84-880C-30A0-E980-AC11315DFC5C}"/>
              </a:ext>
            </a:extLst>
          </p:cNvPr>
          <p:cNvCxnSpPr/>
          <p:nvPr/>
        </p:nvCxnSpPr>
        <p:spPr>
          <a:xfrm>
            <a:off x="3519377" y="3907466"/>
            <a:ext cx="0" cy="946298"/>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2" descr="Email outline">
            <a:extLst>
              <a:ext uri="{FF2B5EF4-FFF2-40B4-BE49-F238E27FC236}">
                <a16:creationId xmlns:a16="http://schemas.microsoft.com/office/drawing/2014/main" id="{29522E81-52DC-E2A2-266A-03CE0594A3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72748" y="3021961"/>
            <a:ext cx="3529637" cy="3529637"/>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2799462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itle 1">
            <a:extLst>
              <a:ext uri="{FF2B5EF4-FFF2-40B4-BE49-F238E27FC236}">
                <a16:creationId xmlns:a16="http://schemas.microsoft.com/office/drawing/2014/main" id="{3F7F26C5-632D-DDD8-183A-2C64C77C744B}"/>
              </a:ext>
            </a:extLst>
          </p:cNvPr>
          <p:cNvSpPr txBox="1">
            <a:spLocks/>
          </p:cNvSpPr>
          <p:nvPr/>
        </p:nvSpPr>
        <p:spPr>
          <a:xfrm>
            <a:off x="990600" y="3166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Cost of not connecting with customers</a:t>
            </a:r>
          </a:p>
        </p:txBody>
      </p:sp>
      <p:sp>
        <p:nvSpPr>
          <p:cNvPr id="182" name="Google Shape;3082;p148">
            <a:extLst>
              <a:ext uri="{FF2B5EF4-FFF2-40B4-BE49-F238E27FC236}">
                <a16:creationId xmlns:a16="http://schemas.microsoft.com/office/drawing/2014/main" id="{F1B063E6-A023-FE8B-BE28-B874FAFB4F80}"/>
              </a:ext>
            </a:extLst>
          </p:cNvPr>
          <p:cNvSpPr txBox="1">
            <a:spLocks/>
          </p:cNvSpPr>
          <p:nvPr/>
        </p:nvSpPr>
        <p:spPr>
          <a:xfrm>
            <a:off x="990600" y="1642234"/>
            <a:ext cx="4499017" cy="1663028"/>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Lack of Brand Recognition</a:t>
            </a:r>
          </a:p>
          <a:p>
            <a:pPr marL="171450" indent="-171450" algn="ctr">
              <a:spcBef>
                <a:spcPts val="0"/>
              </a:spcBef>
              <a:buClr>
                <a:srgbClr val="47464B"/>
              </a:buClr>
              <a:buFont typeface="Arial"/>
              <a:buNone/>
            </a:pPr>
            <a:r>
              <a:rPr lang="en-US" sz="1200" dirty="0">
                <a:solidFill>
                  <a:schemeClr val="bg1"/>
                </a:solidFill>
                <a:latin typeface="Arial" panose="020B0604020202020204" pitchFamily="34" charset="0"/>
                <a:cs typeface="Arial" panose="020B0604020202020204" pitchFamily="34" charset="0"/>
              </a:rPr>
              <a:t>Customers won’t recognize the brand name if businesses are contacting them using generic email addresses (e.g., @gmail.com, @yahoo.com).</a:t>
            </a:r>
          </a:p>
        </p:txBody>
      </p:sp>
      <p:sp>
        <p:nvSpPr>
          <p:cNvPr id="188" name="Google Shape;3082;p148">
            <a:extLst>
              <a:ext uri="{FF2B5EF4-FFF2-40B4-BE49-F238E27FC236}">
                <a16:creationId xmlns:a16="http://schemas.microsoft.com/office/drawing/2014/main" id="{11CF0FE0-172D-2DDC-2021-98427E780148}"/>
              </a:ext>
            </a:extLst>
          </p:cNvPr>
          <p:cNvSpPr txBox="1">
            <a:spLocks/>
          </p:cNvSpPr>
          <p:nvPr/>
        </p:nvSpPr>
        <p:spPr>
          <a:xfrm>
            <a:off x="990600" y="3890719"/>
            <a:ext cx="4499017" cy="1663027"/>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Potential Security Risks</a:t>
            </a:r>
          </a:p>
          <a:p>
            <a:pPr marL="171450" indent="-171450" algn="ctr">
              <a:spcBef>
                <a:spcPts val="0"/>
              </a:spcBef>
              <a:buClr>
                <a:srgbClr val="47464B"/>
              </a:buClr>
              <a:buFont typeface="Arial"/>
              <a:buNone/>
            </a:pPr>
            <a:r>
              <a:rPr lang="en-US" sz="1200" dirty="0">
                <a:solidFill>
                  <a:schemeClr val="bg1"/>
                </a:solidFill>
                <a:latin typeface="Arial"/>
                <a:cs typeface="Arial"/>
              </a:rPr>
              <a:t>By neglecting personalized domain and email services, business may be more susceptible to security breaches and phishing attempts, potentially compromising sensitive business information.</a:t>
            </a:r>
          </a:p>
        </p:txBody>
      </p:sp>
      <p:sp>
        <p:nvSpPr>
          <p:cNvPr id="2" name="Google Shape;3082;p148">
            <a:extLst>
              <a:ext uri="{FF2B5EF4-FFF2-40B4-BE49-F238E27FC236}">
                <a16:creationId xmlns:a16="http://schemas.microsoft.com/office/drawing/2014/main" id="{4C74B299-19BD-37FD-4C0B-324DD8337EA2}"/>
              </a:ext>
            </a:extLst>
          </p:cNvPr>
          <p:cNvSpPr txBox="1">
            <a:spLocks/>
          </p:cNvSpPr>
          <p:nvPr/>
        </p:nvSpPr>
        <p:spPr>
          <a:xfrm>
            <a:off x="6373115" y="1642234"/>
            <a:ext cx="4499017" cy="1663028"/>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Lack of Credibility &amp; Trust </a:t>
            </a:r>
            <a:endParaRPr lang="en-US" sz="1200" b="1" dirty="0">
              <a:solidFill>
                <a:schemeClr val="bg1"/>
              </a:solidFill>
              <a:latin typeface="Arial" panose="020B0604020202020204" pitchFamily="34" charset="0"/>
              <a:cs typeface="Arial" panose="020B0604020202020204" pitchFamily="34" charset="0"/>
            </a:endParaRPr>
          </a:p>
          <a:p>
            <a:pPr marL="171450" indent="-171450" algn="ctr">
              <a:spcBef>
                <a:spcPts val="0"/>
              </a:spcBef>
              <a:buNone/>
            </a:pPr>
            <a:r>
              <a:rPr lang="en-US" sz="1200" dirty="0">
                <a:solidFill>
                  <a:schemeClr val="bg1"/>
                </a:solidFill>
                <a:latin typeface="Arial"/>
                <a:cs typeface="Arial"/>
              </a:rPr>
              <a:t>Personalized domain and email adds credibility to business by displaying that the business have invested in online presence.</a:t>
            </a:r>
            <a:endParaRPr lang="en-US" sz="1200" dirty="0">
              <a:solidFill>
                <a:schemeClr val="bg1"/>
              </a:solidFill>
              <a:latin typeface="Arial" panose="020B0604020202020204" pitchFamily="34" charset="0"/>
            </a:endParaRPr>
          </a:p>
        </p:txBody>
      </p:sp>
      <p:sp>
        <p:nvSpPr>
          <p:cNvPr id="3" name="Google Shape;3082;p148">
            <a:extLst>
              <a:ext uri="{FF2B5EF4-FFF2-40B4-BE49-F238E27FC236}">
                <a16:creationId xmlns:a16="http://schemas.microsoft.com/office/drawing/2014/main" id="{3D89E684-0128-5BCC-C8C8-FA0DEF56876F}"/>
              </a:ext>
            </a:extLst>
          </p:cNvPr>
          <p:cNvSpPr txBox="1">
            <a:spLocks/>
          </p:cNvSpPr>
          <p:nvPr/>
        </p:nvSpPr>
        <p:spPr>
          <a:xfrm>
            <a:off x="6373115" y="3890720"/>
            <a:ext cx="4499017" cy="166302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None/>
            </a:pPr>
            <a:r>
              <a:rPr lang="en-US" sz="1200" b="1" dirty="0">
                <a:solidFill>
                  <a:schemeClr val="bg1"/>
                </a:solidFill>
                <a:latin typeface="Arial"/>
                <a:ea typeface="+mn-lt"/>
                <a:cs typeface="Arial"/>
              </a:rPr>
              <a:t>Lack of Customer Engagement</a:t>
            </a:r>
          </a:p>
          <a:p>
            <a:pPr marL="171450" indent="-171450" algn="ctr">
              <a:spcBef>
                <a:spcPts val="0"/>
              </a:spcBef>
              <a:buNone/>
            </a:pPr>
            <a:r>
              <a:rPr lang="en-US" sz="1200" dirty="0">
                <a:solidFill>
                  <a:schemeClr val="bg1"/>
                </a:solidFill>
                <a:latin typeface="Arial"/>
                <a:ea typeface="+mn-lt"/>
                <a:cs typeface="Arial"/>
              </a:rPr>
              <a:t>Using generic email often result in emails being flagged as spam or having lower deliverability rates. This affect the ability to reach customers, respond to inquiries, and maintain effective communication.</a:t>
            </a:r>
            <a:endParaRPr lang="en-US" sz="1200" b="1" dirty="0">
              <a:solidFill>
                <a:schemeClr val="bg1"/>
              </a:solidFill>
              <a:latin typeface="Arial"/>
              <a:ea typeface="+mn-lt"/>
              <a:cs typeface="Arial"/>
            </a:endParaRPr>
          </a:p>
        </p:txBody>
      </p:sp>
    </p:spTree>
    <p:extLst>
      <p:ext uri="{BB962C8B-B14F-4D97-AF65-F5344CB8AC3E}">
        <p14:creationId xmlns:p14="http://schemas.microsoft.com/office/powerpoint/2010/main" val="62292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081;p148">
            <a:extLst>
              <a:ext uri="{FF2B5EF4-FFF2-40B4-BE49-F238E27FC236}">
                <a16:creationId xmlns:a16="http://schemas.microsoft.com/office/drawing/2014/main" id="{382D0398-FC79-9A79-8358-CC4B1D584724}"/>
              </a:ext>
            </a:extLst>
          </p:cNvPr>
          <p:cNvPicPr preferRelativeResize="0"/>
          <p:nvPr/>
        </p:nvPicPr>
        <p:blipFill rotWithShape="1">
          <a:blip r:embed="rId3">
            <a:alphaModFix/>
            <a:duotone>
              <a:prstClr val="black"/>
              <a:srgbClr val="2CADB2">
                <a:tint val="45000"/>
                <a:satMod val="400000"/>
              </a:srgbClr>
            </a:duotone>
          </a:blip>
          <a:srcRect/>
          <a:stretch/>
        </p:blipFill>
        <p:spPr>
          <a:xfrm>
            <a:off x="4965300" y="1843618"/>
            <a:ext cx="2667000" cy="3117850"/>
          </a:xfrm>
          <a:prstGeom prst="rect">
            <a:avLst/>
          </a:prstGeom>
          <a:noFill/>
          <a:ln>
            <a:noFill/>
          </a:ln>
        </p:spPr>
      </p:pic>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a:xfrm>
            <a:off x="838199" y="339958"/>
            <a:ext cx="10515600" cy="1325563"/>
          </a:xfrm>
        </p:spPr>
        <p:txBody>
          <a:bodyPr>
            <a:normAutofit/>
          </a:bodyPr>
          <a:lstStyle/>
          <a:p>
            <a:r>
              <a:rPr lang="en-US" sz="3200" b="1" i="0" dirty="0">
                <a:solidFill>
                  <a:srgbClr val="C00000"/>
                </a:solidFill>
                <a:effectLst/>
                <a:latin typeface="Arial"/>
                <a:cs typeface="Arial"/>
              </a:rPr>
              <a:t>Impact of </a:t>
            </a:r>
            <a:r>
              <a:rPr lang="en-US" sz="3200" b="1" dirty="0">
                <a:solidFill>
                  <a:srgbClr val="C00000"/>
                </a:solidFill>
                <a:latin typeface="Arial"/>
                <a:cs typeface="Arial"/>
              </a:rPr>
              <a:t>a domain and email </a:t>
            </a:r>
          </a:p>
        </p:txBody>
      </p:sp>
      <p:sp>
        <p:nvSpPr>
          <p:cNvPr id="86" name="Google Shape;3082;p148">
            <a:extLst>
              <a:ext uri="{FF2B5EF4-FFF2-40B4-BE49-F238E27FC236}">
                <a16:creationId xmlns:a16="http://schemas.microsoft.com/office/drawing/2014/main" id="{F6A81919-3767-EE27-2704-60EC5890B0C0}"/>
              </a:ext>
            </a:extLst>
          </p:cNvPr>
          <p:cNvSpPr txBox="1">
            <a:spLocks/>
          </p:cNvSpPr>
          <p:nvPr/>
        </p:nvSpPr>
        <p:spPr>
          <a:xfrm>
            <a:off x="4859912" y="4694759"/>
            <a:ext cx="3023319" cy="801485"/>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rPr>
              <a:t>Of businesses that switched to domain-based email saw an increase in sales</a:t>
            </a:r>
          </a:p>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hlinkClick r:id="rId4"/>
              </a:rPr>
              <a:t>Privy</a:t>
            </a:r>
            <a:endParaRPr lang="en-US" sz="1200" dirty="0">
              <a:latin typeface="Arial" panose="020B0604020202020204" pitchFamily="34" charset="0"/>
            </a:endParaRPr>
          </a:p>
        </p:txBody>
      </p:sp>
      <p:pic>
        <p:nvPicPr>
          <p:cNvPr id="87" name="Google Shape;3083;p148">
            <a:extLst>
              <a:ext uri="{FF2B5EF4-FFF2-40B4-BE49-F238E27FC236}">
                <a16:creationId xmlns:a16="http://schemas.microsoft.com/office/drawing/2014/main" id="{14F7C8EC-3CB1-345C-D8CA-6CA7B592DA43}"/>
              </a:ext>
            </a:extLst>
          </p:cNvPr>
          <p:cNvPicPr preferRelativeResize="0"/>
          <p:nvPr/>
        </p:nvPicPr>
        <p:blipFill rotWithShape="1">
          <a:blip r:embed="rId5">
            <a:alphaModFix/>
            <a:duotone>
              <a:prstClr val="black"/>
              <a:srgbClr val="2CADB2">
                <a:tint val="45000"/>
                <a:satMod val="400000"/>
              </a:srgbClr>
            </a:duotone>
          </a:blip>
          <a:srcRect/>
          <a:stretch/>
        </p:blipFill>
        <p:spPr>
          <a:xfrm rot="1800000">
            <a:off x="1439007" y="1762680"/>
            <a:ext cx="2667000" cy="3117850"/>
          </a:xfrm>
          <a:prstGeom prst="rect">
            <a:avLst/>
          </a:prstGeom>
          <a:noFill/>
          <a:ln>
            <a:noFill/>
          </a:ln>
        </p:spPr>
      </p:pic>
      <p:grpSp>
        <p:nvGrpSpPr>
          <p:cNvPr id="102" name="Google Shape;3098;p148">
            <a:extLst>
              <a:ext uri="{FF2B5EF4-FFF2-40B4-BE49-F238E27FC236}">
                <a16:creationId xmlns:a16="http://schemas.microsoft.com/office/drawing/2014/main" id="{66717580-4494-3E47-7DF1-37935096A69D}"/>
              </a:ext>
            </a:extLst>
          </p:cNvPr>
          <p:cNvGrpSpPr/>
          <p:nvPr/>
        </p:nvGrpSpPr>
        <p:grpSpPr>
          <a:xfrm>
            <a:off x="1476599" y="2025274"/>
            <a:ext cx="2591814" cy="2591814"/>
            <a:chOff x="3527425" y="860425"/>
            <a:chExt cx="5138738" cy="5138738"/>
          </a:xfrm>
        </p:grpSpPr>
        <p:sp>
          <p:nvSpPr>
            <p:cNvPr id="103" name="Google Shape;3099;p148">
              <a:extLst>
                <a:ext uri="{FF2B5EF4-FFF2-40B4-BE49-F238E27FC236}">
                  <a16:creationId xmlns:a16="http://schemas.microsoft.com/office/drawing/2014/main" id="{44D66C58-C2E7-B132-A896-1899916ACBDB}"/>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4" name="Google Shape;3100;p148">
              <a:extLst>
                <a:ext uri="{FF2B5EF4-FFF2-40B4-BE49-F238E27FC236}">
                  <a16:creationId xmlns:a16="http://schemas.microsoft.com/office/drawing/2014/main" id="{F14CEE76-4061-4FF3-15A4-167FB32BE4EB}"/>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5" name="Google Shape;3101;p148">
              <a:extLst>
                <a:ext uri="{FF2B5EF4-FFF2-40B4-BE49-F238E27FC236}">
                  <a16:creationId xmlns:a16="http://schemas.microsoft.com/office/drawing/2014/main" id="{8B944D50-23D6-6F86-F64D-A2CAB7BA136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6" name="Google Shape;3102;p148">
              <a:extLst>
                <a:ext uri="{FF2B5EF4-FFF2-40B4-BE49-F238E27FC236}">
                  <a16:creationId xmlns:a16="http://schemas.microsoft.com/office/drawing/2014/main" id="{FABD5C76-2A90-533D-6B77-42F005079EF4}"/>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7" name="Google Shape;3103;p148">
              <a:extLst>
                <a:ext uri="{FF2B5EF4-FFF2-40B4-BE49-F238E27FC236}">
                  <a16:creationId xmlns:a16="http://schemas.microsoft.com/office/drawing/2014/main" id="{CC2A0F27-E553-D013-021E-6BAD9D73A176}"/>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8" name="Google Shape;3104;p148">
              <a:extLst>
                <a:ext uri="{FF2B5EF4-FFF2-40B4-BE49-F238E27FC236}">
                  <a16:creationId xmlns:a16="http://schemas.microsoft.com/office/drawing/2014/main" id="{7E94B6A4-CB54-913E-C2FC-8D79A6584321}"/>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9" name="Google Shape;3105;p148">
              <a:extLst>
                <a:ext uri="{FF2B5EF4-FFF2-40B4-BE49-F238E27FC236}">
                  <a16:creationId xmlns:a16="http://schemas.microsoft.com/office/drawing/2014/main" id="{BC9EFB21-446C-09F2-59DF-84A649AC4393}"/>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10" name="Google Shape;3106;p148">
              <a:extLst>
                <a:ext uri="{FF2B5EF4-FFF2-40B4-BE49-F238E27FC236}">
                  <a16:creationId xmlns:a16="http://schemas.microsoft.com/office/drawing/2014/main" id="{DE63B285-5E13-7443-3F8E-D3F7543C003E}"/>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11" name="Google Shape;3107;p148">
              <a:extLst>
                <a:ext uri="{FF2B5EF4-FFF2-40B4-BE49-F238E27FC236}">
                  <a16:creationId xmlns:a16="http://schemas.microsoft.com/office/drawing/2014/main" id="{9D03300C-9E2A-E344-ED99-17A5110F7516}"/>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12" name="Google Shape;3108;p148">
              <a:extLst>
                <a:ext uri="{FF2B5EF4-FFF2-40B4-BE49-F238E27FC236}">
                  <a16:creationId xmlns:a16="http://schemas.microsoft.com/office/drawing/2014/main" id="{82430204-4C7B-F3C8-7CC0-0442A9CB026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grpSp>
      <p:sp>
        <p:nvSpPr>
          <p:cNvPr id="125" name="Google Shape;3121;p148">
            <a:extLst>
              <a:ext uri="{FF2B5EF4-FFF2-40B4-BE49-F238E27FC236}">
                <a16:creationId xmlns:a16="http://schemas.microsoft.com/office/drawing/2014/main" id="{82BDCDCC-405F-EA5E-7157-D1EED237857A}"/>
              </a:ext>
            </a:extLst>
          </p:cNvPr>
          <p:cNvSpPr txBox="1">
            <a:spLocks/>
          </p:cNvSpPr>
          <p:nvPr/>
        </p:nvSpPr>
        <p:spPr>
          <a:xfrm>
            <a:off x="229625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Arial" panose="020B0604020202020204" pitchFamily="34" charset="0"/>
                <a:ea typeface="Calibri"/>
                <a:cs typeface="Arial" panose="020B0604020202020204" pitchFamily="34" charset="0"/>
                <a:sym typeface="Calibri"/>
              </a:rPr>
              <a:t>60%</a:t>
            </a:r>
          </a:p>
        </p:txBody>
      </p:sp>
      <p:sp>
        <p:nvSpPr>
          <p:cNvPr id="130" name="Google Shape;3082;p148">
            <a:extLst>
              <a:ext uri="{FF2B5EF4-FFF2-40B4-BE49-F238E27FC236}">
                <a16:creationId xmlns:a16="http://schemas.microsoft.com/office/drawing/2014/main" id="{C7E3B4A7-B30B-CAAD-232C-577E8D779B1D}"/>
              </a:ext>
            </a:extLst>
          </p:cNvPr>
          <p:cNvSpPr txBox="1">
            <a:spLocks/>
          </p:cNvSpPr>
          <p:nvPr/>
        </p:nvSpPr>
        <p:spPr>
          <a:xfrm>
            <a:off x="8081434" y="4694759"/>
            <a:ext cx="3272365" cy="779935"/>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small business use email marketing to reach customers</a:t>
            </a:r>
          </a:p>
          <a:p>
            <a:pPr marL="171450" indent="-171450" algn="ctr">
              <a:spcBef>
                <a:spcPts val="0"/>
              </a:spcBef>
              <a:buClr>
                <a:srgbClr val="47464B"/>
              </a:buClr>
              <a:buFont typeface="Arial"/>
              <a:buNone/>
            </a:pPr>
            <a:r>
              <a:rPr lang="en-US" sz="1200" dirty="0" err="1">
                <a:latin typeface="Arial"/>
                <a:cs typeface="Arial"/>
                <a:hlinkClick r:id="rId6"/>
              </a:rPr>
              <a:t>Hubspot</a:t>
            </a:r>
            <a:endParaRPr lang="en-US" sz="1200" dirty="0">
              <a:latin typeface="Arial"/>
              <a:cs typeface="Arial"/>
            </a:endParaRPr>
          </a:p>
        </p:txBody>
      </p:sp>
      <p:sp>
        <p:nvSpPr>
          <p:cNvPr id="144" name="Google Shape;3082;p148">
            <a:extLst>
              <a:ext uri="{FF2B5EF4-FFF2-40B4-BE49-F238E27FC236}">
                <a16:creationId xmlns:a16="http://schemas.microsoft.com/office/drawing/2014/main" id="{52E3660B-A5F0-0F3B-CE5F-E2813C9FF9C0}"/>
              </a:ext>
            </a:extLst>
          </p:cNvPr>
          <p:cNvSpPr txBox="1">
            <a:spLocks/>
          </p:cNvSpPr>
          <p:nvPr/>
        </p:nvSpPr>
        <p:spPr>
          <a:xfrm>
            <a:off x="1135923" y="4787104"/>
            <a:ext cx="3272365" cy="687590"/>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businesses that switched to a custom domain-based email saw an increase in customer engagement</a:t>
            </a:r>
          </a:p>
          <a:p>
            <a:pPr marL="171450" indent="-171450" algn="ctr">
              <a:spcBef>
                <a:spcPts val="0"/>
              </a:spcBef>
              <a:buClr>
                <a:srgbClr val="47464B"/>
              </a:buClr>
              <a:buFont typeface="Arial"/>
              <a:buNone/>
            </a:pPr>
            <a:r>
              <a:rPr lang="en-US" sz="1200" dirty="0">
                <a:latin typeface="Arial"/>
                <a:cs typeface="Arial"/>
                <a:hlinkClick r:id="rId4"/>
              </a:rPr>
              <a:t>Privy</a:t>
            </a:r>
            <a:endParaRPr lang="en-US" sz="1200" dirty="0">
              <a:latin typeface="Arial"/>
              <a:cs typeface="Arial"/>
            </a:endParaRPr>
          </a:p>
        </p:txBody>
      </p:sp>
      <p:pic>
        <p:nvPicPr>
          <p:cNvPr id="145" name="Google Shape;3083;p148">
            <a:extLst>
              <a:ext uri="{FF2B5EF4-FFF2-40B4-BE49-F238E27FC236}">
                <a16:creationId xmlns:a16="http://schemas.microsoft.com/office/drawing/2014/main" id="{8CF30444-B580-83B8-0391-7C86CBAC7563}"/>
              </a:ext>
            </a:extLst>
          </p:cNvPr>
          <p:cNvPicPr preferRelativeResize="0"/>
          <p:nvPr/>
        </p:nvPicPr>
        <p:blipFill rotWithShape="1">
          <a:blip r:embed="rId5">
            <a:alphaModFix/>
            <a:duotone>
              <a:prstClr val="black"/>
              <a:srgbClr val="2CADB2">
                <a:tint val="45000"/>
                <a:satMod val="400000"/>
              </a:srgbClr>
            </a:duotone>
          </a:blip>
          <a:srcRect/>
          <a:stretch/>
        </p:blipFill>
        <p:spPr>
          <a:xfrm rot="1800000">
            <a:off x="8461668" y="1734430"/>
            <a:ext cx="2667000" cy="3117850"/>
          </a:xfrm>
          <a:prstGeom prst="rect">
            <a:avLst/>
          </a:prstGeom>
          <a:noFill/>
          <a:ln>
            <a:noFill/>
          </a:ln>
        </p:spPr>
      </p:pic>
      <p:grpSp>
        <p:nvGrpSpPr>
          <p:cNvPr id="146" name="Google Shape;3098;p148">
            <a:extLst>
              <a:ext uri="{FF2B5EF4-FFF2-40B4-BE49-F238E27FC236}">
                <a16:creationId xmlns:a16="http://schemas.microsoft.com/office/drawing/2014/main" id="{00F9D3C5-9554-55D2-8437-E6AD4F0AA29A}"/>
              </a:ext>
            </a:extLst>
          </p:cNvPr>
          <p:cNvGrpSpPr/>
          <p:nvPr/>
        </p:nvGrpSpPr>
        <p:grpSpPr>
          <a:xfrm>
            <a:off x="8483819" y="2025274"/>
            <a:ext cx="2591814" cy="2591814"/>
            <a:chOff x="3527425" y="860425"/>
            <a:chExt cx="5138738" cy="5138738"/>
          </a:xfrm>
        </p:grpSpPr>
        <p:sp>
          <p:nvSpPr>
            <p:cNvPr id="147" name="Google Shape;3099;p148">
              <a:extLst>
                <a:ext uri="{FF2B5EF4-FFF2-40B4-BE49-F238E27FC236}">
                  <a16:creationId xmlns:a16="http://schemas.microsoft.com/office/drawing/2014/main" id="{F69B6919-71C4-8BCF-B452-8A5BCD12C490}"/>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48" name="Google Shape;3100;p148">
              <a:extLst>
                <a:ext uri="{FF2B5EF4-FFF2-40B4-BE49-F238E27FC236}">
                  <a16:creationId xmlns:a16="http://schemas.microsoft.com/office/drawing/2014/main" id="{CD8E816A-5B8F-ADD4-F4AA-F8F0DCB34F72}"/>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49" name="Google Shape;3101;p148">
              <a:extLst>
                <a:ext uri="{FF2B5EF4-FFF2-40B4-BE49-F238E27FC236}">
                  <a16:creationId xmlns:a16="http://schemas.microsoft.com/office/drawing/2014/main" id="{DAD10C57-6589-BBAB-13E4-DA9B3674F39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0" name="Google Shape;3102;p148">
              <a:extLst>
                <a:ext uri="{FF2B5EF4-FFF2-40B4-BE49-F238E27FC236}">
                  <a16:creationId xmlns:a16="http://schemas.microsoft.com/office/drawing/2014/main" id="{2B81DC3F-37AF-5B9D-5123-A1E0421D20F3}"/>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1" name="Google Shape;3103;p148">
              <a:extLst>
                <a:ext uri="{FF2B5EF4-FFF2-40B4-BE49-F238E27FC236}">
                  <a16:creationId xmlns:a16="http://schemas.microsoft.com/office/drawing/2014/main" id="{8D152693-E4CE-091C-C8FE-DB2F7D65A7AB}"/>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2" name="Google Shape;3104;p148">
              <a:extLst>
                <a:ext uri="{FF2B5EF4-FFF2-40B4-BE49-F238E27FC236}">
                  <a16:creationId xmlns:a16="http://schemas.microsoft.com/office/drawing/2014/main" id="{E8F7871A-6539-7222-2DEA-697414DDC6B8}"/>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3" name="Google Shape;3105;p148">
              <a:extLst>
                <a:ext uri="{FF2B5EF4-FFF2-40B4-BE49-F238E27FC236}">
                  <a16:creationId xmlns:a16="http://schemas.microsoft.com/office/drawing/2014/main" id="{73D68CED-5019-2D22-6152-D7D81A3E3D70}"/>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4" name="Google Shape;3106;p148">
              <a:extLst>
                <a:ext uri="{FF2B5EF4-FFF2-40B4-BE49-F238E27FC236}">
                  <a16:creationId xmlns:a16="http://schemas.microsoft.com/office/drawing/2014/main" id="{62F44A62-769D-4AA7-8D86-625AFC95249A}"/>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5" name="Google Shape;3107;p148">
              <a:extLst>
                <a:ext uri="{FF2B5EF4-FFF2-40B4-BE49-F238E27FC236}">
                  <a16:creationId xmlns:a16="http://schemas.microsoft.com/office/drawing/2014/main" id="{6E33A581-747F-05D1-A4B9-C5054C4A7BD4}"/>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6" name="Google Shape;3108;p148">
              <a:extLst>
                <a:ext uri="{FF2B5EF4-FFF2-40B4-BE49-F238E27FC236}">
                  <a16:creationId xmlns:a16="http://schemas.microsoft.com/office/drawing/2014/main" id="{91E4CF46-20D1-2529-E516-45987E6A46E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grpSp>
      <p:sp>
        <p:nvSpPr>
          <p:cNvPr id="157" name="Google Shape;3121;p148">
            <a:extLst>
              <a:ext uri="{FF2B5EF4-FFF2-40B4-BE49-F238E27FC236}">
                <a16:creationId xmlns:a16="http://schemas.microsoft.com/office/drawing/2014/main" id="{3F585280-CD7C-1485-5CA4-63639F05AFDE}"/>
              </a:ext>
            </a:extLst>
          </p:cNvPr>
          <p:cNvSpPr txBox="1">
            <a:spLocks/>
          </p:cNvSpPr>
          <p:nvPr/>
        </p:nvSpPr>
        <p:spPr>
          <a:xfrm>
            <a:off x="930347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Arial" panose="020B0604020202020204" pitchFamily="34" charset="0"/>
                <a:ea typeface="Calibri"/>
                <a:cs typeface="Arial" panose="020B0604020202020204" pitchFamily="34" charset="0"/>
                <a:sym typeface="Calibri"/>
              </a:rPr>
              <a:t>64%</a:t>
            </a:r>
            <a:endParaRPr lang="en-US" sz="2400" b="1" dirty="0">
              <a:solidFill>
                <a:srgbClr val="47464B"/>
              </a:solidFill>
              <a:latin typeface="Arial" panose="020B0604020202020204" pitchFamily="34" charset="0"/>
              <a:ea typeface="Calibri"/>
              <a:cs typeface="Arial" panose="020B0604020202020204" pitchFamily="34" charset="0"/>
            </a:endParaRPr>
          </a:p>
        </p:txBody>
      </p:sp>
      <p:grpSp>
        <p:nvGrpSpPr>
          <p:cNvPr id="159" name="Google Shape;3087;p148">
            <a:extLst>
              <a:ext uri="{FF2B5EF4-FFF2-40B4-BE49-F238E27FC236}">
                <a16:creationId xmlns:a16="http://schemas.microsoft.com/office/drawing/2014/main" id="{6C9BDCDE-35CE-D26B-AB29-9A605D81BDE0}"/>
              </a:ext>
            </a:extLst>
          </p:cNvPr>
          <p:cNvGrpSpPr/>
          <p:nvPr/>
        </p:nvGrpSpPr>
        <p:grpSpPr>
          <a:xfrm>
            <a:off x="5034920" y="2028534"/>
            <a:ext cx="2591814" cy="2591814"/>
            <a:chOff x="3527425" y="860425"/>
            <a:chExt cx="5138738" cy="5138738"/>
          </a:xfrm>
        </p:grpSpPr>
        <p:sp>
          <p:nvSpPr>
            <p:cNvPr id="160" name="Google Shape;3088;p148">
              <a:extLst>
                <a:ext uri="{FF2B5EF4-FFF2-40B4-BE49-F238E27FC236}">
                  <a16:creationId xmlns:a16="http://schemas.microsoft.com/office/drawing/2014/main" id="{6DA6DE97-D541-DA93-DC46-72713E7EE36E}"/>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1" name="Google Shape;3089;p148">
              <a:extLst>
                <a:ext uri="{FF2B5EF4-FFF2-40B4-BE49-F238E27FC236}">
                  <a16:creationId xmlns:a16="http://schemas.microsoft.com/office/drawing/2014/main" id="{7560D3B5-2E30-FCD3-E7E4-B8AEB165D40F}"/>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2" name="Google Shape;3090;p148">
              <a:extLst>
                <a:ext uri="{FF2B5EF4-FFF2-40B4-BE49-F238E27FC236}">
                  <a16:creationId xmlns:a16="http://schemas.microsoft.com/office/drawing/2014/main" id="{C7641BC1-651D-E5FB-7F0F-D40754894BE9}"/>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3" name="Google Shape;3091;p148">
              <a:extLst>
                <a:ext uri="{FF2B5EF4-FFF2-40B4-BE49-F238E27FC236}">
                  <a16:creationId xmlns:a16="http://schemas.microsoft.com/office/drawing/2014/main" id="{D0C9D32C-9768-F4DA-6587-4CE2B5349722}"/>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4" name="Google Shape;3092;p148">
              <a:extLst>
                <a:ext uri="{FF2B5EF4-FFF2-40B4-BE49-F238E27FC236}">
                  <a16:creationId xmlns:a16="http://schemas.microsoft.com/office/drawing/2014/main" id="{5B8D89CE-81E6-2945-8CE4-E633040963FC}"/>
                </a:ext>
              </a:extLst>
            </p:cNvPr>
            <p:cNvSpPr/>
            <p:nvPr/>
          </p:nvSpPr>
          <p:spPr>
            <a:xfrm>
              <a:off x="6096000" y="3429000"/>
              <a:ext cx="1511300" cy="2570163"/>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5" name="Google Shape;3093;p148">
              <a:extLst>
                <a:ext uri="{FF2B5EF4-FFF2-40B4-BE49-F238E27FC236}">
                  <a16:creationId xmlns:a16="http://schemas.microsoft.com/office/drawing/2014/main" id="{80329582-221B-FC50-3482-FE1F811A6BB3}"/>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6" name="Google Shape;3094;p148">
              <a:extLst>
                <a:ext uri="{FF2B5EF4-FFF2-40B4-BE49-F238E27FC236}">
                  <a16:creationId xmlns:a16="http://schemas.microsoft.com/office/drawing/2014/main" id="{63680F1A-F41F-96BF-F763-1AFC2AF65476}"/>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7" name="Google Shape;3095;p148">
              <a:extLst>
                <a:ext uri="{FF2B5EF4-FFF2-40B4-BE49-F238E27FC236}">
                  <a16:creationId xmlns:a16="http://schemas.microsoft.com/office/drawing/2014/main" id="{851E0B5B-9347-6CB1-3BE1-C4855F124C07}"/>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8" name="Google Shape;3096;p148">
              <a:extLst>
                <a:ext uri="{FF2B5EF4-FFF2-40B4-BE49-F238E27FC236}">
                  <a16:creationId xmlns:a16="http://schemas.microsoft.com/office/drawing/2014/main" id="{9DD7611F-3417-0F52-936E-499E6ED06EE3}"/>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9" name="Google Shape;3097;p148">
              <a:extLst>
                <a:ext uri="{FF2B5EF4-FFF2-40B4-BE49-F238E27FC236}">
                  <a16:creationId xmlns:a16="http://schemas.microsoft.com/office/drawing/2014/main" id="{1864DF2D-34AB-411F-631D-3737DA3A360A}"/>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grpSp>
      <p:sp>
        <p:nvSpPr>
          <p:cNvPr id="170" name="Google Shape;3120;p148">
            <a:extLst>
              <a:ext uri="{FF2B5EF4-FFF2-40B4-BE49-F238E27FC236}">
                <a16:creationId xmlns:a16="http://schemas.microsoft.com/office/drawing/2014/main" id="{40888CAF-551B-ABE8-D21F-2A4E9F6D8D8A}"/>
              </a:ext>
            </a:extLst>
          </p:cNvPr>
          <p:cNvSpPr txBox="1">
            <a:spLocks/>
          </p:cNvSpPr>
          <p:nvPr/>
        </p:nvSpPr>
        <p:spPr>
          <a:xfrm>
            <a:off x="5807587" y="3220882"/>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Arial" panose="020B0604020202020204" pitchFamily="34" charset="0"/>
                <a:ea typeface="Calibri"/>
                <a:cs typeface="Arial" panose="020B0604020202020204" pitchFamily="34" charset="0"/>
                <a:sym typeface="Calibri"/>
              </a:rPr>
              <a:t>42%</a:t>
            </a:r>
            <a:endParaRPr lang="en-US" sz="2400" b="1" dirty="0">
              <a:solidFill>
                <a:srgbClr val="47464B"/>
              </a:solidFill>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149628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0"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04672" y="1658678"/>
            <a:ext cx="4765949" cy="4625163"/>
          </a:xfrm>
        </p:spPr>
        <p:txBody>
          <a:bodyPr anchor="t">
            <a:normAutofit/>
          </a:bodyPr>
          <a:lstStyle/>
          <a:p>
            <a:pPr marL="342900" indent="-342900">
              <a:lnSpc>
                <a:spcPct val="100000"/>
              </a:lnSpc>
              <a:spcBef>
                <a:spcPts val="1800"/>
              </a:spcBef>
              <a:buFont typeface="Symbol" panose="05050102010706020507" pitchFamily="18" charset="2"/>
              <a:buChar char=""/>
            </a:pPr>
            <a:r>
              <a:rPr lang="en-US" sz="1600" dirty="0">
                <a:latin typeface="Arial"/>
                <a:ea typeface="Cambria"/>
                <a:cs typeface="Arial"/>
              </a:rPr>
              <a:t>Establish brand identity</a:t>
            </a:r>
          </a:p>
          <a:p>
            <a:pPr marL="342900" indent="-342900">
              <a:lnSpc>
                <a:spcPct val="100000"/>
              </a:lnSpc>
              <a:spcBef>
                <a:spcPts val="1800"/>
              </a:spcBef>
              <a:buFont typeface="Symbol" panose="05050102010706020507" pitchFamily="18" charset="2"/>
              <a:buChar char=""/>
            </a:pPr>
            <a:r>
              <a:rPr lang="en-US" sz="1600" dirty="0">
                <a:latin typeface="Arial"/>
                <a:ea typeface="Cambria"/>
                <a:cs typeface="Arial"/>
              </a:rPr>
              <a:t>Build trust</a:t>
            </a:r>
          </a:p>
          <a:p>
            <a:pPr marL="342900" indent="-342900">
              <a:lnSpc>
                <a:spcPct val="100000"/>
              </a:lnSpc>
              <a:spcBef>
                <a:spcPts val="1800"/>
              </a:spcBef>
              <a:buFont typeface="Symbol" panose="05050102010706020507" pitchFamily="18" charset="2"/>
              <a:buChar char=""/>
            </a:pPr>
            <a:r>
              <a:rPr lang="en-US" sz="1600" dirty="0">
                <a:effectLst/>
                <a:latin typeface="Arial"/>
                <a:ea typeface="Cambria"/>
                <a:cs typeface="Arial"/>
              </a:rPr>
              <a:t>Look professional </a:t>
            </a:r>
            <a:endParaRPr lang="en-US" sz="1600" dirty="0">
              <a:effectLst/>
              <a:latin typeface="Arial" panose="020B0604020202020204" pitchFamily="34" charset="0"/>
              <a:ea typeface="Cambria" panose="02040503050406030204" pitchFamily="18" charset="0"/>
            </a:endParaRPr>
          </a:p>
          <a:p>
            <a:pPr marL="342900" indent="-342900">
              <a:lnSpc>
                <a:spcPct val="100000"/>
              </a:lnSpc>
              <a:spcBef>
                <a:spcPts val="1800"/>
              </a:spcBef>
              <a:buFont typeface="Symbol" panose="05050102010706020507" pitchFamily="18" charset="2"/>
              <a:buChar char=""/>
            </a:pPr>
            <a:r>
              <a:rPr lang="en-US" sz="1600" dirty="0">
                <a:latin typeface="Arial"/>
                <a:ea typeface="Cambria"/>
                <a:cs typeface="Arial"/>
              </a:rPr>
              <a:t>Improve Productivity </a:t>
            </a:r>
          </a:p>
          <a:p>
            <a:pPr marL="342900" indent="-342900">
              <a:lnSpc>
                <a:spcPct val="100000"/>
              </a:lnSpc>
              <a:spcBef>
                <a:spcPts val="1800"/>
              </a:spcBef>
              <a:buFont typeface="Symbol" panose="05050102010706020507" pitchFamily="18" charset="2"/>
              <a:buChar char=""/>
            </a:pPr>
            <a:r>
              <a:rPr lang="en-US" sz="1600" dirty="0">
                <a:latin typeface="Arial"/>
                <a:ea typeface="Cambria"/>
                <a:cs typeface="Arial"/>
              </a:rPr>
              <a:t>Easy management </a:t>
            </a:r>
          </a:p>
          <a:p>
            <a:pPr marL="342900" indent="-342900">
              <a:lnSpc>
                <a:spcPct val="100000"/>
              </a:lnSpc>
              <a:spcBef>
                <a:spcPts val="1800"/>
              </a:spcBef>
              <a:buFont typeface="Symbol" panose="05050102010706020507" pitchFamily="18" charset="2"/>
              <a:buChar char=""/>
            </a:pPr>
            <a:endParaRPr lang="en-US" sz="1600" dirty="0">
              <a:latin typeface="Arial"/>
              <a:ea typeface="Cambria"/>
              <a:cs typeface="Aria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pic>
        <p:nvPicPr>
          <p:cNvPr id="5" name="Picture 4" descr="Layout of website design sketches on white paper">
            <a:extLst>
              <a:ext uri="{FF2B5EF4-FFF2-40B4-BE49-F238E27FC236}">
                <a16:creationId xmlns:a16="http://schemas.microsoft.com/office/drawing/2014/main" id="{9F95BC6D-1521-1A62-2F43-594381C2A3B1}"/>
              </a:ext>
            </a:extLst>
          </p:cNvPr>
          <p:cNvPicPr>
            <a:picLocks noChangeAspect="1"/>
          </p:cNvPicPr>
          <p:nvPr/>
        </p:nvPicPr>
        <p:blipFill>
          <a:blip r:embed="rId3">
            <a:extLst>
              <a:ext uri="{28A0092B-C50C-407E-A947-70E740481C1C}">
                <a14:useLocalDpi xmlns:a14="http://schemas.microsoft.com/office/drawing/2010/main" val="0"/>
              </a:ext>
            </a:extLst>
          </a:blip>
          <a:srcRect l="14157" r="14157"/>
          <a:stretch/>
        </p:blipFill>
        <p:spPr>
          <a:xfrm>
            <a:off x="7211567" y="1759139"/>
            <a:ext cx="4336527" cy="3180507"/>
          </a:xfrm>
          <a:prstGeom prst="rect">
            <a:avLst/>
          </a:prstGeom>
        </p:spPr>
      </p:pic>
      <p:sp>
        <p:nvSpPr>
          <p:cNvPr id="6" name="Title 1">
            <a:extLst>
              <a:ext uri="{FF2B5EF4-FFF2-40B4-BE49-F238E27FC236}">
                <a16:creationId xmlns:a16="http://schemas.microsoft.com/office/drawing/2014/main" id="{C6F4B2F6-1299-CA17-A2EC-54FF9654EB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i="0" dirty="0">
                <a:solidFill>
                  <a:srgbClr val="C00000"/>
                </a:solidFill>
                <a:effectLst/>
                <a:latin typeface="Arial" panose="020B0604020202020204" pitchFamily="34" charset="0"/>
                <a:cs typeface="Arial" panose="020B0604020202020204" pitchFamily="34" charset="0"/>
              </a:rPr>
              <a:t>Domains + Email</a:t>
            </a:r>
            <a:endParaRPr lang="en-US" sz="32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139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0"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Arial" panose="020B0604020202020204" pitchFamily="34" charset="0"/>
            </a:endParaRPr>
          </a:p>
        </p:txBody>
      </p:sp>
      <p:sp>
        <p:nvSpPr>
          <p:cNvPr id="2" name="Title 1">
            <a:extLst>
              <a:ext uri="{FF2B5EF4-FFF2-40B4-BE49-F238E27FC236}">
                <a16:creationId xmlns:a16="http://schemas.microsoft.com/office/drawing/2014/main" id="{0045988D-9CB0-43D9-323F-CDD5BA7AA567}"/>
              </a:ext>
            </a:extLst>
          </p:cNvPr>
          <p:cNvSpPr txBox="1">
            <a:spLocks/>
          </p:cNvSpPr>
          <p:nvPr/>
        </p:nvSpPr>
        <p:spPr>
          <a:xfrm>
            <a:off x="366489" y="557827"/>
            <a:ext cx="3739341" cy="13308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b="1" dirty="0">
                <a:solidFill>
                  <a:srgbClr val="C00000"/>
                </a:solidFill>
                <a:latin typeface="Arial" panose="020B0604020202020204" pitchFamily="34" charset="0"/>
                <a:cs typeface="Arial" panose="020B0604020202020204" pitchFamily="34" charset="0"/>
              </a:rPr>
              <a:t>Custom Addresses and easy management</a:t>
            </a:r>
            <a:endParaRPr lang="en-US" sz="3200" b="1" kern="1200" dirty="0">
              <a:solidFill>
                <a:srgbClr val="C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F45A191-89EB-1A99-1E7C-F8302FA9F1D2}"/>
              </a:ext>
            </a:extLst>
          </p:cNvPr>
          <p:cNvSpPr txBox="1"/>
          <p:nvPr/>
        </p:nvSpPr>
        <p:spPr>
          <a:xfrm>
            <a:off x="366489" y="1940439"/>
            <a:ext cx="4208425" cy="4712031"/>
          </a:xfrm>
          <a:prstGeom prst="rect">
            <a:avLst/>
          </a:prstGeom>
        </p:spPr>
        <p:txBody>
          <a:bodyPr vert="horz" lIns="91440" tIns="45720" rIns="91440" bIns="45720" rtlCol="0">
            <a:normAutofit/>
          </a:bodyPr>
          <a:lstStyle/>
          <a:p>
            <a:pPr marR="54610" lvl="0">
              <a:spcBef>
                <a:spcPts val="600"/>
              </a:spcBef>
              <a:spcAft>
                <a:spcPts val="600"/>
              </a:spcAft>
              <a:buSzPts val="800"/>
            </a:pPr>
            <a:r>
              <a:rPr lang="en-US" sz="1800" dirty="0">
                <a:effectLst/>
                <a:latin typeface="Arial" panose="020B0604020202020204" pitchFamily="34" charset="0"/>
                <a:ea typeface="Times New Roman" panose="02020603050405020304" pitchFamily="18" charset="0"/>
                <a:cs typeface="Arial" panose="020B0604020202020204" pitchFamily="34" charset="0"/>
              </a:rPr>
              <a:t>Businesses have professional representation with an email address that matches their  business domain name.  It promotes the  brand and helps them stand out from the competition.</a:t>
            </a:r>
          </a:p>
          <a:p>
            <a:pPr marR="54610" lvl="0">
              <a:spcBef>
                <a:spcPts val="600"/>
              </a:spcBef>
              <a:spcAft>
                <a:spcPts val="600"/>
              </a:spcAft>
              <a:buSzPts val="800"/>
            </a:pPr>
            <a:r>
              <a:rPr lang="en-US" sz="1800" dirty="0">
                <a:effectLst/>
                <a:latin typeface="Arial" panose="020B0604020202020204" pitchFamily="34" charset="0"/>
                <a:ea typeface="Arial" panose="020B0604020202020204" pitchFamily="34" charset="0"/>
              </a:rPr>
              <a:t>Manage domain settings in an easy-to-use online interface.</a:t>
            </a:r>
            <a:endParaRPr lang="en-US"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183689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endParaRPr lang="en-US" sz="1300">
              <a:latin typeface="Arial" panose="020B0604020202020204" pitchFamily="34" charset="0"/>
              <a:ea typeface="Cambria" panose="02040503050406030204" pitchFamily="18" charset="0"/>
              <a:cs typeface="Arial" panose="020B0604020202020204" pitchFamily="34" charset="0"/>
            </a:endParaRPr>
          </a:p>
        </p:txBody>
      </p:sp>
      <p:pic>
        <p:nvPicPr>
          <p:cNvPr id="7" name="Picture 6" descr="Hands typing on laptop">
            <a:extLst>
              <a:ext uri="{FF2B5EF4-FFF2-40B4-BE49-F238E27FC236}">
                <a16:creationId xmlns:a16="http://schemas.microsoft.com/office/drawing/2014/main" id="{C9690A22-EFFB-8203-E8C7-0BFCF347C74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77250" y="2101052"/>
            <a:ext cx="6989354" cy="3245271"/>
          </a:xfrm>
          <a:prstGeom prst="rect">
            <a:avLst/>
          </a:prstGeom>
        </p:spPr>
      </p:pic>
    </p:spTree>
    <p:extLst>
      <p:ext uri="{BB962C8B-B14F-4D97-AF65-F5344CB8AC3E}">
        <p14:creationId xmlns:p14="http://schemas.microsoft.com/office/powerpoint/2010/main" val="321031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3F5E-5657-4559-B316-42A9F0D93257}"/>
              </a:ext>
            </a:extLst>
          </p:cNvPr>
          <p:cNvSpPr>
            <a:spLocks noGrp="1"/>
          </p:cNvSpPr>
          <p:nvPr>
            <p:ph type="title"/>
          </p:nvPr>
        </p:nvSpPr>
        <p:spPr/>
        <p:txBody>
          <a:bodyPr>
            <a:normAutofit/>
          </a:bodyPr>
          <a:lstStyle/>
          <a:p>
            <a:r>
              <a:rPr lang="en-US" sz="3200" b="1" dirty="0">
                <a:solidFill>
                  <a:srgbClr val="C00000"/>
                </a:solidFill>
                <a:latin typeface="Arial" panose="020B0604020202020204" pitchFamily="34" charset="0"/>
                <a:cs typeface="Arial" panose="020B0604020202020204" pitchFamily="34" charset="0"/>
              </a:rPr>
              <a:t>Domain Features</a:t>
            </a:r>
            <a:endParaRPr lang="en-US" sz="3200" dirty="0">
              <a:solidFill>
                <a:srgbClr val="C00000"/>
              </a:solidFill>
            </a:endParaRPr>
          </a:p>
        </p:txBody>
      </p:sp>
      <p:sp>
        <p:nvSpPr>
          <p:cNvPr id="3" name="Content Placeholder 2">
            <a:extLst>
              <a:ext uri="{FF2B5EF4-FFF2-40B4-BE49-F238E27FC236}">
                <a16:creationId xmlns:a16="http://schemas.microsoft.com/office/drawing/2014/main" id="{8A1F4D27-22C8-3401-54C2-4D4ABFEFED75}"/>
              </a:ext>
            </a:extLst>
          </p:cNvPr>
          <p:cNvSpPr>
            <a:spLocks noGrp="1"/>
          </p:cNvSpPr>
          <p:nvPr>
            <p:ph idx="1"/>
          </p:nvPr>
        </p:nvSpPr>
        <p:spPr>
          <a:xfrm>
            <a:off x="763398" y="1775902"/>
            <a:ext cx="4312640" cy="1603375"/>
          </a:xfrm>
        </p:spPr>
        <p:txBody>
          <a:bodyPr>
            <a:normAutofit/>
          </a:bodyPr>
          <a:lstStyle/>
          <a:p>
            <a:pPr marL="57150" indent="0">
              <a:spcBef>
                <a:spcPts val="0"/>
              </a:spcBef>
              <a:buNone/>
            </a:pPr>
            <a:r>
              <a:rPr lang="en-US" sz="1800" dirty="0">
                <a:solidFill>
                  <a:srgbClr val="C00000"/>
                </a:solidFill>
                <a:effectLst/>
                <a:ea typeface="MS Mincho" panose="02020609040205080304" pitchFamily="49" charset="-128"/>
                <a:cs typeface="Arial" panose="020B0604020202020204" pitchFamily="34" charset="0"/>
              </a:rPr>
              <a:t>Domain forwarding</a:t>
            </a:r>
            <a:endParaRPr lang="en-US" sz="1800" dirty="0">
              <a:solidFill>
                <a:srgbClr val="C00000"/>
              </a:solidFill>
              <a:ea typeface="MS Mincho" panose="02020609040205080304" pitchFamily="49" charset="-128"/>
              <a:cs typeface="Arial" panose="020B0604020202020204" pitchFamily="34" charset="0"/>
            </a:endParaRPr>
          </a:p>
          <a:p>
            <a:pPr marL="57150" indent="0">
              <a:spcBef>
                <a:spcPts val="0"/>
              </a:spcBef>
              <a:buNone/>
            </a:pPr>
            <a:r>
              <a:rPr lang="en-US" sz="1800" dirty="0">
                <a:effectLst/>
                <a:ea typeface="Times New Roman" panose="02020603050405020304" pitchFamily="18" charset="0"/>
                <a:cs typeface="Arial" panose="020B0604020202020204" pitchFamily="34" charset="0"/>
              </a:rPr>
              <a:t>Available as an add </a:t>
            </a:r>
            <a:r>
              <a:rPr lang="en-US" sz="1800" dirty="0">
                <a:ea typeface="Times New Roman" panose="02020603050405020304" pitchFamily="18" charset="0"/>
                <a:cs typeface="Arial" panose="020B0604020202020204" pitchFamily="34" charset="0"/>
              </a:rPr>
              <a:t>on. Having multiple domains forwarded to one increases traffic on the main website</a:t>
            </a:r>
            <a:endParaRPr lang="en-US" sz="1800" dirty="0">
              <a:effectLst/>
              <a:ea typeface="Cambria" panose="02040503050406030204" pitchFamily="18" charset="0"/>
              <a:cs typeface="Arial" panose="020B0604020202020204" pitchFamily="34" charset="0"/>
            </a:endParaRPr>
          </a:p>
          <a:p>
            <a:pPr marL="57150" indent="0">
              <a:lnSpc>
                <a:spcPct val="90000"/>
              </a:lnSpc>
              <a:spcBef>
                <a:spcPts val="0"/>
              </a:spcBef>
              <a:buNone/>
            </a:pPr>
            <a:endParaRPr lang="en-US" sz="1800" b="1" dirty="0">
              <a:cs typeface="Arial" panose="020B0604020202020204" pitchFamily="34" charset="0"/>
            </a:endParaRPr>
          </a:p>
          <a:p>
            <a:pPr>
              <a:spcBef>
                <a:spcPts val="0"/>
              </a:spcBef>
            </a:pPr>
            <a:endParaRPr lang="en-US" sz="1800" dirty="0">
              <a:cs typeface="Arial" panose="020B0604020202020204" pitchFamily="34" charset="0"/>
            </a:endParaRPr>
          </a:p>
        </p:txBody>
      </p:sp>
      <p:sp>
        <p:nvSpPr>
          <p:cNvPr id="5" name="TextBox 4">
            <a:extLst>
              <a:ext uri="{FF2B5EF4-FFF2-40B4-BE49-F238E27FC236}">
                <a16:creationId xmlns:a16="http://schemas.microsoft.com/office/drawing/2014/main" id="{046D975E-87C2-A54F-E965-DA767CC63EDE}"/>
              </a:ext>
            </a:extLst>
          </p:cNvPr>
          <p:cNvSpPr txBox="1"/>
          <p:nvPr/>
        </p:nvSpPr>
        <p:spPr>
          <a:xfrm>
            <a:off x="6096000" y="1690688"/>
            <a:ext cx="5148044" cy="923330"/>
          </a:xfrm>
          <a:prstGeom prst="rect">
            <a:avLst/>
          </a:prstGeom>
          <a:noFill/>
        </p:spPr>
        <p:txBody>
          <a:bodyPr wrap="square">
            <a:spAutoFit/>
          </a:bodyPr>
          <a:lstStyle/>
          <a:p>
            <a:pPr marR="54610" lvl="0">
              <a:buSzPts val="800"/>
            </a:pPr>
            <a:r>
              <a:rPr lang="en-US" dirty="0">
                <a:solidFill>
                  <a:srgbClr val="C00000"/>
                </a:solidFill>
                <a:effectLst/>
                <a:latin typeface="Arial" panose="020B0604020202020204" pitchFamily="34" charset="0"/>
                <a:ea typeface="MS Mincho" panose="02020609040205080304" pitchFamily="49" charset="-128"/>
                <a:cs typeface="Arial" panose="020B0604020202020204" pitchFamily="34" charset="0"/>
              </a:rPr>
              <a:t>Technical Support</a:t>
            </a:r>
            <a:endParaRPr lang="en-US" dirty="0">
              <a:solidFill>
                <a:srgbClr val="C00000"/>
              </a:solidFill>
              <a:latin typeface="Arial" panose="020B0604020202020204" pitchFamily="34" charset="0"/>
              <a:ea typeface="MS Mincho" panose="02020609040205080304" pitchFamily="49" charset="-128"/>
              <a:cs typeface="Arial" panose="020B0604020202020204" pitchFamily="34" charset="0"/>
            </a:endParaRPr>
          </a:p>
          <a:p>
            <a:pPr marR="54610" lvl="0">
              <a:buSzPts val="800"/>
            </a:pPr>
            <a:r>
              <a:rPr lang="en-US" dirty="0">
                <a:effectLst/>
                <a:latin typeface="Arial" panose="020B0604020202020204" pitchFamily="34" charset="0"/>
                <a:ea typeface="Arial" panose="020B0604020202020204" pitchFamily="34" charset="0"/>
                <a:cs typeface="Arial" panose="020B0604020202020204" pitchFamily="34" charset="0"/>
              </a:rPr>
              <a:t>Technical support can assist with any issues that arise. </a:t>
            </a:r>
            <a:endParaRPr kumimoji="0" lang="en-US"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89B77419-BFC5-3900-30BD-1244233B758F}"/>
              </a:ext>
            </a:extLst>
          </p:cNvPr>
          <p:cNvSpPr txBox="1"/>
          <p:nvPr/>
        </p:nvSpPr>
        <p:spPr>
          <a:xfrm>
            <a:off x="838200" y="4453170"/>
            <a:ext cx="4880638" cy="923330"/>
          </a:xfrm>
          <a:prstGeom prst="rect">
            <a:avLst/>
          </a:prstGeom>
          <a:noFill/>
        </p:spPr>
        <p:txBody>
          <a:bodyPr wrap="square">
            <a:spAutoFit/>
          </a:bodyPr>
          <a:lstStyle/>
          <a:p>
            <a:pPr marR="54610" lvl="0">
              <a:buSzPts val="800"/>
            </a:pPr>
            <a:r>
              <a:rPr lang="en-US" dirty="0">
                <a:solidFill>
                  <a:srgbClr val="C00000"/>
                </a:solidFill>
                <a:latin typeface="Arial" panose="020B0604020202020204" pitchFamily="34" charset="0"/>
                <a:ea typeface="MS Mincho" panose="02020609040205080304" pitchFamily="49" charset="-128"/>
                <a:cs typeface="Arial" panose="020B0604020202020204" pitchFamily="34" charset="0"/>
              </a:rPr>
              <a:t>Simple Transfers</a:t>
            </a:r>
            <a:endParaRPr lang="en-US" dirty="0">
              <a:solidFill>
                <a:srgbClr val="7030A0"/>
              </a:solidFill>
              <a:latin typeface="Arial" panose="020B0604020202020204" pitchFamily="34" charset="0"/>
              <a:ea typeface="MS Mincho" panose="02020609040205080304" pitchFamily="49" charset="-128"/>
              <a:cs typeface="Arial" panose="020B0604020202020204" pitchFamily="34" charset="0"/>
            </a:endParaRPr>
          </a:p>
          <a:p>
            <a:pPr marR="54610" lvl="0">
              <a:buSzPts val="800"/>
            </a:pPr>
            <a:r>
              <a:rPr lang="en-US" dirty="0">
                <a:effectLst/>
                <a:latin typeface="Arial" panose="020B0604020202020204" pitchFamily="34" charset="0"/>
                <a:ea typeface="Arial" panose="020B0604020202020204" pitchFamily="34" charset="0"/>
                <a:cs typeface="Arial" panose="020B0604020202020204" pitchFamily="34" charset="0"/>
              </a:rPr>
              <a:t>Transfer an existing domain for cost savings easily. </a:t>
            </a:r>
            <a:endParaRPr kumimoji="0" lang="en-US"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6" name="TextBox 5">
            <a:extLst>
              <a:ext uri="{FF2B5EF4-FFF2-40B4-BE49-F238E27FC236}">
                <a16:creationId xmlns:a16="http://schemas.microsoft.com/office/drawing/2014/main" id="{CCA1575F-8D9B-4614-E2FE-052C914551CF}"/>
              </a:ext>
            </a:extLst>
          </p:cNvPr>
          <p:cNvSpPr txBox="1"/>
          <p:nvPr/>
        </p:nvSpPr>
        <p:spPr>
          <a:xfrm>
            <a:off x="6096000" y="4453170"/>
            <a:ext cx="5148044" cy="840230"/>
          </a:xfrm>
          <a:prstGeom prst="rect">
            <a:avLst/>
          </a:prstGeom>
          <a:noFill/>
        </p:spPr>
        <p:txBody>
          <a:bodyPr wrap="square">
            <a:spAutoFit/>
          </a:bodyPr>
          <a:lstStyle/>
          <a:p>
            <a:pPr marL="57150">
              <a:lnSpc>
                <a:spcPct val="90000"/>
              </a:lnSpc>
              <a:defRPr/>
            </a:pPr>
            <a:r>
              <a:rPr lang="en-US" dirty="0">
                <a:solidFill>
                  <a:srgbClr val="C00000"/>
                </a:solidFill>
                <a:effectLst/>
                <a:latin typeface="Arial" panose="020B0604020202020204" pitchFamily="34" charset="0"/>
                <a:ea typeface="Calibri" panose="020F0502020204030204" pitchFamily="34" charset="0"/>
                <a:cs typeface="Arial" panose="020B0604020202020204" pitchFamily="34" charset="0"/>
              </a:rPr>
              <a:t>Easy Management</a:t>
            </a:r>
            <a:endParaRPr lang="en-US"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marL="57150">
              <a:lnSpc>
                <a:spcPct val="90000"/>
              </a:lnSpc>
              <a:defRPr/>
            </a:pPr>
            <a:r>
              <a:rPr lang="en-US" dirty="0">
                <a:effectLst/>
                <a:latin typeface="Arial" panose="020B0604020202020204" pitchFamily="34" charset="0"/>
                <a:ea typeface="Arial" panose="020B0604020202020204" pitchFamily="34" charset="0"/>
                <a:cs typeface="Arial" panose="020B0604020202020204" pitchFamily="34" charset="0"/>
              </a:rPr>
              <a:t>Manage domain settings in an easy-to-use online interface. </a:t>
            </a:r>
            <a:endParaRPr lang="en-US" b="1"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683184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3F5E-5657-4559-B316-42A9F0D93257}"/>
              </a:ext>
            </a:extLst>
          </p:cNvPr>
          <p:cNvSpPr>
            <a:spLocks noGrp="1"/>
          </p:cNvSpPr>
          <p:nvPr>
            <p:ph type="title"/>
          </p:nvPr>
        </p:nvSpPr>
        <p:spPr/>
        <p:txBody>
          <a:bodyPr>
            <a:normAutofit/>
          </a:bodyPr>
          <a:lstStyle/>
          <a:p>
            <a:r>
              <a:rPr lang="en-US" sz="3200" b="1" dirty="0">
                <a:solidFill>
                  <a:srgbClr val="C00000"/>
                </a:solidFill>
                <a:latin typeface="Arial" panose="020B0604020202020204" pitchFamily="34" charset="0"/>
                <a:cs typeface="Arial" panose="020B0604020202020204" pitchFamily="34" charset="0"/>
              </a:rPr>
              <a:t>Email Features</a:t>
            </a:r>
            <a:endParaRPr lang="en-US" sz="3200" dirty="0">
              <a:solidFill>
                <a:srgbClr val="C00000"/>
              </a:solidFill>
            </a:endParaRPr>
          </a:p>
        </p:txBody>
      </p:sp>
      <p:sp>
        <p:nvSpPr>
          <p:cNvPr id="3" name="Content Placeholder 2">
            <a:extLst>
              <a:ext uri="{FF2B5EF4-FFF2-40B4-BE49-F238E27FC236}">
                <a16:creationId xmlns:a16="http://schemas.microsoft.com/office/drawing/2014/main" id="{8A1F4D27-22C8-3401-54C2-4D4ABFEFED75}"/>
              </a:ext>
            </a:extLst>
          </p:cNvPr>
          <p:cNvSpPr>
            <a:spLocks noGrp="1"/>
          </p:cNvSpPr>
          <p:nvPr>
            <p:ph idx="1"/>
          </p:nvPr>
        </p:nvSpPr>
        <p:spPr>
          <a:xfrm>
            <a:off x="763398" y="1783409"/>
            <a:ext cx="4312640" cy="1603375"/>
          </a:xfrm>
        </p:spPr>
        <p:txBody>
          <a:bodyPr>
            <a:normAutofit/>
          </a:bodyPr>
          <a:lstStyle/>
          <a:p>
            <a:pPr marL="57150" indent="0">
              <a:spcBef>
                <a:spcPts val="0"/>
              </a:spcBef>
              <a:buNone/>
            </a:pPr>
            <a:r>
              <a:rPr lang="en-US" sz="1800" dirty="0">
                <a:solidFill>
                  <a:srgbClr val="C00000"/>
                </a:solidFill>
                <a:effectLst/>
                <a:ea typeface="MS Mincho" panose="02020609040205080304" pitchFamily="49" charset="-128"/>
                <a:cs typeface="Arial" panose="020B0604020202020204" pitchFamily="34" charset="0"/>
              </a:rPr>
              <a:t>Calendaring</a:t>
            </a:r>
            <a:endParaRPr lang="en-US" sz="1800" dirty="0">
              <a:solidFill>
                <a:srgbClr val="C00000"/>
              </a:solidFill>
              <a:ea typeface="MS Mincho" panose="02020609040205080304" pitchFamily="49" charset="-128"/>
              <a:cs typeface="Arial" panose="020B0604020202020204" pitchFamily="34" charset="0"/>
            </a:endParaRPr>
          </a:p>
          <a:p>
            <a:pPr marL="57150" indent="0">
              <a:spcBef>
                <a:spcPts val="0"/>
              </a:spcBef>
              <a:buNone/>
            </a:pPr>
            <a:r>
              <a:rPr lang="en-US" sz="1800" dirty="0">
                <a:effectLst/>
                <a:ea typeface="Times New Roman" panose="02020603050405020304" pitchFamily="18" charset="0"/>
                <a:cs typeface="Arial" panose="020B0604020202020204" pitchFamily="34" charset="0"/>
              </a:rPr>
              <a:t>Managing calendars is easy, share calendars, create events, set free/ busy hours. </a:t>
            </a:r>
            <a:endParaRPr lang="en-US" sz="1800" dirty="0">
              <a:effectLst/>
              <a:ea typeface="Cambria" panose="02040503050406030204" pitchFamily="18" charset="0"/>
              <a:cs typeface="Arial" panose="020B0604020202020204" pitchFamily="34" charset="0"/>
            </a:endParaRPr>
          </a:p>
          <a:p>
            <a:pPr marL="57150" indent="0">
              <a:lnSpc>
                <a:spcPct val="90000"/>
              </a:lnSpc>
              <a:spcBef>
                <a:spcPts val="0"/>
              </a:spcBef>
              <a:buNone/>
            </a:pPr>
            <a:endParaRPr lang="en-US" sz="1800" b="1" dirty="0">
              <a:cs typeface="Arial" panose="020B0604020202020204" pitchFamily="34" charset="0"/>
            </a:endParaRPr>
          </a:p>
          <a:p>
            <a:pPr>
              <a:spcBef>
                <a:spcPts val="0"/>
              </a:spcBef>
            </a:pPr>
            <a:endParaRPr lang="en-US" sz="1800" dirty="0">
              <a:cs typeface="Arial" panose="020B0604020202020204" pitchFamily="34" charset="0"/>
            </a:endParaRPr>
          </a:p>
        </p:txBody>
      </p:sp>
      <p:sp>
        <p:nvSpPr>
          <p:cNvPr id="5" name="TextBox 4">
            <a:extLst>
              <a:ext uri="{FF2B5EF4-FFF2-40B4-BE49-F238E27FC236}">
                <a16:creationId xmlns:a16="http://schemas.microsoft.com/office/drawing/2014/main" id="{046D975E-87C2-A54F-E965-DA767CC63EDE}"/>
              </a:ext>
            </a:extLst>
          </p:cNvPr>
          <p:cNvSpPr txBox="1"/>
          <p:nvPr/>
        </p:nvSpPr>
        <p:spPr>
          <a:xfrm>
            <a:off x="6096000" y="1690688"/>
            <a:ext cx="5148044" cy="2557623"/>
          </a:xfrm>
          <a:prstGeom prst="rect">
            <a:avLst/>
          </a:prstGeom>
          <a:noFill/>
        </p:spPr>
        <p:txBody>
          <a:bodyPr wrap="square">
            <a:spAutoFit/>
          </a:bodyPr>
          <a:lstStyle/>
          <a:p>
            <a:pPr marR="54610" lvl="0">
              <a:buSzPts val="800"/>
            </a:pPr>
            <a:r>
              <a:rPr lang="en-US" dirty="0">
                <a:solidFill>
                  <a:srgbClr val="C00000"/>
                </a:solidFill>
                <a:effectLst/>
                <a:latin typeface="Arial" panose="020B0604020202020204" pitchFamily="34" charset="0"/>
                <a:ea typeface="MS Mincho" panose="02020609040205080304" pitchFamily="49" charset="-128"/>
                <a:cs typeface="Arial" panose="020B0604020202020204" pitchFamily="34" charset="0"/>
              </a:rPr>
              <a:t>Security</a:t>
            </a:r>
            <a:endParaRPr lang="en-US" dirty="0">
              <a:solidFill>
                <a:srgbClr val="C00000"/>
              </a:solidFill>
              <a:latin typeface="Arial" panose="020B0604020202020204" pitchFamily="34" charset="0"/>
              <a:ea typeface="MS Mincho" panose="02020609040205080304" pitchFamily="49" charset="-128"/>
              <a:cs typeface="Arial" panose="020B0604020202020204" pitchFamily="34" charset="0"/>
            </a:endParaRPr>
          </a:p>
          <a:p>
            <a:pPr marR="54610" lvl="0">
              <a:buSzPts val="800"/>
            </a:pPr>
            <a:r>
              <a:rPr lang="en-US" dirty="0">
                <a:effectLst/>
                <a:latin typeface="Arial" panose="020B0604020202020204" pitchFamily="34" charset="0"/>
                <a:ea typeface="Times New Roman" panose="02020603050405020304" pitchFamily="18" charset="0"/>
                <a:cs typeface="Arial" panose="020B0604020202020204" pitchFamily="34" charset="0"/>
              </a:rPr>
              <a:t>Spam filter with light, standard and aggressive options. Trusted senders allow users to add senders to the list so their emails will always go to the inbox regardless of spam settings. Spam senders allows users to choose senders they will never receive emails from regardless of spam settings. </a:t>
            </a:r>
            <a:endParaRPr lang="en-US" dirty="0">
              <a:solidFill>
                <a:srgbClr val="000000"/>
              </a:solidFill>
              <a:effectLst/>
              <a:latin typeface="Arial" panose="020B0604020202020204" pitchFamily="34" charset="0"/>
              <a:ea typeface="MS Mincho" panose="02020609040205080304" pitchFamily="49" charset="-128"/>
              <a:cs typeface="Arial" panose="020B0604020202020204" pitchFamily="34" charset="0"/>
            </a:endParaRPr>
          </a:p>
          <a:p>
            <a:pPr marL="57150" marR="0" lvl="0" indent="0" algn="l" defTabSz="914400" rtl="0" eaLnBrk="1" fontAlgn="auto" latinLnBrk="0" hangingPunct="1">
              <a:lnSpc>
                <a:spcPct val="90000"/>
              </a:lnSpc>
              <a:buClrTx/>
              <a:buSzTx/>
              <a:buFont typeface="Arial" panose="020B0604020202020204" pitchFamily="34" charset="0"/>
              <a:buNone/>
              <a:tabLst/>
              <a:defRPr/>
            </a:pPr>
            <a:endParaRPr kumimoji="0" lang="en-US"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89B77419-BFC5-3900-30BD-1244233B758F}"/>
              </a:ext>
            </a:extLst>
          </p:cNvPr>
          <p:cNvSpPr txBox="1"/>
          <p:nvPr/>
        </p:nvSpPr>
        <p:spPr>
          <a:xfrm>
            <a:off x="838200" y="4453170"/>
            <a:ext cx="4880638" cy="923330"/>
          </a:xfrm>
          <a:prstGeom prst="rect">
            <a:avLst/>
          </a:prstGeom>
          <a:noFill/>
        </p:spPr>
        <p:txBody>
          <a:bodyPr wrap="square">
            <a:spAutoFit/>
          </a:bodyPr>
          <a:lstStyle/>
          <a:p>
            <a:pPr marR="54610" lvl="0">
              <a:buSzPts val="800"/>
            </a:pPr>
            <a:r>
              <a:rPr kumimoji="0" lang="en-US" b="0" i="0" u="none" strike="noStrike" kern="1200" cap="none" spc="0" normalizeH="0" baseline="0" noProof="0" dirty="0">
                <a:ln>
                  <a:noFill/>
                </a:ln>
                <a:solidFill>
                  <a:srgbClr val="C00000"/>
                </a:solidFill>
                <a:effectLst/>
                <a:uLnTx/>
                <a:uFillTx/>
                <a:latin typeface="Arial" panose="020B0604020202020204" pitchFamily="34" charset="0"/>
                <a:ea typeface="MS Mincho" panose="02020609040205080304" pitchFamily="49" charset="-128"/>
                <a:cs typeface="Arial" panose="020B0604020202020204" pitchFamily="34" charset="0"/>
              </a:rPr>
              <a:t>Task boxes</a:t>
            </a:r>
            <a:endParaRPr lang="en-US" dirty="0">
              <a:solidFill>
                <a:srgbClr val="7030A0"/>
              </a:solidFill>
              <a:latin typeface="Arial" panose="020B0604020202020204" pitchFamily="34" charset="0"/>
              <a:ea typeface="MS Mincho" panose="02020609040205080304" pitchFamily="49" charset="-128"/>
              <a:cs typeface="Arial" panose="020B0604020202020204" pitchFamily="34" charset="0"/>
            </a:endParaRPr>
          </a:p>
          <a:p>
            <a:pPr marR="54610" lvl="0">
              <a:buSzPts val="800"/>
            </a:pPr>
            <a:r>
              <a:rPr lang="en-US" dirty="0">
                <a:effectLst/>
                <a:latin typeface="Arial" panose="020B0604020202020204" pitchFamily="34" charset="0"/>
                <a:ea typeface="Times New Roman" panose="02020603050405020304" pitchFamily="18" charset="0"/>
                <a:cs typeface="Arial" panose="020B0604020202020204" pitchFamily="34" charset="0"/>
              </a:rPr>
              <a:t>Turn email into categories, assign tasks, set reminders and add due dates to emails.</a:t>
            </a:r>
            <a:endParaRPr kumimoji="0" lang="en-US"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6" name="TextBox 5">
            <a:extLst>
              <a:ext uri="{FF2B5EF4-FFF2-40B4-BE49-F238E27FC236}">
                <a16:creationId xmlns:a16="http://schemas.microsoft.com/office/drawing/2014/main" id="{CCA1575F-8D9B-4614-E2FE-052C914551CF}"/>
              </a:ext>
            </a:extLst>
          </p:cNvPr>
          <p:cNvSpPr txBox="1"/>
          <p:nvPr/>
        </p:nvSpPr>
        <p:spPr>
          <a:xfrm>
            <a:off x="6096000" y="4460677"/>
            <a:ext cx="5148044" cy="840230"/>
          </a:xfrm>
          <a:prstGeom prst="rect">
            <a:avLst/>
          </a:prstGeom>
          <a:noFill/>
        </p:spPr>
        <p:txBody>
          <a:bodyPr wrap="square">
            <a:spAutoFit/>
          </a:bodyPr>
          <a:lstStyle/>
          <a:p>
            <a:pPr marL="57150">
              <a:lnSpc>
                <a:spcPct val="90000"/>
              </a:lnSpc>
              <a:defRPr/>
            </a:pPr>
            <a:r>
              <a:rPr lang="en-US" dirty="0">
                <a:solidFill>
                  <a:srgbClr val="C00000"/>
                </a:solidFill>
                <a:effectLst/>
                <a:latin typeface="Arial" panose="020B0604020202020204" pitchFamily="34" charset="0"/>
                <a:ea typeface="Calibri" panose="020F0502020204030204" pitchFamily="34" charset="0"/>
                <a:cs typeface="Arial" panose="020B0604020202020204" pitchFamily="34" charset="0"/>
              </a:rPr>
              <a:t>Ad Free</a:t>
            </a:r>
            <a:endParaRPr lang="en-US"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marL="57150">
              <a:lnSpc>
                <a:spcPct val="90000"/>
              </a:lnSpc>
              <a:defRPr/>
            </a:pPr>
            <a:r>
              <a:rPr lang="en-US" dirty="0">
                <a:effectLst/>
                <a:latin typeface="Arial" panose="020B0604020202020204" pitchFamily="34" charset="0"/>
                <a:ea typeface="Calibri" panose="020F0502020204030204" pitchFamily="34" charset="0"/>
                <a:cs typeface="Arial" panose="020B0604020202020204" pitchFamily="34" charset="0"/>
              </a:rPr>
              <a:t>Webmail is completely ad free. Stay focused on work and don’t get distracted by ads.</a:t>
            </a:r>
            <a:endParaRPr lang="en-US" b="1"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310772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How it works</a:t>
            </a:r>
            <a:endParaRPr lang="en-US" sz="3200" dirty="0">
              <a:solidFill>
                <a:schemeClr val="bg1"/>
              </a:solidFill>
            </a:endParaRPr>
          </a:p>
        </p:txBody>
      </p:sp>
    </p:spTree>
    <p:extLst>
      <p:ext uri="{BB962C8B-B14F-4D97-AF65-F5344CB8AC3E}">
        <p14:creationId xmlns:p14="http://schemas.microsoft.com/office/powerpoint/2010/main" val="983438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3200" b="1" dirty="0">
                <a:solidFill>
                  <a:srgbClr val="C00000"/>
                </a:solidFill>
                <a:latin typeface="Arial" panose="020B0604020202020204" pitchFamily="34" charset="0"/>
                <a:ea typeface="MS Mincho" panose="02020609040205080304" pitchFamily="49" charset="-128"/>
              </a:rPr>
              <a:t>Login to your portal and access both domain manager and add an email </a:t>
            </a:r>
            <a:endParaRPr lang="en-US" sz="3200" b="1" dirty="0">
              <a:solidFill>
                <a:srgbClr val="C00000"/>
              </a:solidFill>
            </a:endParaRPr>
          </a:p>
        </p:txBody>
      </p:sp>
      <p:sp>
        <p:nvSpPr>
          <p:cNvPr id="9" name="Content Placeholder 8">
            <a:extLst>
              <a:ext uri="{FF2B5EF4-FFF2-40B4-BE49-F238E27FC236}">
                <a16:creationId xmlns:a16="http://schemas.microsoft.com/office/drawing/2014/main" id="{3D039334-CE0F-0FBD-53E3-2F2811018D74}"/>
              </a:ext>
            </a:extLst>
          </p:cNvPr>
          <p:cNvSpPr>
            <a:spLocks noGrp="1"/>
          </p:cNvSpPr>
          <p:nvPr>
            <p:ph idx="1"/>
          </p:nvPr>
        </p:nvSpPr>
        <p:spPr>
          <a:xfrm>
            <a:off x="432500" y="1825625"/>
            <a:ext cx="5419725" cy="4351338"/>
          </a:xfrm>
        </p:spPr>
        <p:txBody>
          <a:bodyPr>
            <a:normAutofit/>
          </a:bodyPr>
          <a:lstStyle/>
          <a:p>
            <a:pPr>
              <a:lnSpc>
                <a:spcPct val="150000"/>
              </a:lnSpc>
            </a:pPr>
            <a:r>
              <a:rPr lang="en-US" sz="1500" dirty="0">
                <a:latin typeface="Arial" panose="020B0604020202020204" pitchFamily="34" charset="0"/>
                <a:ea typeface="MS Mincho" panose="02020609040205080304" pitchFamily="49" charset="-128"/>
              </a:rPr>
              <a:t>You are able to manage the domain and emails right from the portal. </a:t>
            </a:r>
          </a:p>
          <a:p>
            <a:pPr>
              <a:lnSpc>
                <a:spcPct val="150000"/>
              </a:lnSpc>
            </a:pPr>
            <a:r>
              <a:rPr lang="en-US" sz="1500" dirty="0">
                <a:latin typeface="Arial" panose="020B0604020202020204" pitchFamily="34" charset="0"/>
                <a:ea typeface="MS Mincho" panose="02020609040205080304" pitchFamily="49" charset="-128"/>
              </a:rPr>
              <a:t>Use domain manager to view domain status, expiration date, auto-renewal and to update name servers.</a:t>
            </a:r>
          </a:p>
          <a:p>
            <a:pPr>
              <a:lnSpc>
                <a:spcPct val="150000"/>
              </a:lnSpc>
            </a:pPr>
            <a:r>
              <a:rPr lang="en-US" sz="1500" dirty="0">
                <a:latin typeface="Arial" panose="020B0604020202020204" pitchFamily="34" charset="0"/>
                <a:ea typeface="MS Mincho" panose="02020609040205080304" pitchFamily="49" charset="-128"/>
              </a:rPr>
              <a:t>Click add an email to create a new email address and set up email configurations with IMAP/ POP/ Webmail, see mailbox usage and adjust spam settings.</a:t>
            </a:r>
          </a:p>
          <a:p>
            <a:pPr>
              <a:lnSpc>
                <a:spcPct val="150000"/>
              </a:lnSpc>
            </a:pPr>
            <a:endParaRPr lang="en-US" sz="1500" dirty="0">
              <a:latin typeface="Arial" panose="020B0604020202020204" pitchFamily="34" charset="0"/>
              <a:ea typeface="MS Mincho" panose="02020609040205080304" pitchFamily="49" charset="-128"/>
            </a:endParaRPr>
          </a:p>
        </p:txBody>
      </p:sp>
      <p:pic>
        <p:nvPicPr>
          <p:cNvPr id="3" name="Picture 2" descr="A screenshot of a computer&#10;&#10;Description automatically generated with medium confidence">
            <a:extLst>
              <a:ext uri="{FF2B5EF4-FFF2-40B4-BE49-F238E27FC236}">
                <a16:creationId xmlns:a16="http://schemas.microsoft.com/office/drawing/2014/main" id="{5C023930-B7E6-756E-61B5-3AD1135F1701}"/>
              </a:ext>
            </a:extLst>
          </p:cNvPr>
          <p:cNvPicPr>
            <a:picLocks noChangeAspect="1"/>
          </p:cNvPicPr>
          <p:nvPr/>
        </p:nvPicPr>
        <p:blipFill>
          <a:blip r:embed="rId2"/>
          <a:stretch>
            <a:fillRect/>
          </a:stretch>
        </p:blipFill>
        <p:spPr>
          <a:xfrm>
            <a:off x="5852225" y="2590114"/>
            <a:ext cx="5943600" cy="2216785"/>
          </a:xfrm>
          <a:prstGeom prst="rect">
            <a:avLst/>
          </a:prstGeom>
        </p:spPr>
      </p:pic>
    </p:spTree>
    <p:extLst>
      <p:ext uri="{BB962C8B-B14F-4D97-AF65-F5344CB8AC3E}">
        <p14:creationId xmlns:p14="http://schemas.microsoft.com/office/powerpoint/2010/main" val="3772158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a:xfrm>
            <a:off x="838200" y="357140"/>
            <a:ext cx="10515600" cy="1325563"/>
          </a:xfrm>
        </p:spPr>
        <p:txBody>
          <a:bodyPr>
            <a:normAutofit/>
          </a:bodyPr>
          <a:lstStyle/>
          <a:p>
            <a:r>
              <a:rPr lang="en-US" sz="3200" b="1" dirty="0">
                <a:solidFill>
                  <a:srgbClr val="C00000"/>
                </a:solidFill>
                <a:effectLst/>
                <a:latin typeface="Arial" panose="020B0604020202020204" pitchFamily="34" charset="0"/>
                <a:ea typeface="MS Mincho" panose="02020609040205080304" pitchFamily="49" charset="-128"/>
              </a:rPr>
              <a:t>Benefits</a:t>
            </a:r>
            <a:endParaRPr lang="en-US" sz="3200" b="1" dirty="0">
              <a:solidFill>
                <a:srgbClr val="C00000"/>
              </a:solidFill>
            </a:endParaRPr>
          </a:p>
        </p:txBody>
      </p:sp>
      <p:sp>
        <p:nvSpPr>
          <p:cNvPr id="4" name="Content Placeholder 3">
            <a:extLst>
              <a:ext uri="{FF2B5EF4-FFF2-40B4-BE49-F238E27FC236}">
                <a16:creationId xmlns:a16="http://schemas.microsoft.com/office/drawing/2014/main" id="{5C3130C1-C1D2-5514-76F0-DDF764D06147}"/>
              </a:ext>
            </a:extLst>
          </p:cNvPr>
          <p:cNvSpPr>
            <a:spLocks noGrp="1"/>
          </p:cNvSpPr>
          <p:nvPr>
            <p:ph idx="1"/>
          </p:nvPr>
        </p:nvSpPr>
        <p:spPr>
          <a:xfrm>
            <a:off x="6543403" y="1449749"/>
            <a:ext cx="4845050" cy="767436"/>
          </a:xfrm>
        </p:spPr>
        <p:txBody>
          <a:bodyPr>
            <a:normAutofit/>
          </a:bodyPr>
          <a:lstStyle/>
          <a:p>
            <a:pPr marL="0" marR="54610" lvl="0" indent="0">
              <a:spcBef>
                <a:spcPts val="600"/>
              </a:spcBef>
              <a:spcAft>
                <a:spcPts val="600"/>
              </a:spcAft>
              <a:buSzPts val="800"/>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Contacting customers through a custom domain and branded email builds trust because businesses  are contacting them as a corporate entity.</a:t>
            </a:r>
            <a:endParaRPr lang="en-US" sz="1400" dirty="0">
              <a:effectLst/>
              <a:ea typeface="Calibri" panose="020F0502020204030204" pitchFamily="34" charset="0"/>
              <a:cs typeface="Times New Roman" panose="02020603050405020304" pitchFamily="18" charset="0"/>
            </a:endParaRPr>
          </a:p>
        </p:txBody>
      </p:sp>
      <p:sp>
        <p:nvSpPr>
          <p:cNvPr id="12" name="Content Placeholder 3">
            <a:extLst>
              <a:ext uri="{FF2B5EF4-FFF2-40B4-BE49-F238E27FC236}">
                <a16:creationId xmlns:a16="http://schemas.microsoft.com/office/drawing/2014/main" id="{2635EBA5-264F-A4E5-3722-0EB486DB843E}"/>
              </a:ext>
            </a:extLst>
          </p:cNvPr>
          <p:cNvSpPr txBox="1">
            <a:spLocks/>
          </p:cNvSpPr>
          <p:nvPr/>
        </p:nvSpPr>
        <p:spPr>
          <a:xfrm>
            <a:off x="896311" y="1672075"/>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Build trust </a:t>
            </a:r>
            <a:endParaRPr lang="en-US" sz="2400" dirty="0">
              <a:latin typeface="Arial" panose="020B0604020202020204" pitchFamily="34" charset="0"/>
            </a:endParaRPr>
          </a:p>
        </p:txBody>
      </p:sp>
      <p:sp>
        <p:nvSpPr>
          <p:cNvPr id="13" name="Content Placeholder 3">
            <a:extLst>
              <a:ext uri="{FF2B5EF4-FFF2-40B4-BE49-F238E27FC236}">
                <a16:creationId xmlns:a16="http://schemas.microsoft.com/office/drawing/2014/main" id="{AEDEE1FA-ABA7-3648-2FE7-2E22B26020AA}"/>
              </a:ext>
            </a:extLst>
          </p:cNvPr>
          <p:cNvSpPr txBox="1">
            <a:spLocks/>
          </p:cNvSpPr>
          <p:nvPr/>
        </p:nvSpPr>
        <p:spPr>
          <a:xfrm>
            <a:off x="861657" y="2643768"/>
            <a:ext cx="3797595"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latin typeface="Arial" panose="020B0604020202020204" pitchFamily="34" charset="0"/>
                <a:ea typeface="MS Mincho" panose="02020609040205080304" pitchFamily="49" charset="-128"/>
              </a:rPr>
              <a:t>Establish brand identity </a:t>
            </a:r>
            <a:endParaRPr lang="en-US" sz="2400" dirty="0">
              <a:latin typeface="Arial" panose="020B0604020202020204" pitchFamily="34" charset="0"/>
            </a:endParaRPr>
          </a:p>
        </p:txBody>
      </p:sp>
      <p:sp>
        <p:nvSpPr>
          <p:cNvPr id="15" name="Content Placeholder 3">
            <a:extLst>
              <a:ext uri="{FF2B5EF4-FFF2-40B4-BE49-F238E27FC236}">
                <a16:creationId xmlns:a16="http://schemas.microsoft.com/office/drawing/2014/main" id="{E1D11F32-F7B4-22CE-B974-B5CF6AC13841}"/>
              </a:ext>
            </a:extLst>
          </p:cNvPr>
          <p:cNvSpPr txBox="1">
            <a:spLocks/>
          </p:cNvSpPr>
          <p:nvPr/>
        </p:nvSpPr>
        <p:spPr>
          <a:xfrm>
            <a:off x="861657" y="4012991"/>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latin typeface="Arial" panose="020B0604020202020204" pitchFamily="34" charset="0"/>
                <a:ea typeface="MS Mincho" panose="02020609040205080304" pitchFamily="49" charset="-128"/>
              </a:rPr>
              <a:t>Look professional </a:t>
            </a:r>
            <a:endParaRPr lang="en-US" sz="2400" dirty="0">
              <a:latin typeface="Arial" panose="020B0604020202020204" pitchFamily="34" charset="0"/>
            </a:endParaRPr>
          </a:p>
        </p:txBody>
      </p:sp>
      <p:cxnSp>
        <p:nvCxnSpPr>
          <p:cNvPr id="22" name="Straight Connector 21">
            <a:extLst>
              <a:ext uri="{FF2B5EF4-FFF2-40B4-BE49-F238E27FC236}">
                <a16:creationId xmlns:a16="http://schemas.microsoft.com/office/drawing/2014/main" id="{3E1A3FE8-41F1-6589-6459-10CA720ADDFC}"/>
              </a:ext>
            </a:extLst>
          </p:cNvPr>
          <p:cNvCxnSpPr>
            <a:cxnSpLocks/>
          </p:cNvCxnSpPr>
          <p:nvPr/>
        </p:nvCxnSpPr>
        <p:spPr>
          <a:xfrm>
            <a:off x="3605349" y="1808922"/>
            <a:ext cx="249065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41E66E-0E4D-7887-F22F-6AEE7BB47109}"/>
              </a:ext>
            </a:extLst>
          </p:cNvPr>
          <p:cNvCxnSpPr>
            <a:cxnSpLocks/>
          </p:cNvCxnSpPr>
          <p:nvPr/>
        </p:nvCxnSpPr>
        <p:spPr>
          <a:xfrm>
            <a:off x="3605349" y="2877994"/>
            <a:ext cx="249065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3BACB72-1A30-62DB-ABA3-C4BD30412D3A}"/>
              </a:ext>
            </a:extLst>
          </p:cNvPr>
          <p:cNvCxnSpPr>
            <a:cxnSpLocks/>
          </p:cNvCxnSpPr>
          <p:nvPr/>
        </p:nvCxnSpPr>
        <p:spPr>
          <a:xfrm>
            <a:off x="3675017" y="4162911"/>
            <a:ext cx="2420983"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Content Placeholder 3">
            <a:extLst>
              <a:ext uri="{FF2B5EF4-FFF2-40B4-BE49-F238E27FC236}">
                <a16:creationId xmlns:a16="http://schemas.microsoft.com/office/drawing/2014/main" id="{51E5BF24-0F75-7190-8C9E-8A82A22608ED}"/>
              </a:ext>
            </a:extLst>
          </p:cNvPr>
          <p:cNvSpPr txBox="1">
            <a:spLocks/>
          </p:cNvSpPr>
          <p:nvPr/>
        </p:nvSpPr>
        <p:spPr>
          <a:xfrm>
            <a:off x="6438900" y="2605463"/>
            <a:ext cx="5257800" cy="6325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SzPts val="800"/>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A domain and branded email gives customers a way to find a business online. Using the business name t</a:t>
            </a:r>
            <a:r>
              <a:rPr lang="en-US" sz="1400" dirty="0">
                <a:latin typeface="Arial" panose="020B0604020202020204" pitchFamily="34" charset="0"/>
                <a:ea typeface="Times New Roman" panose="02020603050405020304" pitchFamily="18" charset="0"/>
                <a:cs typeface="Arial" panose="020B0604020202020204" pitchFamily="34" charset="0"/>
              </a:rPr>
              <a:t>hey can go to the website, social and reviews to learn more about the business.</a:t>
            </a:r>
            <a:endParaRPr lang="en-US" sz="1400" dirty="0">
              <a:effectLst/>
              <a:latin typeface="Cambria" panose="02040503050406030204" pitchFamily="18" charset="0"/>
              <a:ea typeface="Cambria" panose="02040503050406030204" pitchFamily="18" charset="0"/>
              <a:cs typeface="Arial" panose="020B0604020202020204" pitchFamily="34" charset="0"/>
            </a:endParaRPr>
          </a:p>
        </p:txBody>
      </p:sp>
      <p:sp>
        <p:nvSpPr>
          <p:cNvPr id="6" name="Content Placeholder 3">
            <a:extLst>
              <a:ext uri="{FF2B5EF4-FFF2-40B4-BE49-F238E27FC236}">
                <a16:creationId xmlns:a16="http://schemas.microsoft.com/office/drawing/2014/main" id="{DBFF0A62-047F-C7E4-734A-B4391B671A21}"/>
              </a:ext>
            </a:extLst>
          </p:cNvPr>
          <p:cNvSpPr txBox="1">
            <a:spLocks/>
          </p:cNvSpPr>
          <p:nvPr/>
        </p:nvSpPr>
        <p:spPr>
          <a:xfrm>
            <a:off x="6438900" y="3772470"/>
            <a:ext cx="5257800" cy="7765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spcBef>
                <a:spcPts val="0"/>
              </a:spcBef>
              <a:spcAft>
                <a:spcPts val="0"/>
              </a:spcAft>
              <a:buNone/>
            </a:pPr>
            <a:r>
              <a:rPr lang="en-US" sz="1400" dirty="0">
                <a:effectLst/>
                <a:latin typeface="Arial" panose="020B0604020202020204" pitchFamily="34" charset="0"/>
                <a:ea typeface="Calibri" panose="020F0502020204030204" pitchFamily="34" charset="0"/>
                <a:cs typeface="Arial" panose="020B0604020202020204" pitchFamily="34" charset="0"/>
              </a:rPr>
              <a:t>Using domain-based email instead of Google or Microsoft adds a layer of professionalism because the communication is coming from a business.</a:t>
            </a:r>
            <a:endParaRPr lang="en-US" sz="1400" dirty="0">
              <a:effectLst/>
              <a:latin typeface="Arial" panose="020B0604020202020204" pitchFamily="34" charset="0"/>
              <a:ea typeface="Cambria" panose="02040503050406030204" pitchFamily="18" charset="0"/>
              <a:cs typeface="Arial" panose="020B0604020202020204" pitchFamily="34" charset="0"/>
            </a:endParaRPr>
          </a:p>
        </p:txBody>
      </p:sp>
      <p:sp>
        <p:nvSpPr>
          <p:cNvPr id="11" name="Content Placeholder 3">
            <a:extLst>
              <a:ext uri="{FF2B5EF4-FFF2-40B4-BE49-F238E27FC236}">
                <a16:creationId xmlns:a16="http://schemas.microsoft.com/office/drawing/2014/main" id="{3F9F3536-8C42-26E0-2CE8-8D62057BDC3F}"/>
              </a:ext>
            </a:extLst>
          </p:cNvPr>
          <p:cNvSpPr txBox="1">
            <a:spLocks/>
          </p:cNvSpPr>
          <p:nvPr/>
        </p:nvSpPr>
        <p:spPr>
          <a:xfrm>
            <a:off x="896311" y="5368831"/>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Improve productivity </a:t>
            </a:r>
            <a:endParaRPr lang="en-US" sz="2400" dirty="0">
              <a:latin typeface="Arial" panose="020B0604020202020204" pitchFamily="34" charset="0"/>
            </a:endParaRPr>
          </a:p>
        </p:txBody>
      </p:sp>
      <p:cxnSp>
        <p:nvCxnSpPr>
          <p:cNvPr id="18" name="Straight Connector 17">
            <a:extLst>
              <a:ext uri="{FF2B5EF4-FFF2-40B4-BE49-F238E27FC236}">
                <a16:creationId xmlns:a16="http://schemas.microsoft.com/office/drawing/2014/main" id="{C69FC274-B137-4893-C943-3F9E055A316E}"/>
              </a:ext>
            </a:extLst>
          </p:cNvPr>
          <p:cNvCxnSpPr>
            <a:cxnSpLocks/>
          </p:cNvCxnSpPr>
          <p:nvPr/>
        </p:nvCxnSpPr>
        <p:spPr>
          <a:xfrm>
            <a:off x="3675017" y="5510291"/>
            <a:ext cx="235340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Content Placeholder 3">
            <a:extLst>
              <a:ext uri="{FF2B5EF4-FFF2-40B4-BE49-F238E27FC236}">
                <a16:creationId xmlns:a16="http://schemas.microsoft.com/office/drawing/2014/main" id="{3D74B603-EF63-26CE-F334-415D4E306A37}"/>
              </a:ext>
            </a:extLst>
          </p:cNvPr>
          <p:cNvSpPr txBox="1">
            <a:spLocks/>
          </p:cNvSpPr>
          <p:nvPr/>
        </p:nvSpPr>
        <p:spPr>
          <a:xfrm>
            <a:off x="6360485" y="5172603"/>
            <a:ext cx="5257800" cy="913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Multiple inboxes allows businesses to manage all email accounts in one place. Task box allows for emails to be turned into tasks with set due dates.</a:t>
            </a:r>
            <a:endParaRPr lang="en-US" sz="1400" dirty="0">
              <a:effectLst/>
              <a:latin typeface="Cambria" panose="02040503050406030204" pitchFamily="18" charset="0"/>
              <a:ea typeface="Cambria" panose="02040503050406030204" pitchFamily="18" charset="0"/>
              <a:cs typeface="Arial" panose="020B0604020202020204" pitchFamily="34" charset="0"/>
            </a:endParaRPr>
          </a:p>
        </p:txBody>
      </p:sp>
      <p:cxnSp>
        <p:nvCxnSpPr>
          <p:cNvPr id="9" name="Straight Connector 8">
            <a:extLst>
              <a:ext uri="{FF2B5EF4-FFF2-40B4-BE49-F238E27FC236}">
                <a16:creationId xmlns:a16="http://schemas.microsoft.com/office/drawing/2014/main" id="{4C9A55E2-57BD-96CF-C855-50977086B809}"/>
              </a:ext>
            </a:extLst>
          </p:cNvPr>
          <p:cNvCxnSpPr>
            <a:cxnSpLocks/>
          </p:cNvCxnSpPr>
          <p:nvPr/>
        </p:nvCxnSpPr>
        <p:spPr>
          <a:xfrm>
            <a:off x="6096000" y="1808922"/>
            <a:ext cx="26448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073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Q &amp; A / Next steps</a:t>
            </a:r>
            <a:endParaRPr lang="en-US" sz="3200" dirty="0">
              <a:solidFill>
                <a:schemeClr val="bg1"/>
              </a:solidFill>
            </a:endParaRPr>
          </a:p>
        </p:txBody>
      </p:sp>
    </p:spTree>
    <p:extLst>
      <p:ext uri="{BB962C8B-B14F-4D97-AF65-F5344CB8AC3E}">
        <p14:creationId xmlns:p14="http://schemas.microsoft.com/office/powerpoint/2010/main" val="2052943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Frequently Asked Questions</a:t>
            </a:r>
            <a:endParaRPr lang="en-US" sz="3200" dirty="0">
              <a:solidFill>
                <a:schemeClr val="bg1"/>
              </a:solidFill>
            </a:endParaRPr>
          </a:p>
        </p:txBody>
      </p:sp>
    </p:spTree>
    <p:extLst>
      <p:ext uri="{BB962C8B-B14F-4D97-AF65-F5344CB8AC3E}">
        <p14:creationId xmlns:p14="http://schemas.microsoft.com/office/powerpoint/2010/main" val="2720541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448056" y="571815"/>
            <a:ext cx="4370832" cy="307167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indent="-342900">
              <a:spcBef>
                <a:spcPts val="500"/>
              </a:spcBef>
              <a:spcAft>
                <a:spcPts val="0"/>
              </a:spcAft>
              <a:buAutoNum type="arabicPeriod"/>
            </a:pPr>
            <a:r>
              <a:rPr lang="en-US" sz="1600" b="1" dirty="0">
                <a:solidFill>
                  <a:srgbClr val="C00000"/>
                </a:solidFill>
                <a:effectLst/>
                <a:latin typeface="Arial" panose="020B0604020202020204" pitchFamily="34" charset="0"/>
                <a:ea typeface="MS Mincho" panose="02020609040205080304" pitchFamily="49" charset="-128"/>
                <a:cs typeface="Arial" panose="020B0604020202020204" pitchFamily="34" charset="0"/>
              </a:rPr>
              <a:t>What is a domain?</a:t>
            </a:r>
          </a:p>
          <a:p>
            <a:pPr marL="0" marR="0" indent="0">
              <a:spcBef>
                <a:spcPts val="500"/>
              </a:spcBef>
              <a:spcAft>
                <a:spcPts val="0"/>
              </a:spcAft>
              <a:buNone/>
            </a:pPr>
            <a:endParaRPr lang="en-US" sz="1600" dirty="0">
              <a:effectLst/>
              <a:latin typeface="Arial" panose="020B0604020202020204" pitchFamily="34" charset="0"/>
              <a:ea typeface="Times New Roman" panose="02020603050405020304" pitchFamily="18" charset="0"/>
            </a:endParaRPr>
          </a:p>
          <a:p>
            <a:pPr marL="0" marR="0" indent="0">
              <a:spcBef>
                <a:spcPts val="500"/>
              </a:spcBef>
              <a:spcAft>
                <a:spcPts val="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A domain name is an address that potential customers use to find your website. It will also be used to create business email addresses. </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2" name="Content Placeholder 2">
            <a:extLst>
              <a:ext uri="{FF2B5EF4-FFF2-40B4-BE49-F238E27FC236}">
                <a16:creationId xmlns:a16="http://schemas.microsoft.com/office/drawing/2014/main" id="{B07F7BBF-03E8-2C23-302A-6C9602879203}"/>
              </a:ext>
            </a:extLst>
          </p:cNvPr>
          <p:cNvSpPr txBox="1">
            <a:spLocks/>
          </p:cNvSpPr>
          <p:nvPr/>
        </p:nvSpPr>
        <p:spPr>
          <a:xfrm>
            <a:off x="6096000" y="571815"/>
            <a:ext cx="4370832" cy="280085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600" b="1" dirty="0">
                <a:solidFill>
                  <a:srgbClr val="C00000"/>
                </a:solidFill>
                <a:effectLst/>
                <a:latin typeface="Arial" panose="020B0604020202020204" pitchFamily="34" charset="0"/>
                <a:ea typeface="MS Mincho" panose="02020609040205080304" pitchFamily="49" charset="-128"/>
                <a:cs typeface="Arial" panose="020B0604020202020204" pitchFamily="34" charset="0"/>
              </a:rPr>
              <a:t>2. Do I own the domain or do you?</a:t>
            </a:r>
            <a:endParaRPr lang="en-US" sz="16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500"/>
              </a:spcBef>
              <a:spcAft>
                <a:spcPts val="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You own the domain. We register it and make sure you have access to the domain to set up a website, forwarding, mail etc. </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4" name="Content Placeholder 2">
            <a:extLst>
              <a:ext uri="{FF2B5EF4-FFF2-40B4-BE49-F238E27FC236}">
                <a16:creationId xmlns:a16="http://schemas.microsoft.com/office/drawing/2014/main" id="{D3F1B8E2-2F32-2061-F50E-0B1D6E6209DF}"/>
              </a:ext>
            </a:extLst>
          </p:cNvPr>
          <p:cNvSpPr txBox="1">
            <a:spLocks/>
          </p:cNvSpPr>
          <p:nvPr/>
        </p:nvSpPr>
        <p:spPr>
          <a:xfrm>
            <a:off x="6096000" y="3643485"/>
            <a:ext cx="4370832" cy="249861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600" b="1" dirty="0">
                <a:solidFill>
                  <a:srgbClr val="C00000"/>
                </a:solidFill>
                <a:effectLst/>
                <a:latin typeface="Arial" panose="020B0604020202020204" pitchFamily="34" charset="0"/>
                <a:ea typeface="MS Mincho" panose="02020609040205080304" pitchFamily="49" charset="-128"/>
                <a:cs typeface="Arial" panose="020B0604020202020204" pitchFamily="34" charset="0"/>
              </a:rPr>
              <a:t>4. I have a customer whose emails keep going to spam. How do I ensure I always receive their messages?</a:t>
            </a:r>
            <a:endParaRPr lang="en-US" sz="16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600"/>
              </a:spcBef>
              <a:spcAft>
                <a:spcPts val="6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I understand it can be frustrating when you are waiting on an email and it gets sent to spam. The easiest way to ensure you receive all emails from a particular email address would be to add their email to the trusted senders list. This will let their emails through to your mailbox regardless of spam settings.</a:t>
            </a:r>
            <a:endParaRPr lang="en-US" sz="1600" dirty="0">
              <a:effectLst/>
              <a:latin typeface="Times New Roman" panose="02020603050405020304" pitchFamily="18" charset="0"/>
              <a:ea typeface="Times New Roman" panose="02020603050405020304" pitchFamily="18" charset="0"/>
            </a:endParaRPr>
          </a:p>
        </p:txBody>
      </p:sp>
      <p:sp>
        <p:nvSpPr>
          <p:cNvPr id="6" name="Content Placeholder 2">
            <a:extLst>
              <a:ext uri="{FF2B5EF4-FFF2-40B4-BE49-F238E27FC236}">
                <a16:creationId xmlns:a16="http://schemas.microsoft.com/office/drawing/2014/main" id="{2BF6A380-B2ED-72B3-89F0-D340F2359286}"/>
              </a:ext>
            </a:extLst>
          </p:cNvPr>
          <p:cNvSpPr txBox="1">
            <a:spLocks/>
          </p:cNvSpPr>
          <p:nvPr/>
        </p:nvSpPr>
        <p:spPr>
          <a:xfrm>
            <a:off x="448056" y="3643485"/>
            <a:ext cx="4370832" cy="17068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600" b="1" dirty="0">
                <a:solidFill>
                  <a:srgbClr val="C00000"/>
                </a:solidFill>
                <a:effectLst/>
                <a:latin typeface="Arial" panose="020B0604020202020204" pitchFamily="34" charset="0"/>
                <a:ea typeface="MS Mincho" panose="02020609040205080304" pitchFamily="49" charset="-128"/>
                <a:cs typeface="Arial" panose="020B0604020202020204" pitchFamily="34" charset="0"/>
              </a:rPr>
              <a:t>3. What is domain-based email?</a:t>
            </a:r>
            <a:endParaRPr lang="en-US" sz="1600" dirty="0">
              <a:solidFill>
                <a:srgbClr val="C00000"/>
              </a:solidFill>
              <a:effectLst/>
              <a:latin typeface="Arial" panose="020B0604020202020204" pitchFamily="34" charset="0"/>
              <a:ea typeface="Times New Roman" panose="02020603050405020304" pitchFamily="18" charset="0"/>
            </a:endParaRPr>
          </a:p>
          <a:p>
            <a:pPr marL="0" marR="0" indent="0">
              <a:spcBef>
                <a:spcPts val="500"/>
              </a:spcBef>
              <a:spcAft>
                <a:spcPts val="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Domain-based email is an email address ending in your domain name i.e. sales@domain.com. This email will represent your brand every time you contact your customer and keep your business top of mind.</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1696760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Probing Questions</a:t>
            </a:r>
            <a:endParaRPr lang="en-US" sz="3200" dirty="0">
              <a:solidFill>
                <a:schemeClr val="bg1"/>
              </a:solidFill>
            </a:endParaRPr>
          </a:p>
        </p:txBody>
      </p:sp>
    </p:spTree>
    <p:extLst>
      <p:ext uri="{BB962C8B-B14F-4D97-AF65-F5344CB8AC3E}">
        <p14:creationId xmlns:p14="http://schemas.microsoft.com/office/powerpoint/2010/main" val="1065700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631574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spcBef>
                <a:spcPts val="0"/>
              </a:spcBef>
              <a:spcAft>
                <a:spcPts val="0"/>
              </a:spcAft>
            </a:pPr>
            <a:endParaRPr lang="en-US" sz="1800" dirty="0">
              <a:effectLst/>
              <a:latin typeface="Arial" panose="020B0604020202020204" pitchFamily="34" charset="0"/>
              <a:ea typeface="MS Mincho" panose="02020609040205080304" pitchFamily="49" charset="-128"/>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5968339" y="3429000"/>
            <a:ext cx="4440572" cy="238481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Bef>
                <a:spcPts val="0"/>
              </a:spcBef>
              <a:buNone/>
            </a:pPr>
            <a:r>
              <a:rPr lang="en-US" sz="16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Do you have control over your domain? Access to a tool to modify your domain settings?</a:t>
            </a:r>
          </a:p>
          <a:p>
            <a:pPr marL="0" indent="0" fontAlgn="base">
              <a:spcBef>
                <a:spcPts val="0"/>
              </a:spcBef>
              <a:buNone/>
            </a:pPr>
            <a:endParaRPr lang="en-US" sz="16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fontAlgn="base">
              <a:spcBef>
                <a:spcPts val="0"/>
              </a:spcBef>
              <a:spcAft>
                <a:spcPts val="0"/>
              </a:spcAft>
              <a:buSzPts val="1000"/>
              <a:buNone/>
              <a:tabLst>
                <a:tab pos="457200" algn="l"/>
              </a:tabLst>
            </a:pPr>
            <a:r>
              <a:rPr lang="en-US" sz="1600" dirty="0">
                <a:solidFill>
                  <a:srgbClr val="000000"/>
                </a:solidFill>
                <a:effectLst/>
                <a:latin typeface="Arial" panose="020B0604020202020204" pitchFamily="34" charset="0"/>
                <a:ea typeface="Times New Roman" panose="02020603050405020304" pitchFamily="18" charset="0"/>
              </a:rPr>
              <a:t>With our domain manager you have complete control over your domain. You can access tools to modify your settings and set up forwarding, mail and more.</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3" name="Content Placeholder 2">
            <a:extLst>
              <a:ext uri="{FF2B5EF4-FFF2-40B4-BE49-F238E27FC236}">
                <a16:creationId xmlns:a16="http://schemas.microsoft.com/office/drawing/2014/main" id="{1E3E736E-02FD-5C00-7E1F-0B7E4E121E12}"/>
              </a:ext>
            </a:extLst>
          </p:cNvPr>
          <p:cNvSpPr txBox="1">
            <a:spLocks/>
          </p:cNvSpPr>
          <p:nvPr/>
        </p:nvSpPr>
        <p:spPr>
          <a:xfrm>
            <a:off x="687224" y="744574"/>
            <a:ext cx="4702993" cy="229949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6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I noticed you don’t have domain-based email. You should be promoting your business instead of Google and Microsoft. Why haven’t you made the switch yet?</a:t>
            </a:r>
          </a:p>
          <a:p>
            <a:pPr marL="0" marR="0" indent="0" fontAlgn="base">
              <a:spcBef>
                <a:spcPts val="0"/>
              </a:spcBef>
              <a:spcAft>
                <a:spcPts val="0"/>
              </a:spcAft>
              <a:buNone/>
            </a:pPr>
            <a:endParaRPr lang="en-US" sz="16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fontAlgn="base">
              <a:spcBef>
                <a:spcPts val="0"/>
              </a:spcBef>
              <a:spcAft>
                <a:spcPts val="0"/>
              </a:spcAft>
              <a:buSzPts val="1000"/>
              <a:buNone/>
              <a:tabLst>
                <a:tab pos="457200" algn="l"/>
              </a:tabLst>
            </a:pPr>
            <a:r>
              <a:rPr lang="en-US" sz="1600" dirty="0">
                <a:solidFill>
                  <a:srgbClr val="000000"/>
                </a:solidFill>
                <a:effectLst/>
                <a:latin typeface="Arial" panose="020B0604020202020204" pitchFamily="34" charset="0"/>
                <a:ea typeface="Times New Roman" panose="02020603050405020304" pitchFamily="18" charset="0"/>
              </a:rPr>
              <a:t>Having a domain is the best way to start building your brand. Customers will see your business name at the end of your email address and begin to associate it with you and your business.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4" name="Content Placeholder 2">
            <a:extLst>
              <a:ext uri="{FF2B5EF4-FFF2-40B4-BE49-F238E27FC236}">
                <a16:creationId xmlns:a16="http://schemas.microsoft.com/office/drawing/2014/main" id="{2AC7514F-3A8B-FC66-886A-105E74F5A771}"/>
              </a:ext>
            </a:extLst>
          </p:cNvPr>
          <p:cNvSpPr txBox="1">
            <a:spLocks/>
          </p:cNvSpPr>
          <p:nvPr/>
        </p:nvSpPr>
        <p:spPr>
          <a:xfrm>
            <a:off x="5968339" y="744574"/>
            <a:ext cx="4777958" cy="19643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6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6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How much are you paying for Google Workspace or Microsoft 365?</a:t>
            </a:r>
          </a:p>
          <a:p>
            <a:pPr marL="0" marR="0" indent="0" fontAlgn="base">
              <a:spcBef>
                <a:spcPts val="0"/>
              </a:spcBef>
              <a:spcAft>
                <a:spcPts val="0"/>
              </a:spcAft>
              <a:buNone/>
            </a:pPr>
            <a:endParaRPr lang="en-US" sz="16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fontAlgn="base">
              <a:spcBef>
                <a:spcPts val="0"/>
              </a:spcBef>
              <a:spcAft>
                <a:spcPts val="0"/>
              </a:spcAft>
              <a:buSzPts val="1000"/>
              <a:buNone/>
              <a:tabLst>
                <a:tab pos="457200" algn="l"/>
              </a:tabLst>
            </a:pPr>
            <a:r>
              <a:rPr lang="en-US" sz="1600" dirty="0">
                <a:solidFill>
                  <a:srgbClr val="000000"/>
                </a:solidFill>
                <a:effectLst/>
                <a:latin typeface="Arial" panose="020B0604020202020204" pitchFamily="34" charset="0"/>
                <a:ea typeface="Times New Roman" panose="02020603050405020304" pitchFamily="18" charset="0"/>
              </a:rPr>
              <a:t>These costs add up and they bundle a lot in their plans that many people don’t use or need. Our solution is cost effective and efficient.</a:t>
            </a:r>
            <a:endParaRPr lang="en-US" sz="1600" dirty="0">
              <a:effectLst/>
              <a:latin typeface="Arial" panose="020B0604020202020204" pitchFamily="34" charset="0"/>
              <a:ea typeface="MS Mincho" panose="02020609040205080304" pitchFamily="49" charset="-128"/>
            </a:endParaRPr>
          </a:p>
        </p:txBody>
      </p:sp>
      <p:sp>
        <p:nvSpPr>
          <p:cNvPr id="6" name="Content Placeholder 2">
            <a:extLst>
              <a:ext uri="{FF2B5EF4-FFF2-40B4-BE49-F238E27FC236}">
                <a16:creationId xmlns:a16="http://schemas.microsoft.com/office/drawing/2014/main" id="{7163A6A9-5C02-DCA8-F133-35F7733ED09D}"/>
              </a:ext>
            </a:extLst>
          </p:cNvPr>
          <p:cNvSpPr txBox="1">
            <a:spLocks/>
          </p:cNvSpPr>
          <p:nvPr/>
        </p:nvSpPr>
        <p:spPr>
          <a:xfrm>
            <a:off x="687224" y="3429000"/>
            <a:ext cx="4631396" cy="250782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6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Do you currently own a domain name?</a:t>
            </a:r>
          </a:p>
          <a:p>
            <a:pPr marL="0" marR="0" indent="0" fontAlgn="base">
              <a:spcBef>
                <a:spcPts val="0"/>
              </a:spcBef>
              <a:spcAft>
                <a:spcPts val="0"/>
              </a:spcAft>
              <a:buNone/>
            </a:pPr>
            <a:endParaRPr lang="en-US" sz="16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600" dirty="0">
                <a:latin typeface="Arial" panose="020B0604020202020204" pitchFamily="34" charset="0"/>
                <a:ea typeface="Times New Roman" panose="02020603050405020304" pitchFamily="18" charset="0"/>
                <a:cs typeface="Arial" panose="020B0604020202020204" pitchFamily="34" charset="0"/>
              </a:rPr>
              <a:t>Having a domain is the best way to start building your brand.</a:t>
            </a:r>
            <a:endParaRPr lang="en-US" sz="1600" dirty="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endParaRPr lang="en-US" sz="1600" b="1" dirty="0">
              <a:solidFill>
                <a:srgbClr val="2CADB2"/>
              </a:solidFill>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6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666750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Objection Handlers</a:t>
            </a:r>
            <a:endParaRPr lang="en-US" sz="3200" dirty="0">
              <a:solidFill>
                <a:schemeClr val="bg1"/>
              </a:solidFill>
            </a:endParaRPr>
          </a:p>
        </p:txBody>
      </p:sp>
    </p:spTree>
    <p:extLst>
      <p:ext uri="{BB962C8B-B14F-4D97-AF65-F5344CB8AC3E}">
        <p14:creationId xmlns:p14="http://schemas.microsoft.com/office/powerpoint/2010/main" val="506168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475119" y="825309"/>
            <a:ext cx="4702993" cy="142980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600" b="1" dirty="0">
                <a:solidFill>
                  <a:srgbClr val="C00000"/>
                </a:solidFill>
                <a:effectLst/>
                <a:latin typeface="Arial"/>
                <a:ea typeface="Times New Roman" panose="02020603050405020304" pitchFamily="18" charset="0"/>
                <a:cs typeface="Arial"/>
              </a:rPr>
              <a:t>I don’t need a domain name now; I can get one later</a:t>
            </a:r>
          </a:p>
          <a:p>
            <a:pPr marL="0" marR="0" indent="0" fontAlgn="base">
              <a:lnSpc>
                <a:spcPct val="120000"/>
              </a:lnSpc>
              <a:spcBef>
                <a:spcPts val="0"/>
              </a:spcBef>
              <a:spcAft>
                <a:spcPts val="0"/>
              </a:spcAft>
              <a:buNone/>
            </a:pPr>
            <a:endParaRPr lang="en-US" sz="1600" b="1" dirty="0">
              <a:solidFill>
                <a:srgbClr val="2CADB2"/>
              </a:solidFill>
              <a:latin typeface="Arial"/>
              <a:ea typeface="Calibri" panose="020F0502020204030204" pitchFamily="34" charset="0"/>
              <a:cs typeface="Arial"/>
            </a:endParaRPr>
          </a:p>
          <a:p>
            <a:pPr marL="0" marR="0" indent="0" fontAlgn="base">
              <a:lnSpc>
                <a:spcPct val="120000"/>
              </a:lnSpc>
              <a:spcBef>
                <a:spcPts val="0"/>
              </a:spcBef>
              <a:spcAft>
                <a:spcPts val="0"/>
              </a:spcAft>
              <a:buNone/>
            </a:pPr>
            <a:r>
              <a:rPr lang="en-US" sz="1600" dirty="0">
                <a:effectLst/>
                <a:latin typeface="Arial" panose="020B0604020202020204" pitchFamily="34" charset="0"/>
                <a:ea typeface="Calibri" panose="020F0502020204030204" pitchFamily="34" charset="0"/>
                <a:cs typeface="Arial" panose="020B0604020202020204" pitchFamily="34" charset="0"/>
              </a:rPr>
              <a:t>Are you aware that domains are first come, first serve? A domain that is available now is not guaranteed to be available in the future. </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6" name="Content Placeholder 2">
            <a:extLst>
              <a:ext uri="{FF2B5EF4-FFF2-40B4-BE49-F238E27FC236}">
                <a16:creationId xmlns:a16="http://schemas.microsoft.com/office/drawing/2014/main" id="{49D6E387-4C36-7671-A51A-FCE29B1B5571}"/>
              </a:ext>
            </a:extLst>
          </p:cNvPr>
          <p:cNvSpPr txBox="1">
            <a:spLocks/>
          </p:cNvSpPr>
          <p:nvPr/>
        </p:nvSpPr>
        <p:spPr>
          <a:xfrm>
            <a:off x="6095999" y="825309"/>
            <a:ext cx="4702993" cy="198652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buNone/>
            </a:pPr>
            <a:r>
              <a:rPr lang="en-US" sz="1600" b="1" dirty="0">
                <a:solidFill>
                  <a:srgbClr val="C00000"/>
                </a:solidFill>
                <a:effectLst/>
                <a:latin typeface="Arial"/>
                <a:ea typeface="Times New Roman" panose="02020603050405020304" pitchFamily="18" charset="0"/>
                <a:cs typeface="Arial"/>
              </a:rPr>
              <a:t>I don’t want a website.</a:t>
            </a:r>
          </a:p>
          <a:p>
            <a:pPr marL="0" marR="0" indent="0" fontAlgn="base">
              <a:lnSpc>
                <a:spcPct val="120000"/>
              </a:lnSpc>
              <a:spcBef>
                <a:spcPts val="0"/>
              </a:spcBef>
              <a:buNone/>
            </a:pPr>
            <a:endParaRPr lang="en-US" sz="1600" b="1" dirty="0">
              <a:solidFill>
                <a:srgbClr val="C00000"/>
              </a:solidFill>
              <a:effectLst/>
              <a:latin typeface="Arial"/>
              <a:ea typeface="Times New Roman" panose="02020603050405020304" pitchFamily="18" charset="0"/>
              <a:cs typeface="Arial"/>
            </a:endParaRPr>
          </a:p>
          <a:p>
            <a:pPr marL="0" marR="0" indent="0" fontAlgn="base">
              <a:lnSpc>
                <a:spcPct val="120000"/>
              </a:lnSpc>
              <a:spcBef>
                <a:spcPts val="0"/>
              </a:spcBef>
              <a:buNone/>
            </a:pPr>
            <a:r>
              <a:rPr lang="en-US" sz="1600" dirty="0">
                <a:effectLst/>
                <a:latin typeface="Arial" panose="020B0604020202020204" pitchFamily="34" charset="0"/>
                <a:ea typeface="Arial" panose="020B0604020202020204" pitchFamily="34" charset="0"/>
                <a:cs typeface="Times New Roman" panose="02020603050405020304" pitchFamily="18" charset="0"/>
              </a:rPr>
              <a:t>A domain is not the same as a website. Many business owners register multiple domain names (different spelling or different domain extensions) to protect the brand ensure no other businesses can register the name. </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9" name="Content Placeholder 2">
            <a:extLst>
              <a:ext uri="{FF2B5EF4-FFF2-40B4-BE49-F238E27FC236}">
                <a16:creationId xmlns:a16="http://schemas.microsoft.com/office/drawing/2014/main" id="{A11A4F0C-1CA1-5640-F05A-5E8F4425735A}"/>
              </a:ext>
            </a:extLst>
          </p:cNvPr>
          <p:cNvSpPr txBox="1">
            <a:spLocks/>
          </p:cNvSpPr>
          <p:nvPr/>
        </p:nvSpPr>
        <p:spPr>
          <a:xfrm>
            <a:off x="475119" y="3685366"/>
            <a:ext cx="5229396" cy="20817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600" b="1" dirty="0">
                <a:solidFill>
                  <a:srgbClr val="C00000"/>
                </a:solidFill>
                <a:effectLst/>
                <a:latin typeface="Arial"/>
                <a:ea typeface="Times New Roman" panose="02020603050405020304" pitchFamily="18" charset="0"/>
                <a:cs typeface="Arial"/>
              </a:rPr>
              <a:t>I don’t want a new email, I’d rather use my personal. </a:t>
            </a:r>
          </a:p>
          <a:p>
            <a:pPr marL="0" marR="0" indent="0" fontAlgn="base">
              <a:lnSpc>
                <a:spcPct val="120000"/>
              </a:lnSpc>
              <a:spcBef>
                <a:spcPts val="0"/>
              </a:spcBef>
              <a:spcAft>
                <a:spcPts val="0"/>
              </a:spcAft>
              <a:buNone/>
            </a:pPr>
            <a:endParaRPr lang="en-US" sz="1600" b="1" dirty="0">
              <a:solidFill>
                <a:srgbClr val="7030A0"/>
              </a:solidFill>
              <a:latin typeface="Arial"/>
              <a:ea typeface="Times New Roman" panose="02020603050405020304" pitchFamily="18" charset="0"/>
              <a:cs typeface="Arial"/>
            </a:endParaRPr>
          </a:p>
          <a:p>
            <a:pPr marL="0" marR="0" indent="0" fontAlgn="base">
              <a:lnSpc>
                <a:spcPct val="120000"/>
              </a:lnSpc>
              <a:spcBef>
                <a:spcPts val="0"/>
              </a:spcBef>
              <a:spcAft>
                <a:spcPts val="0"/>
              </a:spcAft>
              <a:buNone/>
            </a:pPr>
            <a:r>
              <a:rPr lang="en-US" sz="1600" dirty="0">
                <a:solidFill>
                  <a:srgbClr val="000000"/>
                </a:solidFill>
                <a:effectLst/>
                <a:latin typeface="Arial" panose="020B0604020202020204" pitchFamily="34" charset="0"/>
                <a:ea typeface="Times New Roman" panose="02020603050405020304" pitchFamily="18" charset="0"/>
              </a:rPr>
              <a:t>Having a domain-based email makes you look more credible as a business and builds trust with your customers.</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2" name="Content Placeholder 2">
            <a:extLst>
              <a:ext uri="{FF2B5EF4-FFF2-40B4-BE49-F238E27FC236}">
                <a16:creationId xmlns:a16="http://schemas.microsoft.com/office/drawing/2014/main" id="{3B629D0D-EF80-6CD1-0BCD-E32F8CF870C8}"/>
              </a:ext>
            </a:extLst>
          </p:cNvPr>
          <p:cNvSpPr txBox="1">
            <a:spLocks/>
          </p:cNvSpPr>
          <p:nvPr/>
        </p:nvSpPr>
        <p:spPr>
          <a:xfrm>
            <a:off x="6095999" y="3685366"/>
            <a:ext cx="5229396" cy="20817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600" b="1" dirty="0">
                <a:solidFill>
                  <a:srgbClr val="C00000"/>
                </a:solidFill>
                <a:effectLst/>
                <a:latin typeface="Arial"/>
                <a:ea typeface="Times New Roman" panose="02020603050405020304" pitchFamily="18" charset="0"/>
                <a:cs typeface="Arial"/>
              </a:rPr>
              <a:t>We don’t have the time. </a:t>
            </a:r>
          </a:p>
          <a:p>
            <a:pPr marL="0" marR="0" indent="0" fontAlgn="base">
              <a:lnSpc>
                <a:spcPct val="120000"/>
              </a:lnSpc>
              <a:spcBef>
                <a:spcPts val="0"/>
              </a:spcBef>
              <a:spcAft>
                <a:spcPts val="0"/>
              </a:spcAft>
              <a:buNone/>
            </a:pPr>
            <a:endParaRPr lang="en-US" sz="1600" b="1" dirty="0">
              <a:solidFill>
                <a:srgbClr val="C00000"/>
              </a:solidFill>
              <a:effectLst/>
              <a:latin typeface="Arial"/>
              <a:ea typeface="Times New Roman" panose="02020603050405020304" pitchFamily="18" charset="0"/>
              <a:cs typeface="Arial"/>
            </a:endParaRPr>
          </a:p>
          <a:p>
            <a:pPr marL="0" marR="0" indent="0" fontAlgn="base">
              <a:lnSpc>
                <a:spcPct val="120000"/>
              </a:lnSpc>
              <a:spcBef>
                <a:spcPts val="0"/>
              </a:spcBef>
              <a:spcAft>
                <a:spcPts val="0"/>
              </a:spcAft>
              <a:buNone/>
            </a:pPr>
            <a:r>
              <a:rPr lang="en-US" sz="1600" dirty="0">
                <a:solidFill>
                  <a:srgbClr val="000000"/>
                </a:solidFill>
                <a:effectLst/>
                <a:latin typeface="Arial" panose="020B0604020202020204" pitchFamily="34" charset="0"/>
                <a:ea typeface="Times New Roman" panose="02020603050405020304" pitchFamily="18" charset="0"/>
              </a:rPr>
              <a:t>The email system is easy to set up and use. You can add and remove emails with ease, manage your calendar and create a customized experience all from your email portal. Having a web-based email solution means you can access your email from anywhere that has an internet connection. </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3752453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Test your Knowledge</a:t>
            </a:r>
            <a:endParaRPr lang="en-US" sz="3200" dirty="0">
              <a:solidFill>
                <a:schemeClr val="bg1"/>
              </a:solidFill>
            </a:endParaRPr>
          </a:p>
        </p:txBody>
      </p:sp>
    </p:spTree>
    <p:extLst>
      <p:ext uri="{BB962C8B-B14F-4D97-AF65-F5344CB8AC3E}">
        <p14:creationId xmlns:p14="http://schemas.microsoft.com/office/powerpoint/2010/main" val="3109488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6836735" y="744574"/>
            <a:ext cx="4885365"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6. What does task box allow customers to do?</a:t>
            </a:r>
          </a:p>
          <a:p>
            <a:pPr marL="0" indent="0">
              <a:spcBef>
                <a:spcPts val="500"/>
              </a:spcBef>
              <a:buNone/>
            </a:pPr>
            <a:r>
              <a:rPr lang="en-US" sz="1050" dirty="0">
                <a:latin typeface="Arial" panose="020B0604020202020204" pitchFamily="34" charset="0"/>
                <a:ea typeface="Times New Roman" panose="02020603050405020304" pitchFamily="18" charset="0"/>
                <a:cs typeface="Arial" panose="020B0604020202020204" pitchFamily="34" charset="0"/>
              </a:rPr>
              <a:t>A) Turn emails into categories</a:t>
            </a:r>
          </a:p>
          <a:p>
            <a:pPr marL="0" indent="0">
              <a:spcBef>
                <a:spcPts val="500"/>
              </a:spcBef>
              <a:buNone/>
            </a:pPr>
            <a:r>
              <a:rPr lang="en-US" sz="1050" dirty="0">
                <a:latin typeface="Arial" panose="020B0604020202020204" pitchFamily="34" charset="0"/>
                <a:ea typeface="Times New Roman" panose="02020603050405020304" pitchFamily="18" charset="0"/>
                <a:cs typeface="Arial" panose="020B0604020202020204" pitchFamily="34" charset="0"/>
              </a:rPr>
              <a:t>B) Assign tasks</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indent="0">
              <a:spcBef>
                <a:spcPts val="50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Add due dates to emails</a:t>
            </a:r>
            <a:endParaRPr lang="en-US" sz="1050" dirty="0">
              <a:solidFill>
                <a:srgbClr val="000000"/>
              </a:solidFill>
              <a:effectLst/>
              <a:latin typeface="Arial" panose="020B0604020202020204" pitchFamily="34" charset="0"/>
              <a:ea typeface="Times New Roman" panose="02020603050405020304" pitchFamily="18" charset="0"/>
            </a:endParaRPr>
          </a:p>
          <a:p>
            <a:pPr marL="0" indent="0">
              <a:spcBef>
                <a:spcPts val="50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7. True or False: </a:t>
            </a:r>
            <a:r>
              <a:rPr lang="en-US" sz="1050" b="1" dirty="0">
                <a:latin typeface="Arial" panose="020B0604020202020204" pitchFamily="34" charset="0"/>
                <a:ea typeface="Times New Roman" panose="02020603050405020304" pitchFamily="18" charset="0"/>
                <a:cs typeface="Arial" panose="020B0604020202020204" pitchFamily="34" charset="0"/>
              </a:rPr>
              <a:t>E</a:t>
            </a:r>
            <a:r>
              <a:rPr lang="en-US" sz="1050" b="1" dirty="0">
                <a:effectLst/>
                <a:latin typeface="Arial" panose="020B0604020202020204" pitchFamily="34" charset="0"/>
                <a:ea typeface="Times New Roman" panose="02020603050405020304" pitchFamily="18" charset="0"/>
                <a:cs typeface="Arial" panose="020B0604020202020204" pitchFamily="34" charset="0"/>
              </a:rPr>
              <a:t>mail is easy to set up and use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8. Which are key features of email?</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Calendaring	</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Security</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Task Boxes</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a:t>
            </a:r>
            <a:r>
              <a:rPr lang="en-US" sz="1050" dirty="0">
                <a:latin typeface="Arial" panose="020B0604020202020204" pitchFamily="34" charset="0"/>
                <a:ea typeface="Times New Roman" panose="02020603050405020304" pitchFamily="18" charset="0"/>
                <a:cs typeface="Arial" panose="020B0604020202020204" pitchFamily="34" charset="0"/>
              </a:rPr>
              <a:t>All of the above</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9. Which are </a:t>
            </a:r>
            <a:r>
              <a:rPr lang="en-US" sz="1050" b="1" dirty="0">
                <a:latin typeface="Arial" panose="020B0604020202020204" pitchFamily="34" charset="0"/>
                <a:ea typeface="Times New Roman" panose="02020603050405020304" pitchFamily="18" charset="0"/>
                <a:cs typeface="Arial" panose="020B0604020202020204" pitchFamily="34" charset="0"/>
              </a:rPr>
              <a:t>key features of domains?</a:t>
            </a:r>
            <a:endParaRPr lang="en-US" sz="1050" b="1"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a:t>
            </a:r>
            <a:r>
              <a:rPr lang="en-US" sz="1050" dirty="0">
                <a:latin typeface="Arial" panose="020B0604020202020204" pitchFamily="34" charset="0"/>
                <a:ea typeface="Times New Roman" panose="02020603050405020304" pitchFamily="18" charset="0"/>
                <a:cs typeface="Arial" panose="020B0604020202020204" pitchFamily="34" charset="0"/>
              </a:rPr>
              <a:t>Technical Support</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Simple Transfers</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Easy Management</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10. </a:t>
            </a:r>
            <a:r>
              <a:rPr lang="en-US" sz="1050" b="1" dirty="0">
                <a:latin typeface="Arial" panose="020B0604020202020204" pitchFamily="34" charset="0"/>
                <a:ea typeface="Times New Roman" panose="02020603050405020304" pitchFamily="18" charset="0"/>
                <a:cs typeface="Arial" panose="020B0604020202020204" pitchFamily="34" charset="0"/>
              </a:rPr>
              <a:t>True or False: Domains are first come first serve.</a:t>
            </a:r>
            <a:endParaRPr lang="en-US" sz="1050" b="1" dirty="0">
              <a:effectLst/>
              <a:latin typeface="Arial" panose="020B0604020202020204" pitchFamily="34" charset="0"/>
              <a:ea typeface="Times New Roman" panose="02020603050405020304" pitchFamily="18" charset="0"/>
              <a:cs typeface="Arial" panose="020B0604020202020204" pitchFamily="34" charset="0"/>
            </a:endParaRPr>
          </a:p>
          <a:p>
            <a:pPr marR="0" fontAlgn="base">
              <a:lnSpc>
                <a:spcPct val="120000"/>
              </a:lnSpc>
              <a:spcBef>
                <a:spcPts val="0"/>
              </a:spcBef>
              <a:spcAft>
                <a:spcPts val="0"/>
              </a:spcAft>
              <a:buAutoNum type="alphaUcParenR"/>
            </a:pPr>
            <a:r>
              <a:rPr lang="en-US" sz="1050" dirty="0">
                <a:effectLst/>
                <a:latin typeface="Arial" panose="020B0604020202020204" pitchFamily="34" charset="0"/>
                <a:ea typeface="Times New Roman" panose="02020603050405020304" pitchFamily="18" charset="0"/>
                <a:cs typeface="Arial" panose="020B0604020202020204" pitchFamily="34" charset="0"/>
              </a:rPr>
              <a:t>True</a:t>
            </a:r>
          </a:p>
          <a:p>
            <a:pPr marR="0" fontAlgn="base">
              <a:lnSpc>
                <a:spcPct val="120000"/>
              </a:lnSpc>
              <a:spcBef>
                <a:spcPts val="0"/>
              </a:spcBef>
              <a:spcAft>
                <a:spcPts val="0"/>
              </a:spcAft>
              <a:buAutoNum type="alphaUcParenR"/>
            </a:pPr>
            <a:r>
              <a:rPr lang="en-US" sz="1050" dirty="0">
                <a:latin typeface="Arial" panose="020B0604020202020204" pitchFamily="34" charset="0"/>
                <a:ea typeface="MS Mincho" panose="02020609040205080304" pitchFamily="49" charset="-128"/>
                <a:cs typeface="Arial" panose="020B0604020202020204" pitchFamily="34" charset="0"/>
              </a:rPr>
              <a:t>False</a:t>
            </a:r>
            <a:endParaRPr lang="en-US" sz="105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6522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1. What percentage of customers say professional emails are key to trust?</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a:t>
            </a:r>
            <a:r>
              <a:rPr lang="en-US" sz="1100" dirty="0">
                <a:latin typeface="Arial" panose="020B0604020202020204" pitchFamily="34" charset="0"/>
                <a:ea typeface="Times New Roman" panose="02020603050405020304" pitchFamily="18" charset="0"/>
                <a:cs typeface="Arial" panose="020B0604020202020204" pitchFamily="34" charset="0"/>
              </a:rPr>
              <a:t>50</a:t>
            </a:r>
            <a:r>
              <a:rPr lang="en-US" sz="1100" dirty="0">
                <a:effectLst/>
                <a:latin typeface="Arial" panose="020B0604020202020204" pitchFamily="34" charset="0"/>
                <a:ea typeface="Times New Roman" panose="02020603050405020304" pitchFamily="18" charset="0"/>
                <a:cs typeface="Arial" panose="020B0604020202020204" pitchFamily="34" charset="0"/>
              </a:rPr>
              <a:t>%</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34%</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C) 75%</a:t>
            </a:r>
          </a:p>
          <a:p>
            <a:pPr marL="0" marR="0" indent="0" fontAlgn="base">
              <a:lnSpc>
                <a:spcPct val="120000"/>
              </a:lnSpc>
              <a:spcBef>
                <a:spcPts val="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D) 80%</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2. What can you see in Domain manager</a:t>
            </a:r>
            <a:r>
              <a:rPr lang="en-US" sz="1100" b="1" dirty="0">
                <a:latin typeface="Arial" panose="020B0604020202020204" pitchFamily="34" charset="0"/>
                <a:ea typeface="Times New Roman" panose="02020603050405020304" pitchFamily="18" charset="0"/>
                <a:cs typeface="Arial" panose="020B0604020202020204" pitchFamily="34" charset="0"/>
              </a:rPr>
              <a:t>?</a:t>
            </a: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Domain Status</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Expiration date</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dirty="0">
                <a:latin typeface="Arial" panose="020B0604020202020204" pitchFamily="34" charset="0"/>
                <a:ea typeface="Times New Roman" panose="02020603050405020304" pitchFamily="18" charset="0"/>
                <a:cs typeface="Arial" panose="020B0604020202020204" pitchFamily="34" charset="0"/>
              </a:rPr>
              <a:t>C)</a:t>
            </a:r>
            <a:r>
              <a:rPr lang="en-US" sz="1100" dirty="0">
                <a:effectLst/>
                <a:latin typeface="Arial" panose="020B0604020202020204" pitchFamily="34" charset="0"/>
                <a:ea typeface="Times New Roman" panose="02020603050405020304" pitchFamily="18" charset="0"/>
                <a:cs typeface="Arial" panose="020B0604020202020204" pitchFamily="34" charset="0"/>
              </a:rPr>
              <a:t> Both </a:t>
            </a:r>
            <a:r>
              <a:rPr lang="en-US" sz="1100" dirty="0">
                <a:latin typeface="Arial" panose="020B0604020202020204" pitchFamily="34" charset="0"/>
                <a:ea typeface="Times New Roman" panose="02020603050405020304" pitchFamily="18" charset="0"/>
                <a:cs typeface="Arial" panose="020B0604020202020204" pitchFamily="34" charset="0"/>
              </a:rPr>
              <a:t>A and B</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a:t>
            </a:r>
            <a:r>
              <a:rPr lang="en-US" sz="1100" dirty="0">
                <a:latin typeface="Arial" panose="020B0604020202020204" pitchFamily="34" charset="0"/>
                <a:ea typeface="Times New Roman" panose="02020603050405020304" pitchFamily="18" charset="0"/>
                <a:cs typeface="Arial" panose="020B0604020202020204" pitchFamily="34" charset="0"/>
              </a:rPr>
              <a:t>New domains that are available</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3. True or False: Domain and email establish brand identity.</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4. What are benefits of domain-based email?</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Build trust</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Establish brand identity</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C) Look professional</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5. </a:t>
            </a:r>
            <a:r>
              <a:rPr lang="en-US" sz="1100" b="1" dirty="0">
                <a:latin typeface="Arial" panose="020B0604020202020204" pitchFamily="34" charset="0"/>
                <a:ea typeface="Times New Roman" panose="02020603050405020304" pitchFamily="18" charset="0"/>
                <a:cs typeface="Arial" panose="020B0604020202020204" pitchFamily="34" charset="0"/>
              </a:rPr>
              <a:t>What does the security email feature allow customers to do</a:t>
            </a:r>
            <a:r>
              <a:rPr lang="en-US" sz="1100" b="1" dirty="0">
                <a:effectLst/>
                <a:latin typeface="Arial" panose="020B0604020202020204" pitchFamily="34" charset="0"/>
                <a:ea typeface="Times New Roman" panose="02020603050405020304" pitchFamily="18" charset="0"/>
                <a:cs typeface="Arial" panose="020B0604020202020204" pitchFamily="34" charset="0"/>
              </a:rPr>
              <a:t>?</a:t>
            </a:r>
          </a:p>
          <a:p>
            <a:pPr marL="0" marR="0" indent="0" fontAlgn="base">
              <a:lnSpc>
                <a:spcPct val="120000"/>
              </a:lnSpc>
              <a:spcBef>
                <a:spcPts val="0"/>
              </a:spcBef>
              <a:spcAft>
                <a:spcPts val="0"/>
              </a:spcAft>
              <a:buNone/>
            </a:pPr>
            <a:r>
              <a:rPr lang="en-US" sz="1100" dirty="0">
                <a:effectLst/>
                <a:latin typeface="Arial" panose="020B0604020202020204" pitchFamily="34" charset="0"/>
                <a:ea typeface="MS Mincho" panose="02020609040205080304" pitchFamily="49" charset="-128"/>
              </a:rPr>
              <a:t>A) Set spam settings</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Choose trusted senders</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C) </a:t>
            </a:r>
            <a:r>
              <a:rPr lang="en-US" sz="1100" dirty="0">
                <a:effectLst/>
                <a:latin typeface="Arial" panose="020B0604020202020204" pitchFamily="34" charset="0"/>
                <a:ea typeface="MS Mincho" panose="02020609040205080304" pitchFamily="49" charset="-128"/>
              </a:rPr>
              <a:t>Choose spam senders</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a:t>
            </a:r>
            <a:r>
              <a:rPr lang="en-US" sz="1100" dirty="0">
                <a:effectLst/>
                <a:latin typeface="Arial" panose="020B0604020202020204" pitchFamily="34" charset="0"/>
                <a:ea typeface="MS Mincho" panose="02020609040205080304" pitchFamily="49" charset="-128"/>
                <a:cs typeface="Arial" panose="020B0604020202020204" pitchFamily="34" charset="0"/>
              </a:rPr>
              <a:t>All of the above</a:t>
            </a:r>
          </a:p>
        </p:txBody>
      </p:sp>
    </p:spTree>
    <p:extLst>
      <p:ext uri="{BB962C8B-B14F-4D97-AF65-F5344CB8AC3E}">
        <p14:creationId xmlns:p14="http://schemas.microsoft.com/office/powerpoint/2010/main" val="2534205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endParaRPr lang="en-US" sz="800" b="0" i="0">
              <a:solidFill>
                <a:srgbClr val="374151"/>
              </a:solidFill>
              <a:effectLst/>
              <a:latin typeface="Söhne"/>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1223772" y="1468474"/>
            <a:ext cx="6231128"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C</a:t>
            </a:r>
            <a:r>
              <a:rPr lang="en-US" sz="1200" dirty="0">
                <a:effectLst/>
                <a:latin typeface="Arial" panose="020B0604020202020204" pitchFamily="34" charset="0"/>
                <a:ea typeface="Times New Roman" panose="02020603050405020304" pitchFamily="18" charset="0"/>
                <a:cs typeface="Arial" panose="020B0604020202020204" pitchFamily="34" charset="0"/>
              </a:rPr>
              <a:t>) 75%</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C) Both A and B</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A) True</a:t>
            </a: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t>
            </a:r>
            <a:r>
              <a:rPr lang="en-US" sz="1200">
                <a:effectLst/>
                <a:latin typeface="Arial" panose="020B0604020202020204" pitchFamily="34" charset="0"/>
                <a:ea typeface="Times New Roman" panose="02020603050405020304" pitchFamily="18" charset="0"/>
                <a:cs typeface="Arial" panose="020B0604020202020204" pitchFamily="34" charset="0"/>
              </a:rPr>
              <a:t>All of the above</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A) True</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fontAlgn="base">
              <a:lnSpc>
                <a:spcPct val="200000"/>
              </a:lnSpc>
              <a:spcBef>
                <a:spcPts val="0"/>
              </a:spcBef>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A</a:t>
            </a:r>
            <a:r>
              <a:rPr lang="en-US" sz="1200">
                <a:effectLst/>
                <a:latin typeface="Arial" panose="020B0604020202020204" pitchFamily="34" charset="0"/>
                <a:ea typeface="Times New Roman" panose="02020603050405020304" pitchFamily="18" charset="0"/>
                <a:cs typeface="Arial" panose="020B0604020202020204" pitchFamily="34" charset="0"/>
              </a:rPr>
              <a:t>) </a:t>
            </a:r>
            <a:r>
              <a:rPr lang="en-US" sz="1200" dirty="0">
                <a:effectLst/>
                <a:latin typeface="Arial" panose="020B0604020202020204" pitchFamily="34" charset="0"/>
                <a:ea typeface="Times New Roman" panose="02020603050405020304" pitchFamily="18" charset="0"/>
                <a:cs typeface="Arial" panose="020B0604020202020204" pitchFamily="34" charset="0"/>
              </a:rPr>
              <a:t>True</a:t>
            </a:r>
          </a:p>
        </p:txBody>
      </p:sp>
      <p:sp>
        <p:nvSpPr>
          <p:cNvPr id="6" name="Title 1">
            <a:extLst>
              <a:ext uri="{FF2B5EF4-FFF2-40B4-BE49-F238E27FC236}">
                <a16:creationId xmlns:a16="http://schemas.microsoft.com/office/drawing/2014/main" id="{4EC76ECD-341B-9003-FACB-F170EE7B8AD1}"/>
              </a:ext>
            </a:extLst>
          </p:cNvPr>
          <p:cNvSpPr>
            <a:spLocks noGrp="1"/>
          </p:cNvSpPr>
          <p:nvPr>
            <p:ph type="title"/>
          </p:nvPr>
        </p:nvSpPr>
        <p:spPr>
          <a:xfrm>
            <a:off x="838200" y="365125"/>
            <a:ext cx="10515600" cy="1325563"/>
          </a:xfrm>
        </p:spPr>
        <p:txBody>
          <a:bodyPr>
            <a:normAutofit/>
          </a:bodyPr>
          <a:lstStyle/>
          <a:p>
            <a:r>
              <a:rPr lang="en-US" sz="2800" b="1" dirty="0">
                <a:solidFill>
                  <a:srgbClr val="C00000"/>
                </a:solidFill>
                <a:latin typeface="Arial" panose="020B0604020202020204" pitchFamily="34" charset="0"/>
                <a:ea typeface="MS Mincho" panose="02020609040205080304" pitchFamily="49" charset="-128"/>
              </a:rPr>
              <a:t>Correct Answers</a:t>
            </a:r>
            <a:endParaRPr lang="en-US" sz="6000" b="1" dirty="0">
              <a:solidFill>
                <a:srgbClr val="C00000"/>
              </a:solidFill>
            </a:endParaRPr>
          </a:p>
        </p:txBody>
      </p:sp>
    </p:spTree>
    <p:extLst>
      <p:ext uri="{BB962C8B-B14F-4D97-AF65-F5344CB8AC3E}">
        <p14:creationId xmlns:p14="http://schemas.microsoft.com/office/powerpoint/2010/main" val="4266642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1511</TotalTime>
  <Words>1634</Words>
  <Application>Microsoft Office PowerPoint</Application>
  <PresentationFormat>Widescreen</PresentationFormat>
  <Paragraphs>193</Paragraphs>
  <Slides>22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 Light</vt:lpstr>
      <vt:lpstr>Cambria</vt:lpstr>
      <vt:lpstr>Söhne</vt:lpstr>
      <vt:lpstr>Symbol</vt:lpstr>
      <vt:lpstr>Times New Roman</vt:lpstr>
      <vt:lpstr>Office Theme</vt:lpstr>
      <vt:lpstr>Domains &amp; Email</vt:lpstr>
      <vt:lpstr>Agenda</vt:lpstr>
      <vt:lpstr>Domain and email are key to building trust and rapport</vt:lpstr>
      <vt:lpstr>PowerPoint Presentation</vt:lpstr>
      <vt:lpstr>Impact of a domain and email </vt:lpstr>
      <vt:lpstr>PowerPoint Presentation</vt:lpstr>
      <vt:lpstr>PowerPoint Presentation</vt:lpstr>
      <vt:lpstr>Domain Features</vt:lpstr>
      <vt:lpstr>Email Features</vt:lpstr>
      <vt:lpstr>How it works</vt:lpstr>
      <vt:lpstr>Login to your portal and access both domain manager and add an email </vt:lpstr>
      <vt:lpstr>Benefits</vt:lpstr>
      <vt:lpstr>Q &amp; A / Next steps</vt:lpstr>
      <vt:lpstr>Frequently Asked Questions</vt:lpstr>
      <vt:lpstr>PowerPoint Presentation</vt:lpstr>
      <vt:lpstr>Probing Questions</vt:lpstr>
      <vt:lpstr>PowerPoint Presentation</vt:lpstr>
      <vt:lpstr>Objection Handlers</vt:lpstr>
      <vt:lpstr>PowerPoint Presentation</vt:lpstr>
      <vt:lpstr>Test your Knowledge</vt:lpstr>
      <vt:lpstr>PowerPoint Presentation</vt:lpstr>
      <vt:lpstr>Correct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Domains/ Email</dc:title>
  <dc:creator>Fejdasz, Kayla</dc:creator>
  <cp:lastModifiedBy>Shujaat, Faizan</cp:lastModifiedBy>
  <cp:revision>2</cp:revision>
  <dcterms:created xsi:type="dcterms:W3CDTF">2023-06-15T18:50:55Z</dcterms:created>
  <dcterms:modified xsi:type="dcterms:W3CDTF">2023-07-09T17:28:38Z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9208c94-c58f-41ad-a867-99d88e16cd43_Enabled">
    <vt:lpwstr>true</vt:lpwstr>
  </property>
  <property fmtid="{D5CDD505-2E9C-101B-9397-08002B2CF9AE}" pid="3" name="MSIP_Label_59208c94-c58f-41ad-a867-99d88e16cd43_SetDate">
    <vt:lpwstr>2023-06-15T18:56:19Z</vt:lpwstr>
  </property>
  <property fmtid="{D5CDD505-2E9C-101B-9397-08002B2CF9AE}" pid="4" name="MSIP_Label_59208c94-c58f-41ad-a867-99d88e16cd43_Method">
    <vt:lpwstr>Privileged</vt:lpwstr>
  </property>
  <property fmtid="{D5CDD505-2E9C-101B-9397-08002B2CF9AE}" pid="5" name="MSIP_Label_59208c94-c58f-41ad-a867-99d88e16cd43_Name">
    <vt:lpwstr>Internal</vt:lpwstr>
  </property>
  <property fmtid="{D5CDD505-2E9C-101B-9397-08002B2CF9AE}" pid="6" name="MSIP_Label_59208c94-c58f-41ad-a867-99d88e16cd43_SiteId">
    <vt:lpwstr>1f7c1878-7408-4f86-b429-cf17f96a717c</vt:lpwstr>
  </property>
  <property fmtid="{D5CDD505-2E9C-101B-9397-08002B2CF9AE}" pid="7" name="MSIP_Label_59208c94-c58f-41ad-a867-99d88e16cd43_ActionId">
    <vt:lpwstr>6f71d347-0440-429a-810c-8b135ee10e01</vt:lpwstr>
  </property>
  <property fmtid="{D5CDD505-2E9C-101B-9397-08002B2CF9AE}" pid="8" name="MSIP_Label_59208c94-c58f-41ad-a867-99d88e16cd43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Internal </vt:lpwstr>
  </property>
</Properties>
</file>