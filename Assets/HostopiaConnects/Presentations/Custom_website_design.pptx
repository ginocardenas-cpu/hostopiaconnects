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4454F3-34FB-42F1-843F-D70995B41397}" v="5" dt="2023-07-09T19:00:28.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78" d="100"/>
          <a:sy n="78" d="100"/>
        </p:scale>
        <p:origin x="71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D8C860-35AF-409E-B948-32C1B3CA1BF9}" type="datetimeFigureOut">
              <a:rPr lang="en-US" smtClean="0"/>
              <a:t>7/9/2023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97035D-CA9D-4A7C-BEF4-956417F35350}" type="slidenum">
              <a:rPr lang="en-US" smtClean="0"/>
              <a:t>‹#›</a:t>
            </a:fld>
            <a:endParaRPr lang="en-US"/>
          </a:p>
        </p:txBody>
      </p:sp>
    </p:spTree>
    <p:extLst>
      <p:ext uri="{BB962C8B-B14F-4D97-AF65-F5344CB8AC3E}">
        <p14:creationId xmlns:p14="http://schemas.microsoft.com/office/powerpoint/2010/main" val="3254013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a:t>
            </a:fld>
            <a:endParaRPr lang="en-US"/>
          </a:p>
        </p:txBody>
      </p:sp>
    </p:spTree>
    <p:extLst>
      <p:ext uri="{BB962C8B-B14F-4D97-AF65-F5344CB8AC3E}">
        <p14:creationId xmlns:p14="http://schemas.microsoft.com/office/powerpoint/2010/main" val="2457568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a:t>
            </a:fld>
            <a:endParaRPr lang="en-US"/>
          </a:p>
        </p:txBody>
      </p:sp>
    </p:spTree>
    <p:extLst>
      <p:ext uri="{BB962C8B-B14F-4D97-AF65-F5344CB8AC3E}">
        <p14:creationId xmlns:p14="http://schemas.microsoft.com/office/powerpoint/2010/main" val="380043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Statistics on how many consumers read online reviews before making a purchase and how positive reviews can lead to increased customer trust, loyalty, and sales. </a:t>
            </a:r>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3</a:t>
            </a:fld>
            <a:endParaRPr lang="en-US"/>
          </a:p>
        </p:txBody>
      </p:sp>
    </p:spTree>
    <p:extLst>
      <p:ext uri="{BB962C8B-B14F-4D97-AF65-F5344CB8AC3E}">
        <p14:creationId xmlns:p14="http://schemas.microsoft.com/office/powerpoint/2010/main" val="2350320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4</a:t>
            </a:fld>
            <a:endParaRPr lang="en-US"/>
          </a:p>
        </p:txBody>
      </p:sp>
    </p:spTree>
    <p:extLst>
      <p:ext uri="{BB962C8B-B14F-4D97-AF65-F5344CB8AC3E}">
        <p14:creationId xmlns:p14="http://schemas.microsoft.com/office/powerpoint/2010/main" val="3783951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5</a:t>
            </a:fld>
            <a:endParaRPr lang="en-US"/>
          </a:p>
        </p:txBody>
      </p:sp>
    </p:spTree>
    <p:extLst>
      <p:ext uri="{BB962C8B-B14F-4D97-AF65-F5344CB8AC3E}">
        <p14:creationId xmlns:p14="http://schemas.microsoft.com/office/powerpoint/2010/main" val="251464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6</a:t>
            </a:fld>
            <a:endParaRPr lang="en-US"/>
          </a:p>
        </p:txBody>
      </p:sp>
    </p:spTree>
    <p:extLst>
      <p:ext uri="{BB962C8B-B14F-4D97-AF65-F5344CB8AC3E}">
        <p14:creationId xmlns:p14="http://schemas.microsoft.com/office/powerpoint/2010/main" val="128743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16</a:t>
            </a:fld>
            <a:endParaRPr lang="en-US"/>
          </a:p>
        </p:txBody>
      </p:sp>
    </p:spTree>
    <p:extLst>
      <p:ext uri="{BB962C8B-B14F-4D97-AF65-F5344CB8AC3E}">
        <p14:creationId xmlns:p14="http://schemas.microsoft.com/office/powerpoint/2010/main" val="2602795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18</a:t>
            </a:fld>
            <a:endParaRPr lang="en-US"/>
          </a:p>
        </p:txBody>
      </p:sp>
    </p:spTree>
    <p:extLst>
      <p:ext uri="{BB962C8B-B14F-4D97-AF65-F5344CB8AC3E}">
        <p14:creationId xmlns:p14="http://schemas.microsoft.com/office/powerpoint/2010/main" val="670546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20</a:t>
            </a:fld>
            <a:endParaRPr lang="en-US"/>
          </a:p>
        </p:txBody>
      </p:sp>
    </p:spTree>
    <p:extLst>
      <p:ext uri="{BB962C8B-B14F-4D97-AF65-F5344CB8AC3E}">
        <p14:creationId xmlns:p14="http://schemas.microsoft.com/office/powerpoint/2010/main" val="396808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21</a:t>
            </a:fld>
            <a:endParaRPr lang="en-US"/>
          </a:p>
        </p:txBody>
      </p:sp>
    </p:spTree>
    <p:extLst>
      <p:ext uri="{BB962C8B-B14F-4D97-AF65-F5344CB8AC3E}">
        <p14:creationId xmlns:p14="http://schemas.microsoft.com/office/powerpoint/2010/main" val="1047089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FBD4D-DE77-5C33-C1E1-4B77626BB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41061D-A7C8-E47A-6BD7-28BBD1404F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D2CD9-C9F6-971F-444C-84E3ACA3E3F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5CF0053D-D9F9-6C93-DB61-DD0C5BF9C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048C4C-1CFB-6731-5BE7-6E0C67C232FF}"/>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43729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9847-DA81-ED5C-D168-41B0B4C876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D067F-E0E6-F4B3-AA9E-1C7FD4961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CD895-F0EE-0454-D274-87C83DAAA4D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1A52C02-6EE3-6AA7-10F1-F57408319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01FA4-3F5A-0CA7-2EF5-E93FF49225E9}"/>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75121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9D32D7-C89C-996C-FD67-E140DD583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9C94FC-427F-F8E1-F09D-8C8087D4A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F26E8-989A-28B3-F80A-EB24AA36E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8243039-64B4-63D2-FAA7-514095D30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AE4C7A-8A5C-E747-DDEF-95A9C1FFA0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B7DFA0-4D9A-4002-B4D9-D990D290019E}" type="slidenum">
              <a:rPr lang="en-US" smtClean="0"/>
              <a:t>‹#›</a:t>
            </a:fld>
            <a:endParaRPr lang="en-US"/>
          </a:p>
        </p:txBody>
      </p:sp>
      <p:sp>
        <p:nvSpPr>
          <p:cNvPr id="8" name="TextBox 7">
            <a:extLst>
              <a:ext uri="{FF2B5EF4-FFF2-40B4-BE49-F238E27FC236}">
                <a16:creationId xmlns:a16="http://schemas.microsoft.com/office/drawing/2014/main" id="{248E54A4-C7C2-B6A8-FB3A-03C6649A3867}"/>
              </a:ext>
            </a:extLst>
          </p:cNvPr>
          <p:cNvSpPr txBox="1"/>
          <p:nvPr>
            <p:extLst>
              <p:ext uri="{1162E1C5-73C7-4A58-AE30-91384D911F3F}">
                <p184:classification xmlns:p184="http://schemas.microsoft.com/office/powerpoint/2018/4/main" val="ftr"/>
              </p:ext>
            </p:extLst>
          </p:nvPr>
        </p:nvSpPr>
        <p:spPr>
          <a:xfrm>
            <a:off x="5893562" y="6705600"/>
            <a:ext cx="46196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a:t>
            </a:r>
          </a:p>
        </p:txBody>
      </p:sp>
    </p:spTree>
    <p:extLst>
      <p:ext uri="{BB962C8B-B14F-4D97-AF65-F5344CB8AC3E}">
        <p14:creationId xmlns:p14="http://schemas.microsoft.com/office/powerpoint/2010/main" val="3158090915"/>
      </p:ext>
    </p:extLst>
  </p:cSld>
  <p:clrMap bg1="lt1" tx1="dk1" bg2="lt2" tx2="dk2" accent1="accent1" accent2="accent2" accent3="accent3" accent4="accent4" accent5="accent5" accent6="accent6" hlink="hlink" folHlink="folHlink"/>
  <p:sldLayoutIdLst>
    <p:sldLayoutId id="2147483650" r:id="rId1"/>
    <p:sldLayoutId id="214748364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brightlocal.com/research/local-consumer-review-survey/"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hyperlink" Target="https://www.prnewswire.com/news-releases/first-impressions-are-94-design-related--infinityhr-upgrades-their-user-interface-to-match-todays-technological-beauty-standards-300617678.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mention.com/en/blog/online-review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smamarketing.net/blog/80-seo-statistics" TargetMode="External"/><Relationship Id="rId5" Type="http://schemas.openxmlformats.org/officeDocument/2006/relationships/image" Target="../media/image4.png"/><Relationship Id="rId4" Type="http://schemas.openxmlformats.org/officeDocument/2006/relationships/hyperlink" Target="https://www.invoca.com/blog/retail-marketing-statistic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colorlib.com/wp/wordpress-statistics/"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datachieve.com/website-statistics-to-know-in-2022/#:~:text=94%25%20of%20people%20say%20web,or%20do%20business%20with%20you."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D6B2D-04E2-FEDA-6E81-829D960118D8}"/>
              </a:ext>
            </a:extLst>
          </p:cNvPr>
          <p:cNvSpPr>
            <a:spLocks noGrp="1"/>
          </p:cNvSpPr>
          <p:nvPr>
            <p:ph type="ctrTitle"/>
          </p:nvPr>
        </p:nvSpPr>
        <p:spPr>
          <a:xfrm>
            <a:off x="970908" y="1220919"/>
            <a:ext cx="5425781" cy="2387600"/>
          </a:xfrm>
        </p:spPr>
        <p:txBody>
          <a:bodyPr>
            <a:normAutofit/>
          </a:bodyPr>
          <a:lstStyle/>
          <a:p>
            <a:pPr algn="l"/>
            <a:r>
              <a:rPr lang="en-US" sz="4800" b="1" dirty="0">
                <a:solidFill>
                  <a:srgbClr val="5B9BD5"/>
                </a:solidFill>
                <a:latin typeface="Arial" panose="020B0604020202020204" pitchFamily="34" charset="0"/>
                <a:cs typeface="Arial" panose="020B0604020202020204" pitchFamily="34" charset="0"/>
              </a:rPr>
              <a:t>Custom</a:t>
            </a:r>
            <a:br>
              <a:rPr lang="en-US" sz="4800" b="1" dirty="0">
                <a:solidFill>
                  <a:srgbClr val="5B9BD5"/>
                </a:solidFill>
                <a:latin typeface="Arial" panose="020B0604020202020204" pitchFamily="34" charset="0"/>
                <a:cs typeface="Arial" panose="020B0604020202020204" pitchFamily="34" charset="0"/>
              </a:rPr>
            </a:br>
            <a:r>
              <a:rPr lang="en-US" sz="4800" b="1" dirty="0">
                <a:solidFill>
                  <a:srgbClr val="5B9BD5"/>
                </a:solidFill>
                <a:latin typeface="Arial" panose="020B0604020202020204" pitchFamily="34" charset="0"/>
                <a:cs typeface="Arial" panose="020B0604020202020204" pitchFamily="34" charset="0"/>
              </a:rPr>
              <a:t>Website Design</a:t>
            </a:r>
          </a:p>
        </p:txBody>
      </p:sp>
      <p:sp>
        <p:nvSpPr>
          <p:cNvPr id="3" name="Subtitle 2">
            <a:extLst>
              <a:ext uri="{FF2B5EF4-FFF2-40B4-BE49-F238E27FC236}">
                <a16:creationId xmlns:a16="http://schemas.microsoft.com/office/drawing/2014/main" id="{B908F796-3D75-659C-A611-BD58C9DC6D0B}"/>
              </a:ext>
            </a:extLst>
          </p:cNvPr>
          <p:cNvSpPr>
            <a:spLocks noGrp="1"/>
          </p:cNvSpPr>
          <p:nvPr>
            <p:ph type="subTitle" idx="1"/>
          </p:nvPr>
        </p:nvSpPr>
        <p:spPr>
          <a:xfrm>
            <a:off x="970909" y="3700594"/>
            <a:ext cx="3550292" cy="1655762"/>
          </a:xfrm>
        </p:spPr>
        <p:txBody>
          <a:bodyPr>
            <a:normAutofit/>
          </a:bodyPr>
          <a:lstStyle/>
          <a:p>
            <a:pPr algn="l"/>
            <a:r>
              <a:rPr lang="en-US" sz="1400" b="1" dirty="0">
                <a:effectLst/>
                <a:latin typeface="Arial" panose="020B0604020202020204" pitchFamily="34" charset="0"/>
                <a:ea typeface="MS Mincho" panose="02020609040205080304" pitchFamily="49" charset="-128"/>
              </a:rPr>
              <a:t>A website as unique as your business. Designed with </a:t>
            </a:r>
            <a:r>
              <a:rPr lang="en-US" sz="1400" b="1">
                <a:effectLst/>
                <a:latin typeface="Arial" panose="020B0604020202020204" pitchFamily="34" charset="0"/>
                <a:ea typeface="MS Mincho" panose="02020609040205080304" pitchFamily="49" charset="-128"/>
              </a:rPr>
              <a:t>your business </a:t>
            </a:r>
            <a:r>
              <a:rPr lang="en-US" sz="1400" b="1" dirty="0">
                <a:effectLst/>
                <a:latin typeface="Arial" panose="020B0604020202020204" pitchFamily="34" charset="0"/>
                <a:ea typeface="MS Mincho" panose="02020609040205080304" pitchFamily="49" charset="-128"/>
              </a:rPr>
              <a:t>in mind.</a:t>
            </a:r>
          </a:p>
        </p:txBody>
      </p:sp>
      <p:sp>
        <p:nvSpPr>
          <p:cNvPr id="46" name="Freeform: Shape 3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Block Arc 4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eeform: Shape 4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47" name="Straight Connector 4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1" name="Arc 5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Freeform: Shape 5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293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rgbClr val="5B9BD5"/>
                </a:solidFill>
                <a:effectLst/>
                <a:latin typeface="Arial" panose="020B0604020202020204" pitchFamily="34" charset="0"/>
                <a:cs typeface="Arial" panose="020B0604020202020204" pitchFamily="34" charset="0"/>
              </a:rPr>
              <a:t>Agenda</a:t>
            </a:r>
          </a:p>
        </p:txBody>
      </p:sp>
      <p:grpSp>
        <p:nvGrpSpPr>
          <p:cNvPr id="15" name="Group 14">
            <a:extLst>
              <a:ext uri="{FF2B5EF4-FFF2-40B4-BE49-F238E27FC236}">
                <a16:creationId xmlns:a16="http://schemas.microsoft.com/office/drawing/2014/main" id="{330CC5C3-C35C-56DD-1CCB-213E8B1CBF58}"/>
              </a:ext>
            </a:extLst>
          </p:cNvPr>
          <p:cNvGrpSpPr/>
          <p:nvPr/>
        </p:nvGrpSpPr>
        <p:grpSpPr>
          <a:xfrm>
            <a:off x="845421" y="3919603"/>
            <a:ext cx="2370489" cy="720000"/>
            <a:chOff x="100682" y="2684598"/>
            <a:chExt cx="2370489" cy="720000"/>
          </a:xfrm>
        </p:grpSpPr>
        <p:sp>
          <p:nvSpPr>
            <p:cNvPr id="25" name="Rectangle 24">
              <a:extLst>
                <a:ext uri="{FF2B5EF4-FFF2-40B4-BE49-F238E27FC236}">
                  <a16:creationId xmlns:a16="http://schemas.microsoft.com/office/drawing/2014/main" id="{4277FBCA-71F5-7367-917F-E2269C3668EE}"/>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6" name="TextBox 25">
              <a:extLst>
                <a:ext uri="{FF2B5EF4-FFF2-40B4-BE49-F238E27FC236}">
                  <a16:creationId xmlns:a16="http://schemas.microsoft.com/office/drawing/2014/main" id="{57C0549D-AF63-37B6-B3E4-6D02D78A6195}"/>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algn="ctr" defTabSz="711200">
                <a:spcBef>
                  <a:spcPct val="0"/>
                </a:spcBef>
                <a:spcAft>
                  <a:spcPct val="35000"/>
                </a:spcAft>
                <a:defRPr cap="all"/>
              </a:pPr>
              <a:r>
                <a:rPr lang="en-US" b="0" i="0" kern="1200" cap="none" dirty="0">
                  <a:solidFill>
                    <a:srgbClr val="374151"/>
                  </a:solidFill>
                  <a:effectLst/>
                  <a:latin typeface="Arial"/>
                  <a:cs typeface="Arial"/>
                </a:rPr>
                <a:t>Importance Of </a:t>
              </a:r>
              <a:br>
                <a:rPr lang="en-US" dirty="0">
                  <a:solidFill>
                    <a:srgbClr val="374151"/>
                  </a:solidFill>
                  <a:latin typeface="Arial"/>
                  <a:cs typeface="Arial"/>
                </a:rPr>
              </a:br>
              <a:r>
                <a:rPr lang="en-US" b="0" i="0" kern="1200" cap="none" dirty="0">
                  <a:solidFill>
                    <a:srgbClr val="374151"/>
                  </a:solidFill>
                  <a:effectLst/>
                  <a:latin typeface="Arial"/>
                  <a:cs typeface="Arial"/>
                </a:rPr>
                <a:t>Custom website design </a:t>
              </a:r>
              <a:endParaRPr lang="en-US" kern="1200" cap="none" dirty="0">
                <a:solidFill>
                  <a:srgbClr val="24282B"/>
                </a:solidFill>
                <a:latin typeface="Arial"/>
                <a:cs typeface="Arial"/>
              </a:endParaRPr>
            </a:p>
          </p:txBody>
        </p:sp>
      </p:grpSp>
      <p:grpSp>
        <p:nvGrpSpPr>
          <p:cNvPr id="16" name="Group 15">
            <a:extLst>
              <a:ext uri="{FF2B5EF4-FFF2-40B4-BE49-F238E27FC236}">
                <a16:creationId xmlns:a16="http://schemas.microsoft.com/office/drawing/2014/main" id="{EB97E42A-2168-EE60-127E-A86C139A183F}"/>
              </a:ext>
            </a:extLst>
          </p:cNvPr>
          <p:cNvGrpSpPr/>
          <p:nvPr/>
        </p:nvGrpSpPr>
        <p:grpSpPr>
          <a:xfrm>
            <a:off x="3630746" y="3919603"/>
            <a:ext cx="2370489" cy="720000"/>
            <a:chOff x="2886007" y="2684598"/>
            <a:chExt cx="2370489" cy="720000"/>
          </a:xfrm>
        </p:grpSpPr>
        <p:sp>
          <p:nvSpPr>
            <p:cNvPr id="23" name="Rectangle 22">
              <a:extLst>
                <a:ext uri="{FF2B5EF4-FFF2-40B4-BE49-F238E27FC236}">
                  <a16:creationId xmlns:a16="http://schemas.microsoft.com/office/drawing/2014/main" id="{C72990FB-DE43-7032-61F9-AF5F76786CE5}"/>
                </a:ext>
              </a:extLst>
            </p:cNvPr>
            <p:cNvSpPr/>
            <p:nvPr/>
          </p:nvSpPr>
          <p:spPr>
            <a:xfrm>
              <a:off x="2886007"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4" name="TextBox 23">
              <a:extLst>
                <a:ext uri="{FF2B5EF4-FFF2-40B4-BE49-F238E27FC236}">
                  <a16:creationId xmlns:a16="http://schemas.microsoft.com/office/drawing/2014/main" id="{63D9458C-0C1C-9C20-5BA4-9099C59553B4}"/>
                </a:ext>
              </a:extLst>
            </p:cNvPr>
            <p:cNvSpPr txBox="1"/>
            <p:nvPr/>
          </p:nvSpPr>
          <p:spPr>
            <a:xfrm>
              <a:off x="2886007"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b="0" i="0" kern="1200" cap="none" dirty="0">
                  <a:solidFill>
                    <a:srgbClr val="374151"/>
                  </a:solidFill>
                  <a:effectLst/>
                  <a:latin typeface="Arial" panose="020B0604020202020204" pitchFamily="34" charset="0"/>
                  <a:cs typeface="Arial" panose="020B0604020202020204" pitchFamily="34" charset="0"/>
                </a:rPr>
                <a:t>Custom Website Design</a:t>
              </a:r>
              <a:endParaRPr lang="en-US" kern="1200" cap="none" dirty="0">
                <a:solidFill>
                  <a:srgbClr val="24282B"/>
                </a:solidFill>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8A31DEB8-F1B1-BAE8-1DA4-464C5D05B17C}"/>
              </a:ext>
            </a:extLst>
          </p:cNvPr>
          <p:cNvGrpSpPr/>
          <p:nvPr/>
        </p:nvGrpSpPr>
        <p:grpSpPr>
          <a:xfrm>
            <a:off x="6416071" y="3919603"/>
            <a:ext cx="2370489" cy="720000"/>
            <a:chOff x="5671332" y="2684598"/>
            <a:chExt cx="2370489" cy="720000"/>
          </a:xfrm>
        </p:grpSpPr>
        <p:sp>
          <p:nvSpPr>
            <p:cNvPr id="21" name="Rectangle 20">
              <a:extLst>
                <a:ext uri="{FF2B5EF4-FFF2-40B4-BE49-F238E27FC236}">
                  <a16:creationId xmlns:a16="http://schemas.microsoft.com/office/drawing/2014/main" id="{5EA074DA-D237-1567-4FD7-E70D2422830C}"/>
                </a:ext>
              </a:extLst>
            </p:cNvPr>
            <p:cNvSpPr/>
            <p:nvPr/>
          </p:nvSpPr>
          <p:spPr>
            <a:xfrm>
              <a:off x="567133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2" name="TextBox 21">
              <a:extLst>
                <a:ext uri="{FF2B5EF4-FFF2-40B4-BE49-F238E27FC236}">
                  <a16:creationId xmlns:a16="http://schemas.microsoft.com/office/drawing/2014/main" id="{128AD731-A601-285D-7B77-31A59D8B3508}"/>
                </a:ext>
              </a:extLst>
            </p:cNvPr>
            <p:cNvSpPr txBox="1"/>
            <p:nvPr/>
          </p:nvSpPr>
          <p:spPr>
            <a:xfrm>
              <a:off x="567133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kern="1200" cap="none" dirty="0">
                  <a:solidFill>
                    <a:srgbClr val="24282B"/>
                  </a:solidFill>
                  <a:latin typeface="Arial" panose="020B0604020202020204" pitchFamily="34" charset="0"/>
                  <a:cs typeface="Arial" panose="020B0604020202020204" pitchFamily="34" charset="0"/>
                </a:rPr>
                <a:t>Features &amp; Benefits Overview</a:t>
              </a:r>
            </a:p>
          </p:txBody>
        </p:sp>
      </p:grpSp>
      <p:grpSp>
        <p:nvGrpSpPr>
          <p:cNvPr id="18" name="Group 17">
            <a:extLst>
              <a:ext uri="{FF2B5EF4-FFF2-40B4-BE49-F238E27FC236}">
                <a16:creationId xmlns:a16="http://schemas.microsoft.com/office/drawing/2014/main" id="{A0D0ECE9-0E5B-1647-7D76-0029E5F11159}"/>
              </a:ext>
            </a:extLst>
          </p:cNvPr>
          <p:cNvGrpSpPr/>
          <p:nvPr/>
        </p:nvGrpSpPr>
        <p:grpSpPr>
          <a:xfrm>
            <a:off x="9201396" y="3919603"/>
            <a:ext cx="2370489" cy="720000"/>
            <a:chOff x="8456657" y="2684598"/>
            <a:chExt cx="2370489" cy="720000"/>
          </a:xfrm>
        </p:grpSpPr>
        <p:sp>
          <p:nvSpPr>
            <p:cNvPr id="19" name="Rectangle 18">
              <a:extLst>
                <a:ext uri="{FF2B5EF4-FFF2-40B4-BE49-F238E27FC236}">
                  <a16:creationId xmlns:a16="http://schemas.microsoft.com/office/drawing/2014/main" id="{09A63A92-4674-1FF0-F1CC-F3F721EDFC6C}"/>
                </a:ext>
              </a:extLst>
            </p:cNvPr>
            <p:cNvSpPr/>
            <p:nvPr/>
          </p:nvSpPr>
          <p:spPr>
            <a:xfrm>
              <a:off x="8456657"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TextBox 19">
              <a:extLst>
                <a:ext uri="{FF2B5EF4-FFF2-40B4-BE49-F238E27FC236}">
                  <a16:creationId xmlns:a16="http://schemas.microsoft.com/office/drawing/2014/main" id="{4FD23377-1110-4CA3-823F-5065983DE0D1}"/>
                </a:ext>
              </a:extLst>
            </p:cNvPr>
            <p:cNvSpPr txBox="1"/>
            <p:nvPr/>
          </p:nvSpPr>
          <p:spPr>
            <a:xfrm>
              <a:off x="8456657"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kern="1200" cap="none" dirty="0">
                  <a:solidFill>
                    <a:srgbClr val="24282B"/>
                  </a:solidFill>
                  <a:latin typeface="Arial" panose="020B0604020202020204" pitchFamily="34" charset="0"/>
                  <a:cs typeface="Arial" panose="020B0604020202020204" pitchFamily="34" charset="0"/>
                </a:rPr>
                <a:t>Addressing Common Concerns</a:t>
              </a:r>
            </a:p>
          </p:txBody>
        </p:sp>
      </p:grpSp>
      <p:grpSp>
        <p:nvGrpSpPr>
          <p:cNvPr id="27" name="Group 26">
            <a:extLst>
              <a:ext uri="{FF2B5EF4-FFF2-40B4-BE49-F238E27FC236}">
                <a16:creationId xmlns:a16="http://schemas.microsoft.com/office/drawing/2014/main" id="{4B6E6B5D-F3A3-F47C-56E6-D1A967FBE0E3}"/>
              </a:ext>
            </a:extLst>
          </p:cNvPr>
          <p:cNvGrpSpPr/>
          <p:nvPr/>
        </p:nvGrpSpPr>
        <p:grpSpPr>
          <a:xfrm>
            <a:off x="845421" y="2590533"/>
            <a:ext cx="2370489" cy="720000"/>
            <a:chOff x="100682" y="2684598"/>
            <a:chExt cx="2370489" cy="720000"/>
          </a:xfrm>
        </p:grpSpPr>
        <p:sp>
          <p:nvSpPr>
            <p:cNvPr id="28" name="Rectangle 27">
              <a:extLst>
                <a:ext uri="{FF2B5EF4-FFF2-40B4-BE49-F238E27FC236}">
                  <a16:creationId xmlns:a16="http://schemas.microsoft.com/office/drawing/2014/main" id="{E3BB154A-4D47-F10A-8EC5-4D82A4ED9A99}"/>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TextBox 28">
              <a:extLst>
                <a:ext uri="{FF2B5EF4-FFF2-40B4-BE49-F238E27FC236}">
                  <a16:creationId xmlns:a16="http://schemas.microsoft.com/office/drawing/2014/main" id="{1BD6821F-D700-B7FD-1880-8871BF6F74DF}"/>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1</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42C9A0F1-A826-9A0E-4E9D-048F0D5F5670}"/>
              </a:ext>
            </a:extLst>
          </p:cNvPr>
          <p:cNvGrpSpPr/>
          <p:nvPr/>
        </p:nvGrpSpPr>
        <p:grpSpPr>
          <a:xfrm>
            <a:off x="3630746" y="2590533"/>
            <a:ext cx="2370489" cy="720000"/>
            <a:chOff x="100682" y="2684598"/>
            <a:chExt cx="2370489" cy="720000"/>
          </a:xfrm>
        </p:grpSpPr>
        <p:sp>
          <p:nvSpPr>
            <p:cNvPr id="31" name="Rectangle 30">
              <a:extLst>
                <a:ext uri="{FF2B5EF4-FFF2-40B4-BE49-F238E27FC236}">
                  <a16:creationId xmlns:a16="http://schemas.microsoft.com/office/drawing/2014/main" id="{7D3183A4-7B7F-11E5-9989-56863262EC36}"/>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TextBox 31">
              <a:extLst>
                <a:ext uri="{FF2B5EF4-FFF2-40B4-BE49-F238E27FC236}">
                  <a16:creationId xmlns:a16="http://schemas.microsoft.com/office/drawing/2014/main" id="{D9F63762-0A34-62FF-45B8-FBEE03884A98}"/>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2</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A222FE1F-9C65-EAB2-5EAA-6DDE9F00D337}"/>
              </a:ext>
            </a:extLst>
          </p:cNvPr>
          <p:cNvGrpSpPr/>
          <p:nvPr/>
        </p:nvGrpSpPr>
        <p:grpSpPr>
          <a:xfrm>
            <a:off x="6416070" y="2590533"/>
            <a:ext cx="2370489" cy="720000"/>
            <a:chOff x="100682" y="2684598"/>
            <a:chExt cx="2370489" cy="720000"/>
          </a:xfrm>
        </p:grpSpPr>
        <p:sp>
          <p:nvSpPr>
            <p:cNvPr id="34" name="Rectangle 33">
              <a:extLst>
                <a:ext uri="{FF2B5EF4-FFF2-40B4-BE49-F238E27FC236}">
                  <a16:creationId xmlns:a16="http://schemas.microsoft.com/office/drawing/2014/main" id="{B190ACAF-580F-C7C9-47DB-2F6A45810714}"/>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5" name="TextBox 34">
              <a:extLst>
                <a:ext uri="{FF2B5EF4-FFF2-40B4-BE49-F238E27FC236}">
                  <a16:creationId xmlns:a16="http://schemas.microsoft.com/office/drawing/2014/main" id="{34E23768-A24A-9030-A4CD-97D74AAF1BC7}"/>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3</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7E6A717D-00FA-6874-C9D8-015CB952CE1B}"/>
              </a:ext>
            </a:extLst>
          </p:cNvPr>
          <p:cNvGrpSpPr/>
          <p:nvPr/>
        </p:nvGrpSpPr>
        <p:grpSpPr>
          <a:xfrm>
            <a:off x="9201396" y="2590533"/>
            <a:ext cx="2370489" cy="720000"/>
            <a:chOff x="100682" y="2684598"/>
            <a:chExt cx="2370489" cy="720000"/>
          </a:xfrm>
        </p:grpSpPr>
        <p:sp>
          <p:nvSpPr>
            <p:cNvPr id="37" name="Rectangle 36">
              <a:extLst>
                <a:ext uri="{FF2B5EF4-FFF2-40B4-BE49-F238E27FC236}">
                  <a16:creationId xmlns:a16="http://schemas.microsoft.com/office/drawing/2014/main" id="{A40C570F-F284-1A73-9333-3BDF8C182B8A}"/>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8" name="TextBox 37">
              <a:extLst>
                <a:ext uri="{FF2B5EF4-FFF2-40B4-BE49-F238E27FC236}">
                  <a16:creationId xmlns:a16="http://schemas.microsoft.com/office/drawing/2014/main" id="{615C1030-EACF-22AB-8FE3-2C1D3A2D8B3B}"/>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4</a:t>
              </a:r>
              <a:endParaRPr lang="en-US" sz="7200" b="1" kern="1200" cap="none">
                <a:solidFill>
                  <a:srgbClr val="24282B"/>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21078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dirty="0">
                <a:solidFill>
                  <a:srgbClr val="5B9BD5"/>
                </a:solidFill>
                <a:latin typeface="Arial" panose="020B0604020202020204" pitchFamily="34" charset="0"/>
                <a:cs typeface="Arial" panose="020B0604020202020204" pitchFamily="34" charset="0"/>
              </a:rPr>
              <a:t>Tailored for your business</a:t>
            </a:r>
            <a:endParaRPr lang="en-US" sz="3200" b="1" i="0" dirty="0">
              <a:solidFill>
                <a:srgbClr val="5B9BD5"/>
              </a:solidFill>
              <a:effectLst/>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38200" y="1825625"/>
            <a:ext cx="10515600" cy="1342878"/>
          </a:xfrm>
        </p:spPr>
        <p:txBody>
          <a:bodyPr>
            <a:noAutofit/>
          </a:bodyPr>
          <a:lstStyle/>
          <a:p>
            <a:pPr marL="0" indent="0">
              <a:buNone/>
            </a:pPr>
            <a:r>
              <a:rPr lang="en-US" sz="1400" dirty="0">
                <a:latin typeface="Arial" panose="020B0604020202020204" pitchFamily="34" charset="0"/>
                <a:cs typeface="Arial" panose="020B0604020202020204" pitchFamily="34" charset="0"/>
              </a:rPr>
              <a:t>A custom website is built and tailored specifically for your business. It’s unique just like your business. </a:t>
            </a:r>
          </a:p>
          <a:p>
            <a:pPr marL="0" indent="0">
              <a:buNone/>
            </a:pPr>
            <a:endParaRPr lang="en-US" sz="1400" dirty="0">
              <a:latin typeface="Arial" panose="020B0604020202020204" pitchFamily="34" charset="0"/>
              <a:cs typeface="Arial" panose="020B0604020202020204" pitchFamily="34" charset="0"/>
            </a:endParaRPr>
          </a:p>
          <a:p>
            <a:pPr marL="0" indent="0">
              <a:buNone/>
            </a:pPr>
            <a:r>
              <a:rPr lang="en-US" sz="1400" dirty="0">
                <a:latin typeface="Arial" panose="020B0604020202020204" pitchFamily="34" charset="0"/>
                <a:cs typeface="Arial" panose="020B0604020202020204" pitchFamily="34" charset="0"/>
              </a:rPr>
              <a:t>One of the reasons a custom website design may be right for you is because you completely own the design. This give you freedom to do what you want with the site. It’s a great way to stand out from the competition. We provide optimal hosting for WordPress sites giving your site the best platform to let it stand out.  </a:t>
            </a:r>
          </a:p>
          <a:p>
            <a:pPr marL="0" indent="0">
              <a:buNone/>
            </a:pPr>
            <a:endParaRPr lang="en-US" sz="1400" b="1"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a:p>
            <a:pPr marL="0" indent="0">
              <a:buNone/>
            </a:pPr>
            <a:r>
              <a:rPr lang="en-US" sz="1400" dirty="0">
                <a:latin typeface="Arial" panose="020B0604020202020204" pitchFamily="34" charset="0"/>
                <a:cs typeface="Arial" panose="020B0604020202020204" pitchFamily="34" charset="0"/>
              </a:rPr>
              <a:t>As per local </a:t>
            </a:r>
            <a:r>
              <a:rPr lang="en-US" sz="1400" dirty="0">
                <a:latin typeface="Arial" panose="020B0604020202020204" pitchFamily="34" charset="0"/>
                <a:cs typeface="Arial" panose="020B0604020202020204" pitchFamily="34" charset="0"/>
                <a:hlinkClick r:id="rId4"/>
              </a:rPr>
              <a:t>Cision</a:t>
            </a:r>
            <a:endParaRPr lang="en-US" sz="14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2B0F5887-39A2-95AB-1749-C7A849B9D95E}"/>
              </a:ext>
            </a:extLst>
          </p:cNvPr>
          <p:cNvSpPr txBox="1">
            <a:spLocks/>
          </p:cNvSpPr>
          <p:nvPr/>
        </p:nvSpPr>
        <p:spPr>
          <a:xfrm>
            <a:off x="838200" y="3787330"/>
            <a:ext cx="2564219" cy="134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800" b="1" dirty="0">
                <a:solidFill>
                  <a:srgbClr val="5B9BD5"/>
                </a:solidFill>
                <a:latin typeface="Arial" panose="020B0604020202020204" pitchFamily="34" charset="0"/>
                <a:cs typeface="Arial" panose="020B0604020202020204" pitchFamily="34" charset="0"/>
              </a:rPr>
              <a:t>94%</a:t>
            </a:r>
          </a:p>
        </p:txBody>
      </p:sp>
      <p:sp>
        <p:nvSpPr>
          <p:cNvPr id="7" name="Content Placeholder 2">
            <a:extLst>
              <a:ext uri="{FF2B5EF4-FFF2-40B4-BE49-F238E27FC236}">
                <a16:creationId xmlns:a16="http://schemas.microsoft.com/office/drawing/2014/main" id="{224B0AA7-1BFA-7DBF-53DA-5E5F3AA24A17}"/>
              </a:ext>
            </a:extLst>
          </p:cNvPr>
          <p:cNvSpPr txBox="1">
            <a:spLocks/>
          </p:cNvSpPr>
          <p:nvPr/>
        </p:nvSpPr>
        <p:spPr>
          <a:xfrm>
            <a:off x="3847213" y="4006888"/>
            <a:ext cx="2564219" cy="747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latin typeface="Arial" panose="020B0604020202020204" pitchFamily="34" charset="0"/>
                <a:cs typeface="Arial" panose="020B0604020202020204" pitchFamily="34" charset="0"/>
              </a:rPr>
              <a:t>Of first impressions relate to the site’s web design</a:t>
            </a:r>
          </a:p>
        </p:txBody>
      </p:sp>
      <p:cxnSp>
        <p:nvCxnSpPr>
          <p:cNvPr id="9" name="Straight Connector 8">
            <a:extLst>
              <a:ext uri="{FF2B5EF4-FFF2-40B4-BE49-F238E27FC236}">
                <a16:creationId xmlns:a16="http://schemas.microsoft.com/office/drawing/2014/main" id="{D38CBF84-880C-30A0-E980-AC11315DFC5C}"/>
              </a:ext>
            </a:extLst>
          </p:cNvPr>
          <p:cNvCxnSpPr/>
          <p:nvPr/>
        </p:nvCxnSpPr>
        <p:spPr>
          <a:xfrm>
            <a:off x="3519377" y="3907466"/>
            <a:ext cx="0" cy="946298"/>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9" descr="Architecture outline">
            <a:extLst>
              <a:ext uri="{FF2B5EF4-FFF2-40B4-BE49-F238E27FC236}">
                <a16:creationId xmlns:a16="http://schemas.microsoft.com/office/drawing/2014/main" id="{29522E81-52DC-E2A2-266A-03CE0594A38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7512363" y="2764460"/>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420369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itle 1">
            <a:extLst>
              <a:ext uri="{FF2B5EF4-FFF2-40B4-BE49-F238E27FC236}">
                <a16:creationId xmlns:a16="http://schemas.microsoft.com/office/drawing/2014/main" id="{3F7F26C5-632D-DDD8-183A-2C64C77C744B}"/>
              </a:ext>
            </a:extLst>
          </p:cNvPr>
          <p:cNvSpPr txBox="1">
            <a:spLocks/>
          </p:cNvSpPr>
          <p:nvPr/>
        </p:nvSpPr>
        <p:spPr>
          <a:xfrm>
            <a:off x="990600" y="3166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5B9BD5"/>
                </a:solidFill>
                <a:latin typeface="Arial" panose="020B0604020202020204" pitchFamily="34" charset="0"/>
                <a:cs typeface="Arial" panose="020B0604020202020204" pitchFamily="34" charset="0"/>
              </a:rPr>
              <a:t>Cost of not having a custom website design </a:t>
            </a:r>
          </a:p>
        </p:txBody>
      </p:sp>
      <p:sp>
        <p:nvSpPr>
          <p:cNvPr id="180" name="Google Shape;3082;p148">
            <a:extLst>
              <a:ext uri="{FF2B5EF4-FFF2-40B4-BE49-F238E27FC236}">
                <a16:creationId xmlns:a16="http://schemas.microsoft.com/office/drawing/2014/main" id="{27582B2C-3518-76FC-7DFF-6CA3ED83CCA9}"/>
              </a:ext>
            </a:extLst>
          </p:cNvPr>
          <p:cNvSpPr txBox="1">
            <a:spLocks/>
          </p:cNvSpPr>
          <p:nvPr/>
        </p:nvSpPr>
        <p:spPr>
          <a:xfrm>
            <a:off x="990600" y="1947834"/>
            <a:ext cx="4161502" cy="1947576"/>
          </a:xfrm>
          <a:prstGeom prst="rect">
            <a:avLst/>
          </a:prstGeom>
          <a:solidFill>
            <a:srgbClr val="5B9BD5"/>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panose="020B0604020202020204" pitchFamily="34" charset="0"/>
                <a:cs typeface="Arial" panose="020B0604020202020204" pitchFamily="34" charset="0"/>
              </a:rPr>
              <a:t>Cookie cutter site</a:t>
            </a:r>
          </a:p>
          <a:p>
            <a:pPr marL="171450" indent="-171450" algn="ctr">
              <a:spcBef>
                <a:spcPts val="0"/>
              </a:spcBef>
              <a:buClr>
                <a:srgbClr val="47464B"/>
              </a:buClr>
              <a:buFont typeface="Arial"/>
              <a:buNone/>
            </a:pPr>
            <a:r>
              <a:rPr lang="en-US" sz="1200" dirty="0">
                <a:solidFill>
                  <a:schemeClr val="bg1"/>
                </a:solidFill>
                <a:latin typeface="Arial" panose="020B0604020202020204" pitchFamily="34" charset="0"/>
                <a:cs typeface="Arial" panose="020B0604020202020204" pitchFamily="34" charset="0"/>
              </a:rPr>
              <a:t>A generic or outdated website design can create a poor first impression and doesn’t help stand out.</a:t>
            </a:r>
          </a:p>
        </p:txBody>
      </p:sp>
      <p:sp>
        <p:nvSpPr>
          <p:cNvPr id="182" name="Google Shape;3082;p148">
            <a:extLst>
              <a:ext uri="{FF2B5EF4-FFF2-40B4-BE49-F238E27FC236}">
                <a16:creationId xmlns:a16="http://schemas.microsoft.com/office/drawing/2014/main" id="{F1B063E6-A023-FE8B-BE28-B874FAFB4F80}"/>
              </a:ext>
            </a:extLst>
          </p:cNvPr>
          <p:cNvSpPr txBox="1">
            <a:spLocks/>
          </p:cNvSpPr>
          <p:nvPr/>
        </p:nvSpPr>
        <p:spPr>
          <a:xfrm>
            <a:off x="990599" y="4277983"/>
            <a:ext cx="4161503" cy="1947576"/>
          </a:xfrm>
          <a:prstGeom prst="rect">
            <a:avLst/>
          </a:prstGeom>
          <a:solidFill>
            <a:srgbClr val="5B9BD5"/>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panose="020B0604020202020204" pitchFamily="34" charset="0"/>
                <a:cs typeface="Arial" panose="020B0604020202020204" pitchFamily="34" charset="0"/>
              </a:rPr>
              <a:t>Lack of scalability</a:t>
            </a:r>
          </a:p>
          <a:p>
            <a:pPr marL="171450" indent="-171450" algn="ctr">
              <a:spcBef>
                <a:spcPts val="0"/>
              </a:spcBef>
              <a:buClr>
                <a:srgbClr val="47464B"/>
              </a:buClr>
              <a:buFont typeface="Arial"/>
              <a:buNone/>
            </a:pPr>
            <a:r>
              <a:rPr lang="en-US" sz="1200" dirty="0">
                <a:solidFill>
                  <a:schemeClr val="bg1"/>
                </a:solidFill>
                <a:latin typeface="Arial" panose="020B0604020202020204" pitchFamily="34" charset="0"/>
                <a:cs typeface="Arial" panose="020B0604020202020204" pitchFamily="34" charset="0"/>
              </a:rPr>
              <a:t>Neglecting a custom website may result in scalability limitations, making it challenging to handle growth effectively and resulting in potential disruptions, performance issues, or the need for costly redevelopment in the future.</a:t>
            </a:r>
            <a:endParaRPr lang="en-US" sz="1200" dirty="0">
              <a:solidFill>
                <a:schemeClr val="bg1"/>
              </a:solidFill>
            </a:endParaRPr>
          </a:p>
        </p:txBody>
      </p:sp>
      <p:sp>
        <p:nvSpPr>
          <p:cNvPr id="184" name="Google Shape;3082;p148">
            <a:extLst>
              <a:ext uri="{FF2B5EF4-FFF2-40B4-BE49-F238E27FC236}">
                <a16:creationId xmlns:a16="http://schemas.microsoft.com/office/drawing/2014/main" id="{6D4A3B30-6024-F8BC-C99D-CFA77605D151}"/>
              </a:ext>
            </a:extLst>
          </p:cNvPr>
          <p:cNvSpPr txBox="1">
            <a:spLocks/>
          </p:cNvSpPr>
          <p:nvPr/>
        </p:nvSpPr>
        <p:spPr>
          <a:xfrm>
            <a:off x="6171748" y="1947834"/>
            <a:ext cx="4161501" cy="1947576"/>
          </a:xfrm>
          <a:prstGeom prst="rect">
            <a:avLst/>
          </a:prstGeom>
          <a:solidFill>
            <a:srgbClr val="5B9BD5"/>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panose="020B0604020202020204" pitchFamily="34" charset="0"/>
                <a:cs typeface="Arial" panose="020B0604020202020204" pitchFamily="34" charset="0"/>
              </a:rPr>
              <a:t>Lack of optimization</a:t>
            </a:r>
          </a:p>
          <a:p>
            <a:pPr marL="171450" indent="-171450" algn="ctr">
              <a:spcBef>
                <a:spcPts val="0"/>
              </a:spcBef>
              <a:buClr>
                <a:srgbClr val="47464B"/>
              </a:buClr>
              <a:buFont typeface="Arial"/>
              <a:buNone/>
            </a:pPr>
            <a:r>
              <a:rPr lang="en-US" sz="1200" dirty="0">
                <a:solidFill>
                  <a:schemeClr val="bg1"/>
                </a:solidFill>
                <a:latin typeface="Arial" panose="020B0604020202020204" pitchFamily="34" charset="0"/>
                <a:cs typeface="Arial" panose="020B0604020202020204" pitchFamily="34" charset="0"/>
              </a:rPr>
              <a:t> Custom websites can be optimized from the ground up, incorporating SEO best practices and ensuring proper indexing and ranking in search engine results. </a:t>
            </a:r>
          </a:p>
        </p:txBody>
      </p:sp>
      <p:sp>
        <p:nvSpPr>
          <p:cNvPr id="2" name="Google Shape;3082;p148">
            <a:extLst>
              <a:ext uri="{FF2B5EF4-FFF2-40B4-BE49-F238E27FC236}">
                <a16:creationId xmlns:a16="http://schemas.microsoft.com/office/drawing/2014/main" id="{5B2F8F04-1190-1F98-6DC2-907515E9ADAD}"/>
              </a:ext>
            </a:extLst>
          </p:cNvPr>
          <p:cNvSpPr txBox="1">
            <a:spLocks/>
          </p:cNvSpPr>
          <p:nvPr/>
        </p:nvSpPr>
        <p:spPr>
          <a:xfrm>
            <a:off x="6171748" y="4277983"/>
            <a:ext cx="4161501" cy="1947576"/>
          </a:xfrm>
          <a:prstGeom prst="rect">
            <a:avLst/>
          </a:prstGeom>
          <a:solidFill>
            <a:srgbClr val="5B9BD5"/>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panose="020B0604020202020204" pitchFamily="34" charset="0"/>
                <a:cs typeface="Arial" panose="020B0604020202020204" pitchFamily="34" charset="0"/>
              </a:rPr>
              <a:t>Increased reliance on third-party platforms</a:t>
            </a:r>
          </a:p>
          <a:p>
            <a:pPr marL="171450" indent="-171450" algn="ctr">
              <a:spcBef>
                <a:spcPts val="0"/>
              </a:spcBef>
              <a:buClr>
                <a:srgbClr val="47464B"/>
              </a:buClr>
              <a:buFont typeface="Arial"/>
              <a:buNone/>
            </a:pPr>
            <a:r>
              <a:rPr lang="en-US" sz="1200" dirty="0">
                <a:solidFill>
                  <a:schemeClr val="bg1"/>
                </a:solidFill>
                <a:latin typeface="Arial" panose="020B0604020202020204" pitchFamily="34" charset="0"/>
                <a:cs typeface="Arial" panose="020B0604020202020204" pitchFamily="34" charset="0"/>
              </a:rPr>
              <a:t>Businesses may be forced to rely heavily on third-party platforms (e.g., social media, online marketplaces) to establish an online presence. This dependence can limit control over branding, customer data, and overall business strategy.</a:t>
            </a:r>
          </a:p>
        </p:txBody>
      </p:sp>
    </p:spTree>
    <p:extLst>
      <p:ext uri="{BB962C8B-B14F-4D97-AF65-F5344CB8AC3E}">
        <p14:creationId xmlns:p14="http://schemas.microsoft.com/office/powerpoint/2010/main" val="62292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081;p148">
            <a:extLst>
              <a:ext uri="{FF2B5EF4-FFF2-40B4-BE49-F238E27FC236}">
                <a16:creationId xmlns:a16="http://schemas.microsoft.com/office/drawing/2014/main" id="{382D0398-FC79-9A79-8358-CC4B1D584724}"/>
              </a:ext>
            </a:extLst>
          </p:cNvPr>
          <p:cNvPicPr preferRelativeResize="0"/>
          <p:nvPr/>
        </p:nvPicPr>
        <p:blipFill rotWithShape="1">
          <a:blip r:embed="rId3">
            <a:alphaModFix/>
            <a:duotone>
              <a:schemeClr val="accent5">
                <a:shade val="45000"/>
                <a:satMod val="135000"/>
              </a:schemeClr>
              <a:prstClr val="white"/>
            </a:duotone>
          </a:blip>
          <a:srcRect/>
          <a:stretch/>
        </p:blipFill>
        <p:spPr>
          <a:xfrm>
            <a:off x="4965300" y="1843618"/>
            <a:ext cx="2667000" cy="3117850"/>
          </a:xfrm>
          <a:prstGeom prst="rect">
            <a:avLst/>
          </a:prstGeom>
          <a:noFill/>
          <a:ln>
            <a:noFill/>
          </a:ln>
        </p:spPr>
      </p:pic>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dirty="0">
                <a:solidFill>
                  <a:srgbClr val="5B9BD5"/>
                </a:solidFill>
                <a:latin typeface="Arial" panose="020B0604020202020204" pitchFamily="34" charset="0"/>
                <a:cs typeface="Arial" panose="020B0604020202020204" pitchFamily="34" charset="0"/>
              </a:rPr>
              <a:t>Impact of not having a website</a:t>
            </a:r>
            <a:endParaRPr lang="en-US" sz="3200" b="1" dirty="0">
              <a:solidFill>
                <a:srgbClr val="2CADB2"/>
              </a:solidFill>
              <a:latin typeface="Arial"/>
              <a:cs typeface="Arial"/>
            </a:endParaRPr>
          </a:p>
        </p:txBody>
      </p:sp>
      <p:sp>
        <p:nvSpPr>
          <p:cNvPr id="86" name="Google Shape;3082;p148">
            <a:extLst>
              <a:ext uri="{FF2B5EF4-FFF2-40B4-BE49-F238E27FC236}">
                <a16:creationId xmlns:a16="http://schemas.microsoft.com/office/drawing/2014/main" id="{F6A81919-3767-EE27-2704-60EC5890B0C0}"/>
              </a:ext>
            </a:extLst>
          </p:cNvPr>
          <p:cNvSpPr txBox="1">
            <a:spLocks/>
          </p:cNvSpPr>
          <p:nvPr/>
        </p:nvSpPr>
        <p:spPr>
          <a:xfrm>
            <a:off x="4882465" y="4849874"/>
            <a:ext cx="3023319"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rPr>
              <a:t>Of internet users research products online before they make a purchase. </a:t>
            </a:r>
          </a:p>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hlinkClick r:id="rId4"/>
              </a:rPr>
              <a:t>GE Capital Retail Bank</a:t>
            </a:r>
            <a:endParaRPr lang="en-US" sz="1200" dirty="0">
              <a:latin typeface="Arial" panose="020B0604020202020204" pitchFamily="34" charset="0"/>
              <a:cs typeface="Arial" panose="020B0604020202020204" pitchFamily="34" charset="0"/>
            </a:endParaRPr>
          </a:p>
          <a:p>
            <a:pPr marL="171450" indent="-171450" algn="ctr">
              <a:spcBef>
                <a:spcPts val="0"/>
              </a:spcBef>
              <a:buClr>
                <a:srgbClr val="47464B"/>
              </a:buClr>
              <a:buFont typeface="Arial"/>
              <a:buNone/>
            </a:pPr>
            <a:endParaRPr lang="en-US" sz="1200" dirty="0"/>
          </a:p>
        </p:txBody>
      </p:sp>
      <p:pic>
        <p:nvPicPr>
          <p:cNvPr id="87" name="Google Shape;3083;p148">
            <a:extLst>
              <a:ext uri="{FF2B5EF4-FFF2-40B4-BE49-F238E27FC236}">
                <a16:creationId xmlns:a16="http://schemas.microsoft.com/office/drawing/2014/main" id="{14F7C8EC-3CB1-345C-D8CA-6CA7B592DA43}"/>
              </a:ext>
            </a:extLst>
          </p:cNvPr>
          <p:cNvPicPr preferRelativeResize="0"/>
          <p:nvPr/>
        </p:nvPicPr>
        <p:blipFill rotWithShape="1">
          <a:blip r:embed="rId5">
            <a:alphaModFix/>
            <a:duotone>
              <a:schemeClr val="accent5">
                <a:shade val="45000"/>
                <a:satMod val="135000"/>
              </a:schemeClr>
              <a:prstClr val="white"/>
            </a:duotone>
          </a:blip>
          <a:srcRect/>
          <a:stretch/>
        </p:blipFill>
        <p:spPr>
          <a:xfrm rot="1800000">
            <a:off x="1439007" y="1762680"/>
            <a:ext cx="2667000" cy="3117850"/>
          </a:xfrm>
          <a:prstGeom prst="rect">
            <a:avLst/>
          </a:prstGeom>
          <a:noFill/>
          <a:ln>
            <a:noFill/>
          </a:ln>
        </p:spPr>
      </p:pic>
      <p:grpSp>
        <p:nvGrpSpPr>
          <p:cNvPr id="102" name="Google Shape;3098;p148">
            <a:extLst>
              <a:ext uri="{FF2B5EF4-FFF2-40B4-BE49-F238E27FC236}">
                <a16:creationId xmlns:a16="http://schemas.microsoft.com/office/drawing/2014/main" id="{66717580-4494-3E47-7DF1-37935096A69D}"/>
              </a:ext>
            </a:extLst>
          </p:cNvPr>
          <p:cNvGrpSpPr/>
          <p:nvPr/>
        </p:nvGrpSpPr>
        <p:grpSpPr>
          <a:xfrm>
            <a:off x="1476599" y="2025274"/>
            <a:ext cx="2591814" cy="2591814"/>
            <a:chOff x="3527425" y="860425"/>
            <a:chExt cx="5138738" cy="5138738"/>
          </a:xfrm>
        </p:grpSpPr>
        <p:sp>
          <p:nvSpPr>
            <p:cNvPr id="103" name="Google Shape;3099;p148">
              <a:extLst>
                <a:ext uri="{FF2B5EF4-FFF2-40B4-BE49-F238E27FC236}">
                  <a16:creationId xmlns:a16="http://schemas.microsoft.com/office/drawing/2014/main" id="{44D66C58-C2E7-B132-A896-1899916ACBDB}"/>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4" name="Google Shape;3100;p148">
              <a:extLst>
                <a:ext uri="{FF2B5EF4-FFF2-40B4-BE49-F238E27FC236}">
                  <a16:creationId xmlns:a16="http://schemas.microsoft.com/office/drawing/2014/main" id="{F14CEE76-4061-4FF3-15A4-167FB32BE4EB}"/>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5" name="Google Shape;3101;p148">
              <a:extLst>
                <a:ext uri="{FF2B5EF4-FFF2-40B4-BE49-F238E27FC236}">
                  <a16:creationId xmlns:a16="http://schemas.microsoft.com/office/drawing/2014/main" id="{8B944D50-23D6-6F86-F64D-A2CAB7BA136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6" name="Google Shape;3102;p148">
              <a:extLst>
                <a:ext uri="{FF2B5EF4-FFF2-40B4-BE49-F238E27FC236}">
                  <a16:creationId xmlns:a16="http://schemas.microsoft.com/office/drawing/2014/main" id="{FABD5C76-2A90-533D-6B77-42F005079EF4}"/>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7" name="Google Shape;3103;p148">
              <a:extLst>
                <a:ext uri="{FF2B5EF4-FFF2-40B4-BE49-F238E27FC236}">
                  <a16:creationId xmlns:a16="http://schemas.microsoft.com/office/drawing/2014/main" id="{CC2A0F27-E553-D013-021E-6BAD9D73A176}"/>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8" name="Google Shape;3104;p148">
              <a:extLst>
                <a:ext uri="{FF2B5EF4-FFF2-40B4-BE49-F238E27FC236}">
                  <a16:creationId xmlns:a16="http://schemas.microsoft.com/office/drawing/2014/main" id="{7E94B6A4-CB54-913E-C2FC-8D79A6584321}"/>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9" name="Google Shape;3105;p148">
              <a:extLst>
                <a:ext uri="{FF2B5EF4-FFF2-40B4-BE49-F238E27FC236}">
                  <a16:creationId xmlns:a16="http://schemas.microsoft.com/office/drawing/2014/main" id="{BC9EFB21-446C-09F2-59DF-84A649AC4393}"/>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0" name="Google Shape;3106;p148">
              <a:extLst>
                <a:ext uri="{FF2B5EF4-FFF2-40B4-BE49-F238E27FC236}">
                  <a16:creationId xmlns:a16="http://schemas.microsoft.com/office/drawing/2014/main" id="{DE63B285-5E13-7443-3F8E-D3F7543C003E}"/>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1" name="Google Shape;3107;p148">
              <a:extLst>
                <a:ext uri="{FF2B5EF4-FFF2-40B4-BE49-F238E27FC236}">
                  <a16:creationId xmlns:a16="http://schemas.microsoft.com/office/drawing/2014/main" id="{9D03300C-9E2A-E344-ED99-17A5110F7516}"/>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2" name="Google Shape;3108;p148">
              <a:extLst>
                <a:ext uri="{FF2B5EF4-FFF2-40B4-BE49-F238E27FC236}">
                  <a16:creationId xmlns:a16="http://schemas.microsoft.com/office/drawing/2014/main" id="{82430204-4C7B-F3C8-7CC0-0442A9CB026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25" name="Google Shape;3121;p148">
            <a:extLst>
              <a:ext uri="{FF2B5EF4-FFF2-40B4-BE49-F238E27FC236}">
                <a16:creationId xmlns:a16="http://schemas.microsoft.com/office/drawing/2014/main" id="{82BDCDCC-405F-EA5E-7157-D1EED237857A}"/>
              </a:ext>
            </a:extLst>
          </p:cNvPr>
          <p:cNvSpPr txBox="1">
            <a:spLocks/>
          </p:cNvSpPr>
          <p:nvPr/>
        </p:nvSpPr>
        <p:spPr>
          <a:xfrm>
            <a:off x="229625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a:solidFill>
                  <a:srgbClr val="47464B"/>
                </a:solidFill>
                <a:latin typeface="Calibri"/>
                <a:ea typeface="Calibri"/>
                <a:cs typeface="Calibri"/>
                <a:sym typeface="Calibri"/>
              </a:rPr>
              <a:t>90%</a:t>
            </a:r>
          </a:p>
        </p:txBody>
      </p:sp>
      <p:sp>
        <p:nvSpPr>
          <p:cNvPr id="130" name="Google Shape;3082;p148">
            <a:extLst>
              <a:ext uri="{FF2B5EF4-FFF2-40B4-BE49-F238E27FC236}">
                <a16:creationId xmlns:a16="http://schemas.microsoft.com/office/drawing/2014/main" id="{C7E3B4A7-B30B-CAAD-232C-577E8D779B1D}"/>
              </a:ext>
            </a:extLst>
          </p:cNvPr>
          <p:cNvSpPr txBox="1">
            <a:spLocks/>
          </p:cNvSpPr>
          <p:nvPr/>
        </p:nvSpPr>
        <p:spPr>
          <a:xfrm>
            <a:off x="8081434" y="4694759"/>
            <a:ext cx="3272365" cy="779935"/>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consumers who search on a computer/tablet go to a store within 5 miles of their location.</a:t>
            </a:r>
          </a:p>
          <a:p>
            <a:pPr marL="171450" indent="-171450" algn="ctr">
              <a:spcBef>
                <a:spcPts val="0"/>
              </a:spcBef>
              <a:buClr>
                <a:srgbClr val="47464B"/>
              </a:buClr>
              <a:buFont typeface="Arial"/>
              <a:buNone/>
            </a:pPr>
            <a:r>
              <a:rPr lang="en-US" sz="1200" dirty="0">
                <a:latin typeface="Arial"/>
                <a:cs typeface="Arial"/>
                <a:hlinkClick r:id="rId6"/>
              </a:rPr>
              <a:t>SMA Marketing, 2022</a:t>
            </a:r>
            <a:endParaRPr lang="en-US" sz="1200" dirty="0">
              <a:latin typeface="Arial"/>
              <a:cs typeface="Arial"/>
            </a:endParaRPr>
          </a:p>
        </p:txBody>
      </p:sp>
      <p:sp>
        <p:nvSpPr>
          <p:cNvPr id="144" name="Google Shape;3082;p148">
            <a:extLst>
              <a:ext uri="{FF2B5EF4-FFF2-40B4-BE49-F238E27FC236}">
                <a16:creationId xmlns:a16="http://schemas.microsoft.com/office/drawing/2014/main" id="{52E3660B-A5F0-0F3B-CE5F-E2813C9FF9C0}"/>
              </a:ext>
            </a:extLst>
          </p:cNvPr>
          <p:cNvSpPr txBox="1">
            <a:spLocks/>
          </p:cNvSpPr>
          <p:nvPr/>
        </p:nvSpPr>
        <p:spPr>
          <a:xfrm>
            <a:off x="1135923" y="4787104"/>
            <a:ext cx="3272365" cy="568149"/>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shoppers have visited a store because of a positive online experience</a:t>
            </a:r>
          </a:p>
          <a:p>
            <a:pPr marL="171450" indent="-171450" algn="ctr">
              <a:spcBef>
                <a:spcPts val="0"/>
              </a:spcBef>
              <a:buClr>
                <a:srgbClr val="47464B"/>
              </a:buClr>
              <a:buFont typeface="Arial"/>
              <a:buNone/>
            </a:pPr>
            <a:r>
              <a:rPr lang="en-US" sz="1200" dirty="0">
                <a:latin typeface="Arial"/>
                <a:cs typeface="Arial"/>
                <a:hlinkClick r:id="rId7"/>
              </a:rPr>
              <a:t>Mention.com</a:t>
            </a:r>
            <a:endParaRPr lang="en-US" sz="1200" dirty="0">
              <a:latin typeface="Arial"/>
              <a:cs typeface="Arial"/>
            </a:endParaRPr>
          </a:p>
        </p:txBody>
      </p:sp>
      <p:pic>
        <p:nvPicPr>
          <p:cNvPr id="145" name="Google Shape;3083;p148">
            <a:extLst>
              <a:ext uri="{FF2B5EF4-FFF2-40B4-BE49-F238E27FC236}">
                <a16:creationId xmlns:a16="http://schemas.microsoft.com/office/drawing/2014/main" id="{8CF30444-B580-83B8-0391-7C86CBAC7563}"/>
              </a:ext>
            </a:extLst>
          </p:cNvPr>
          <p:cNvPicPr preferRelativeResize="0"/>
          <p:nvPr/>
        </p:nvPicPr>
        <p:blipFill rotWithShape="1">
          <a:blip r:embed="rId5">
            <a:alphaModFix/>
            <a:duotone>
              <a:schemeClr val="accent5">
                <a:shade val="45000"/>
                <a:satMod val="135000"/>
              </a:schemeClr>
              <a:prstClr val="white"/>
            </a:duotone>
          </a:blip>
          <a:srcRect/>
          <a:stretch/>
        </p:blipFill>
        <p:spPr>
          <a:xfrm rot="1800000">
            <a:off x="8461668" y="1734430"/>
            <a:ext cx="2667000" cy="3117850"/>
          </a:xfrm>
          <a:prstGeom prst="rect">
            <a:avLst/>
          </a:prstGeom>
          <a:noFill/>
          <a:ln>
            <a:noFill/>
          </a:ln>
        </p:spPr>
      </p:pic>
      <p:grpSp>
        <p:nvGrpSpPr>
          <p:cNvPr id="146" name="Google Shape;3098;p148">
            <a:extLst>
              <a:ext uri="{FF2B5EF4-FFF2-40B4-BE49-F238E27FC236}">
                <a16:creationId xmlns:a16="http://schemas.microsoft.com/office/drawing/2014/main" id="{00F9D3C5-9554-55D2-8437-E6AD4F0AA29A}"/>
              </a:ext>
            </a:extLst>
          </p:cNvPr>
          <p:cNvGrpSpPr/>
          <p:nvPr/>
        </p:nvGrpSpPr>
        <p:grpSpPr>
          <a:xfrm>
            <a:off x="8483819" y="2025274"/>
            <a:ext cx="2591814" cy="2591814"/>
            <a:chOff x="3527425" y="860425"/>
            <a:chExt cx="5138738" cy="5138738"/>
          </a:xfrm>
        </p:grpSpPr>
        <p:sp>
          <p:nvSpPr>
            <p:cNvPr id="147" name="Google Shape;3099;p148">
              <a:extLst>
                <a:ext uri="{FF2B5EF4-FFF2-40B4-BE49-F238E27FC236}">
                  <a16:creationId xmlns:a16="http://schemas.microsoft.com/office/drawing/2014/main" id="{F69B6919-71C4-8BCF-B452-8A5BCD12C490}"/>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8" name="Google Shape;3100;p148">
              <a:extLst>
                <a:ext uri="{FF2B5EF4-FFF2-40B4-BE49-F238E27FC236}">
                  <a16:creationId xmlns:a16="http://schemas.microsoft.com/office/drawing/2014/main" id="{CD8E816A-5B8F-ADD4-F4AA-F8F0DCB34F72}"/>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9" name="Google Shape;3101;p148">
              <a:extLst>
                <a:ext uri="{FF2B5EF4-FFF2-40B4-BE49-F238E27FC236}">
                  <a16:creationId xmlns:a16="http://schemas.microsoft.com/office/drawing/2014/main" id="{DAD10C57-6589-BBAB-13E4-DA9B3674F39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0" name="Google Shape;3102;p148">
              <a:extLst>
                <a:ext uri="{FF2B5EF4-FFF2-40B4-BE49-F238E27FC236}">
                  <a16:creationId xmlns:a16="http://schemas.microsoft.com/office/drawing/2014/main" id="{2B81DC3F-37AF-5B9D-5123-A1E0421D20F3}"/>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1" name="Google Shape;3103;p148">
              <a:extLst>
                <a:ext uri="{FF2B5EF4-FFF2-40B4-BE49-F238E27FC236}">
                  <a16:creationId xmlns:a16="http://schemas.microsoft.com/office/drawing/2014/main" id="{8D152693-E4CE-091C-C8FE-DB2F7D65A7AB}"/>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2" name="Google Shape;3104;p148">
              <a:extLst>
                <a:ext uri="{FF2B5EF4-FFF2-40B4-BE49-F238E27FC236}">
                  <a16:creationId xmlns:a16="http://schemas.microsoft.com/office/drawing/2014/main" id="{E8F7871A-6539-7222-2DEA-697414DDC6B8}"/>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3" name="Google Shape;3105;p148">
              <a:extLst>
                <a:ext uri="{FF2B5EF4-FFF2-40B4-BE49-F238E27FC236}">
                  <a16:creationId xmlns:a16="http://schemas.microsoft.com/office/drawing/2014/main" id="{73D68CED-5019-2D22-6152-D7D81A3E3D70}"/>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4" name="Google Shape;3106;p148">
              <a:extLst>
                <a:ext uri="{FF2B5EF4-FFF2-40B4-BE49-F238E27FC236}">
                  <a16:creationId xmlns:a16="http://schemas.microsoft.com/office/drawing/2014/main" id="{62F44A62-769D-4AA7-8D86-625AFC95249A}"/>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5" name="Google Shape;3107;p148">
              <a:extLst>
                <a:ext uri="{FF2B5EF4-FFF2-40B4-BE49-F238E27FC236}">
                  <a16:creationId xmlns:a16="http://schemas.microsoft.com/office/drawing/2014/main" id="{6E33A581-747F-05D1-A4B9-C5054C4A7BD4}"/>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6" name="Google Shape;3108;p148">
              <a:extLst>
                <a:ext uri="{FF2B5EF4-FFF2-40B4-BE49-F238E27FC236}">
                  <a16:creationId xmlns:a16="http://schemas.microsoft.com/office/drawing/2014/main" id="{91E4CF46-20D1-2529-E516-45987E6A46E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57" name="Google Shape;3121;p148">
            <a:extLst>
              <a:ext uri="{FF2B5EF4-FFF2-40B4-BE49-F238E27FC236}">
                <a16:creationId xmlns:a16="http://schemas.microsoft.com/office/drawing/2014/main" id="{3F585280-CD7C-1485-5CA4-63639F05AFDE}"/>
              </a:ext>
            </a:extLst>
          </p:cNvPr>
          <p:cNvSpPr txBox="1">
            <a:spLocks/>
          </p:cNvSpPr>
          <p:nvPr/>
        </p:nvSpPr>
        <p:spPr>
          <a:xfrm>
            <a:off x="930347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Calibri"/>
                <a:ea typeface="Calibri"/>
                <a:cs typeface="Calibri"/>
                <a:sym typeface="Calibri"/>
              </a:rPr>
              <a:t>72%</a:t>
            </a:r>
            <a:endParaRPr lang="en-US" sz="2400" b="1" dirty="0">
              <a:solidFill>
                <a:srgbClr val="47464B"/>
              </a:solidFill>
              <a:latin typeface="Calibri"/>
              <a:ea typeface="Calibri"/>
              <a:cs typeface="Calibri"/>
            </a:endParaRPr>
          </a:p>
        </p:txBody>
      </p:sp>
      <p:grpSp>
        <p:nvGrpSpPr>
          <p:cNvPr id="159" name="Google Shape;3087;p148">
            <a:extLst>
              <a:ext uri="{FF2B5EF4-FFF2-40B4-BE49-F238E27FC236}">
                <a16:creationId xmlns:a16="http://schemas.microsoft.com/office/drawing/2014/main" id="{6C9BDCDE-35CE-D26B-AB29-9A605D81BDE0}"/>
              </a:ext>
            </a:extLst>
          </p:cNvPr>
          <p:cNvGrpSpPr/>
          <p:nvPr/>
        </p:nvGrpSpPr>
        <p:grpSpPr>
          <a:xfrm>
            <a:off x="5034920" y="2028534"/>
            <a:ext cx="2591814" cy="2591814"/>
            <a:chOff x="3527425" y="860425"/>
            <a:chExt cx="5138738" cy="5138738"/>
          </a:xfrm>
        </p:grpSpPr>
        <p:sp>
          <p:nvSpPr>
            <p:cNvPr id="160" name="Google Shape;3088;p148">
              <a:extLst>
                <a:ext uri="{FF2B5EF4-FFF2-40B4-BE49-F238E27FC236}">
                  <a16:creationId xmlns:a16="http://schemas.microsoft.com/office/drawing/2014/main" id="{6DA6DE97-D541-DA93-DC46-72713E7EE36E}"/>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1" name="Google Shape;3089;p148">
              <a:extLst>
                <a:ext uri="{FF2B5EF4-FFF2-40B4-BE49-F238E27FC236}">
                  <a16:creationId xmlns:a16="http://schemas.microsoft.com/office/drawing/2014/main" id="{7560D3B5-2E30-FCD3-E7E4-B8AEB165D40F}"/>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2" name="Google Shape;3090;p148">
              <a:extLst>
                <a:ext uri="{FF2B5EF4-FFF2-40B4-BE49-F238E27FC236}">
                  <a16:creationId xmlns:a16="http://schemas.microsoft.com/office/drawing/2014/main" id="{C7641BC1-651D-E5FB-7F0F-D40754894BE9}"/>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3" name="Google Shape;3091;p148">
              <a:extLst>
                <a:ext uri="{FF2B5EF4-FFF2-40B4-BE49-F238E27FC236}">
                  <a16:creationId xmlns:a16="http://schemas.microsoft.com/office/drawing/2014/main" id="{D0C9D32C-9768-F4DA-6587-4CE2B5349722}"/>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4" name="Google Shape;3092;p148">
              <a:extLst>
                <a:ext uri="{FF2B5EF4-FFF2-40B4-BE49-F238E27FC236}">
                  <a16:creationId xmlns:a16="http://schemas.microsoft.com/office/drawing/2014/main" id="{5B8D89CE-81E6-2945-8CE4-E633040963FC}"/>
                </a:ext>
              </a:extLst>
            </p:cNvPr>
            <p:cNvSpPr/>
            <p:nvPr/>
          </p:nvSpPr>
          <p:spPr>
            <a:xfrm>
              <a:off x="6096000" y="3429000"/>
              <a:ext cx="1511300" cy="2570163"/>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5" name="Google Shape;3093;p148">
              <a:extLst>
                <a:ext uri="{FF2B5EF4-FFF2-40B4-BE49-F238E27FC236}">
                  <a16:creationId xmlns:a16="http://schemas.microsoft.com/office/drawing/2014/main" id="{80329582-221B-FC50-3482-FE1F811A6BB3}"/>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6" name="Google Shape;3094;p148">
              <a:extLst>
                <a:ext uri="{FF2B5EF4-FFF2-40B4-BE49-F238E27FC236}">
                  <a16:creationId xmlns:a16="http://schemas.microsoft.com/office/drawing/2014/main" id="{63680F1A-F41F-96BF-F763-1AFC2AF65476}"/>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7" name="Google Shape;3095;p148">
              <a:extLst>
                <a:ext uri="{FF2B5EF4-FFF2-40B4-BE49-F238E27FC236}">
                  <a16:creationId xmlns:a16="http://schemas.microsoft.com/office/drawing/2014/main" id="{851E0B5B-9347-6CB1-3BE1-C4855F124C07}"/>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8" name="Google Shape;3096;p148">
              <a:extLst>
                <a:ext uri="{FF2B5EF4-FFF2-40B4-BE49-F238E27FC236}">
                  <a16:creationId xmlns:a16="http://schemas.microsoft.com/office/drawing/2014/main" id="{9DD7611F-3417-0F52-936E-499E6ED06EE3}"/>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9" name="Google Shape;3097;p148">
              <a:extLst>
                <a:ext uri="{FF2B5EF4-FFF2-40B4-BE49-F238E27FC236}">
                  <a16:creationId xmlns:a16="http://schemas.microsoft.com/office/drawing/2014/main" id="{1864DF2D-34AB-411F-631D-3737DA3A360A}"/>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70" name="Google Shape;3120;p148">
            <a:extLst>
              <a:ext uri="{FF2B5EF4-FFF2-40B4-BE49-F238E27FC236}">
                <a16:creationId xmlns:a16="http://schemas.microsoft.com/office/drawing/2014/main" id="{40888CAF-551B-ABE8-D21F-2A4E9F6D8D8A}"/>
              </a:ext>
            </a:extLst>
          </p:cNvPr>
          <p:cNvSpPr txBox="1">
            <a:spLocks/>
          </p:cNvSpPr>
          <p:nvPr/>
        </p:nvSpPr>
        <p:spPr>
          <a:xfrm>
            <a:off x="5807587" y="3220882"/>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Calibri"/>
                <a:ea typeface="Calibri"/>
                <a:cs typeface="Calibri"/>
                <a:sym typeface="Calibri"/>
              </a:rPr>
              <a:t>81%</a:t>
            </a:r>
            <a:endParaRPr lang="en-US" sz="2400" b="1" dirty="0">
              <a:solidFill>
                <a:srgbClr val="47464B"/>
              </a:solidFill>
              <a:latin typeface="Calibri"/>
              <a:ea typeface="Calibri"/>
              <a:cs typeface="Calibri"/>
            </a:endParaRPr>
          </a:p>
        </p:txBody>
      </p:sp>
    </p:spTree>
    <p:extLst>
      <p:ext uri="{BB962C8B-B14F-4D97-AF65-F5344CB8AC3E}">
        <p14:creationId xmlns:p14="http://schemas.microsoft.com/office/powerpoint/2010/main" val="149628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04672" y="1658678"/>
            <a:ext cx="4765949" cy="4625163"/>
          </a:xfrm>
        </p:spPr>
        <p:txBody>
          <a:bodyPr anchor="t">
            <a:normAutofit/>
          </a:bodyPr>
          <a:lstStyle/>
          <a:p>
            <a:pPr marL="342900" indent="-342900">
              <a:lnSpc>
                <a:spcPct val="100000"/>
              </a:lnSpc>
              <a:spcBef>
                <a:spcPts val="1800"/>
              </a:spcBef>
              <a:buFont typeface="Symbol" panose="05050102010706020507" pitchFamily="18" charset="2"/>
              <a:buChar char=""/>
            </a:pPr>
            <a:r>
              <a:rPr lang="en-US" sz="1800" dirty="0">
                <a:latin typeface="Arial"/>
                <a:ea typeface="Cambria"/>
                <a:cs typeface="Arial"/>
              </a:rPr>
              <a:t>Built for your business</a:t>
            </a:r>
          </a:p>
          <a:p>
            <a:pPr marL="342900" indent="-342900">
              <a:lnSpc>
                <a:spcPct val="100000"/>
              </a:lnSpc>
              <a:spcBef>
                <a:spcPts val="1800"/>
              </a:spcBef>
              <a:buFont typeface="Symbol" panose="05050102010706020507" pitchFamily="18" charset="2"/>
              <a:buChar char=""/>
            </a:pPr>
            <a:r>
              <a:rPr lang="en-US" sz="1800" dirty="0">
                <a:latin typeface="Arial"/>
                <a:ea typeface="Cambria"/>
                <a:cs typeface="Arial"/>
              </a:rPr>
              <a:t>One of a kind</a:t>
            </a:r>
          </a:p>
          <a:p>
            <a:pPr marL="342900" indent="-342900">
              <a:lnSpc>
                <a:spcPct val="100000"/>
              </a:lnSpc>
              <a:spcBef>
                <a:spcPts val="1800"/>
              </a:spcBef>
              <a:buFont typeface="Symbol" panose="05050102010706020507" pitchFamily="18" charset="2"/>
              <a:buChar char=""/>
            </a:pPr>
            <a:r>
              <a:rPr lang="en-US" sz="1800" dirty="0">
                <a:effectLst/>
                <a:latin typeface="Arial"/>
                <a:ea typeface="Cambria"/>
                <a:cs typeface="Arial"/>
              </a:rPr>
              <a:t>De</a:t>
            </a:r>
            <a:r>
              <a:rPr lang="en-US" sz="1800" dirty="0">
                <a:latin typeface="Arial"/>
                <a:ea typeface="Cambria"/>
                <a:cs typeface="Arial"/>
              </a:rPr>
              <a:t>sign ownership</a:t>
            </a:r>
          </a:p>
          <a:p>
            <a:pPr marL="342900" indent="-342900">
              <a:lnSpc>
                <a:spcPct val="100000"/>
              </a:lnSpc>
              <a:spcBef>
                <a:spcPts val="1800"/>
              </a:spcBef>
              <a:buFont typeface="Symbol" panose="05050102010706020507" pitchFamily="18" charset="2"/>
              <a:buChar char=""/>
            </a:pPr>
            <a:r>
              <a:rPr lang="en-US" sz="1800" dirty="0">
                <a:effectLst/>
                <a:latin typeface="Arial"/>
                <a:ea typeface="Cambria"/>
                <a:cs typeface="Arial"/>
              </a:rPr>
              <a:t>Hosting</a:t>
            </a: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Layout of website design sketches on white paper">
            <a:extLst>
              <a:ext uri="{FF2B5EF4-FFF2-40B4-BE49-F238E27FC236}">
                <a16:creationId xmlns:a16="http://schemas.microsoft.com/office/drawing/2014/main" id="{9F95BC6D-1521-1A62-2F43-594381C2A3B1}"/>
              </a:ext>
            </a:extLst>
          </p:cNvPr>
          <p:cNvPicPr>
            <a:picLocks noChangeAspect="1"/>
          </p:cNvPicPr>
          <p:nvPr/>
        </p:nvPicPr>
        <p:blipFill>
          <a:blip r:embed="rId3">
            <a:extLst>
              <a:ext uri="{28A0092B-C50C-407E-A947-70E740481C1C}">
                <a14:useLocalDpi xmlns:a14="http://schemas.microsoft.com/office/drawing/2010/main" val="0"/>
              </a:ext>
            </a:extLst>
          </a:blip>
          <a:srcRect l="14157" r="14157"/>
          <a:stretch/>
        </p:blipFill>
        <p:spPr>
          <a:xfrm>
            <a:off x="7211567" y="1759139"/>
            <a:ext cx="4336527" cy="3180507"/>
          </a:xfrm>
          <a:prstGeom prst="rect">
            <a:avLst/>
          </a:prstGeom>
        </p:spPr>
      </p:pic>
      <p:sp>
        <p:nvSpPr>
          <p:cNvPr id="6" name="Title 1">
            <a:extLst>
              <a:ext uri="{FF2B5EF4-FFF2-40B4-BE49-F238E27FC236}">
                <a16:creationId xmlns:a16="http://schemas.microsoft.com/office/drawing/2014/main" id="{C6F4B2F6-1299-CA17-A2EC-54FF9654EB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5B9BD5"/>
                </a:solidFill>
                <a:latin typeface="Arial" panose="020B0604020202020204" pitchFamily="34" charset="0"/>
                <a:cs typeface="Arial" panose="020B0604020202020204" pitchFamily="34" charset="0"/>
              </a:rPr>
              <a:t>Custom Website Design</a:t>
            </a:r>
            <a:endParaRPr lang="en-US" sz="3200" b="1" dirty="0">
              <a:solidFill>
                <a:srgbClr val="50909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139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45988D-9CB0-43D9-323F-CDD5BA7AA567}"/>
              </a:ext>
            </a:extLst>
          </p:cNvPr>
          <p:cNvSpPr txBox="1">
            <a:spLocks/>
          </p:cNvSpPr>
          <p:nvPr/>
        </p:nvSpPr>
        <p:spPr>
          <a:xfrm>
            <a:off x="366489" y="557827"/>
            <a:ext cx="4500479" cy="133083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b="1" dirty="0">
                <a:solidFill>
                  <a:srgbClr val="5B9BD5"/>
                </a:solidFill>
                <a:latin typeface="Arial" panose="020B0604020202020204" pitchFamily="34" charset="0"/>
                <a:cs typeface="Arial" panose="020B0604020202020204" pitchFamily="34" charset="0"/>
              </a:rPr>
              <a:t>Collaborate with experienced designers</a:t>
            </a:r>
            <a:endParaRPr lang="en-US" sz="3200" b="1" kern="1200" dirty="0">
              <a:solidFill>
                <a:srgbClr val="50909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F45A191-89EB-1A99-1E7C-F8302FA9F1D2}"/>
              </a:ext>
            </a:extLst>
          </p:cNvPr>
          <p:cNvSpPr txBox="1"/>
          <p:nvPr/>
        </p:nvSpPr>
        <p:spPr>
          <a:xfrm>
            <a:off x="366489" y="2398204"/>
            <a:ext cx="4208425" cy="4712031"/>
          </a:xfrm>
          <a:prstGeom prst="rect">
            <a:avLst/>
          </a:prstGeom>
        </p:spPr>
        <p:txBody>
          <a:bodyPr vert="horz" lIns="91440" tIns="45720" rIns="91440" bIns="45720" rtlCol="0">
            <a:normAutofit/>
          </a:bodyPr>
          <a:lstStyle/>
          <a:p>
            <a:pPr marL="342900" indent="-285750">
              <a:lnSpc>
                <a:spcPct val="90000"/>
              </a:lnSpc>
              <a:spcBef>
                <a:spcPts val="600"/>
              </a:spcBef>
              <a:buFont typeface="Arial" panose="020B0604020202020204" pitchFamily="34" charset="0"/>
              <a:buChar char="•"/>
            </a:pPr>
            <a:r>
              <a:rPr lang="en-US" sz="1600" dirty="0">
                <a:effectLst/>
                <a:latin typeface="Arial" panose="020B0604020202020204" pitchFamily="34" charset="0"/>
                <a:ea typeface="Times New Roman" panose="02020603050405020304" pitchFamily="18" charset="0"/>
              </a:rPr>
              <a:t>Our website professionals will work with the customer to understand their  business needs and uncover how their website can help them  gain and retain customers.</a:t>
            </a:r>
          </a:p>
          <a:p>
            <a:pPr marL="57150">
              <a:lnSpc>
                <a:spcPct val="90000"/>
              </a:lnSpc>
              <a:spcBef>
                <a:spcPts val="600"/>
              </a:spcBef>
            </a:pPr>
            <a:endParaRPr lang="en-US" sz="1600" dirty="0">
              <a:effectLst/>
              <a:latin typeface="Arial" panose="020B0604020202020204" pitchFamily="34" charset="0"/>
              <a:ea typeface="Times New Roman" panose="02020603050405020304" pitchFamily="18" charset="0"/>
            </a:endParaRPr>
          </a:p>
          <a:p>
            <a:pPr marL="342900" indent="-285750">
              <a:lnSpc>
                <a:spcPct val="90000"/>
              </a:lnSpc>
              <a:spcBef>
                <a:spcPts val="600"/>
              </a:spcBef>
              <a:buFont typeface="Arial" panose="020B0604020202020204" pitchFamily="34" charset="0"/>
              <a:buChar char="•"/>
            </a:pPr>
            <a:r>
              <a:rPr lang="en-US" sz="1600" dirty="0">
                <a:effectLst/>
                <a:latin typeface="Arial" panose="020B0604020202020204" pitchFamily="34" charset="0"/>
                <a:ea typeface="Times New Roman" panose="02020603050405020304" pitchFamily="18" charset="0"/>
              </a:rPr>
              <a:t>Our team knows the right layout, typography, imagery, and color schemes to make the design pop.</a:t>
            </a:r>
            <a:endParaRPr lang="en-US" sz="1600"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183689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endParaRPr lang="en-US" sz="1300">
              <a:latin typeface="Arial" panose="020B0604020202020204" pitchFamily="34" charset="0"/>
              <a:ea typeface="Cambria" panose="02040503050406030204" pitchFamily="18" charset="0"/>
              <a:cs typeface="Arial" panose="020B0604020202020204" pitchFamily="34" charset="0"/>
            </a:endParaRPr>
          </a:p>
        </p:txBody>
      </p:sp>
      <p:pic>
        <p:nvPicPr>
          <p:cNvPr id="7" name="Picture 6" descr="Hands typing on laptop">
            <a:extLst>
              <a:ext uri="{FF2B5EF4-FFF2-40B4-BE49-F238E27FC236}">
                <a16:creationId xmlns:a16="http://schemas.microsoft.com/office/drawing/2014/main" id="{C9690A22-EFFB-8203-E8C7-0BFCF347C74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77250" y="2101052"/>
            <a:ext cx="6989354" cy="3245271"/>
          </a:xfrm>
          <a:prstGeom prst="rect">
            <a:avLst/>
          </a:prstGeom>
        </p:spPr>
      </p:pic>
    </p:spTree>
    <p:extLst>
      <p:ext uri="{BB962C8B-B14F-4D97-AF65-F5344CB8AC3E}">
        <p14:creationId xmlns:p14="http://schemas.microsoft.com/office/powerpoint/2010/main" val="321031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3F5E-5657-4559-B316-42A9F0D93257}"/>
              </a:ext>
            </a:extLst>
          </p:cNvPr>
          <p:cNvSpPr>
            <a:spLocks noGrp="1"/>
          </p:cNvSpPr>
          <p:nvPr>
            <p:ph type="title"/>
          </p:nvPr>
        </p:nvSpPr>
        <p:spPr/>
        <p:txBody>
          <a:bodyPr>
            <a:normAutofit/>
          </a:bodyPr>
          <a:lstStyle/>
          <a:p>
            <a:r>
              <a:rPr lang="en-US" sz="3200" b="1" dirty="0">
                <a:solidFill>
                  <a:srgbClr val="5B9BD5"/>
                </a:solidFill>
                <a:latin typeface="Arial" panose="020B0604020202020204" pitchFamily="34" charset="0"/>
                <a:cs typeface="Arial" panose="020B0604020202020204" pitchFamily="34" charset="0"/>
              </a:rPr>
              <a:t>Features</a:t>
            </a:r>
            <a:endParaRPr lang="en-US" sz="3200" dirty="0"/>
          </a:p>
        </p:txBody>
      </p:sp>
      <p:sp>
        <p:nvSpPr>
          <p:cNvPr id="3" name="Content Placeholder 2">
            <a:extLst>
              <a:ext uri="{FF2B5EF4-FFF2-40B4-BE49-F238E27FC236}">
                <a16:creationId xmlns:a16="http://schemas.microsoft.com/office/drawing/2014/main" id="{8A1F4D27-22C8-3401-54C2-4D4ABFEFED75}"/>
              </a:ext>
            </a:extLst>
          </p:cNvPr>
          <p:cNvSpPr>
            <a:spLocks noGrp="1"/>
          </p:cNvSpPr>
          <p:nvPr>
            <p:ph idx="1"/>
          </p:nvPr>
        </p:nvSpPr>
        <p:spPr>
          <a:xfrm>
            <a:off x="838199" y="1617807"/>
            <a:ext cx="4441722" cy="1603375"/>
          </a:xfrm>
        </p:spPr>
        <p:txBody>
          <a:bodyPr>
            <a:noAutofit/>
          </a:bodyPr>
          <a:lstStyle/>
          <a:p>
            <a:pPr marL="57150" indent="0">
              <a:lnSpc>
                <a:spcPct val="90000"/>
              </a:lnSpc>
              <a:spcBef>
                <a:spcPts val="600"/>
              </a:spcBef>
              <a:buNone/>
            </a:pPr>
            <a:r>
              <a:rPr lang="en-US" sz="1800" dirty="0">
                <a:solidFill>
                  <a:srgbClr val="5B9BD5"/>
                </a:solidFill>
                <a:effectLst/>
                <a:latin typeface="Arial" panose="020B0604020202020204" pitchFamily="34" charset="0"/>
                <a:ea typeface="MS Mincho" panose="02020609040205080304" pitchFamily="49" charset="-128"/>
              </a:rPr>
              <a:t>Multiple revisions</a:t>
            </a:r>
          </a:p>
          <a:p>
            <a:pPr marL="57150" indent="0">
              <a:lnSpc>
                <a:spcPct val="90000"/>
              </a:lnSpc>
              <a:spcBef>
                <a:spcPts val="600"/>
              </a:spcBef>
              <a:buNone/>
            </a:pPr>
            <a:r>
              <a:rPr lang="en-US" sz="1800" dirty="0">
                <a:effectLst/>
                <a:latin typeface="Arial" panose="020B0604020202020204" pitchFamily="34" charset="0"/>
                <a:ea typeface="Times New Roman" panose="02020603050405020304" pitchFamily="18" charset="0"/>
              </a:rPr>
              <a:t>Multiple revisions can be made on the website build based on scope of work.</a:t>
            </a:r>
            <a:endParaRPr lang="en-US" sz="1800" dirty="0">
              <a:effectLst/>
              <a:latin typeface="Arial" panose="020B0604020202020204" pitchFamily="34" charset="0"/>
              <a:ea typeface="MS Mincho" panose="02020609040205080304" pitchFamily="49" charset="-128"/>
            </a:endParaRPr>
          </a:p>
          <a:p>
            <a:pPr marL="57150" indent="0">
              <a:lnSpc>
                <a:spcPct val="90000"/>
              </a:lnSpc>
              <a:spcBef>
                <a:spcPts val="600"/>
              </a:spcBef>
              <a:buNone/>
            </a:pPr>
            <a:endParaRPr lang="en-US" sz="1800" b="1" dirty="0">
              <a:latin typeface="Arial" panose="020B0604020202020204" pitchFamily="34" charset="0"/>
              <a:cs typeface="Arial" panose="020B0604020202020204" pitchFamily="34" charset="0"/>
            </a:endParaRPr>
          </a:p>
          <a:p>
            <a:endParaRPr lang="en-US" sz="1800" dirty="0"/>
          </a:p>
        </p:txBody>
      </p:sp>
      <p:sp>
        <p:nvSpPr>
          <p:cNvPr id="5" name="TextBox 4">
            <a:extLst>
              <a:ext uri="{FF2B5EF4-FFF2-40B4-BE49-F238E27FC236}">
                <a16:creationId xmlns:a16="http://schemas.microsoft.com/office/drawing/2014/main" id="{046D975E-87C2-A54F-E965-DA767CC63EDE}"/>
              </a:ext>
            </a:extLst>
          </p:cNvPr>
          <p:cNvSpPr txBox="1"/>
          <p:nvPr/>
        </p:nvSpPr>
        <p:spPr>
          <a:xfrm>
            <a:off x="6011426" y="1615705"/>
            <a:ext cx="4421275" cy="1166473"/>
          </a:xfrm>
          <a:prstGeom prst="rect">
            <a:avLst/>
          </a:prstGeom>
          <a:noFill/>
        </p:spPr>
        <p:txBody>
          <a:bodyPr wrap="square">
            <a:spAutoFit/>
          </a:bodyPr>
          <a:lstStyle/>
          <a:p>
            <a:pPr marL="57150">
              <a:lnSpc>
                <a:spcPct val="90000"/>
              </a:lnSpc>
              <a:spcBef>
                <a:spcPts val="600"/>
              </a:spcBef>
              <a:defRPr/>
            </a:pPr>
            <a:r>
              <a:rPr lang="en-US" dirty="0">
                <a:solidFill>
                  <a:srgbClr val="5B9BD5"/>
                </a:solidFill>
                <a:effectLst/>
                <a:latin typeface="Arial" panose="020B0604020202020204" pitchFamily="34" charset="0"/>
                <a:ea typeface="MS Mincho" panose="02020609040205080304" pitchFamily="49" charset="-128"/>
              </a:rPr>
              <a:t>WordPress</a:t>
            </a:r>
            <a:r>
              <a:rPr lang="en-US" dirty="0">
                <a:latin typeface="Arial" panose="020B0604020202020204" pitchFamily="34" charset="0"/>
                <a:ea typeface="MS Mincho" panose="02020609040205080304" pitchFamily="49" charset="-128"/>
              </a:rPr>
              <a:t> </a:t>
            </a:r>
          </a:p>
          <a:p>
            <a:pPr marL="57150">
              <a:lnSpc>
                <a:spcPct val="90000"/>
              </a:lnSpc>
              <a:spcBef>
                <a:spcPts val="600"/>
              </a:spcBef>
              <a:defRPr/>
            </a:pPr>
            <a:r>
              <a:rPr lang="en-US" sz="1800" dirty="0">
                <a:effectLst/>
                <a:latin typeface="Arial" panose="020B0604020202020204" pitchFamily="34" charset="0"/>
                <a:ea typeface="Times New Roman" panose="02020603050405020304" pitchFamily="18" charset="0"/>
              </a:rPr>
              <a:t>WordPress is used to build 43% of all websites on the internet. (</a:t>
            </a:r>
            <a:r>
              <a:rPr lang="en-US" sz="1800" u="sng" dirty="0" err="1">
                <a:solidFill>
                  <a:srgbClr val="0000FF"/>
                </a:solidFill>
                <a:effectLst/>
                <a:latin typeface="Arial" panose="020B0604020202020204" pitchFamily="34" charset="0"/>
                <a:ea typeface="Times New Roman" panose="02020603050405020304" pitchFamily="18" charset="0"/>
                <a:cs typeface="Arial" panose="020B0604020202020204" pitchFamily="34" charset="0"/>
                <a:hlinkClick r:id="rId2"/>
              </a:rPr>
              <a:t>colorlib</a:t>
            </a:r>
            <a:r>
              <a:rPr lang="en-US" sz="1800" u="sng" dirty="0">
                <a:solidFill>
                  <a:srgbClr val="0000FF"/>
                </a:solidFill>
                <a:effectLst/>
                <a:latin typeface="Arial" panose="020B0604020202020204" pitchFamily="34" charset="0"/>
                <a:ea typeface="Times New Roman" panose="02020603050405020304" pitchFamily="18" charset="0"/>
                <a:cs typeface="Arial" panose="020B0604020202020204" pitchFamily="34" charset="0"/>
                <a:hlinkClick r:id="rId2"/>
              </a:rPr>
              <a:t>, 2023</a:t>
            </a:r>
            <a:r>
              <a:rPr lang="en-US" sz="1800" dirty="0">
                <a:effectLst/>
                <a:latin typeface="Arial" panose="020B0604020202020204" pitchFamily="34" charset="0"/>
                <a:ea typeface="Times New Roman" panose="02020603050405020304" pitchFamily="18" charset="0"/>
              </a:rPr>
              <a:t>) It’s popular and it works.</a:t>
            </a:r>
            <a:endParaRPr lang="en-US" dirty="0">
              <a:solidFill>
                <a:srgbClr val="000000"/>
              </a:solidFill>
              <a:effectLst/>
              <a:latin typeface="Arial" panose="020B0604020202020204" pitchFamily="34" charset="0"/>
              <a:ea typeface="Cambria" panose="02040503050406030204" pitchFamily="18" charset="0"/>
              <a:cs typeface="Arial" panose="020B0604020202020204" pitchFamily="34" charset="0"/>
            </a:endParaRPr>
          </a:p>
        </p:txBody>
      </p:sp>
      <p:sp>
        <p:nvSpPr>
          <p:cNvPr id="7" name="TextBox 6">
            <a:extLst>
              <a:ext uri="{FF2B5EF4-FFF2-40B4-BE49-F238E27FC236}">
                <a16:creationId xmlns:a16="http://schemas.microsoft.com/office/drawing/2014/main" id="{89B77419-BFC5-3900-30BD-1244233B758F}"/>
              </a:ext>
            </a:extLst>
          </p:cNvPr>
          <p:cNvSpPr txBox="1"/>
          <p:nvPr/>
        </p:nvSpPr>
        <p:spPr>
          <a:xfrm>
            <a:off x="838199" y="3486149"/>
            <a:ext cx="4441723" cy="1665071"/>
          </a:xfrm>
          <a:prstGeom prst="rect">
            <a:avLst/>
          </a:prstGeom>
          <a:noFill/>
        </p:spPr>
        <p:txBody>
          <a:bodyPr wrap="square">
            <a:spAutoFit/>
          </a:bodyPr>
          <a:lstStyle/>
          <a:p>
            <a:pPr marL="5715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5B9BD5"/>
                </a:solidFill>
                <a:effectLst/>
                <a:uLnTx/>
                <a:uFillTx/>
                <a:latin typeface="Arial" panose="020B0604020202020204" pitchFamily="34" charset="0"/>
                <a:ea typeface="MS Mincho" panose="02020609040205080304" pitchFamily="49" charset="-128"/>
                <a:cs typeface="+mn-cs"/>
              </a:rPr>
              <a:t>Optimized website</a:t>
            </a:r>
          </a:p>
          <a:p>
            <a:pPr marL="5715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lang="en-US" sz="1800" dirty="0">
                <a:effectLst/>
                <a:latin typeface="Arial" panose="020B0604020202020204" pitchFamily="34" charset="0"/>
                <a:ea typeface="Times New Roman" panose="02020603050405020304" pitchFamily="18" charset="0"/>
              </a:rPr>
              <a:t>The site is built using basic SEO best practices and provides the search engines the ability to crawl the website. It is also mobile friendly so it will look great on tablets and smartphones too.</a:t>
            </a:r>
            <a:endParaRPr kumimoji="0" lang="en-US"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6" name="TextBox 5">
            <a:extLst>
              <a:ext uri="{FF2B5EF4-FFF2-40B4-BE49-F238E27FC236}">
                <a16:creationId xmlns:a16="http://schemas.microsoft.com/office/drawing/2014/main" id="{00BC9956-EAD5-E10C-D977-A015F4C15E19}"/>
              </a:ext>
            </a:extLst>
          </p:cNvPr>
          <p:cNvSpPr txBox="1"/>
          <p:nvPr/>
        </p:nvSpPr>
        <p:spPr>
          <a:xfrm>
            <a:off x="6011426" y="3559632"/>
            <a:ext cx="4810649" cy="1166473"/>
          </a:xfrm>
          <a:prstGeom prst="rect">
            <a:avLst/>
          </a:prstGeom>
          <a:noFill/>
        </p:spPr>
        <p:txBody>
          <a:bodyPr wrap="square">
            <a:spAutoFit/>
          </a:bodyPr>
          <a:lstStyle/>
          <a:p>
            <a:pPr marL="57150">
              <a:lnSpc>
                <a:spcPct val="90000"/>
              </a:lnSpc>
              <a:spcBef>
                <a:spcPts val="600"/>
              </a:spcBef>
              <a:defRPr/>
            </a:pPr>
            <a:r>
              <a:rPr lang="en-US" dirty="0">
                <a:solidFill>
                  <a:srgbClr val="5B9BD5"/>
                </a:solidFill>
                <a:effectLst/>
                <a:latin typeface="Arial" panose="020B0604020202020204" pitchFamily="34" charset="0"/>
                <a:ea typeface="Calibri" panose="020F0502020204030204" pitchFamily="34" charset="0"/>
              </a:rPr>
              <a:t>No hidden fees</a:t>
            </a:r>
            <a:r>
              <a:rPr lang="en-US" dirty="0">
                <a:solidFill>
                  <a:srgbClr val="5B9BD5"/>
                </a:solidFill>
                <a:latin typeface="Arial" panose="020B0604020202020204" pitchFamily="34" charset="0"/>
                <a:ea typeface="Calibri" panose="020F0502020204030204" pitchFamily="34" charset="0"/>
              </a:rPr>
              <a:t> </a:t>
            </a:r>
          </a:p>
          <a:p>
            <a:pPr marL="57150">
              <a:lnSpc>
                <a:spcPct val="90000"/>
              </a:lnSpc>
              <a:spcBef>
                <a:spcPts val="600"/>
              </a:spcBef>
              <a:defRPr/>
            </a:pPr>
            <a:r>
              <a:rPr lang="en-US" sz="1800" dirty="0">
                <a:effectLst/>
                <a:latin typeface="Arial" panose="020B0604020202020204" pitchFamily="34" charset="0"/>
                <a:ea typeface="Times New Roman" panose="02020603050405020304" pitchFamily="18" charset="0"/>
              </a:rPr>
              <a:t>The customer receives a quote with the price breakdown including add-ons like maintenance and hosting.</a:t>
            </a:r>
            <a:endParaRPr lang="en-US" b="1"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683184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5B9B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How it works</a:t>
            </a:r>
            <a:endParaRPr lang="en-US" sz="3200" dirty="0">
              <a:solidFill>
                <a:schemeClr val="bg1"/>
              </a:solidFill>
            </a:endParaRPr>
          </a:p>
        </p:txBody>
      </p:sp>
    </p:spTree>
    <p:extLst>
      <p:ext uri="{BB962C8B-B14F-4D97-AF65-F5344CB8AC3E}">
        <p14:creationId xmlns:p14="http://schemas.microsoft.com/office/powerpoint/2010/main" val="98343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3200" b="1" dirty="0">
                <a:solidFill>
                  <a:srgbClr val="5B9BD5"/>
                </a:solidFill>
                <a:latin typeface="Arial" panose="020B0604020202020204" pitchFamily="34" charset="0"/>
                <a:ea typeface="MS Mincho" panose="02020609040205080304" pitchFamily="49" charset="-128"/>
              </a:rPr>
              <a:t>Fill out a questionnaire with the sales team</a:t>
            </a:r>
            <a:endParaRPr lang="en-US" sz="3200" b="1" dirty="0">
              <a:solidFill>
                <a:srgbClr val="5B9BD5"/>
              </a:solidFill>
            </a:endParaRPr>
          </a:p>
        </p:txBody>
      </p:sp>
      <p:sp>
        <p:nvSpPr>
          <p:cNvPr id="9" name="Content Placeholder 8">
            <a:extLst>
              <a:ext uri="{FF2B5EF4-FFF2-40B4-BE49-F238E27FC236}">
                <a16:creationId xmlns:a16="http://schemas.microsoft.com/office/drawing/2014/main" id="{3D039334-CE0F-0FBD-53E3-2F2811018D74}"/>
              </a:ext>
            </a:extLst>
          </p:cNvPr>
          <p:cNvSpPr>
            <a:spLocks noGrp="1"/>
          </p:cNvSpPr>
          <p:nvPr>
            <p:ph idx="1"/>
          </p:nvPr>
        </p:nvSpPr>
        <p:spPr>
          <a:xfrm>
            <a:off x="838200" y="1825625"/>
            <a:ext cx="5419725" cy="4351338"/>
          </a:xfrm>
        </p:spPr>
        <p:txBody>
          <a:bodyPr>
            <a:normAutofit/>
          </a:bodyPr>
          <a:lstStyle/>
          <a:p>
            <a:pPr>
              <a:lnSpc>
                <a:spcPct val="150000"/>
              </a:lnSpc>
            </a:pPr>
            <a:r>
              <a:rPr lang="en-US" sz="1500" dirty="0">
                <a:latin typeface="Arial" panose="020B0604020202020204" pitchFamily="34" charset="0"/>
                <a:ea typeface="MS Mincho" panose="02020609040205080304" pitchFamily="49" charset="-128"/>
              </a:rPr>
              <a:t>The customer will fill out a questionnaire with a member of the sales team.</a:t>
            </a:r>
          </a:p>
          <a:p>
            <a:pPr>
              <a:lnSpc>
                <a:spcPct val="150000"/>
              </a:lnSpc>
            </a:pPr>
            <a:r>
              <a:rPr lang="en-US" sz="1500" dirty="0">
                <a:latin typeface="Arial" panose="020B0604020202020204" pitchFamily="34" charset="0"/>
                <a:ea typeface="MS Mincho" panose="02020609040205080304" pitchFamily="49" charset="-128"/>
              </a:rPr>
              <a:t>Once all the criteria has been reviewed by the custom website team, they will put together a comprehensive proposal.</a:t>
            </a:r>
          </a:p>
          <a:p>
            <a:pPr>
              <a:lnSpc>
                <a:spcPct val="150000"/>
              </a:lnSpc>
            </a:pPr>
            <a:r>
              <a:rPr lang="en-US" sz="1500" dirty="0">
                <a:latin typeface="Arial" panose="020B0604020202020204" pitchFamily="34" charset="0"/>
                <a:ea typeface="MS Mincho" panose="02020609040205080304" pitchFamily="49" charset="-128"/>
              </a:rPr>
              <a:t>The payment is divided into two 50% payments. One collected at the time of purchase, the other when the site is ready to go live. </a:t>
            </a:r>
          </a:p>
          <a:p>
            <a:pPr>
              <a:lnSpc>
                <a:spcPct val="150000"/>
              </a:lnSpc>
            </a:pPr>
            <a:r>
              <a:rPr lang="en-US" sz="1500" dirty="0">
                <a:latin typeface="Arial" panose="020B0604020202020204" pitchFamily="34" charset="0"/>
                <a:ea typeface="MS Mincho" panose="02020609040205080304" pitchFamily="49" charset="-128"/>
              </a:rPr>
              <a:t>The custom website process can range from 4-8 weeks depending on customer responsiveness and overall complexity of the site build/design. </a:t>
            </a:r>
          </a:p>
        </p:txBody>
      </p:sp>
    </p:spTree>
    <p:extLst>
      <p:ext uri="{BB962C8B-B14F-4D97-AF65-F5344CB8AC3E}">
        <p14:creationId xmlns:p14="http://schemas.microsoft.com/office/powerpoint/2010/main" val="3772158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3200" b="1" dirty="0">
                <a:solidFill>
                  <a:srgbClr val="5B9BD5"/>
                </a:solidFill>
                <a:effectLst/>
                <a:latin typeface="Arial" panose="020B0604020202020204" pitchFamily="34" charset="0"/>
                <a:ea typeface="MS Mincho" panose="02020609040205080304" pitchFamily="49" charset="-128"/>
              </a:rPr>
              <a:t>Benefits</a:t>
            </a:r>
            <a:endParaRPr lang="en-US" sz="3200" b="1" dirty="0">
              <a:solidFill>
                <a:srgbClr val="5B9BD5"/>
              </a:solidFill>
            </a:endParaRPr>
          </a:p>
        </p:txBody>
      </p:sp>
      <p:sp>
        <p:nvSpPr>
          <p:cNvPr id="4" name="Content Placeholder 3">
            <a:extLst>
              <a:ext uri="{FF2B5EF4-FFF2-40B4-BE49-F238E27FC236}">
                <a16:creationId xmlns:a16="http://schemas.microsoft.com/office/drawing/2014/main" id="{5C3130C1-C1D2-5514-76F0-DDF764D06147}"/>
              </a:ext>
            </a:extLst>
          </p:cNvPr>
          <p:cNvSpPr>
            <a:spLocks noGrp="1"/>
          </p:cNvSpPr>
          <p:nvPr>
            <p:ph idx="1"/>
          </p:nvPr>
        </p:nvSpPr>
        <p:spPr>
          <a:xfrm>
            <a:off x="6440624" y="1538448"/>
            <a:ext cx="4845050" cy="761868"/>
          </a:xfrm>
        </p:spPr>
        <p:txBody>
          <a:bodyPr>
            <a:normAutofit/>
          </a:bodyPr>
          <a:lstStyle/>
          <a:p>
            <a:pPr marL="0" marR="54610" indent="0">
              <a:spcBef>
                <a:spcPts val="600"/>
              </a:spcBef>
              <a:spcAft>
                <a:spcPts val="600"/>
              </a:spcAft>
              <a:buSzPts val="800"/>
              <a:buNone/>
            </a:pPr>
            <a:r>
              <a:rPr lang="en-US" sz="1400" dirty="0">
                <a:solidFill>
                  <a:srgbClr val="000000"/>
                </a:solidFill>
                <a:effectLst/>
                <a:latin typeface="Arial" panose="020B0604020202020204" pitchFamily="34" charset="0"/>
                <a:ea typeface="Times New Roman" panose="02020603050405020304" pitchFamily="18" charset="0"/>
              </a:rPr>
              <a:t>The design is based on your conversations with our developers and the information in the questionnaire. Tailored and built specifically for you.</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Content Placeholder 3">
            <a:extLst>
              <a:ext uri="{FF2B5EF4-FFF2-40B4-BE49-F238E27FC236}">
                <a16:creationId xmlns:a16="http://schemas.microsoft.com/office/drawing/2014/main" id="{2635EBA5-264F-A4E5-3722-0EB486DB843E}"/>
              </a:ext>
            </a:extLst>
          </p:cNvPr>
          <p:cNvSpPr txBox="1">
            <a:spLocks/>
          </p:cNvSpPr>
          <p:nvPr/>
        </p:nvSpPr>
        <p:spPr>
          <a:xfrm>
            <a:off x="860262" y="1627080"/>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Built for your business</a:t>
            </a:r>
            <a:endParaRPr lang="en-US" sz="2400" dirty="0"/>
          </a:p>
        </p:txBody>
      </p:sp>
      <p:sp>
        <p:nvSpPr>
          <p:cNvPr id="13" name="Content Placeholder 3">
            <a:extLst>
              <a:ext uri="{FF2B5EF4-FFF2-40B4-BE49-F238E27FC236}">
                <a16:creationId xmlns:a16="http://schemas.microsoft.com/office/drawing/2014/main" id="{AEDEE1FA-ABA7-3648-2FE7-2E22B26020AA}"/>
              </a:ext>
            </a:extLst>
          </p:cNvPr>
          <p:cNvSpPr txBox="1">
            <a:spLocks/>
          </p:cNvSpPr>
          <p:nvPr/>
        </p:nvSpPr>
        <p:spPr>
          <a:xfrm>
            <a:off x="825608" y="2652895"/>
            <a:ext cx="3797595"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latin typeface="Arial" panose="020B0604020202020204" pitchFamily="34" charset="0"/>
                <a:ea typeface="MS Mincho" panose="02020609040205080304" pitchFamily="49" charset="-128"/>
              </a:rPr>
              <a:t>One of kind</a:t>
            </a:r>
            <a:endParaRPr lang="en-US" sz="2400" dirty="0"/>
          </a:p>
        </p:txBody>
      </p:sp>
      <p:sp>
        <p:nvSpPr>
          <p:cNvPr id="15" name="Content Placeholder 3">
            <a:extLst>
              <a:ext uri="{FF2B5EF4-FFF2-40B4-BE49-F238E27FC236}">
                <a16:creationId xmlns:a16="http://schemas.microsoft.com/office/drawing/2014/main" id="{E1D11F32-F7B4-22CE-B974-B5CF6AC13841}"/>
              </a:ext>
            </a:extLst>
          </p:cNvPr>
          <p:cNvSpPr txBox="1">
            <a:spLocks/>
          </p:cNvSpPr>
          <p:nvPr/>
        </p:nvSpPr>
        <p:spPr>
          <a:xfrm>
            <a:off x="825608" y="4012991"/>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Design Ownership</a:t>
            </a:r>
            <a:endParaRPr lang="en-US" sz="2400" dirty="0"/>
          </a:p>
        </p:txBody>
      </p:sp>
      <p:cxnSp>
        <p:nvCxnSpPr>
          <p:cNvPr id="22" name="Straight Connector 21">
            <a:extLst>
              <a:ext uri="{FF2B5EF4-FFF2-40B4-BE49-F238E27FC236}">
                <a16:creationId xmlns:a16="http://schemas.microsoft.com/office/drawing/2014/main" id="{3E1A3FE8-41F1-6589-6459-10CA720ADDFC}"/>
              </a:ext>
            </a:extLst>
          </p:cNvPr>
          <p:cNvCxnSpPr>
            <a:cxnSpLocks/>
          </p:cNvCxnSpPr>
          <p:nvPr/>
        </p:nvCxnSpPr>
        <p:spPr>
          <a:xfrm>
            <a:off x="3605349" y="1808922"/>
            <a:ext cx="2490651" cy="0"/>
          </a:xfrm>
          <a:prstGeom prst="line">
            <a:avLst/>
          </a:prstGeom>
          <a:ln>
            <a:solidFill>
              <a:srgbClr val="5B9BD5"/>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41E66E-0E4D-7887-F22F-6AEE7BB47109}"/>
              </a:ext>
            </a:extLst>
          </p:cNvPr>
          <p:cNvCxnSpPr>
            <a:cxnSpLocks/>
          </p:cNvCxnSpPr>
          <p:nvPr/>
        </p:nvCxnSpPr>
        <p:spPr>
          <a:xfrm>
            <a:off x="3605349" y="2877994"/>
            <a:ext cx="2490651" cy="0"/>
          </a:xfrm>
          <a:prstGeom prst="line">
            <a:avLst/>
          </a:prstGeom>
          <a:ln>
            <a:solidFill>
              <a:srgbClr val="5B9BD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3BACB72-1A30-62DB-ABA3-C4BD30412D3A}"/>
              </a:ext>
            </a:extLst>
          </p:cNvPr>
          <p:cNvCxnSpPr>
            <a:cxnSpLocks/>
          </p:cNvCxnSpPr>
          <p:nvPr/>
        </p:nvCxnSpPr>
        <p:spPr>
          <a:xfrm>
            <a:off x="3675017" y="4162911"/>
            <a:ext cx="2443045" cy="0"/>
          </a:xfrm>
          <a:prstGeom prst="line">
            <a:avLst/>
          </a:prstGeom>
          <a:ln>
            <a:solidFill>
              <a:srgbClr val="5B9BD5"/>
            </a:solidFill>
          </a:ln>
        </p:spPr>
        <p:style>
          <a:lnRef idx="1">
            <a:schemeClr val="accent1"/>
          </a:lnRef>
          <a:fillRef idx="0">
            <a:schemeClr val="accent1"/>
          </a:fillRef>
          <a:effectRef idx="0">
            <a:schemeClr val="accent1"/>
          </a:effectRef>
          <a:fontRef idx="minor">
            <a:schemeClr val="tx1"/>
          </a:fontRef>
        </p:style>
      </p:cxnSp>
      <p:sp>
        <p:nvSpPr>
          <p:cNvPr id="5" name="Content Placeholder 3">
            <a:extLst>
              <a:ext uri="{FF2B5EF4-FFF2-40B4-BE49-F238E27FC236}">
                <a16:creationId xmlns:a16="http://schemas.microsoft.com/office/drawing/2014/main" id="{51E5BF24-0F75-7190-8C9E-8A82A22608ED}"/>
              </a:ext>
            </a:extLst>
          </p:cNvPr>
          <p:cNvSpPr txBox="1">
            <a:spLocks/>
          </p:cNvSpPr>
          <p:nvPr/>
        </p:nvSpPr>
        <p:spPr>
          <a:xfrm>
            <a:off x="6438900" y="2605463"/>
            <a:ext cx="5257800" cy="6325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SzPts val="800"/>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Built from scratch and made to attract your target audience and drive results.</a:t>
            </a:r>
            <a:endParaRPr lang="en-US" sz="1400" dirty="0">
              <a:effectLst/>
              <a:latin typeface="Cambria" panose="02040503050406030204" pitchFamily="18" charset="0"/>
              <a:ea typeface="Cambria" panose="02040503050406030204" pitchFamily="18" charset="0"/>
              <a:cs typeface="Arial" panose="020B0604020202020204" pitchFamily="34" charset="0"/>
            </a:endParaRPr>
          </a:p>
        </p:txBody>
      </p:sp>
      <p:sp>
        <p:nvSpPr>
          <p:cNvPr id="6" name="Content Placeholder 3">
            <a:extLst>
              <a:ext uri="{FF2B5EF4-FFF2-40B4-BE49-F238E27FC236}">
                <a16:creationId xmlns:a16="http://schemas.microsoft.com/office/drawing/2014/main" id="{DBFF0A62-047F-C7E4-734A-B4391B671A21}"/>
              </a:ext>
            </a:extLst>
          </p:cNvPr>
          <p:cNvSpPr txBox="1">
            <a:spLocks/>
          </p:cNvSpPr>
          <p:nvPr/>
        </p:nvSpPr>
        <p:spPr>
          <a:xfrm>
            <a:off x="6438900" y="4057116"/>
            <a:ext cx="5257800" cy="3685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You own the design and content</a:t>
            </a:r>
            <a:endParaRPr lang="en-US" sz="1400" dirty="0">
              <a:latin typeface="Arial" panose="020B0604020202020204" pitchFamily="34" charset="0"/>
              <a:cs typeface="Arial" panose="020B0604020202020204" pitchFamily="34" charset="0"/>
            </a:endParaRPr>
          </a:p>
        </p:txBody>
      </p:sp>
      <p:sp>
        <p:nvSpPr>
          <p:cNvPr id="11" name="Content Placeholder 3">
            <a:extLst>
              <a:ext uri="{FF2B5EF4-FFF2-40B4-BE49-F238E27FC236}">
                <a16:creationId xmlns:a16="http://schemas.microsoft.com/office/drawing/2014/main" id="{3F9F3536-8C42-26E0-2CE8-8D62057BDC3F}"/>
              </a:ext>
            </a:extLst>
          </p:cNvPr>
          <p:cNvSpPr txBox="1">
            <a:spLocks/>
          </p:cNvSpPr>
          <p:nvPr/>
        </p:nvSpPr>
        <p:spPr>
          <a:xfrm>
            <a:off x="860262" y="5377958"/>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Hosting</a:t>
            </a:r>
            <a:endParaRPr lang="en-US" sz="2400" dirty="0"/>
          </a:p>
        </p:txBody>
      </p:sp>
      <p:cxnSp>
        <p:nvCxnSpPr>
          <p:cNvPr id="18" name="Straight Connector 17">
            <a:extLst>
              <a:ext uri="{FF2B5EF4-FFF2-40B4-BE49-F238E27FC236}">
                <a16:creationId xmlns:a16="http://schemas.microsoft.com/office/drawing/2014/main" id="{C69FC274-B137-4893-C943-3F9E055A316E}"/>
              </a:ext>
            </a:extLst>
          </p:cNvPr>
          <p:cNvCxnSpPr>
            <a:cxnSpLocks/>
          </p:cNvCxnSpPr>
          <p:nvPr/>
        </p:nvCxnSpPr>
        <p:spPr>
          <a:xfrm>
            <a:off x="3675017" y="5510291"/>
            <a:ext cx="2353405" cy="0"/>
          </a:xfrm>
          <a:prstGeom prst="line">
            <a:avLst/>
          </a:prstGeom>
          <a:ln>
            <a:solidFill>
              <a:srgbClr val="5B9BD5"/>
            </a:solidFill>
          </a:ln>
        </p:spPr>
        <p:style>
          <a:lnRef idx="1">
            <a:schemeClr val="accent1"/>
          </a:lnRef>
          <a:fillRef idx="0">
            <a:schemeClr val="accent1"/>
          </a:fillRef>
          <a:effectRef idx="0">
            <a:schemeClr val="accent1"/>
          </a:effectRef>
          <a:fontRef idx="minor">
            <a:schemeClr val="tx1"/>
          </a:fontRef>
        </p:style>
      </p:cxnSp>
      <p:sp>
        <p:nvSpPr>
          <p:cNvPr id="19" name="Content Placeholder 3">
            <a:extLst>
              <a:ext uri="{FF2B5EF4-FFF2-40B4-BE49-F238E27FC236}">
                <a16:creationId xmlns:a16="http://schemas.microsoft.com/office/drawing/2014/main" id="{3D74B603-EF63-26CE-F334-415D4E306A37}"/>
              </a:ext>
            </a:extLst>
          </p:cNvPr>
          <p:cNvSpPr txBox="1">
            <a:spLocks/>
          </p:cNvSpPr>
          <p:nvPr/>
        </p:nvSpPr>
        <p:spPr>
          <a:xfrm>
            <a:off x="6360525" y="5311180"/>
            <a:ext cx="5257800" cy="6545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400" dirty="0">
                <a:effectLst/>
                <a:latin typeface="Arial" panose="020B0604020202020204" pitchFamily="34" charset="0"/>
                <a:ea typeface="Times New Roman" panose="02020603050405020304" pitchFamily="18" charset="0"/>
              </a:rPr>
              <a:t>We provide optimal hosting for WordPress sites.</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707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5B9B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a:solidFill>
                  <a:schemeClr val="bg1"/>
                </a:solidFill>
                <a:latin typeface="Arial" panose="020B0604020202020204" pitchFamily="34" charset="0"/>
                <a:cs typeface="Arial" panose="020B0604020202020204" pitchFamily="34" charset="0"/>
              </a:rPr>
              <a:t>Q &amp; A / Next steps</a:t>
            </a:r>
            <a:endParaRPr lang="en-US" sz="3200">
              <a:solidFill>
                <a:schemeClr val="bg1"/>
              </a:solidFill>
            </a:endParaRPr>
          </a:p>
        </p:txBody>
      </p:sp>
    </p:spTree>
    <p:extLst>
      <p:ext uri="{BB962C8B-B14F-4D97-AF65-F5344CB8AC3E}">
        <p14:creationId xmlns:p14="http://schemas.microsoft.com/office/powerpoint/2010/main" val="2052943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5B9B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Frequently Asked Questions</a:t>
            </a:r>
            <a:endParaRPr lang="en-US" sz="3200" dirty="0">
              <a:solidFill>
                <a:schemeClr val="bg1"/>
              </a:solidFill>
            </a:endParaRPr>
          </a:p>
        </p:txBody>
      </p:sp>
    </p:spTree>
    <p:extLst>
      <p:ext uri="{BB962C8B-B14F-4D97-AF65-F5344CB8AC3E}">
        <p14:creationId xmlns:p14="http://schemas.microsoft.com/office/powerpoint/2010/main" val="2720541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448056" y="571815"/>
            <a:ext cx="4370832" cy="226182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indent="-342900">
              <a:spcBef>
                <a:spcPts val="500"/>
              </a:spcBef>
              <a:spcAft>
                <a:spcPts val="0"/>
              </a:spcAft>
              <a:buAutoNum type="arabicPeriod"/>
            </a:pPr>
            <a:r>
              <a:rPr lang="en-US" sz="1200" b="1" dirty="0">
                <a:solidFill>
                  <a:srgbClr val="5B9BD5"/>
                </a:solidFill>
                <a:effectLst/>
                <a:latin typeface="Arial" panose="020B0604020202020204" pitchFamily="34" charset="0"/>
                <a:ea typeface="MS Mincho" panose="02020609040205080304" pitchFamily="49" charset="-128"/>
                <a:cs typeface="Arial" panose="020B0604020202020204" pitchFamily="34" charset="0"/>
              </a:rPr>
              <a:t>What is the cost of a custom website design?</a:t>
            </a:r>
          </a:p>
          <a:p>
            <a:pPr marL="0" marR="0" indent="0">
              <a:spcBef>
                <a:spcPts val="500"/>
              </a:spcBef>
              <a:spcAft>
                <a:spcPts val="0"/>
              </a:spcAft>
              <a:buNone/>
            </a:pPr>
            <a:endParaRPr lang="en-US" sz="1200" dirty="0">
              <a:effectLst/>
              <a:latin typeface="Arial" panose="020B0604020202020204" pitchFamily="34" charset="0"/>
              <a:ea typeface="Times New Roman" panose="02020603050405020304" pitchFamily="18" charset="0"/>
            </a:endParaRPr>
          </a:p>
          <a:p>
            <a:pPr marL="0" marR="0" indent="0">
              <a:lnSpc>
                <a:spcPct val="107000"/>
              </a:lnSpc>
              <a:spcBef>
                <a:spcPts val="0"/>
              </a:spcBef>
              <a:spcAft>
                <a:spcPts val="800"/>
              </a:spcAft>
              <a:buNone/>
            </a:pPr>
            <a:r>
              <a:rPr lang="en-US" sz="1200" dirty="0">
                <a:effectLst/>
                <a:latin typeface="Arial" panose="020B0604020202020204" pitchFamily="34" charset="0"/>
                <a:ea typeface="Calibri" panose="020F0502020204030204" pitchFamily="34" charset="0"/>
                <a:cs typeface="Arial" panose="020B0604020202020204" pitchFamily="34" charset="0"/>
              </a:rPr>
              <a:t>The cost of a custom website design varies depending on your website needs. They typically start at about $3,500 and go up from there depending on functionality.</a:t>
            </a:r>
            <a:endParaRPr lang="en-US" sz="1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07F7BBF-03E8-2C23-302A-6C9602879203}"/>
              </a:ext>
            </a:extLst>
          </p:cNvPr>
          <p:cNvSpPr txBox="1">
            <a:spLocks/>
          </p:cNvSpPr>
          <p:nvPr/>
        </p:nvSpPr>
        <p:spPr>
          <a:xfrm>
            <a:off x="6096000" y="571815"/>
            <a:ext cx="4370832" cy="280085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200" b="1" dirty="0">
                <a:solidFill>
                  <a:srgbClr val="5B9BD5"/>
                </a:solidFill>
                <a:effectLst/>
                <a:latin typeface="Arial" panose="020B0604020202020204" pitchFamily="34" charset="0"/>
                <a:ea typeface="MS Mincho" panose="02020609040205080304" pitchFamily="49" charset="-128"/>
                <a:cs typeface="Arial" panose="020B0604020202020204" pitchFamily="34" charset="0"/>
              </a:rPr>
              <a:t>2. How long until I receive my proposal?</a:t>
            </a:r>
          </a:p>
          <a:p>
            <a:pPr marL="0" marR="0" indent="0" fontAlgn="base">
              <a:spcBef>
                <a:spcPts val="0"/>
              </a:spcBef>
              <a:spcAft>
                <a:spcPts val="0"/>
              </a:spcAft>
              <a:buNone/>
            </a:pPr>
            <a:endParaRPr lang="en-US" sz="1200" dirty="0">
              <a:solidFill>
                <a:srgbClr val="5B9BD5"/>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500"/>
              </a:spcBef>
              <a:spcAft>
                <a:spcPts val="0"/>
              </a:spcAft>
              <a:buNone/>
            </a:pPr>
            <a:r>
              <a:rPr lang="en-US" sz="1200" dirty="0">
                <a:effectLst/>
                <a:latin typeface="Arial" panose="020B0604020202020204" pitchFamily="34" charset="0"/>
                <a:ea typeface="Times New Roman" panose="02020603050405020304" pitchFamily="18" charset="0"/>
                <a:cs typeface="Arial" panose="020B0604020202020204" pitchFamily="34" charset="0"/>
              </a:rPr>
              <a:t>You will receive the proposal within 2-3 business days. You will have time to go over it before you decide to move forward.</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4" name="Content Placeholder 2">
            <a:extLst>
              <a:ext uri="{FF2B5EF4-FFF2-40B4-BE49-F238E27FC236}">
                <a16:creationId xmlns:a16="http://schemas.microsoft.com/office/drawing/2014/main" id="{D3F1B8E2-2F32-2061-F50E-0B1D6E6209DF}"/>
              </a:ext>
            </a:extLst>
          </p:cNvPr>
          <p:cNvSpPr txBox="1">
            <a:spLocks/>
          </p:cNvSpPr>
          <p:nvPr/>
        </p:nvSpPr>
        <p:spPr>
          <a:xfrm>
            <a:off x="6096000" y="3643485"/>
            <a:ext cx="4370832" cy="249861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200" b="1" dirty="0">
                <a:solidFill>
                  <a:srgbClr val="5B9BD5"/>
                </a:solidFill>
                <a:effectLst/>
                <a:latin typeface="Arial" panose="020B0604020202020204" pitchFamily="34" charset="0"/>
                <a:ea typeface="MS Mincho" panose="02020609040205080304" pitchFamily="49" charset="-128"/>
                <a:cs typeface="Arial" panose="020B0604020202020204" pitchFamily="34" charset="0"/>
              </a:rPr>
              <a:t>4. Do I own my website? What if I want to move it to another provider?</a:t>
            </a:r>
          </a:p>
          <a:p>
            <a:pPr marL="0" marR="0" indent="0">
              <a:spcBef>
                <a:spcPts val="500"/>
              </a:spcBef>
              <a:spcAft>
                <a:spcPts val="0"/>
              </a:spcAft>
              <a:buNone/>
            </a:pPr>
            <a:endParaRPr lang="en-US" sz="1200" b="1" dirty="0">
              <a:solidFill>
                <a:srgbClr val="C00000"/>
              </a:solidFill>
              <a:latin typeface="Arial" panose="020B0604020202020204" pitchFamily="34" charset="0"/>
              <a:ea typeface="MS Mincho" panose="02020609040205080304" pitchFamily="49" charset="-128"/>
              <a:cs typeface="Arial" panose="020B0604020202020204" pitchFamily="34" charset="0"/>
            </a:endParaRPr>
          </a:p>
          <a:p>
            <a:pPr marL="0" marR="0" indent="0">
              <a:lnSpc>
                <a:spcPct val="107000"/>
              </a:lnSpc>
              <a:spcBef>
                <a:spcPts val="0"/>
              </a:spcBef>
              <a:spcAft>
                <a:spcPts val="800"/>
              </a:spcAft>
              <a:buNone/>
            </a:pPr>
            <a:r>
              <a:rPr lang="en-US" sz="1200" dirty="0">
                <a:effectLst/>
                <a:latin typeface="Arial" panose="020B0604020202020204" pitchFamily="34" charset="0"/>
                <a:ea typeface="Calibri" panose="020F0502020204030204" pitchFamily="34" charset="0"/>
                <a:cs typeface="Arial" panose="020B0604020202020204" pitchFamily="34" charset="0"/>
              </a:rPr>
              <a:t>Yes, you completely own the website! If you choose to move it to another provider you can move it, as long as they support WordPress sites. </a:t>
            </a:r>
            <a:endParaRPr lang="en-US" sz="1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2BF6A380-B2ED-72B3-89F0-D340F2359286}"/>
              </a:ext>
            </a:extLst>
          </p:cNvPr>
          <p:cNvSpPr txBox="1">
            <a:spLocks/>
          </p:cNvSpPr>
          <p:nvPr/>
        </p:nvSpPr>
        <p:spPr>
          <a:xfrm>
            <a:off x="448056" y="3372673"/>
            <a:ext cx="4370832" cy="298793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200" b="1" dirty="0">
                <a:solidFill>
                  <a:srgbClr val="5B9BD5"/>
                </a:solidFill>
                <a:effectLst/>
                <a:latin typeface="Arial" panose="020B0604020202020204" pitchFamily="34" charset="0"/>
                <a:ea typeface="MS Mincho" panose="02020609040205080304" pitchFamily="49" charset="-128"/>
                <a:cs typeface="Arial" panose="020B0604020202020204" pitchFamily="34" charset="0"/>
              </a:rPr>
              <a:t>3. What is the difference between a custom website design and a templated website?</a:t>
            </a:r>
          </a:p>
          <a:p>
            <a:pPr marL="0" marR="0" indent="0">
              <a:spcBef>
                <a:spcPts val="500"/>
              </a:spcBef>
              <a:spcAft>
                <a:spcPts val="0"/>
              </a:spcAft>
              <a:buNone/>
            </a:pPr>
            <a:endParaRPr lang="en-US" sz="1200" b="1" dirty="0">
              <a:solidFill>
                <a:srgbClr val="C00000"/>
              </a:solidFill>
              <a:latin typeface="Arial" panose="020B0604020202020204" pitchFamily="34" charset="0"/>
              <a:ea typeface="MS Mincho" panose="02020609040205080304" pitchFamily="49" charset="-128"/>
              <a:cs typeface="Arial" panose="020B0604020202020204" pitchFamily="34" charset="0"/>
            </a:endParaRPr>
          </a:p>
          <a:p>
            <a:pPr marL="0" marR="0" indent="0">
              <a:lnSpc>
                <a:spcPct val="107000"/>
              </a:lnSpc>
              <a:spcBef>
                <a:spcPts val="0"/>
              </a:spcBef>
              <a:spcAft>
                <a:spcPts val="800"/>
              </a:spcAft>
              <a:buNone/>
            </a:pPr>
            <a:r>
              <a:rPr lang="en-US" sz="1200" dirty="0">
                <a:effectLst/>
                <a:latin typeface="Arial" panose="020B0604020202020204" pitchFamily="34" charset="0"/>
                <a:ea typeface="Calibri" panose="020F0502020204030204" pitchFamily="34" charset="0"/>
                <a:cs typeface="Arial" panose="020B0604020202020204" pitchFamily="34" charset="0"/>
              </a:rPr>
              <a:t>A custom website is built for your business, and everything is designed with your goals, brand and needs in mind. Think of buying a suit. You have two options; you can buy one off the rack or have one custom made. The one off the rack will fit anyone with your measurements, you can make minor changes to make it fit better however anyone can have one just like it. A custom tailor-made suit is made with your specific measurements, it’s made to fit your body. </a:t>
            </a:r>
            <a:endParaRPr lang="en-US" sz="12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96760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5B9B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Probing Questions</a:t>
            </a:r>
            <a:endParaRPr lang="en-US" sz="3200" dirty="0">
              <a:solidFill>
                <a:schemeClr val="bg1"/>
              </a:solidFill>
            </a:endParaRPr>
          </a:p>
        </p:txBody>
      </p:sp>
    </p:spTree>
    <p:extLst>
      <p:ext uri="{BB962C8B-B14F-4D97-AF65-F5344CB8AC3E}">
        <p14:creationId xmlns:p14="http://schemas.microsoft.com/office/powerpoint/2010/main" val="1065700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631574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spcBef>
                <a:spcPts val="0"/>
              </a:spcBef>
              <a:spcAft>
                <a:spcPts val="0"/>
              </a:spcAft>
            </a:pPr>
            <a:endParaRPr lang="en-US" sz="1800" dirty="0">
              <a:effectLst/>
              <a:latin typeface="Arial" panose="020B0604020202020204" pitchFamily="34" charset="0"/>
              <a:ea typeface="MS Mincho" panose="02020609040205080304" pitchFamily="49" charset="-128"/>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5968339" y="3429000"/>
            <a:ext cx="4440572" cy="238481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Bef>
                <a:spcPts val="0"/>
              </a:spcBef>
              <a:buNone/>
            </a:pPr>
            <a:r>
              <a:rPr lang="en-US" sz="1400" b="1" dirty="0">
                <a:solidFill>
                  <a:srgbClr val="5B9BD5"/>
                </a:solidFill>
                <a:effectLst/>
                <a:latin typeface="Arial" panose="020B0604020202020204" pitchFamily="34" charset="0"/>
                <a:ea typeface="Times New Roman" panose="02020603050405020304" pitchFamily="18" charset="0"/>
                <a:cs typeface="Arial" panose="020B0604020202020204" pitchFamily="34" charset="0"/>
              </a:rPr>
              <a:t>Do you want to own your website design?</a:t>
            </a:r>
          </a:p>
          <a:p>
            <a:pPr marL="0" indent="0" fontAlgn="base">
              <a:spcBef>
                <a:spcPts val="0"/>
              </a:spcBef>
              <a:buNone/>
            </a:pPr>
            <a:endParaRPr lang="en-US" sz="1400" b="1" dirty="0">
              <a:solidFill>
                <a:srgbClr val="5B9BD5"/>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lnSpc>
                <a:spcPct val="107000"/>
              </a:lnSpc>
              <a:spcBef>
                <a:spcPts val="0"/>
              </a:spcBef>
              <a:spcAft>
                <a:spcPts val="800"/>
              </a:spcAft>
              <a:buNone/>
            </a:pPr>
            <a:r>
              <a:rPr lang="en-US" sz="1400" dirty="0">
                <a:effectLst/>
                <a:latin typeface="Arial" panose="020B0604020202020204" pitchFamily="34" charset="0"/>
                <a:ea typeface="Calibri" panose="020F0502020204030204" pitchFamily="34" charset="0"/>
                <a:cs typeface="Arial" panose="020B0604020202020204" pitchFamily="34" charset="0"/>
              </a:rPr>
              <a:t>Custom websites are built on WordPress and you are given full ownership to the site. This allows you to choose what happens to your site. You can change hosting providers as long as they support WordPress sites. You can also make your own changes.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E3E736E-02FD-5C00-7E1F-0B7E4E121E12}"/>
              </a:ext>
            </a:extLst>
          </p:cNvPr>
          <p:cNvSpPr txBox="1">
            <a:spLocks/>
          </p:cNvSpPr>
          <p:nvPr/>
        </p:nvSpPr>
        <p:spPr>
          <a:xfrm>
            <a:off x="687224" y="744574"/>
            <a:ext cx="4702993" cy="229949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400" b="1" dirty="0">
                <a:solidFill>
                  <a:srgbClr val="5B9BD5"/>
                </a:solidFill>
                <a:effectLst/>
                <a:latin typeface="Arial" panose="020B0604020202020204" pitchFamily="34" charset="0"/>
                <a:ea typeface="Times New Roman" panose="02020603050405020304" pitchFamily="18" charset="0"/>
                <a:cs typeface="Arial" panose="020B0604020202020204" pitchFamily="34" charset="0"/>
              </a:rPr>
              <a:t>Are there any specific features/ advanced functionality you’re looking to get from your website?</a:t>
            </a:r>
          </a:p>
          <a:p>
            <a:pPr marL="0" marR="0" indent="0" fontAlgn="base">
              <a:spcBef>
                <a:spcPts val="0"/>
              </a:spcBef>
              <a:spcAft>
                <a:spcPts val="0"/>
              </a:spcAft>
              <a:buNone/>
            </a:pPr>
            <a:endParaRPr lang="en-US" sz="1400" dirty="0">
              <a:solidFill>
                <a:srgbClr val="5B9BD5"/>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fontAlgn="base">
              <a:spcBef>
                <a:spcPts val="0"/>
              </a:spcBef>
              <a:spcAft>
                <a:spcPts val="0"/>
              </a:spcAft>
              <a:buSzPts val="1000"/>
              <a:buNone/>
              <a:tabLst>
                <a:tab pos="457200" algn="l"/>
              </a:tabLst>
            </a:pPr>
            <a:r>
              <a:rPr lang="en-US" sz="1400" dirty="0">
                <a:solidFill>
                  <a:srgbClr val="000000"/>
                </a:solidFill>
                <a:effectLst/>
                <a:latin typeface="Arial" panose="020B0604020202020204" pitchFamily="34" charset="0"/>
                <a:ea typeface="Times New Roman" panose="02020603050405020304" pitchFamily="18" charset="0"/>
              </a:rPr>
              <a:t>With a custom website design, you are not constrained by the limits of a template. Anything is possible. If you want to embed 3rd party software or have a database within the site, a custom website will fit the needs of your business. </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4" name="Content Placeholder 2">
            <a:extLst>
              <a:ext uri="{FF2B5EF4-FFF2-40B4-BE49-F238E27FC236}">
                <a16:creationId xmlns:a16="http://schemas.microsoft.com/office/drawing/2014/main" id="{2AC7514F-3A8B-FC66-886A-105E74F5A771}"/>
              </a:ext>
            </a:extLst>
          </p:cNvPr>
          <p:cNvSpPr txBox="1">
            <a:spLocks/>
          </p:cNvSpPr>
          <p:nvPr/>
        </p:nvSpPr>
        <p:spPr>
          <a:xfrm>
            <a:off x="5968339" y="744574"/>
            <a:ext cx="4777958" cy="19643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1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 </a:t>
            </a:r>
            <a:r>
              <a:rPr lang="en-US" sz="1400" b="1" dirty="0">
                <a:solidFill>
                  <a:srgbClr val="5B9BD5"/>
                </a:solidFill>
                <a:effectLst/>
                <a:latin typeface="Arial" panose="020B0604020202020204" pitchFamily="34" charset="0"/>
                <a:ea typeface="Times New Roman" panose="02020603050405020304" pitchFamily="18" charset="0"/>
                <a:cs typeface="Arial" panose="020B0604020202020204" pitchFamily="34" charset="0"/>
              </a:rPr>
              <a:t>Do you want a unique design/brand?</a:t>
            </a:r>
          </a:p>
          <a:p>
            <a:pPr marL="0" marR="0" indent="0" fontAlgn="base">
              <a:spcBef>
                <a:spcPts val="0"/>
              </a:spcBef>
              <a:spcAft>
                <a:spcPts val="0"/>
              </a:spcAft>
              <a:buNone/>
            </a:pPr>
            <a:endParaRPr lang="en-US" sz="1500" b="1" dirty="0">
              <a:solidFill>
                <a:srgbClr val="5B9BD5"/>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lnSpc>
                <a:spcPct val="107000"/>
              </a:lnSpc>
              <a:spcBef>
                <a:spcPts val="0"/>
              </a:spcBef>
              <a:spcAft>
                <a:spcPts val="800"/>
              </a:spcAft>
              <a:buNone/>
            </a:pPr>
            <a:r>
              <a:rPr lang="en-US" sz="1500" dirty="0">
                <a:effectLst/>
                <a:latin typeface="Arial" panose="020B0604020202020204" pitchFamily="34" charset="0"/>
                <a:ea typeface="Calibri" panose="020F0502020204030204" pitchFamily="34" charset="0"/>
                <a:cs typeface="Arial" panose="020B0604020202020204" pitchFamily="34" charset="0"/>
              </a:rPr>
              <a:t>A custom website is a great way to have a unique website that represents your brand. With the freedom to create your vision and think outside of the box your website will be unique just like your business. Stand out from the competition with a site unlike any other. </a:t>
            </a:r>
            <a:endParaRPr lang="en-US" sz="15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7163A6A9-5C02-DCA8-F133-35F7733ED09D}"/>
              </a:ext>
            </a:extLst>
          </p:cNvPr>
          <p:cNvSpPr txBox="1">
            <a:spLocks/>
          </p:cNvSpPr>
          <p:nvPr/>
        </p:nvSpPr>
        <p:spPr>
          <a:xfrm>
            <a:off x="687224" y="3429000"/>
            <a:ext cx="4631396" cy="2507829"/>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600" b="1" dirty="0">
                <a:solidFill>
                  <a:srgbClr val="5B9BD5"/>
                </a:solidFill>
                <a:effectLst/>
                <a:latin typeface="Arial" panose="020B0604020202020204" pitchFamily="34" charset="0"/>
                <a:ea typeface="Times New Roman" panose="02020603050405020304" pitchFamily="18" charset="0"/>
                <a:cs typeface="Arial" panose="020B0604020202020204" pitchFamily="34" charset="0"/>
              </a:rPr>
              <a:t>I noticed your website has not been updated in a long time. Why not?</a:t>
            </a:r>
          </a:p>
          <a:p>
            <a:pPr marL="0" marR="0" indent="0" fontAlgn="base">
              <a:spcBef>
                <a:spcPts val="0"/>
              </a:spcBef>
              <a:spcAft>
                <a:spcPts val="0"/>
              </a:spcAft>
              <a:buNone/>
            </a:pPr>
            <a:endParaRPr lang="en-US" sz="1600" b="1" dirty="0">
              <a:solidFill>
                <a:srgbClr val="5B9BD5"/>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lnSpc>
                <a:spcPct val="107000"/>
              </a:lnSpc>
              <a:spcBef>
                <a:spcPts val="0"/>
              </a:spcBef>
              <a:spcAft>
                <a:spcPts val="800"/>
              </a:spcAft>
              <a:buNone/>
            </a:pPr>
            <a:r>
              <a:rPr lang="en-US" sz="1600" dirty="0">
                <a:effectLst/>
                <a:latin typeface="Arial" panose="020B0604020202020204" pitchFamily="34" charset="0"/>
                <a:ea typeface="Calibri" panose="020F0502020204030204" pitchFamily="34" charset="0"/>
                <a:cs typeface="Arial" panose="020B0604020202020204" pitchFamily="34" charset="0"/>
              </a:rPr>
              <a:t>Stale content can have a negative impact on the search results. Google’s algorithm takes how often your site is updated into account when deciding on ranking, so to stay up to date with your competitors, customers and Google you’ll want to maintain fresh and updated content, pages and more.</a:t>
            </a:r>
          </a:p>
          <a:p>
            <a:pPr marL="0" marR="0" indent="0" fontAlgn="base">
              <a:spcBef>
                <a:spcPts val="0"/>
              </a:spcBef>
              <a:spcAft>
                <a:spcPts val="0"/>
              </a:spcAft>
              <a:buNone/>
            </a:pPr>
            <a:endParaRPr lang="en-US" sz="1500" b="1" dirty="0">
              <a:solidFill>
                <a:srgbClr val="2CADB2"/>
              </a:solidFill>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5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666750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5B9B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Objection Handlers</a:t>
            </a:r>
            <a:endParaRPr lang="en-US" sz="3200" dirty="0">
              <a:solidFill>
                <a:schemeClr val="bg1"/>
              </a:solidFill>
            </a:endParaRPr>
          </a:p>
        </p:txBody>
      </p:sp>
    </p:spTree>
    <p:extLst>
      <p:ext uri="{BB962C8B-B14F-4D97-AF65-F5344CB8AC3E}">
        <p14:creationId xmlns:p14="http://schemas.microsoft.com/office/powerpoint/2010/main" val="506168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475119" y="825308"/>
            <a:ext cx="4702993" cy="208175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400" b="1" dirty="0">
                <a:solidFill>
                  <a:srgbClr val="5B9BD5"/>
                </a:solidFill>
                <a:effectLst/>
                <a:latin typeface="Arial"/>
                <a:ea typeface="Times New Roman" panose="02020603050405020304" pitchFamily="18" charset="0"/>
                <a:cs typeface="Arial"/>
              </a:rPr>
              <a:t>It’s too expensive.</a:t>
            </a:r>
          </a:p>
          <a:p>
            <a:pPr marL="0" marR="0" indent="0" fontAlgn="base">
              <a:lnSpc>
                <a:spcPct val="120000"/>
              </a:lnSpc>
              <a:spcBef>
                <a:spcPts val="0"/>
              </a:spcBef>
              <a:spcAft>
                <a:spcPts val="0"/>
              </a:spcAft>
              <a:buNone/>
            </a:pPr>
            <a:endParaRPr lang="en-US" sz="1400" b="1" dirty="0">
              <a:solidFill>
                <a:srgbClr val="5B9BD5"/>
              </a:solidFill>
              <a:latin typeface="Arial"/>
              <a:ea typeface="Calibri" panose="020F0502020204030204" pitchFamily="34" charset="0"/>
              <a:cs typeface="Arial"/>
            </a:endParaRPr>
          </a:p>
          <a:p>
            <a:pPr marL="0" marR="0" indent="0">
              <a:lnSpc>
                <a:spcPct val="107000"/>
              </a:lnSpc>
              <a:spcBef>
                <a:spcPts val="0"/>
              </a:spcBef>
              <a:spcAft>
                <a:spcPts val="800"/>
              </a:spcAft>
              <a:buNone/>
            </a:pPr>
            <a:r>
              <a:rPr lang="en-US" sz="1400" dirty="0">
                <a:effectLst/>
                <a:latin typeface="Arial" panose="020B0604020202020204" pitchFamily="34" charset="0"/>
                <a:ea typeface="Calibri" panose="020F0502020204030204" pitchFamily="34" charset="0"/>
                <a:cs typeface="Arial" panose="020B0604020202020204" pitchFamily="34" charset="0"/>
              </a:rPr>
              <a:t>What are you comparing it to? I understand this may seem expensive, but this is an investment in your business. All businesses need a website, it shows your customer who you are and what you are capable of, a custom website is unique to your business and shows off your style to your customer.</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49D6E387-4C36-7671-A51A-FCE29B1B5571}"/>
              </a:ext>
            </a:extLst>
          </p:cNvPr>
          <p:cNvSpPr txBox="1">
            <a:spLocks/>
          </p:cNvSpPr>
          <p:nvPr/>
        </p:nvSpPr>
        <p:spPr>
          <a:xfrm>
            <a:off x="6095999" y="825308"/>
            <a:ext cx="4702993" cy="260369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buNone/>
            </a:pPr>
            <a:r>
              <a:rPr lang="en-US" sz="1400" b="1" dirty="0">
                <a:solidFill>
                  <a:srgbClr val="5B9BD5"/>
                </a:solidFill>
                <a:effectLst/>
                <a:latin typeface="Arial"/>
                <a:ea typeface="Times New Roman" panose="02020603050405020304" pitchFamily="18" charset="0"/>
                <a:cs typeface="Arial"/>
              </a:rPr>
              <a:t>I’m not interested.</a:t>
            </a:r>
          </a:p>
          <a:p>
            <a:pPr marL="0" marR="0" indent="0" fontAlgn="base">
              <a:lnSpc>
                <a:spcPct val="120000"/>
              </a:lnSpc>
              <a:spcBef>
                <a:spcPts val="0"/>
              </a:spcBef>
              <a:buNone/>
            </a:pPr>
            <a:endParaRPr lang="en-US" sz="1400" b="1" dirty="0">
              <a:solidFill>
                <a:srgbClr val="5B9BD5"/>
              </a:solidFill>
              <a:effectLst/>
              <a:latin typeface="Arial"/>
              <a:ea typeface="Times New Roman" panose="02020603050405020304" pitchFamily="18" charset="0"/>
              <a:cs typeface="Arial"/>
            </a:endParaRPr>
          </a:p>
          <a:p>
            <a:pPr marL="0" marR="0" indent="0" fontAlgn="base">
              <a:lnSpc>
                <a:spcPct val="120000"/>
              </a:lnSpc>
              <a:spcBef>
                <a:spcPts val="0"/>
              </a:spcBef>
              <a:buNone/>
            </a:pPr>
            <a:r>
              <a:rPr lang="en-US" sz="1400" dirty="0">
                <a:effectLst/>
                <a:latin typeface="Arial" panose="020B0604020202020204" pitchFamily="34" charset="0"/>
                <a:ea typeface="Arial" panose="020B0604020202020204" pitchFamily="34" charset="0"/>
                <a:cs typeface="Times New Roman" panose="02020603050405020304" pitchFamily="18" charset="0"/>
              </a:rPr>
              <a:t>Why not? First impressions matter and without a fresh updated design potential customers may go with your competition. A custom website allows you to customize the site to fit your business needs. Get the right design for your business. 94% of people say web design is the reason they mistrust a website (</a:t>
            </a:r>
            <a:r>
              <a:rPr lang="en-US" sz="1400" dirty="0">
                <a:effectLst/>
                <a:latin typeface="Arial" panose="020B0604020202020204" pitchFamily="34" charset="0"/>
                <a:ea typeface="Arial" panose="020B0604020202020204" pitchFamily="34" charset="0"/>
                <a:cs typeface="Times New Roman" panose="02020603050405020304" pitchFamily="18" charset="0"/>
                <a:hlinkClick r:id="rId3"/>
              </a:rPr>
              <a:t>DatAchieve Digital, 2022</a:t>
            </a:r>
            <a:r>
              <a:rPr lang="en-US" sz="1400" dirty="0">
                <a:effectLst/>
                <a:latin typeface="Arial" panose="020B0604020202020204" pitchFamily="34" charset="0"/>
                <a:ea typeface="Arial" panose="020B0604020202020204" pitchFamily="34" charset="0"/>
                <a:cs typeface="Times New Roman" panose="02020603050405020304" pitchFamily="18" charset="0"/>
              </a:rPr>
              <a:t>) </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9" name="Content Placeholder 2">
            <a:extLst>
              <a:ext uri="{FF2B5EF4-FFF2-40B4-BE49-F238E27FC236}">
                <a16:creationId xmlns:a16="http://schemas.microsoft.com/office/drawing/2014/main" id="{A11A4F0C-1CA1-5640-F05A-5E8F4425735A}"/>
              </a:ext>
            </a:extLst>
          </p:cNvPr>
          <p:cNvSpPr txBox="1">
            <a:spLocks/>
          </p:cNvSpPr>
          <p:nvPr/>
        </p:nvSpPr>
        <p:spPr>
          <a:xfrm>
            <a:off x="475119" y="3672493"/>
            <a:ext cx="5229396" cy="285085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400" b="1" dirty="0">
                <a:solidFill>
                  <a:srgbClr val="5B9BD5"/>
                </a:solidFill>
                <a:effectLst/>
                <a:latin typeface="Arial"/>
                <a:ea typeface="Times New Roman" panose="02020603050405020304" pitchFamily="18" charset="0"/>
                <a:cs typeface="Arial"/>
              </a:rPr>
              <a:t>I already have a website.</a:t>
            </a:r>
          </a:p>
          <a:p>
            <a:pPr marL="0" marR="0" indent="0" fontAlgn="base">
              <a:lnSpc>
                <a:spcPct val="120000"/>
              </a:lnSpc>
              <a:spcBef>
                <a:spcPts val="0"/>
              </a:spcBef>
              <a:spcAft>
                <a:spcPts val="0"/>
              </a:spcAft>
              <a:buNone/>
            </a:pPr>
            <a:endParaRPr lang="en-US" sz="1400" b="1" dirty="0">
              <a:solidFill>
                <a:srgbClr val="5B9BD5"/>
              </a:solidFill>
              <a:latin typeface="Arial"/>
              <a:ea typeface="Times New Roman" panose="02020603050405020304" pitchFamily="18" charset="0"/>
              <a:cs typeface="Arial"/>
            </a:endParaRPr>
          </a:p>
          <a:p>
            <a:pPr marL="0" marR="0" indent="0">
              <a:lnSpc>
                <a:spcPct val="107000"/>
              </a:lnSpc>
              <a:spcBef>
                <a:spcPts val="0"/>
              </a:spcBef>
              <a:spcAft>
                <a:spcPts val="800"/>
              </a:spcAft>
              <a:buNone/>
            </a:pPr>
            <a:r>
              <a:rPr lang="en-US" sz="1400" dirty="0">
                <a:effectLst/>
                <a:latin typeface="Arial" panose="020B0604020202020204" pitchFamily="34" charset="0"/>
                <a:ea typeface="Calibri" panose="020F0502020204030204" pitchFamily="34" charset="0"/>
                <a:cs typeface="Arial" panose="020B0604020202020204" pitchFamily="34" charset="0"/>
              </a:rPr>
              <a:t>Is your website working for you and your business? Is it driving traffic to your business and attracting new customers? Do you update it frequently and is it SEO friendly and mobile responsive? I realize you already have a website but to remain competitive in today’s market you need a website that is designed to work on multiple devices, updated frequently with fresh content and images. Let me run a website assessment on your current site to see how you measure up to your competition.</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3B629D0D-EF80-6CD1-0BCD-E32F8CF870C8}"/>
              </a:ext>
            </a:extLst>
          </p:cNvPr>
          <p:cNvSpPr txBox="1">
            <a:spLocks/>
          </p:cNvSpPr>
          <p:nvPr/>
        </p:nvSpPr>
        <p:spPr>
          <a:xfrm>
            <a:off x="6095999" y="3672493"/>
            <a:ext cx="5229396" cy="20817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400" b="1" dirty="0">
                <a:solidFill>
                  <a:srgbClr val="5B9BD5"/>
                </a:solidFill>
                <a:effectLst/>
                <a:latin typeface="Arial"/>
                <a:ea typeface="Times New Roman" panose="02020603050405020304" pitchFamily="18" charset="0"/>
                <a:cs typeface="Arial"/>
              </a:rPr>
              <a:t>I can build it myself. </a:t>
            </a:r>
          </a:p>
          <a:p>
            <a:pPr marL="0" marR="0" indent="0" fontAlgn="base">
              <a:lnSpc>
                <a:spcPct val="120000"/>
              </a:lnSpc>
              <a:spcBef>
                <a:spcPts val="0"/>
              </a:spcBef>
              <a:spcAft>
                <a:spcPts val="0"/>
              </a:spcAft>
              <a:buNone/>
            </a:pPr>
            <a:endParaRPr lang="en-US" sz="1400" b="1" dirty="0">
              <a:solidFill>
                <a:srgbClr val="C00000"/>
              </a:solidFill>
              <a:effectLst/>
              <a:latin typeface="Arial"/>
              <a:ea typeface="Times New Roman" panose="02020603050405020304" pitchFamily="18" charset="0"/>
              <a:cs typeface="Arial"/>
            </a:endParaRPr>
          </a:p>
          <a:p>
            <a:pPr marL="0" marR="0" indent="0" fontAlgn="base">
              <a:lnSpc>
                <a:spcPct val="120000"/>
              </a:lnSpc>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rPr>
              <a:t>Are you familiar with website standards? Do you have the time to devote to building a site? Custom sites have a whole team that is dedicated to building your site and they can maintain it for you so you can focus on your business. </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3752453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5B9B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Test Your Knowledge</a:t>
            </a:r>
            <a:endParaRPr lang="en-US" sz="3200" dirty="0">
              <a:solidFill>
                <a:schemeClr val="bg1"/>
              </a:solidFill>
            </a:endParaRPr>
          </a:p>
        </p:txBody>
      </p:sp>
    </p:spTree>
    <p:extLst>
      <p:ext uri="{BB962C8B-B14F-4D97-AF65-F5344CB8AC3E}">
        <p14:creationId xmlns:p14="http://schemas.microsoft.com/office/powerpoint/2010/main" val="3109488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6836735" y="744574"/>
            <a:ext cx="4885365"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6. What is the starting cost of a custom website design?</a:t>
            </a:r>
          </a:p>
          <a:p>
            <a:pPr marL="0" indent="0">
              <a:spcBef>
                <a:spcPts val="500"/>
              </a:spcBef>
              <a:buNone/>
            </a:pPr>
            <a:r>
              <a:rPr lang="en-US" sz="1050" dirty="0">
                <a:latin typeface="Arial" panose="020B0604020202020204" pitchFamily="34" charset="0"/>
                <a:ea typeface="Times New Roman" panose="02020603050405020304" pitchFamily="18" charset="0"/>
                <a:cs typeface="Arial" panose="020B0604020202020204" pitchFamily="34" charset="0"/>
              </a:rPr>
              <a:t>A) $2,000</a:t>
            </a:r>
          </a:p>
          <a:p>
            <a:pPr marL="0" indent="0">
              <a:spcBef>
                <a:spcPts val="500"/>
              </a:spcBef>
              <a:buNone/>
            </a:pPr>
            <a:r>
              <a:rPr lang="en-US" sz="1050" dirty="0">
                <a:latin typeface="Arial" panose="020B0604020202020204" pitchFamily="34" charset="0"/>
                <a:ea typeface="Times New Roman" panose="02020603050405020304" pitchFamily="18" charset="0"/>
                <a:cs typeface="Arial" panose="020B0604020202020204" pitchFamily="34" charset="0"/>
              </a:rPr>
              <a:t>B) $5,000</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indent="0">
              <a:spcBef>
                <a:spcPts val="50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a:t>
            </a:r>
            <a:r>
              <a:rPr lang="en-US" sz="1050" dirty="0">
                <a:latin typeface="Arial" panose="020B0604020202020204" pitchFamily="34" charset="0"/>
                <a:ea typeface="Times New Roman" panose="02020603050405020304" pitchFamily="18" charset="0"/>
                <a:cs typeface="Arial" panose="020B0604020202020204" pitchFamily="34" charset="0"/>
              </a:rPr>
              <a:t>$3,500</a:t>
            </a:r>
            <a:endParaRPr lang="en-US" sz="1050" dirty="0">
              <a:solidFill>
                <a:srgbClr val="000000"/>
              </a:solidFill>
              <a:effectLst/>
              <a:latin typeface="Arial" panose="020B0604020202020204" pitchFamily="34" charset="0"/>
              <a:ea typeface="Times New Roman" panose="02020603050405020304" pitchFamily="18" charset="0"/>
            </a:endParaRPr>
          </a:p>
          <a:p>
            <a:pPr marL="0" indent="0">
              <a:spcBef>
                <a:spcPts val="50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$8,000</a:t>
            </a:r>
          </a:p>
          <a:p>
            <a:pPr marL="0" indent="0">
              <a:spcBef>
                <a:spcPts val="500"/>
              </a:spcBef>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7. True or False: The custom website is paid in </a:t>
            </a:r>
            <a:r>
              <a:rPr lang="en-US" sz="1050" b="1" dirty="0">
                <a:latin typeface="Arial" panose="020B0604020202020204" pitchFamily="34" charset="0"/>
                <a:ea typeface="Times New Roman" panose="02020603050405020304" pitchFamily="18" charset="0"/>
                <a:cs typeface="Arial" panose="020B0604020202020204" pitchFamily="34" charset="0"/>
              </a:rPr>
              <a:t>one</a:t>
            </a:r>
            <a:r>
              <a:rPr lang="en-US" sz="1050" b="1" dirty="0">
                <a:effectLst/>
                <a:latin typeface="Arial" panose="020B0604020202020204" pitchFamily="34" charset="0"/>
                <a:ea typeface="Times New Roman" panose="02020603050405020304" pitchFamily="18" charset="0"/>
                <a:cs typeface="Arial" panose="020B0604020202020204" pitchFamily="34" charset="0"/>
              </a:rPr>
              <a:t> lump-sum </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8. How long will it take to design the website?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30 days</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4-8 weeks</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a:t>
            </a:r>
            <a:r>
              <a:rPr lang="en-US" sz="1050" dirty="0">
                <a:latin typeface="Arial" panose="020B0604020202020204" pitchFamily="34" charset="0"/>
                <a:ea typeface="Times New Roman" panose="02020603050405020304" pitchFamily="18" charset="0"/>
                <a:cs typeface="Arial" panose="020B0604020202020204" pitchFamily="34" charset="0"/>
              </a:rPr>
              <a:t>3 months</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2 weeks</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9. Which are </a:t>
            </a:r>
            <a:r>
              <a:rPr lang="en-US" sz="1050" b="1" dirty="0">
                <a:latin typeface="Arial" panose="020B0604020202020204" pitchFamily="34" charset="0"/>
                <a:ea typeface="Times New Roman" panose="02020603050405020304" pitchFamily="18" charset="0"/>
                <a:cs typeface="Arial" panose="020B0604020202020204" pitchFamily="34" charset="0"/>
              </a:rPr>
              <a:t>key features of custom website design?</a:t>
            </a:r>
            <a:endParaRPr lang="en-US" sz="1050" b="1"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a:t>
            </a:r>
            <a:r>
              <a:rPr lang="en-US" sz="1050" dirty="0">
                <a:latin typeface="Arial" panose="020B0604020202020204" pitchFamily="34" charset="0"/>
                <a:ea typeface="Times New Roman" panose="02020603050405020304" pitchFamily="18" charset="0"/>
                <a:cs typeface="Arial" panose="020B0604020202020204" pitchFamily="34" charset="0"/>
              </a:rPr>
              <a:t>Collaborate with experienced designers </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Multiple revisions</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Built on WordPress</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10. </a:t>
            </a:r>
            <a:r>
              <a:rPr lang="en-US" sz="1050" b="1" dirty="0">
                <a:latin typeface="Arial" panose="020B0604020202020204" pitchFamily="34" charset="0"/>
                <a:ea typeface="Times New Roman" panose="02020603050405020304" pitchFamily="18" charset="0"/>
                <a:cs typeface="Arial" panose="020B0604020202020204" pitchFamily="34" charset="0"/>
              </a:rPr>
              <a:t>True or False: A custom website is built with your business in mind.</a:t>
            </a:r>
            <a:endParaRPr lang="en-US" sz="1050" b="1" dirty="0">
              <a:effectLst/>
              <a:latin typeface="Arial" panose="020B0604020202020204" pitchFamily="34" charset="0"/>
              <a:ea typeface="Times New Roman" panose="02020603050405020304" pitchFamily="18" charset="0"/>
              <a:cs typeface="Arial" panose="020B0604020202020204" pitchFamily="34" charset="0"/>
            </a:endParaRPr>
          </a:p>
          <a:p>
            <a:pPr marR="0" fontAlgn="base">
              <a:lnSpc>
                <a:spcPct val="120000"/>
              </a:lnSpc>
              <a:spcBef>
                <a:spcPts val="0"/>
              </a:spcBef>
              <a:spcAft>
                <a:spcPts val="0"/>
              </a:spcAft>
              <a:buAutoNum type="alphaUcParenR"/>
            </a:pPr>
            <a:r>
              <a:rPr lang="en-US" sz="1050" dirty="0">
                <a:effectLst/>
                <a:latin typeface="Arial" panose="020B0604020202020204" pitchFamily="34" charset="0"/>
                <a:ea typeface="Times New Roman" panose="02020603050405020304" pitchFamily="18" charset="0"/>
                <a:cs typeface="Arial" panose="020B0604020202020204" pitchFamily="34" charset="0"/>
              </a:rPr>
              <a:t>True</a:t>
            </a:r>
          </a:p>
          <a:p>
            <a:pPr marR="0" fontAlgn="base">
              <a:lnSpc>
                <a:spcPct val="120000"/>
              </a:lnSpc>
              <a:spcBef>
                <a:spcPts val="0"/>
              </a:spcBef>
              <a:spcAft>
                <a:spcPts val="0"/>
              </a:spcAft>
              <a:buAutoNum type="alphaUcParenR"/>
            </a:pPr>
            <a:r>
              <a:rPr lang="en-US" sz="1050" dirty="0">
                <a:latin typeface="Arial" panose="020B0604020202020204" pitchFamily="34" charset="0"/>
                <a:ea typeface="MS Mincho" panose="02020609040205080304" pitchFamily="49" charset="-128"/>
                <a:cs typeface="Arial" panose="020B0604020202020204" pitchFamily="34" charset="0"/>
              </a:rPr>
              <a:t>False</a:t>
            </a:r>
            <a:endParaRPr lang="en-US" sz="105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6522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1. What percentage of </a:t>
            </a:r>
            <a:r>
              <a:rPr lang="en-US" sz="1100" b="1" dirty="0">
                <a:latin typeface="Arial" panose="020B0604020202020204" pitchFamily="34" charset="0"/>
                <a:ea typeface="Times New Roman" panose="02020603050405020304" pitchFamily="18" charset="0"/>
                <a:cs typeface="Arial" panose="020B0604020202020204" pitchFamily="34" charset="0"/>
              </a:rPr>
              <a:t>first impressions relate to a website design?</a:t>
            </a: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88%</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94</a:t>
            </a:r>
            <a:r>
              <a:rPr lang="en-US" sz="1100" dirty="0">
                <a:latin typeface="Arial" panose="020B0604020202020204" pitchFamily="34" charset="0"/>
                <a:ea typeface="Times New Roman" panose="02020603050405020304" pitchFamily="18" charset="0"/>
                <a:cs typeface="Arial" panose="020B0604020202020204" pitchFamily="34" charset="0"/>
              </a:rPr>
              <a:t>%</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C) 65%</a:t>
            </a:r>
          </a:p>
          <a:p>
            <a:pPr marL="0" marR="0" indent="0" fontAlgn="base">
              <a:lnSpc>
                <a:spcPct val="120000"/>
              </a:lnSpc>
              <a:spcBef>
                <a:spcPts val="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D) 80%</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2. How long does it take to get a website proposal</a:t>
            </a:r>
            <a:r>
              <a:rPr lang="en-US" sz="1100" b="1" dirty="0">
                <a:latin typeface="Arial" panose="020B0604020202020204" pitchFamily="34" charset="0"/>
                <a:ea typeface="Times New Roman" panose="02020603050405020304" pitchFamily="18" charset="0"/>
                <a:cs typeface="Arial" panose="020B0604020202020204" pitchFamily="34" charset="0"/>
              </a:rPr>
              <a:t>?</a:t>
            </a: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1 business day</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4-5 business days</a:t>
            </a:r>
          </a:p>
          <a:p>
            <a:pPr marL="0" marR="0" indent="0" fontAlgn="base">
              <a:lnSpc>
                <a:spcPct val="120000"/>
              </a:lnSpc>
              <a:spcBef>
                <a:spcPts val="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C)</a:t>
            </a:r>
            <a:r>
              <a:rPr lang="en-US" sz="1100" dirty="0">
                <a:effectLst/>
                <a:latin typeface="Arial" panose="020B0604020202020204" pitchFamily="34" charset="0"/>
                <a:ea typeface="Times New Roman" panose="02020603050405020304" pitchFamily="18" charset="0"/>
                <a:cs typeface="Arial" panose="020B0604020202020204" pitchFamily="34" charset="0"/>
              </a:rPr>
              <a:t> 2-3 business days</a:t>
            </a:r>
          </a:p>
          <a:p>
            <a:pPr marL="0" indent="0" fontAlgn="base">
              <a:lnSpc>
                <a:spcPct val="120000"/>
              </a:lnSpc>
              <a:spcBef>
                <a:spcPts val="0"/>
              </a:spcBef>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7-10 business days </a:t>
            </a:r>
          </a:p>
          <a:p>
            <a:pPr marL="0" indent="0" fontAlgn="base">
              <a:lnSpc>
                <a:spcPct val="120000"/>
              </a:lnSpc>
              <a:spcBef>
                <a:spcPts val="0"/>
              </a:spcBef>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3. True or False: Customers own their website design</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4. What are benefits of custom website design?</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Built for your business</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One of a kind</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C) Design ownership</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5. </a:t>
            </a:r>
            <a:r>
              <a:rPr lang="en-US" sz="1100" b="1" dirty="0">
                <a:latin typeface="Arial" panose="020B0604020202020204" pitchFamily="34" charset="0"/>
                <a:ea typeface="Times New Roman" panose="02020603050405020304" pitchFamily="18" charset="0"/>
                <a:cs typeface="Arial" panose="020B0604020202020204" pitchFamily="34" charset="0"/>
              </a:rPr>
              <a:t>What platform is the website built on</a:t>
            </a:r>
            <a:r>
              <a:rPr lang="en-US" sz="1100" b="1" dirty="0">
                <a:effectLst/>
                <a:latin typeface="Arial" panose="020B0604020202020204" pitchFamily="34" charset="0"/>
                <a:ea typeface="Times New Roman" panose="02020603050405020304" pitchFamily="18" charset="0"/>
                <a:cs typeface="Arial" panose="020B0604020202020204" pitchFamily="34" charset="0"/>
              </a:rPr>
              <a:t>?</a:t>
            </a:r>
          </a:p>
          <a:p>
            <a:pPr marL="0" marR="0" indent="0" fontAlgn="base">
              <a:lnSpc>
                <a:spcPct val="120000"/>
              </a:lnSpc>
              <a:spcBef>
                <a:spcPts val="0"/>
              </a:spcBef>
              <a:spcAft>
                <a:spcPts val="0"/>
              </a:spcAft>
              <a:buNone/>
            </a:pPr>
            <a:r>
              <a:rPr lang="en-US" sz="1100" dirty="0">
                <a:effectLst/>
                <a:latin typeface="Arial" panose="020B0604020202020204" pitchFamily="34" charset="0"/>
                <a:ea typeface="MS Mincho" panose="02020609040205080304" pitchFamily="49" charset="-128"/>
              </a:rPr>
              <a:t>A) WordPress</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Online Presence Builder</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C) </a:t>
            </a:r>
            <a:r>
              <a:rPr lang="en-US" sz="1100" dirty="0" err="1">
                <a:effectLst/>
                <a:latin typeface="Arial" panose="020B0604020202020204" pitchFamily="34" charset="0"/>
                <a:ea typeface="MS Mincho" panose="02020609040205080304" pitchFamily="49" charset="-128"/>
              </a:rPr>
              <a:t>Wix</a:t>
            </a:r>
            <a:endParaRPr lang="en-US" sz="1100" dirty="0">
              <a:effectLst/>
              <a:latin typeface="Arial" panose="020B0604020202020204" pitchFamily="34" charset="0"/>
              <a:ea typeface="MS Mincho" panose="02020609040205080304" pitchFamily="49" charset="-128"/>
            </a:endParaRP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a:t>
            </a:r>
            <a:r>
              <a:rPr lang="en-US" sz="1100" dirty="0">
                <a:effectLst/>
                <a:latin typeface="Arial" panose="020B0604020202020204" pitchFamily="34" charset="0"/>
                <a:ea typeface="MS Mincho" panose="02020609040205080304" pitchFamily="49" charset="-128"/>
                <a:cs typeface="Arial" panose="020B0604020202020204" pitchFamily="34" charset="0"/>
              </a:rPr>
              <a:t>None of the above</a:t>
            </a:r>
          </a:p>
        </p:txBody>
      </p:sp>
    </p:spTree>
    <p:extLst>
      <p:ext uri="{BB962C8B-B14F-4D97-AF65-F5344CB8AC3E}">
        <p14:creationId xmlns:p14="http://schemas.microsoft.com/office/powerpoint/2010/main" val="2534205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endParaRPr lang="en-US" sz="800" b="0" i="0">
              <a:solidFill>
                <a:srgbClr val="374151"/>
              </a:solidFill>
              <a:effectLst/>
              <a:latin typeface="Söhne"/>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1223772" y="1468474"/>
            <a:ext cx="6231128"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B) 94%</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C) 2-3 business days</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A)  True</a:t>
            </a: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A</a:t>
            </a:r>
            <a:r>
              <a:rPr lang="en-US" sz="1200" dirty="0">
                <a:effectLst/>
                <a:latin typeface="Arial" panose="020B0604020202020204" pitchFamily="34" charset="0"/>
                <a:ea typeface="Times New Roman" panose="02020603050405020304" pitchFamily="18" charset="0"/>
                <a:cs typeface="Arial" panose="020B0604020202020204" pitchFamily="34" charset="0"/>
              </a:rPr>
              <a:t>) WordPress</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C</a:t>
            </a:r>
            <a:r>
              <a:rPr lang="en-US" sz="1200" dirty="0">
                <a:effectLst/>
                <a:latin typeface="Arial" panose="020B0604020202020204" pitchFamily="34" charset="0"/>
                <a:ea typeface="Times New Roman" panose="02020603050405020304" pitchFamily="18" charset="0"/>
                <a:cs typeface="Arial" panose="020B0604020202020204" pitchFamily="34" charset="0"/>
              </a:rPr>
              <a:t>) $3,500</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B</a:t>
            </a:r>
            <a:r>
              <a:rPr lang="en-US" sz="1200" dirty="0">
                <a:effectLst/>
                <a:latin typeface="Arial" panose="020B0604020202020204" pitchFamily="34" charset="0"/>
                <a:ea typeface="Times New Roman" panose="02020603050405020304" pitchFamily="18" charset="0"/>
                <a:cs typeface="Arial" panose="020B0604020202020204" pitchFamily="34" charset="0"/>
              </a:rPr>
              <a:t>) False</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B</a:t>
            </a:r>
            <a:r>
              <a:rPr lang="en-US" sz="1200">
                <a:effectLst/>
                <a:latin typeface="Arial" panose="020B0604020202020204" pitchFamily="34" charset="0"/>
                <a:ea typeface="Times New Roman" panose="02020603050405020304" pitchFamily="18" charset="0"/>
                <a:cs typeface="Arial" panose="020B0604020202020204" pitchFamily="34" charset="0"/>
              </a:rPr>
              <a:t>) 4-8 weeks</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fontAlgn="base">
              <a:lnSpc>
                <a:spcPct val="200000"/>
              </a:lnSpc>
              <a:spcBef>
                <a:spcPts val="0"/>
              </a:spcBef>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A) </a:t>
            </a:r>
            <a:r>
              <a:rPr lang="en-US" sz="1200" dirty="0">
                <a:latin typeface="Arial" panose="020B0604020202020204" pitchFamily="34" charset="0"/>
                <a:ea typeface="Times New Roman" panose="02020603050405020304" pitchFamily="18" charset="0"/>
                <a:cs typeface="Arial" panose="020B0604020202020204" pitchFamily="34" charset="0"/>
              </a:rPr>
              <a:t>T</a:t>
            </a:r>
            <a:r>
              <a:rPr lang="en-US" sz="1200" dirty="0">
                <a:effectLst/>
                <a:latin typeface="Arial" panose="020B0604020202020204" pitchFamily="34" charset="0"/>
                <a:ea typeface="Times New Roman" panose="02020603050405020304" pitchFamily="18" charset="0"/>
                <a:cs typeface="Arial" panose="020B0604020202020204" pitchFamily="34" charset="0"/>
              </a:rPr>
              <a:t>rue</a:t>
            </a:r>
          </a:p>
        </p:txBody>
      </p:sp>
      <p:sp>
        <p:nvSpPr>
          <p:cNvPr id="6" name="Title 1">
            <a:extLst>
              <a:ext uri="{FF2B5EF4-FFF2-40B4-BE49-F238E27FC236}">
                <a16:creationId xmlns:a16="http://schemas.microsoft.com/office/drawing/2014/main" id="{4EC76ECD-341B-9003-FACB-F170EE7B8AD1}"/>
              </a:ext>
            </a:extLst>
          </p:cNvPr>
          <p:cNvSpPr>
            <a:spLocks noGrp="1"/>
          </p:cNvSpPr>
          <p:nvPr>
            <p:ph type="title"/>
          </p:nvPr>
        </p:nvSpPr>
        <p:spPr>
          <a:xfrm>
            <a:off x="838200" y="365125"/>
            <a:ext cx="10515600" cy="1325563"/>
          </a:xfrm>
        </p:spPr>
        <p:txBody>
          <a:bodyPr>
            <a:normAutofit/>
          </a:bodyPr>
          <a:lstStyle/>
          <a:p>
            <a:r>
              <a:rPr lang="en-US" sz="2800" b="1" dirty="0">
                <a:solidFill>
                  <a:srgbClr val="5B9BD5"/>
                </a:solidFill>
                <a:latin typeface="Arial" panose="020B0604020202020204" pitchFamily="34" charset="0"/>
                <a:ea typeface="MS Mincho" panose="02020609040205080304" pitchFamily="49" charset="-128"/>
              </a:rPr>
              <a:t>Correct Answers</a:t>
            </a:r>
            <a:endParaRPr lang="en-US" sz="6000" b="1" dirty="0">
              <a:solidFill>
                <a:srgbClr val="5B9BD5"/>
              </a:solidFill>
            </a:endParaRPr>
          </a:p>
        </p:txBody>
      </p:sp>
    </p:spTree>
    <p:extLst>
      <p:ext uri="{BB962C8B-B14F-4D97-AF65-F5344CB8AC3E}">
        <p14:creationId xmlns:p14="http://schemas.microsoft.com/office/powerpoint/2010/main" val="4266642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1816</Words>
  <Application>Microsoft Office PowerPoint</Application>
  <PresentationFormat>Widescreen</PresentationFormat>
  <Paragraphs>188</Paragraphs>
  <Slides>21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Cambria</vt:lpstr>
      <vt:lpstr>Söhne</vt:lpstr>
      <vt:lpstr>Symbol</vt:lpstr>
      <vt:lpstr>Office Theme</vt:lpstr>
      <vt:lpstr>Custom Website Design</vt:lpstr>
      <vt:lpstr>Agenda</vt:lpstr>
      <vt:lpstr>Tailored for your business</vt:lpstr>
      <vt:lpstr>PowerPoint Presentation</vt:lpstr>
      <vt:lpstr>Impact of not having a website</vt:lpstr>
      <vt:lpstr>PowerPoint Presentation</vt:lpstr>
      <vt:lpstr>PowerPoint Presentation</vt:lpstr>
      <vt:lpstr>Features</vt:lpstr>
      <vt:lpstr>How it works</vt:lpstr>
      <vt:lpstr>Fill out a questionnaire with the sales team</vt:lpstr>
      <vt:lpstr>Benefits</vt:lpstr>
      <vt:lpstr>Q &amp; A / Next steps</vt:lpstr>
      <vt:lpstr>Frequently Asked Questions</vt:lpstr>
      <vt:lpstr>PowerPoint Presentation</vt:lpstr>
      <vt:lpstr>Probing Questions</vt:lpstr>
      <vt:lpstr>PowerPoint Presentation</vt:lpstr>
      <vt:lpstr>Objection Handlers</vt:lpstr>
      <vt:lpstr>PowerPoint Presentation</vt:lpstr>
      <vt:lpstr>Test Your Knowledge</vt:lpstr>
      <vt:lpstr>PowerPoint Presentation</vt:lpstr>
      <vt:lpstr>Correct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 Website Design</dc:title>
  <dc:creator>Fejdasz, Kayla</dc:creator>
  <cp:lastModifiedBy>Shujaat, Faizan</cp:lastModifiedBy>
  <cp:revision>2</cp:revision>
  <dcterms:created xsi:type="dcterms:W3CDTF">2023-06-02T18:31:29Z</dcterms:created>
  <dcterms:modified xsi:type="dcterms:W3CDTF">2023-07-09T19:02:42Z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9208c94-c58f-41ad-a867-99d88e16cd43_Enabled">
    <vt:lpwstr>true</vt:lpwstr>
  </property>
  <property fmtid="{D5CDD505-2E9C-101B-9397-08002B2CF9AE}" pid="3" name="MSIP_Label_59208c94-c58f-41ad-a867-99d88e16cd43_SetDate">
    <vt:lpwstr>2023-06-02T18:34:57Z</vt:lpwstr>
  </property>
  <property fmtid="{D5CDD505-2E9C-101B-9397-08002B2CF9AE}" pid="4" name="MSIP_Label_59208c94-c58f-41ad-a867-99d88e16cd43_Method">
    <vt:lpwstr>Privileged</vt:lpwstr>
  </property>
  <property fmtid="{D5CDD505-2E9C-101B-9397-08002B2CF9AE}" pid="5" name="MSIP_Label_59208c94-c58f-41ad-a867-99d88e16cd43_Name">
    <vt:lpwstr>Internal</vt:lpwstr>
  </property>
  <property fmtid="{D5CDD505-2E9C-101B-9397-08002B2CF9AE}" pid="6" name="MSIP_Label_59208c94-c58f-41ad-a867-99d88e16cd43_SiteId">
    <vt:lpwstr>1f7c1878-7408-4f86-b429-cf17f96a717c</vt:lpwstr>
  </property>
  <property fmtid="{D5CDD505-2E9C-101B-9397-08002B2CF9AE}" pid="7" name="MSIP_Label_59208c94-c58f-41ad-a867-99d88e16cd43_ActionId">
    <vt:lpwstr>e5d2532d-f9b8-40d5-bebb-6d4030271832</vt:lpwstr>
  </property>
  <property fmtid="{D5CDD505-2E9C-101B-9397-08002B2CF9AE}" pid="8" name="MSIP_Label_59208c94-c58f-41ad-a867-99d88e16cd43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Internal </vt:lpwstr>
  </property>
</Properties>
</file>