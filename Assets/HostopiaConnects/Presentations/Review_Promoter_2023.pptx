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03_252114DB.xml" ContentType="application/vnd.ms-powerpoint.comments+xml"/>
  <Override PartName="/ppt/notesSlides/notesSlide5.xml" ContentType="application/vnd.openxmlformats-officedocument.presentationml.notesSlide+xml"/>
  <Override PartName="/ppt/comments/modernComment_110_592F8617.xml" ContentType="application/vnd.ms-powerpoint.comments+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modernComment_105_CE847D64.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8" r:id="rId3"/>
    <p:sldId id="269" r:id="rId4"/>
    <p:sldId id="259" r:id="rId5"/>
    <p:sldId id="272" r:id="rId6"/>
    <p:sldId id="260" r:id="rId7"/>
    <p:sldId id="262" r:id="rId8"/>
    <p:sldId id="263" r:id="rId9"/>
    <p:sldId id="264" r:id="rId10"/>
    <p:sldId id="282" r:id="rId11"/>
    <p:sldId id="261" r:id="rId12"/>
    <p:sldId id="270" r:id="rId13"/>
    <p:sldId id="273" r:id="rId14"/>
    <p:sldId id="274" r:id="rId15"/>
    <p:sldId id="281" r:id="rId16"/>
    <p:sldId id="280" r:id="rId17"/>
    <p:sldId id="267" r:id="rId18"/>
    <p:sldId id="265" r:id="rId19"/>
    <p:sldId id="268" r:id="rId20"/>
    <p:sldId id="266" r:id="rId21"/>
    <p:sldId id="275" r:id="rId22"/>
    <p:sldId id="276" r:id="rId23"/>
    <p:sldId id="277" r:id="rId24"/>
    <p:sldId id="278" r:id="rId25"/>
    <p:sldId id="27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6D3259-CF3E-D329-B8C3-F2B7395A897E}" name="Vargas, Cortney" initials="VC" userId="S::T439940@deluxe.com::ba41c71c-9a45-47f0-95f7-0967895932d5" providerId="AD"/>
  <p188:author id="{A880EFBF-274D-51B0-A953-351C793B2B3C}" name="Wrona, Stephanie" initials="WS" userId="S::t432519@deluxe.com::0ab473a4-c78a-452f-9b46-bdfce4a952fb" providerId="AD"/>
  <p188:author id="{AF5DB4CA-26AF-87BE-6D7D-5BFB296D56B9}" name="Shujaat, Faizan" initials="SF" userId="S::t466308@deluxe.com::59b06e4e-8241-483d-8369-73d547e8d72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CADB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5997A9-43AE-8F29-36A8-CEA95F588CEF}" v="30" dt="2023-05-12T16:16:39.703"/>
    <p1510:client id="{969A999B-5338-ACE9-5605-2C58962F6CEC}" v="66" dt="2023-05-19T17:07:44.111"/>
    <p1510:client id="{D30B84AC-E482-B27F-4123-CA0232B88344}" v="13" dt="2023-05-11T18:21:18.434"/>
    <p1510:client id="{EEEE0878-FF50-40B3-B023-4745FF0E76E5}" v="15" dt="2023-05-11T17:38:14.3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33" d="100"/>
          <a:sy n="33" d="100"/>
        </p:scale>
        <p:origin x="1786" y="9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omments/modernComment_103_252114DB.xml><?xml version="1.0" encoding="utf-8"?>
<p188:cmLst xmlns:a="http://schemas.openxmlformats.org/drawingml/2006/main" xmlns:r="http://schemas.openxmlformats.org/officeDocument/2006/relationships" xmlns:p188="http://schemas.microsoft.com/office/powerpoint/2018/8/main">
  <p188:cm id="{0BC4DF09-5A67-41AC-BD01-8B3B3968FC16}" authorId="{CE6D3259-CF3E-D329-B8C3-F2B7395A897E}" status="resolved" created="2023-05-11T17:19:41.920" complete="100000">
    <ac:deMkLst xmlns:ac="http://schemas.microsoft.com/office/drawing/2013/main/command">
      <pc:docMk xmlns:pc="http://schemas.microsoft.com/office/powerpoint/2013/main/command"/>
      <pc:sldMk xmlns:pc="http://schemas.microsoft.com/office/powerpoint/2013/main/command" cId="622925019" sldId="259"/>
      <ac:spMk id="182" creationId="{F1B063E6-A023-FE8B-BE28-B874FAFB4F80}"/>
    </ac:deMkLst>
    <p188:txBody>
      <a:bodyPr/>
      <a:lstStyle/>
      <a:p>
        <a:r>
          <a:rPr lang="en-US"/>
          <a:t>Some of your font sizes on the headings and paragraph text within each box for this slide are different sizes. </a:t>
        </a:r>
      </a:p>
    </p188:txBody>
  </p188:cm>
</p188:cmLst>
</file>

<file path=ppt/comments/modernComment_105_CE847D64.xml><?xml version="1.0" encoding="utf-8"?>
<p188:cmLst xmlns:a="http://schemas.openxmlformats.org/drawingml/2006/main" xmlns:r="http://schemas.openxmlformats.org/officeDocument/2006/relationships" xmlns:p188="http://schemas.microsoft.com/office/powerpoint/2018/8/main">
  <p188:cm id="{9E888AEC-23C8-4FDC-B80B-3CF4D13E8021}" authorId="{AF5DB4CA-26AF-87BE-6D7D-5BFB296D56B9}" created="2023-07-09T19:18:03.567">
    <pc:sldMkLst xmlns:pc="http://schemas.microsoft.com/office/powerpoint/2013/main/command">
      <pc:docMk/>
      <pc:sldMk cId="3464789348" sldId="261"/>
    </pc:sldMkLst>
    <p188:txBody>
      <a:bodyPr/>
      <a:lstStyle/>
      <a:p>
        <a:r>
          <a:rPr lang="en-US"/>
          <a:t>Replace with logos</a:t>
        </a:r>
      </a:p>
    </p188:txBody>
  </p188:cm>
</p188:cmLst>
</file>

<file path=ppt/comments/modernComment_110_592F8617.xml><?xml version="1.0" encoding="utf-8"?>
<p188:cmLst xmlns:a="http://schemas.openxmlformats.org/drawingml/2006/main" xmlns:r="http://schemas.openxmlformats.org/officeDocument/2006/relationships" xmlns:p188="http://schemas.microsoft.com/office/powerpoint/2018/8/main">
  <p188:cm id="{22A591BE-12B4-4DEC-93DB-9679958FF076}" authorId="{CE6D3259-CF3E-D329-B8C3-F2B7395A897E}" status="resolved" created="2023-05-11T17:21:54.340" complete="100000">
    <ac:deMkLst xmlns:ac="http://schemas.microsoft.com/office/drawing/2013/main/command">
      <pc:docMk xmlns:pc="http://schemas.microsoft.com/office/powerpoint/2013/main/command"/>
      <pc:sldMk xmlns:pc="http://schemas.microsoft.com/office/powerpoint/2013/main/command" cId="1496286743" sldId="272"/>
      <ac:spMk id="86" creationId="{F6A81919-3767-EE27-2704-60EC5890B0C0}"/>
    </ac:deMkLst>
    <p188:txBody>
      <a:bodyPr/>
      <a:lstStyle/>
      <a:p>
        <a:r>
          <a:rPr lang="en-US"/>
          <a:t>I think this should say, 
of customers say an online review has convinced them to avoid a business
</a:t>
        </a:r>
      </a:p>
    </p188:txBody>
  </p188:cm>
  <p188:cm id="{4B481027-5E99-481D-BAC0-58167B083AAC}" authorId="{CE6D3259-CF3E-D329-B8C3-F2B7395A897E}" status="resolved" created="2023-05-11T17:22:51.398" complete="100000">
    <ac:deMkLst xmlns:ac="http://schemas.microsoft.com/office/drawing/2013/main/command">
      <pc:docMk xmlns:pc="http://schemas.microsoft.com/office/powerpoint/2013/main/command"/>
      <pc:sldMk xmlns:pc="http://schemas.microsoft.com/office/powerpoint/2013/main/command" cId="1496286743" sldId="272"/>
      <ac:spMk id="130" creationId="{C7E3B4A7-B30B-CAAD-232C-577E8D779B1D}"/>
    </ac:deMkLst>
    <p188:replyLst>
      <p188:reply id="{0FC0FAF5-5B60-444D-A504-25E0CA0D8032}" authorId="{A880EFBF-274D-51B0-A953-351C793B2B3C}" created="2023-05-11T18:16:42.957">
        <p188:txBody>
          <a:bodyPr/>
          <a:lstStyle/>
          <a:p>
            <a:r>
              <a:rPr lang="en-US"/>
              <a:t>I would even suggest it as "average increase in revenue for businesses with a 4-star rating or higher"</a:t>
            </a:r>
          </a:p>
        </p188:txBody>
      </p188:reply>
    </p188:replyLst>
    <p188:txBody>
      <a:bodyPr/>
      <a:lstStyle/>
      <a:p>
        <a:r>
          <a:rPr lang="en-US"/>
          <a:t>I think this should say, 
  of businesses with a 4-star rating or higher see an average increase of 9% in revenue </a:t>
        </a:r>
      </a:p>
    </p188:txBody>
  </p188:cm>
  <p188:cm id="{ECDE8150-9726-4A32-AC04-DDB11828A9D0}" authorId="{A880EFBF-274D-51B0-A953-351C793B2B3C}" status="resolved" created="2023-05-11T17:36:56.769" complete="100000">
    <ac:txMkLst xmlns:ac="http://schemas.microsoft.com/office/drawing/2013/main/command">
      <pc:docMk xmlns:pc="http://schemas.microsoft.com/office/powerpoint/2013/main/command"/>
      <pc:sldMk xmlns:pc="http://schemas.microsoft.com/office/powerpoint/2013/main/command" cId="1496286743" sldId="272"/>
      <ac:spMk id="2" creationId="{057F7FE7-AF5C-5BF2-891D-EDC3FB61856F}"/>
      <ac:txMk cp="21">
        <ac:context len="49" hash="448647984"/>
      </ac:txMk>
    </ac:txMkLst>
    <p188:pos x="5127037" y="1072444"/>
    <p188:txBody>
      <a:bodyPr/>
      <a:lstStyle/>
      <a:p>
        <a:r>
          <a:rPr lang="en-US"/>
          <a:t>I think this should be just "impact", with the S it reads funny to me</a:t>
        </a:r>
      </a:p>
    </p188:txBody>
  </p188:cm>
</p188:cmLst>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2015D7C-B8FC-414F-B466-CE72C1DA3079}" type="doc">
      <dgm:prSet loTypeId="urn:microsoft.com/office/officeart/2016/7/layout/LinearArrowProcessNumbered" loCatId="process" qsTypeId="urn:microsoft.com/office/officeart/2005/8/quickstyle/simple4" qsCatId="simple" csTypeId="urn:microsoft.com/office/officeart/2005/8/colors/accent0_2" csCatId="mainScheme" phldr="1"/>
      <dgm:spPr/>
      <dgm:t>
        <a:bodyPr/>
        <a:lstStyle/>
        <a:p>
          <a:endParaRPr lang="en-US"/>
        </a:p>
      </dgm:t>
    </dgm:pt>
    <dgm:pt modelId="{4170AB2F-ADF7-4FA5-A8D5-4ADFF845EB33}">
      <dgm:prSet custT="1"/>
      <dgm:spPr/>
      <dgm:t>
        <a:bodyPr/>
        <a:lstStyle/>
        <a:p>
          <a:r>
            <a:rPr lang="en-US" sz="1000" dirty="0">
              <a:solidFill>
                <a:schemeClr val="tx1"/>
              </a:solidFill>
              <a:latin typeface="Arial" panose="020B0604020202020204" pitchFamily="34" charset="0"/>
              <a:cs typeface="Arial" panose="020B0604020202020204" pitchFamily="34" charset="0"/>
            </a:rPr>
            <a:t>Easily create and schedule custom content such as promotions, discounts, reminders, events, etc.​</a:t>
          </a:r>
        </a:p>
      </dgm:t>
    </dgm:pt>
    <dgm:pt modelId="{985F8561-A6DF-4AB0-82E4-5C4093B0B571}" type="parTrans" cxnId="{30E3E4C3-7B1B-41B0-A279-905D1424A0CC}">
      <dgm:prSet/>
      <dgm:spPr/>
      <dgm:t>
        <a:bodyPr/>
        <a:lstStyle/>
        <a:p>
          <a:endParaRPr lang="en-US" sz="2000">
            <a:latin typeface="Arial" panose="020B0604020202020204" pitchFamily="34" charset="0"/>
            <a:cs typeface="Arial" panose="020B0604020202020204" pitchFamily="34" charset="0"/>
          </a:endParaRPr>
        </a:p>
      </dgm:t>
    </dgm:pt>
    <dgm:pt modelId="{231F372D-E555-4AE1-995B-626C184B12FF}" type="sibTrans" cxnId="{30E3E4C3-7B1B-41B0-A279-905D1424A0CC}">
      <dgm:prSet phldrT="1" phldr="0" custT="1"/>
      <dgm:spPr/>
      <dgm:t>
        <a:bodyPr/>
        <a:lstStyle/>
        <a:p>
          <a:r>
            <a:rPr lang="en-US" sz="2800" dirty="0">
              <a:latin typeface="Arial" panose="020B0604020202020204" pitchFamily="34" charset="0"/>
              <a:cs typeface="Arial" panose="020B0604020202020204" pitchFamily="34" charset="0"/>
            </a:rPr>
            <a:t>1</a:t>
          </a:r>
        </a:p>
      </dgm:t>
    </dgm:pt>
    <dgm:pt modelId="{7E6BEED8-E701-4E3F-A251-C056D490B8E3}">
      <dgm:prSet custT="1"/>
      <dgm:spPr/>
      <dgm:t>
        <a:bodyPr/>
        <a:lstStyle/>
        <a:p>
          <a:r>
            <a:rPr lang="en-US" sz="1000" dirty="0">
              <a:solidFill>
                <a:schemeClr val="tx1"/>
              </a:solidFill>
              <a:latin typeface="Arial" panose="020B0604020202020204" pitchFamily="34" charset="0"/>
              <a:cs typeface="Arial" panose="020B0604020202020204" pitchFamily="34" charset="0"/>
            </a:rPr>
            <a:t>Post to Facebook, Instagram, Twitter, Tumblr and LinkedIn</a:t>
          </a:r>
        </a:p>
      </dgm:t>
    </dgm:pt>
    <dgm:pt modelId="{F07DC8AE-406D-4022-86AE-C25DC6E175E7}" type="parTrans" cxnId="{23E8E7D4-EAB7-4765-9B32-F36EB13531C2}">
      <dgm:prSet/>
      <dgm:spPr/>
      <dgm:t>
        <a:bodyPr/>
        <a:lstStyle/>
        <a:p>
          <a:endParaRPr lang="en-US" sz="2000">
            <a:latin typeface="Arial" panose="020B0604020202020204" pitchFamily="34" charset="0"/>
            <a:cs typeface="Arial" panose="020B0604020202020204" pitchFamily="34" charset="0"/>
          </a:endParaRPr>
        </a:p>
      </dgm:t>
    </dgm:pt>
    <dgm:pt modelId="{23744342-9D11-49E5-BEE1-8EFE7D9F62E0}" type="sibTrans" cxnId="{23E8E7D4-EAB7-4765-9B32-F36EB13531C2}">
      <dgm:prSet phldrT="2" phldr="0" custT="1"/>
      <dgm:spPr/>
      <dgm:t>
        <a:bodyPr/>
        <a:lstStyle/>
        <a:p>
          <a:r>
            <a:rPr lang="en-US" sz="2800" dirty="0">
              <a:latin typeface="Arial" panose="020B0604020202020204" pitchFamily="34" charset="0"/>
              <a:cs typeface="Arial" panose="020B0604020202020204" pitchFamily="34" charset="0"/>
            </a:rPr>
            <a:t>2</a:t>
          </a:r>
        </a:p>
      </dgm:t>
    </dgm:pt>
    <dgm:pt modelId="{BE8B4D9C-2C00-4908-B1E1-F3E1C0AD84EF}">
      <dgm:prSet custT="1"/>
      <dgm:spPr/>
      <dgm:t>
        <a:bodyPr/>
        <a:lstStyle/>
        <a:p>
          <a:r>
            <a:rPr lang="en-US" sz="1000" dirty="0">
              <a:solidFill>
                <a:schemeClr val="tx1"/>
              </a:solidFill>
              <a:latin typeface="Arial" panose="020B0604020202020204" pitchFamily="34" charset="0"/>
              <a:cs typeface="Arial" panose="020B0604020202020204" pitchFamily="34" charset="0"/>
            </a:rPr>
            <a:t>Artificial Intelligence Engine (AIE) will select and schedule engaging content that will be posted to multiple social media networks</a:t>
          </a:r>
        </a:p>
      </dgm:t>
    </dgm:pt>
    <dgm:pt modelId="{66B7ED62-3FC0-4813-86D0-6FB2413CD579}" type="parTrans" cxnId="{3602A566-C740-4C96-A7E2-3C597063880B}">
      <dgm:prSet/>
      <dgm:spPr/>
      <dgm:t>
        <a:bodyPr/>
        <a:lstStyle/>
        <a:p>
          <a:endParaRPr lang="en-US" sz="2000">
            <a:latin typeface="Arial" panose="020B0604020202020204" pitchFamily="34" charset="0"/>
            <a:cs typeface="Arial" panose="020B0604020202020204" pitchFamily="34" charset="0"/>
          </a:endParaRPr>
        </a:p>
      </dgm:t>
    </dgm:pt>
    <dgm:pt modelId="{2D1B080E-B75E-4CC7-904F-C0D45A2949C0}" type="sibTrans" cxnId="{3602A566-C740-4C96-A7E2-3C597063880B}">
      <dgm:prSet phldrT="3" phldr="0" custT="1"/>
      <dgm:spPr/>
      <dgm:t>
        <a:bodyPr/>
        <a:lstStyle/>
        <a:p>
          <a:r>
            <a:rPr lang="en-US" sz="2800" dirty="0">
              <a:latin typeface="Arial" panose="020B0604020202020204" pitchFamily="34" charset="0"/>
              <a:cs typeface="Arial" panose="020B0604020202020204" pitchFamily="34" charset="0"/>
            </a:rPr>
            <a:t>3</a:t>
          </a:r>
        </a:p>
      </dgm:t>
    </dgm:pt>
    <dgm:pt modelId="{FAE37F60-1577-4763-9B5B-BCDC062DCEFC}">
      <dgm:prSet custT="1"/>
      <dgm:spPr/>
      <dgm:t>
        <a:bodyPr/>
        <a:lstStyle/>
        <a:p>
          <a:r>
            <a:rPr lang="en-US" sz="1000" dirty="0">
              <a:solidFill>
                <a:schemeClr val="tx1"/>
              </a:solidFill>
              <a:latin typeface="Arial" panose="020B0604020202020204" pitchFamily="34" charset="0"/>
              <a:cs typeface="Arial" panose="020B0604020202020204" pitchFamily="34" charset="0"/>
            </a:rPr>
            <a:t>Configure when posts are scheduled</a:t>
          </a:r>
        </a:p>
      </dgm:t>
    </dgm:pt>
    <dgm:pt modelId="{0767420A-5578-4056-8321-C145376B03C2}" type="parTrans" cxnId="{44B73A9E-E00D-478D-A366-13D566AAFF6C}">
      <dgm:prSet/>
      <dgm:spPr/>
      <dgm:t>
        <a:bodyPr/>
        <a:lstStyle/>
        <a:p>
          <a:endParaRPr lang="en-US" sz="2000">
            <a:latin typeface="Arial" panose="020B0604020202020204" pitchFamily="34" charset="0"/>
            <a:cs typeface="Arial" panose="020B0604020202020204" pitchFamily="34" charset="0"/>
          </a:endParaRPr>
        </a:p>
      </dgm:t>
    </dgm:pt>
    <dgm:pt modelId="{091DA45C-7020-4D9A-802A-569F0284B9F1}" type="sibTrans" cxnId="{44B73A9E-E00D-478D-A366-13D566AAFF6C}">
      <dgm:prSet phldrT="4" phldr="0" custT="1"/>
      <dgm:spPr/>
      <dgm:t>
        <a:bodyPr/>
        <a:lstStyle/>
        <a:p>
          <a:r>
            <a:rPr lang="en-US" sz="2800" dirty="0">
              <a:latin typeface="Arial" panose="020B0604020202020204" pitchFamily="34" charset="0"/>
              <a:cs typeface="Arial" panose="020B0604020202020204" pitchFamily="34" charset="0"/>
            </a:rPr>
            <a:t>4</a:t>
          </a:r>
        </a:p>
      </dgm:t>
    </dgm:pt>
    <dgm:pt modelId="{259FCE8E-91DE-4D73-828D-63112BF5EB76}">
      <dgm:prSet custT="1"/>
      <dgm:spPr/>
      <dgm:t>
        <a:bodyPr/>
        <a:lstStyle/>
        <a:p>
          <a:r>
            <a:rPr lang="en-US" sz="1000" dirty="0">
              <a:solidFill>
                <a:schemeClr val="tx1"/>
              </a:solidFill>
              <a:latin typeface="Arial" panose="020B0604020202020204" pitchFamily="34" charset="0"/>
              <a:cs typeface="Arial" panose="020B0604020202020204" pitchFamily="34" charset="0"/>
            </a:rPr>
            <a:t>Access a library of free stock photos for social content</a:t>
          </a:r>
        </a:p>
      </dgm:t>
    </dgm:pt>
    <dgm:pt modelId="{AD5996F5-1E16-4263-8BAE-AE22CFA6A36D}" type="parTrans" cxnId="{26D4C9D4-4748-46D9-93F8-389217E650CC}">
      <dgm:prSet/>
      <dgm:spPr/>
      <dgm:t>
        <a:bodyPr/>
        <a:lstStyle/>
        <a:p>
          <a:endParaRPr lang="en-US" sz="2000">
            <a:latin typeface="Arial" panose="020B0604020202020204" pitchFamily="34" charset="0"/>
            <a:cs typeface="Arial" panose="020B0604020202020204" pitchFamily="34" charset="0"/>
          </a:endParaRPr>
        </a:p>
      </dgm:t>
    </dgm:pt>
    <dgm:pt modelId="{0C4C2A5B-E13F-4651-BC02-2CEE9D370B74}" type="sibTrans" cxnId="{26D4C9D4-4748-46D9-93F8-389217E650CC}">
      <dgm:prSet phldrT="5" phldr="0" custT="1"/>
      <dgm:spPr/>
      <dgm:t>
        <a:bodyPr/>
        <a:lstStyle/>
        <a:p>
          <a:r>
            <a:rPr lang="en-US" sz="2800" dirty="0">
              <a:latin typeface="Arial" panose="020B0604020202020204" pitchFamily="34" charset="0"/>
              <a:cs typeface="Arial" panose="020B0604020202020204" pitchFamily="34" charset="0"/>
            </a:rPr>
            <a:t>5</a:t>
          </a:r>
        </a:p>
      </dgm:t>
    </dgm:pt>
    <dgm:pt modelId="{24822CF6-EA36-4924-AA11-8BC13424474A}">
      <dgm:prSet custT="1"/>
      <dgm:spPr/>
      <dgm:t>
        <a:bodyPr/>
        <a:lstStyle/>
        <a:p>
          <a:r>
            <a:rPr lang="en-US" sz="1000" dirty="0">
              <a:solidFill>
                <a:schemeClr val="tx1"/>
              </a:solidFill>
              <a:latin typeface="Arial" panose="020B0604020202020204" pitchFamily="34" charset="0"/>
              <a:cs typeface="Arial" panose="020B0604020202020204" pitchFamily="34" charset="0"/>
            </a:rPr>
            <a:t>See all the postings that will take place on the calendar, along with the amount of time saved by using the “Social 365” tool</a:t>
          </a:r>
        </a:p>
      </dgm:t>
    </dgm:pt>
    <dgm:pt modelId="{01912477-550E-444D-9E8D-04C646BB8D7F}" type="parTrans" cxnId="{C564CA7D-56D9-4416-8405-BC156D7E8317}">
      <dgm:prSet/>
      <dgm:spPr/>
      <dgm:t>
        <a:bodyPr/>
        <a:lstStyle/>
        <a:p>
          <a:endParaRPr lang="en-US" sz="2000">
            <a:latin typeface="Arial" panose="020B0604020202020204" pitchFamily="34" charset="0"/>
            <a:cs typeface="Arial" panose="020B0604020202020204" pitchFamily="34" charset="0"/>
          </a:endParaRPr>
        </a:p>
      </dgm:t>
    </dgm:pt>
    <dgm:pt modelId="{653F23E1-3A3D-4A81-83EC-0F9B16C17D07}" type="sibTrans" cxnId="{C564CA7D-56D9-4416-8405-BC156D7E8317}">
      <dgm:prSet phldrT="6" phldr="0" custT="1"/>
      <dgm:spPr/>
      <dgm:t>
        <a:bodyPr/>
        <a:lstStyle/>
        <a:p>
          <a:r>
            <a:rPr lang="en-US" sz="2800" dirty="0">
              <a:latin typeface="Arial" panose="020B0604020202020204" pitchFamily="34" charset="0"/>
              <a:cs typeface="Arial" panose="020B0604020202020204" pitchFamily="34" charset="0"/>
            </a:rPr>
            <a:t>6</a:t>
          </a:r>
        </a:p>
      </dgm:t>
    </dgm:pt>
    <dgm:pt modelId="{AC036142-4F32-4D65-8124-8BAA0B0C880D}">
      <dgm:prSet custT="1"/>
      <dgm:spPr/>
      <dgm:t>
        <a:bodyPr/>
        <a:lstStyle/>
        <a:p>
          <a:r>
            <a:rPr lang="en-US" sz="1000" dirty="0">
              <a:solidFill>
                <a:schemeClr val="tx1"/>
              </a:solidFill>
              <a:latin typeface="Arial" panose="020B0604020202020204" pitchFamily="34" charset="0"/>
              <a:cs typeface="Arial" panose="020B0604020202020204" pitchFamily="34" charset="0"/>
            </a:rPr>
            <a:t>View Social Analytics to track reactions, comments, shares and total engagement across platforms. Set up email notifications on social performance, post schedules and more</a:t>
          </a:r>
        </a:p>
      </dgm:t>
    </dgm:pt>
    <dgm:pt modelId="{F1B266ED-979A-4CA7-AB77-F56F145565DB}" type="parTrans" cxnId="{6D74A675-1564-45C8-82D6-4820A8865B24}">
      <dgm:prSet/>
      <dgm:spPr/>
      <dgm:t>
        <a:bodyPr/>
        <a:lstStyle/>
        <a:p>
          <a:endParaRPr lang="en-US" sz="2000">
            <a:latin typeface="Arial" panose="020B0604020202020204" pitchFamily="34" charset="0"/>
            <a:cs typeface="Arial" panose="020B0604020202020204" pitchFamily="34" charset="0"/>
          </a:endParaRPr>
        </a:p>
      </dgm:t>
    </dgm:pt>
    <dgm:pt modelId="{259488A7-B79B-4ED9-B666-FCB957E1B646}" type="sibTrans" cxnId="{6D74A675-1564-45C8-82D6-4820A8865B24}">
      <dgm:prSet phldrT="7" phldr="0" custT="1"/>
      <dgm:spPr/>
      <dgm:t>
        <a:bodyPr/>
        <a:lstStyle/>
        <a:p>
          <a:r>
            <a:rPr lang="en-US" sz="2800" dirty="0">
              <a:latin typeface="Arial" panose="020B0604020202020204" pitchFamily="34" charset="0"/>
              <a:cs typeface="Arial" panose="020B0604020202020204" pitchFamily="34" charset="0"/>
            </a:rPr>
            <a:t>7</a:t>
          </a:r>
        </a:p>
      </dgm:t>
    </dgm:pt>
    <dgm:pt modelId="{52DBFE33-9B72-4B8D-ABDD-24962DE04148}" type="pres">
      <dgm:prSet presAssocID="{52015D7C-B8FC-414F-B466-CE72C1DA3079}" presName="linearFlow" presStyleCnt="0">
        <dgm:presLayoutVars>
          <dgm:dir/>
          <dgm:animLvl val="lvl"/>
          <dgm:resizeHandles val="exact"/>
        </dgm:presLayoutVars>
      </dgm:prSet>
      <dgm:spPr/>
    </dgm:pt>
    <dgm:pt modelId="{31EBB4A1-9AE8-4417-BD50-99FC14A46FB0}" type="pres">
      <dgm:prSet presAssocID="{4170AB2F-ADF7-4FA5-A8D5-4ADFF845EB33}" presName="compositeNode" presStyleCnt="0"/>
      <dgm:spPr/>
    </dgm:pt>
    <dgm:pt modelId="{3ECC8585-4DB5-4856-B1F9-506ADB61E88D}" type="pres">
      <dgm:prSet presAssocID="{4170AB2F-ADF7-4FA5-A8D5-4ADFF845EB33}" presName="parTx" presStyleLbl="node1" presStyleIdx="0" presStyleCnt="0">
        <dgm:presLayoutVars>
          <dgm:chMax val="0"/>
          <dgm:chPref val="0"/>
          <dgm:bulletEnabled val="1"/>
        </dgm:presLayoutVars>
      </dgm:prSet>
      <dgm:spPr/>
    </dgm:pt>
    <dgm:pt modelId="{2AC6CCCE-549F-468B-BC96-0558A0510539}" type="pres">
      <dgm:prSet presAssocID="{4170AB2F-ADF7-4FA5-A8D5-4ADFF845EB33}" presName="parSh" presStyleCnt="0"/>
      <dgm:spPr/>
    </dgm:pt>
    <dgm:pt modelId="{2F67F125-BBC3-45C8-BEE6-3027A87AE2E7}" type="pres">
      <dgm:prSet presAssocID="{4170AB2F-ADF7-4FA5-A8D5-4ADFF845EB33}" presName="lineNode" presStyleLbl="alignAccFollowNode1" presStyleIdx="0" presStyleCnt="21"/>
      <dgm:spPr/>
    </dgm:pt>
    <dgm:pt modelId="{CD7CC1F3-4F5F-454C-9292-DC5795C0223C}" type="pres">
      <dgm:prSet presAssocID="{4170AB2F-ADF7-4FA5-A8D5-4ADFF845EB33}" presName="lineArrowNode" presStyleLbl="alignAccFollowNode1" presStyleIdx="1" presStyleCnt="21"/>
      <dgm:spPr/>
    </dgm:pt>
    <dgm:pt modelId="{9868F179-89AA-4BA1-BEE0-84F76B2E9B6E}" type="pres">
      <dgm:prSet presAssocID="{231F372D-E555-4AE1-995B-626C184B12FF}" presName="sibTransNodeCircle" presStyleLbl="alignNode1" presStyleIdx="0" presStyleCnt="7">
        <dgm:presLayoutVars>
          <dgm:chMax val="0"/>
          <dgm:bulletEnabled/>
        </dgm:presLayoutVars>
      </dgm:prSet>
      <dgm:spPr/>
    </dgm:pt>
    <dgm:pt modelId="{3C2C9CDB-F837-42FA-8CE6-3354C72B7D6C}" type="pres">
      <dgm:prSet presAssocID="{231F372D-E555-4AE1-995B-626C184B12FF}" presName="spacerBetweenCircleAndCallout" presStyleCnt="0">
        <dgm:presLayoutVars/>
      </dgm:prSet>
      <dgm:spPr/>
    </dgm:pt>
    <dgm:pt modelId="{FE0DBA35-7511-4A68-BC08-77DA668E4F6E}" type="pres">
      <dgm:prSet presAssocID="{4170AB2F-ADF7-4FA5-A8D5-4ADFF845EB33}" presName="nodeText" presStyleLbl="alignAccFollowNode1" presStyleIdx="2" presStyleCnt="21" custScaleY="100000">
        <dgm:presLayoutVars>
          <dgm:bulletEnabled val="1"/>
        </dgm:presLayoutVars>
      </dgm:prSet>
      <dgm:spPr/>
    </dgm:pt>
    <dgm:pt modelId="{22B78FB7-2F9A-42CE-8A78-88E285D781A7}" type="pres">
      <dgm:prSet presAssocID="{231F372D-E555-4AE1-995B-626C184B12FF}" presName="sibTransComposite" presStyleCnt="0"/>
      <dgm:spPr/>
    </dgm:pt>
    <dgm:pt modelId="{5E29623D-C47C-4279-86F5-1714CC4193FB}" type="pres">
      <dgm:prSet presAssocID="{7E6BEED8-E701-4E3F-A251-C056D490B8E3}" presName="compositeNode" presStyleCnt="0"/>
      <dgm:spPr/>
    </dgm:pt>
    <dgm:pt modelId="{02605276-D842-4CDB-BA07-DBBEA38BAFA0}" type="pres">
      <dgm:prSet presAssocID="{7E6BEED8-E701-4E3F-A251-C056D490B8E3}" presName="parTx" presStyleLbl="node1" presStyleIdx="0" presStyleCnt="0">
        <dgm:presLayoutVars>
          <dgm:chMax val="0"/>
          <dgm:chPref val="0"/>
          <dgm:bulletEnabled val="1"/>
        </dgm:presLayoutVars>
      </dgm:prSet>
      <dgm:spPr/>
    </dgm:pt>
    <dgm:pt modelId="{E8A00170-3B17-4C6C-B453-E8E0F164DC83}" type="pres">
      <dgm:prSet presAssocID="{7E6BEED8-E701-4E3F-A251-C056D490B8E3}" presName="parSh" presStyleCnt="0"/>
      <dgm:spPr/>
    </dgm:pt>
    <dgm:pt modelId="{2676D7C8-A27D-472B-8344-A077AE0D356A}" type="pres">
      <dgm:prSet presAssocID="{7E6BEED8-E701-4E3F-A251-C056D490B8E3}" presName="lineNode" presStyleLbl="alignAccFollowNode1" presStyleIdx="3" presStyleCnt="21"/>
      <dgm:spPr/>
    </dgm:pt>
    <dgm:pt modelId="{D39C4CC5-86DC-45D6-9F77-DD4FE1E153BF}" type="pres">
      <dgm:prSet presAssocID="{7E6BEED8-E701-4E3F-A251-C056D490B8E3}" presName="lineArrowNode" presStyleLbl="alignAccFollowNode1" presStyleIdx="4" presStyleCnt="21"/>
      <dgm:spPr/>
    </dgm:pt>
    <dgm:pt modelId="{BB8CB53C-83DD-4B08-9129-F8C481F34482}" type="pres">
      <dgm:prSet presAssocID="{23744342-9D11-49E5-BEE1-8EFE7D9F62E0}" presName="sibTransNodeCircle" presStyleLbl="alignNode1" presStyleIdx="1" presStyleCnt="7">
        <dgm:presLayoutVars>
          <dgm:chMax val="0"/>
          <dgm:bulletEnabled/>
        </dgm:presLayoutVars>
      </dgm:prSet>
      <dgm:spPr/>
    </dgm:pt>
    <dgm:pt modelId="{3581C1B9-8282-428C-B940-7AED01B1CFF2}" type="pres">
      <dgm:prSet presAssocID="{23744342-9D11-49E5-BEE1-8EFE7D9F62E0}" presName="spacerBetweenCircleAndCallout" presStyleCnt="0">
        <dgm:presLayoutVars/>
      </dgm:prSet>
      <dgm:spPr/>
    </dgm:pt>
    <dgm:pt modelId="{C6ED9511-2542-4D61-9FE6-179158DD9E14}" type="pres">
      <dgm:prSet presAssocID="{7E6BEED8-E701-4E3F-A251-C056D490B8E3}" presName="nodeText" presStyleLbl="alignAccFollowNode1" presStyleIdx="5" presStyleCnt="21" custScaleY="100000">
        <dgm:presLayoutVars>
          <dgm:bulletEnabled val="1"/>
        </dgm:presLayoutVars>
      </dgm:prSet>
      <dgm:spPr/>
    </dgm:pt>
    <dgm:pt modelId="{19DD3C87-0258-49D4-97EC-506EC264C7B8}" type="pres">
      <dgm:prSet presAssocID="{23744342-9D11-49E5-BEE1-8EFE7D9F62E0}" presName="sibTransComposite" presStyleCnt="0"/>
      <dgm:spPr/>
    </dgm:pt>
    <dgm:pt modelId="{A537B0B1-D820-4AFF-9FDE-0FE04E60FCA3}" type="pres">
      <dgm:prSet presAssocID="{BE8B4D9C-2C00-4908-B1E1-F3E1C0AD84EF}" presName="compositeNode" presStyleCnt="0"/>
      <dgm:spPr/>
    </dgm:pt>
    <dgm:pt modelId="{8E243DFA-72A7-4B86-851A-8A3E5C6A6B59}" type="pres">
      <dgm:prSet presAssocID="{BE8B4D9C-2C00-4908-B1E1-F3E1C0AD84EF}" presName="parTx" presStyleLbl="node1" presStyleIdx="0" presStyleCnt="0">
        <dgm:presLayoutVars>
          <dgm:chMax val="0"/>
          <dgm:chPref val="0"/>
          <dgm:bulletEnabled val="1"/>
        </dgm:presLayoutVars>
      </dgm:prSet>
      <dgm:spPr/>
    </dgm:pt>
    <dgm:pt modelId="{52A06EC2-F42D-4100-9126-4C27DCFDF1CD}" type="pres">
      <dgm:prSet presAssocID="{BE8B4D9C-2C00-4908-B1E1-F3E1C0AD84EF}" presName="parSh" presStyleCnt="0"/>
      <dgm:spPr/>
    </dgm:pt>
    <dgm:pt modelId="{D443F37E-D5E8-4A5B-B652-FC946BA66C4C}" type="pres">
      <dgm:prSet presAssocID="{BE8B4D9C-2C00-4908-B1E1-F3E1C0AD84EF}" presName="lineNode" presStyleLbl="alignAccFollowNode1" presStyleIdx="6" presStyleCnt="21"/>
      <dgm:spPr/>
    </dgm:pt>
    <dgm:pt modelId="{555CFD48-8309-450E-88C5-556A255C4536}" type="pres">
      <dgm:prSet presAssocID="{BE8B4D9C-2C00-4908-B1E1-F3E1C0AD84EF}" presName="lineArrowNode" presStyleLbl="alignAccFollowNode1" presStyleIdx="7" presStyleCnt="21"/>
      <dgm:spPr/>
    </dgm:pt>
    <dgm:pt modelId="{945FA6C0-282B-4FFF-A0E2-CCDB16ADC742}" type="pres">
      <dgm:prSet presAssocID="{2D1B080E-B75E-4CC7-904F-C0D45A2949C0}" presName="sibTransNodeCircle" presStyleLbl="alignNode1" presStyleIdx="2" presStyleCnt="7">
        <dgm:presLayoutVars>
          <dgm:chMax val="0"/>
          <dgm:bulletEnabled/>
        </dgm:presLayoutVars>
      </dgm:prSet>
      <dgm:spPr/>
    </dgm:pt>
    <dgm:pt modelId="{57B2A226-8696-4ECE-AC24-C798DE634EC1}" type="pres">
      <dgm:prSet presAssocID="{2D1B080E-B75E-4CC7-904F-C0D45A2949C0}" presName="spacerBetweenCircleAndCallout" presStyleCnt="0">
        <dgm:presLayoutVars/>
      </dgm:prSet>
      <dgm:spPr/>
    </dgm:pt>
    <dgm:pt modelId="{99CF9EAA-E28B-4329-BD57-E61D5D98FE10}" type="pres">
      <dgm:prSet presAssocID="{BE8B4D9C-2C00-4908-B1E1-F3E1C0AD84EF}" presName="nodeText" presStyleLbl="alignAccFollowNode1" presStyleIdx="8" presStyleCnt="21" custScaleY="100000" custLinFactNeighborX="-2351" custLinFactNeighborY="2670">
        <dgm:presLayoutVars>
          <dgm:bulletEnabled val="1"/>
        </dgm:presLayoutVars>
      </dgm:prSet>
      <dgm:spPr/>
    </dgm:pt>
    <dgm:pt modelId="{A53ACFE8-2804-4ECE-B1E0-E313FB25CABC}" type="pres">
      <dgm:prSet presAssocID="{2D1B080E-B75E-4CC7-904F-C0D45A2949C0}" presName="sibTransComposite" presStyleCnt="0"/>
      <dgm:spPr/>
    </dgm:pt>
    <dgm:pt modelId="{4571EF86-0D59-4BCB-A899-DA665669786C}" type="pres">
      <dgm:prSet presAssocID="{FAE37F60-1577-4763-9B5B-BCDC062DCEFC}" presName="compositeNode" presStyleCnt="0"/>
      <dgm:spPr/>
    </dgm:pt>
    <dgm:pt modelId="{C97228F7-97AB-4C18-8D03-C9ECF119012C}" type="pres">
      <dgm:prSet presAssocID="{FAE37F60-1577-4763-9B5B-BCDC062DCEFC}" presName="parTx" presStyleLbl="node1" presStyleIdx="0" presStyleCnt="0">
        <dgm:presLayoutVars>
          <dgm:chMax val="0"/>
          <dgm:chPref val="0"/>
          <dgm:bulletEnabled val="1"/>
        </dgm:presLayoutVars>
      </dgm:prSet>
      <dgm:spPr/>
    </dgm:pt>
    <dgm:pt modelId="{BE0E37E5-516A-4E57-BA7B-1AEA3C57BDD3}" type="pres">
      <dgm:prSet presAssocID="{FAE37F60-1577-4763-9B5B-BCDC062DCEFC}" presName="parSh" presStyleCnt="0"/>
      <dgm:spPr/>
    </dgm:pt>
    <dgm:pt modelId="{2E77E8F4-2B15-4508-8D08-D172DEB16C5C}" type="pres">
      <dgm:prSet presAssocID="{FAE37F60-1577-4763-9B5B-BCDC062DCEFC}" presName="lineNode" presStyleLbl="alignAccFollowNode1" presStyleIdx="9" presStyleCnt="21"/>
      <dgm:spPr/>
    </dgm:pt>
    <dgm:pt modelId="{C9D166ED-1738-4FEC-98B5-717AD4D39454}" type="pres">
      <dgm:prSet presAssocID="{FAE37F60-1577-4763-9B5B-BCDC062DCEFC}" presName="lineArrowNode" presStyleLbl="alignAccFollowNode1" presStyleIdx="10" presStyleCnt="21"/>
      <dgm:spPr/>
    </dgm:pt>
    <dgm:pt modelId="{BBC1353D-6858-458D-8B47-21BC32EF505C}" type="pres">
      <dgm:prSet presAssocID="{091DA45C-7020-4D9A-802A-569F0284B9F1}" presName="sibTransNodeCircle" presStyleLbl="alignNode1" presStyleIdx="3" presStyleCnt="7">
        <dgm:presLayoutVars>
          <dgm:chMax val="0"/>
          <dgm:bulletEnabled/>
        </dgm:presLayoutVars>
      </dgm:prSet>
      <dgm:spPr/>
    </dgm:pt>
    <dgm:pt modelId="{28E48C34-F8B4-43E4-9183-7CE408DF1230}" type="pres">
      <dgm:prSet presAssocID="{091DA45C-7020-4D9A-802A-569F0284B9F1}" presName="spacerBetweenCircleAndCallout" presStyleCnt="0">
        <dgm:presLayoutVars/>
      </dgm:prSet>
      <dgm:spPr/>
    </dgm:pt>
    <dgm:pt modelId="{E2186A34-11D9-40ED-B032-F249E18853FA}" type="pres">
      <dgm:prSet presAssocID="{FAE37F60-1577-4763-9B5B-BCDC062DCEFC}" presName="nodeText" presStyleLbl="alignAccFollowNode1" presStyleIdx="11" presStyleCnt="21" custScaleY="100000">
        <dgm:presLayoutVars>
          <dgm:bulletEnabled val="1"/>
        </dgm:presLayoutVars>
      </dgm:prSet>
      <dgm:spPr/>
    </dgm:pt>
    <dgm:pt modelId="{9768FF92-FE1E-4114-A155-1A5AEA1B0128}" type="pres">
      <dgm:prSet presAssocID="{091DA45C-7020-4D9A-802A-569F0284B9F1}" presName="sibTransComposite" presStyleCnt="0"/>
      <dgm:spPr/>
    </dgm:pt>
    <dgm:pt modelId="{0559701A-0111-4726-ACE4-2DE7E0EE24D0}" type="pres">
      <dgm:prSet presAssocID="{259FCE8E-91DE-4D73-828D-63112BF5EB76}" presName="compositeNode" presStyleCnt="0"/>
      <dgm:spPr/>
    </dgm:pt>
    <dgm:pt modelId="{82326AF2-3CAF-4DE3-850B-06E84500CF49}" type="pres">
      <dgm:prSet presAssocID="{259FCE8E-91DE-4D73-828D-63112BF5EB76}" presName="parTx" presStyleLbl="node1" presStyleIdx="0" presStyleCnt="0">
        <dgm:presLayoutVars>
          <dgm:chMax val="0"/>
          <dgm:chPref val="0"/>
          <dgm:bulletEnabled val="1"/>
        </dgm:presLayoutVars>
      </dgm:prSet>
      <dgm:spPr/>
    </dgm:pt>
    <dgm:pt modelId="{70D94EDE-BA60-4747-B9E1-C36142C5E548}" type="pres">
      <dgm:prSet presAssocID="{259FCE8E-91DE-4D73-828D-63112BF5EB76}" presName="parSh" presStyleCnt="0"/>
      <dgm:spPr/>
    </dgm:pt>
    <dgm:pt modelId="{2B48002B-332B-40C3-B545-4C42EEBCF248}" type="pres">
      <dgm:prSet presAssocID="{259FCE8E-91DE-4D73-828D-63112BF5EB76}" presName="lineNode" presStyleLbl="alignAccFollowNode1" presStyleIdx="12" presStyleCnt="21"/>
      <dgm:spPr/>
    </dgm:pt>
    <dgm:pt modelId="{F2B46173-81BB-4EE3-B597-5F7EF8FBEEF9}" type="pres">
      <dgm:prSet presAssocID="{259FCE8E-91DE-4D73-828D-63112BF5EB76}" presName="lineArrowNode" presStyleLbl="alignAccFollowNode1" presStyleIdx="13" presStyleCnt="21"/>
      <dgm:spPr/>
    </dgm:pt>
    <dgm:pt modelId="{075F1AD5-50CF-4EEC-9D26-511574FB2637}" type="pres">
      <dgm:prSet presAssocID="{0C4C2A5B-E13F-4651-BC02-2CEE9D370B74}" presName="sibTransNodeCircle" presStyleLbl="alignNode1" presStyleIdx="4" presStyleCnt="7">
        <dgm:presLayoutVars>
          <dgm:chMax val="0"/>
          <dgm:bulletEnabled/>
        </dgm:presLayoutVars>
      </dgm:prSet>
      <dgm:spPr/>
    </dgm:pt>
    <dgm:pt modelId="{44D9966E-3481-4FD4-95FD-4033AF9EBBD3}" type="pres">
      <dgm:prSet presAssocID="{0C4C2A5B-E13F-4651-BC02-2CEE9D370B74}" presName="spacerBetweenCircleAndCallout" presStyleCnt="0">
        <dgm:presLayoutVars/>
      </dgm:prSet>
      <dgm:spPr/>
    </dgm:pt>
    <dgm:pt modelId="{6F59FDA7-0F19-4284-9DA3-C51EF06E6F0F}" type="pres">
      <dgm:prSet presAssocID="{259FCE8E-91DE-4D73-828D-63112BF5EB76}" presName="nodeText" presStyleLbl="alignAccFollowNode1" presStyleIdx="14" presStyleCnt="21" custScaleY="100000">
        <dgm:presLayoutVars>
          <dgm:bulletEnabled val="1"/>
        </dgm:presLayoutVars>
      </dgm:prSet>
      <dgm:spPr/>
    </dgm:pt>
    <dgm:pt modelId="{393FF12D-E78E-45E7-B4D6-F96EA6F6A5D5}" type="pres">
      <dgm:prSet presAssocID="{0C4C2A5B-E13F-4651-BC02-2CEE9D370B74}" presName="sibTransComposite" presStyleCnt="0"/>
      <dgm:spPr/>
    </dgm:pt>
    <dgm:pt modelId="{D17EA79C-CB4E-496A-A4BC-FB521F198CC2}" type="pres">
      <dgm:prSet presAssocID="{24822CF6-EA36-4924-AA11-8BC13424474A}" presName="compositeNode" presStyleCnt="0"/>
      <dgm:spPr/>
    </dgm:pt>
    <dgm:pt modelId="{DB987C8F-8D49-440B-8118-EC93C2D1FD6D}" type="pres">
      <dgm:prSet presAssocID="{24822CF6-EA36-4924-AA11-8BC13424474A}" presName="parTx" presStyleLbl="node1" presStyleIdx="0" presStyleCnt="0">
        <dgm:presLayoutVars>
          <dgm:chMax val="0"/>
          <dgm:chPref val="0"/>
          <dgm:bulletEnabled val="1"/>
        </dgm:presLayoutVars>
      </dgm:prSet>
      <dgm:spPr/>
    </dgm:pt>
    <dgm:pt modelId="{955A265E-5315-46DD-B001-14F637B29722}" type="pres">
      <dgm:prSet presAssocID="{24822CF6-EA36-4924-AA11-8BC13424474A}" presName="parSh" presStyleCnt="0"/>
      <dgm:spPr/>
    </dgm:pt>
    <dgm:pt modelId="{E68DDCE5-70FB-44B3-AAA0-542FB9482E84}" type="pres">
      <dgm:prSet presAssocID="{24822CF6-EA36-4924-AA11-8BC13424474A}" presName="lineNode" presStyleLbl="alignAccFollowNode1" presStyleIdx="15" presStyleCnt="21"/>
      <dgm:spPr/>
    </dgm:pt>
    <dgm:pt modelId="{8FBB01CF-89B5-4EB0-B2DF-9C9CF377F20E}" type="pres">
      <dgm:prSet presAssocID="{24822CF6-EA36-4924-AA11-8BC13424474A}" presName="lineArrowNode" presStyleLbl="alignAccFollowNode1" presStyleIdx="16" presStyleCnt="21"/>
      <dgm:spPr/>
    </dgm:pt>
    <dgm:pt modelId="{21476524-A8B8-40FC-B460-D273861B910B}" type="pres">
      <dgm:prSet presAssocID="{653F23E1-3A3D-4A81-83EC-0F9B16C17D07}" presName="sibTransNodeCircle" presStyleLbl="alignNode1" presStyleIdx="5" presStyleCnt="7">
        <dgm:presLayoutVars>
          <dgm:chMax val="0"/>
          <dgm:bulletEnabled/>
        </dgm:presLayoutVars>
      </dgm:prSet>
      <dgm:spPr/>
    </dgm:pt>
    <dgm:pt modelId="{73F23266-793C-40CC-9F07-C96D15BF86D9}" type="pres">
      <dgm:prSet presAssocID="{653F23E1-3A3D-4A81-83EC-0F9B16C17D07}" presName="spacerBetweenCircleAndCallout" presStyleCnt="0">
        <dgm:presLayoutVars/>
      </dgm:prSet>
      <dgm:spPr/>
    </dgm:pt>
    <dgm:pt modelId="{952BE35D-81E5-4814-B28B-983EAE8B5DB5}" type="pres">
      <dgm:prSet presAssocID="{24822CF6-EA36-4924-AA11-8BC13424474A}" presName="nodeText" presStyleLbl="alignAccFollowNode1" presStyleIdx="17" presStyleCnt="21" custScaleY="100000">
        <dgm:presLayoutVars>
          <dgm:bulletEnabled val="1"/>
        </dgm:presLayoutVars>
      </dgm:prSet>
      <dgm:spPr/>
    </dgm:pt>
    <dgm:pt modelId="{19B92A24-F7A8-4C60-95B4-EB4BBE99EB98}" type="pres">
      <dgm:prSet presAssocID="{653F23E1-3A3D-4A81-83EC-0F9B16C17D07}" presName="sibTransComposite" presStyleCnt="0"/>
      <dgm:spPr/>
    </dgm:pt>
    <dgm:pt modelId="{A15D56C5-D1F7-4072-9647-B5AADBB9A375}" type="pres">
      <dgm:prSet presAssocID="{AC036142-4F32-4D65-8124-8BAA0B0C880D}" presName="compositeNode" presStyleCnt="0"/>
      <dgm:spPr/>
    </dgm:pt>
    <dgm:pt modelId="{F231DDE2-1E64-482D-8484-55054A84D308}" type="pres">
      <dgm:prSet presAssocID="{AC036142-4F32-4D65-8124-8BAA0B0C880D}" presName="parTx" presStyleLbl="node1" presStyleIdx="0" presStyleCnt="0">
        <dgm:presLayoutVars>
          <dgm:chMax val="0"/>
          <dgm:chPref val="0"/>
          <dgm:bulletEnabled val="1"/>
        </dgm:presLayoutVars>
      </dgm:prSet>
      <dgm:spPr/>
    </dgm:pt>
    <dgm:pt modelId="{093C4C6D-55FA-443D-A329-A7BC8C0BB72A}" type="pres">
      <dgm:prSet presAssocID="{AC036142-4F32-4D65-8124-8BAA0B0C880D}" presName="parSh" presStyleCnt="0"/>
      <dgm:spPr/>
    </dgm:pt>
    <dgm:pt modelId="{200A7C50-B355-4FCB-A1AB-7BD74C95AE37}" type="pres">
      <dgm:prSet presAssocID="{AC036142-4F32-4D65-8124-8BAA0B0C880D}" presName="lineNode" presStyleLbl="alignAccFollowNode1" presStyleIdx="18" presStyleCnt="21"/>
      <dgm:spPr/>
    </dgm:pt>
    <dgm:pt modelId="{52CE28B4-63DB-4E51-A310-69D6D817C87C}" type="pres">
      <dgm:prSet presAssocID="{AC036142-4F32-4D65-8124-8BAA0B0C880D}" presName="lineArrowNode" presStyleLbl="alignAccFollowNode1" presStyleIdx="19" presStyleCnt="21"/>
      <dgm:spPr/>
    </dgm:pt>
    <dgm:pt modelId="{CF5513EC-D53F-4EA8-8A60-FF7E19512577}" type="pres">
      <dgm:prSet presAssocID="{259488A7-B79B-4ED9-B666-FCB957E1B646}" presName="sibTransNodeCircle" presStyleLbl="alignNode1" presStyleIdx="6" presStyleCnt="7">
        <dgm:presLayoutVars>
          <dgm:chMax val="0"/>
          <dgm:bulletEnabled/>
        </dgm:presLayoutVars>
      </dgm:prSet>
      <dgm:spPr/>
    </dgm:pt>
    <dgm:pt modelId="{C68DBB90-F482-4067-BAE9-03929E1DE504}" type="pres">
      <dgm:prSet presAssocID="{259488A7-B79B-4ED9-B666-FCB957E1B646}" presName="spacerBetweenCircleAndCallout" presStyleCnt="0">
        <dgm:presLayoutVars/>
      </dgm:prSet>
      <dgm:spPr/>
    </dgm:pt>
    <dgm:pt modelId="{2F906BA5-1F66-4BE2-95E9-85E705B55592}" type="pres">
      <dgm:prSet presAssocID="{AC036142-4F32-4D65-8124-8BAA0B0C880D}" presName="nodeText" presStyleLbl="alignAccFollowNode1" presStyleIdx="20" presStyleCnt="21" custScaleY="100000">
        <dgm:presLayoutVars>
          <dgm:bulletEnabled val="1"/>
        </dgm:presLayoutVars>
      </dgm:prSet>
      <dgm:spPr/>
    </dgm:pt>
  </dgm:ptLst>
  <dgm:cxnLst>
    <dgm:cxn modelId="{24F7FC01-8C9C-4EF0-840F-220EE8125430}" type="presOf" srcId="{2D1B080E-B75E-4CC7-904F-C0D45A2949C0}" destId="{945FA6C0-282B-4FFF-A0E2-CCDB16ADC742}" srcOrd="0" destOrd="0" presId="urn:microsoft.com/office/officeart/2016/7/layout/LinearArrowProcessNumbered"/>
    <dgm:cxn modelId="{1B7A2C24-BC35-4D85-923D-06EB9A722878}" type="presOf" srcId="{BE8B4D9C-2C00-4908-B1E1-F3E1C0AD84EF}" destId="{99CF9EAA-E28B-4329-BD57-E61D5D98FE10}" srcOrd="0" destOrd="0" presId="urn:microsoft.com/office/officeart/2016/7/layout/LinearArrowProcessNumbered"/>
    <dgm:cxn modelId="{ADBBCA38-10D3-469C-A678-C6726F44095D}" type="presOf" srcId="{7E6BEED8-E701-4E3F-A251-C056D490B8E3}" destId="{C6ED9511-2542-4D61-9FE6-179158DD9E14}" srcOrd="0" destOrd="0" presId="urn:microsoft.com/office/officeart/2016/7/layout/LinearArrowProcessNumbered"/>
    <dgm:cxn modelId="{364F175F-EBE4-475B-A03D-518B7A3B1497}" type="presOf" srcId="{653F23E1-3A3D-4A81-83EC-0F9B16C17D07}" destId="{21476524-A8B8-40FC-B460-D273861B910B}" srcOrd="0" destOrd="0" presId="urn:microsoft.com/office/officeart/2016/7/layout/LinearArrowProcessNumbered"/>
    <dgm:cxn modelId="{E6573765-9374-416D-9F1F-4ACF3B43112B}" type="presOf" srcId="{52015D7C-B8FC-414F-B466-CE72C1DA3079}" destId="{52DBFE33-9B72-4B8D-ABDD-24962DE04148}" srcOrd="0" destOrd="0" presId="urn:microsoft.com/office/officeart/2016/7/layout/LinearArrowProcessNumbered"/>
    <dgm:cxn modelId="{3602A566-C740-4C96-A7E2-3C597063880B}" srcId="{52015D7C-B8FC-414F-B466-CE72C1DA3079}" destId="{BE8B4D9C-2C00-4908-B1E1-F3E1C0AD84EF}" srcOrd="2" destOrd="0" parTransId="{66B7ED62-3FC0-4813-86D0-6FB2413CD579}" sibTransId="{2D1B080E-B75E-4CC7-904F-C0D45A2949C0}"/>
    <dgm:cxn modelId="{6D74A675-1564-45C8-82D6-4820A8865B24}" srcId="{52015D7C-B8FC-414F-B466-CE72C1DA3079}" destId="{AC036142-4F32-4D65-8124-8BAA0B0C880D}" srcOrd="6" destOrd="0" parTransId="{F1B266ED-979A-4CA7-AB77-F56F145565DB}" sibTransId="{259488A7-B79B-4ED9-B666-FCB957E1B646}"/>
    <dgm:cxn modelId="{C564CA7D-56D9-4416-8405-BC156D7E8317}" srcId="{52015D7C-B8FC-414F-B466-CE72C1DA3079}" destId="{24822CF6-EA36-4924-AA11-8BC13424474A}" srcOrd="5" destOrd="0" parTransId="{01912477-550E-444D-9E8D-04C646BB8D7F}" sibTransId="{653F23E1-3A3D-4A81-83EC-0F9B16C17D07}"/>
    <dgm:cxn modelId="{70BBD590-4E76-48D5-A25D-134D04F30544}" type="presOf" srcId="{0C4C2A5B-E13F-4651-BC02-2CEE9D370B74}" destId="{075F1AD5-50CF-4EEC-9D26-511574FB2637}" srcOrd="0" destOrd="0" presId="urn:microsoft.com/office/officeart/2016/7/layout/LinearArrowProcessNumbered"/>
    <dgm:cxn modelId="{8729DD91-7A40-4805-8537-EBF10A5CBAE0}" type="presOf" srcId="{AC036142-4F32-4D65-8124-8BAA0B0C880D}" destId="{2F906BA5-1F66-4BE2-95E9-85E705B55592}" srcOrd="0" destOrd="0" presId="urn:microsoft.com/office/officeart/2016/7/layout/LinearArrowProcessNumbered"/>
    <dgm:cxn modelId="{44B73A9E-E00D-478D-A366-13D566AAFF6C}" srcId="{52015D7C-B8FC-414F-B466-CE72C1DA3079}" destId="{FAE37F60-1577-4763-9B5B-BCDC062DCEFC}" srcOrd="3" destOrd="0" parTransId="{0767420A-5578-4056-8321-C145376B03C2}" sibTransId="{091DA45C-7020-4D9A-802A-569F0284B9F1}"/>
    <dgm:cxn modelId="{BF6C95B0-DF47-4BAA-9992-84FB710761A5}" type="presOf" srcId="{FAE37F60-1577-4763-9B5B-BCDC062DCEFC}" destId="{E2186A34-11D9-40ED-B032-F249E18853FA}" srcOrd="0" destOrd="0" presId="urn:microsoft.com/office/officeart/2016/7/layout/LinearArrowProcessNumbered"/>
    <dgm:cxn modelId="{39932BBD-4F40-49F4-A5EB-8712DC99D003}" type="presOf" srcId="{231F372D-E555-4AE1-995B-626C184B12FF}" destId="{9868F179-89AA-4BA1-BEE0-84F76B2E9B6E}" srcOrd="0" destOrd="0" presId="urn:microsoft.com/office/officeart/2016/7/layout/LinearArrowProcessNumbered"/>
    <dgm:cxn modelId="{30E3E4C3-7B1B-41B0-A279-905D1424A0CC}" srcId="{52015D7C-B8FC-414F-B466-CE72C1DA3079}" destId="{4170AB2F-ADF7-4FA5-A8D5-4ADFF845EB33}" srcOrd="0" destOrd="0" parTransId="{985F8561-A6DF-4AB0-82E4-5C4093B0B571}" sibTransId="{231F372D-E555-4AE1-995B-626C184B12FF}"/>
    <dgm:cxn modelId="{4BEC85CB-C76A-4B77-915E-C63DF31051C4}" type="presOf" srcId="{23744342-9D11-49E5-BEE1-8EFE7D9F62E0}" destId="{BB8CB53C-83DD-4B08-9129-F8C481F34482}" srcOrd="0" destOrd="0" presId="urn:microsoft.com/office/officeart/2016/7/layout/LinearArrowProcessNumbered"/>
    <dgm:cxn modelId="{4D45E7D0-3A05-43A6-8F15-65D674080BEA}" type="presOf" srcId="{24822CF6-EA36-4924-AA11-8BC13424474A}" destId="{952BE35D-81E5-4814-B28B-983EAE8B5DB5}" srcOrd="0" destOrd="0" presId="urn:microsoft.com/office/officeart/2016/7/layout/LinearArrowProcessNumbered"/>
    <dgm:cxn modelId="{974494D3-7B71-4819-9A57-CA7302B41340}" type="presOf" srcId="{091DA45C-7020-4D9A-802A-569F0284B9F1}" destId="{BBC1353D-6858-458D-8B47-21BC32EF505C}" srcOrd="0" destOrd="0" presId="urn:microsoft.com/office/officeart/2016/7/layout/LinearArrowProcessNumbered"/>
    <dgm:cxn modelId="{26D4C9D4-4748-46D9-93F8-389217E650CC}" srcId="{52015D7C-B8FC-414F-B466-CE72C1DA3079}" destId="{259FCE8E-91DE-4D73-828D-63112BF5EB76}" srcOrd="4" destOrd="0" parTransId="{AD5996F5-1E16-4263-8BAE-AE22CFA6A36D}" sibTransId="{0C4C2A5B-E13F-4651-BC02-2CEE9D370B74}"/>
    <dgm:cxn modelId="{23E8E7D4-EAB7-4765-9B32-F36EB13531C2}" srcId="{52015D7C-B8FC-414F-B466-CE72C1DA3079}" destId="{7E6BEED8-E701-4E3F-A251-C056D490B8E3}" srcOrd="1" destOrd="0" parTransId="{F07DC8AE-406D-4022-86AE-C25DC6E175E7}" sibTransId="{23744342-9D11-49E5-BEE1-8EFE7D9F62E0}"/>
    <dgm:cxn modelId="{F852BDDA-5143-4744-A03C-8B3548115830}" type="presOf" srcId="{4170AB2F-ADF7-4FA5-A8D5-4ADFF845EB33}" destId="{FE0DBA35-7511-4A68-BC08-77DA668E4F6E}" srcOrd="0" destOrd="0" presId="urn:microsoft.com/office/officeart/2016/7/layout/LinearArrowProcessNumbered"/>
    <dgm:cxn modelId="{FEA35EEA-B6C1-4AB1-9074-63534E162E71}" type="presOf" srcId="{259FCE8E-91DE-4D73-828D-63112BF5EB76}" destId="{6F59FDA7-0F19-4284-9DA3-C51EF06E6F0F}" srcOrd="0" destOrd="0" presId="urn:microsoft.com/office/officeart/2016/7/layout/LinearArrowProcessNumbered"/>
    <dgm:cxn modelId="{8682D8FA-2118-4B8C-BDC7-31E39082542E}" type="presOf" srcId="{259488A7-B79B-4ED9-B666-FCB957E1B646}" destId="{CF5513EC-D53F-4EA8-8A60-FF7E19512577}" srcOrd="0" destOrd="0" presId="urn:microsoft.com/office/officeart/2016/7/layout/LinearArrowProcessNumbered"/>
    <dgm:cxn modelId="{47F8C1C9-885B-4EF9-A184-F449600D599B}" type="presParOf" srcId="{52DBFE33-9B72-4B8D-ABDD-24962DE04148}" destId="{31EBB4A1-9AE8-4417-BD50-99FC14A46FB0}" srcOrd="0" destOrd="0" presId="urn:microsoft.com/office/officeart/2016/7/layout/LinearArrowProcessNumbered"/>
    <dgm:cxn modelId="{0BE993CC-1B3F-4E15-A9FF-29097184BC1B}" type="presParOf" srcId="{31EBB4A1-9AE8-4417-BD50-99FC14A46FB0}" destId="{3ECC8585-4DB5-4856-B1F9-506ADB61E88D}" srcOrd="0" destOrd="0" presId="urn:microsoft.com/office/officeart/2016/7/layout/LinearArrowProcessNumbered"/>
    <dgm:cxn modelId="{54DC8E3A-C556-4FDF-BCA9-B18239D031EC}" type="presParOf" srcId="{31EBB4A1-9AE8-4417-BD50-99FC14A46FB0}" destId="{2AC6CCCE-549F-468B-BC96-0558A0510539}" srcOrd="1" destOrd="0" presId="urn:microsoft.com/office/officeart/2016/7/layout/LinearArrowProcessNumbered"/>
    <dgm:cxn modelId="{40A236A8-F0C7-40CD-B9C1-E9807C8F1F61}" type="presParOf" srcId="{2AC6CCCE-549F-468B-BC96-0558A0510539}" destId="{2F67F125-BBC3-45C8-BEE6-3027A87AE2E7}" srcOrd="0" destOrd="0" presId="urn:microsoft.com/office/officeart/2016/7/layout/LinearArrowProcessNumbered"/>
    <dgm:cxn modelId="{DF923FA5-3876-489F-A30E-DC68A8FE08F4}" type="presParOf" srcId="{2AC6CCCE-549F-468B-BC96-0558A0510539}" destId="{CD7CC1F3-4F5F-454C-9292-DC5795C0223C}" srcOrd="1" destOrd="0" presId="urn:microsoft.com/office/officeart/2016/7/layout/LinearArrowProcessNumbered"/>
    <dgm:cxn modelId="{D8A4C473-F8FD-43E1-9B19-6252AA6B1A23}" type="presParOf" srcId="{2AC6CCCE-549F-468B-BC96-0558A0510539}" destId="{9868F179-89AA-4BA1-BEE0-84F76B2E9B6E}" srcOrd="2" destOrd="0" presId="urn:microsoft.com/office/officeart/2016/7/layout/LinearArrowProcessNumbered"/>
    <dgm:cxn modelId="{623FD4F7-6822-4113-8513-D45132062739}" type="presParOf" srcId="{2AC6CCCE-549F-468B-BC96-0558A0510539}" destId="{3C2C9CDB-F837-42FA-8CE6-3354C72B7D6C}" srcOrd="3" destOrd="0" presId="urn:microsoft.com/office/officeart/2016/7/layout/LinearArrowProcessNumbered"/>
    <dgm:cxn modelId="{27ACF65A-FE3F-4652-A366-C03A9E99E02D}" type="presParOf" srcId="{31EBB4A1-9AE8-4417-BD50-99FC14A46FB0}" destId="{FE0DBA35-7511-4A68-BC08-77DA668E4F6E}" srcOrd="2" destOrd="0" presId="urn:microsoft.com/office/officeart/2016/7/layout/LinearArrowProcessNumbered"/>
    <dgm:cxn modelId="{E8A3DE76-527B-48B1-BCFD-31285686219F}" type="presParOf" srcId="{52DBFE33-9B72-4B8D-ABDD-24962DE04148}" destId="{22B78FB7-2F9A-42CE-8A78-88E285D781A7}" srcOrd="1" destOrd="0" presId="urn:microsoft.com/office/officeart/2016/7/layout/LinearArrowProcessNumbered"/>
    <dgm:cxn modelId="{0F7D7170-8512-48B1-B4B7-CE7FBECFF511}" type="presParOf" srcId="{52DBFE33-9B72-4B8D-ABDD-24962DE04148}" destId="{5E29623D-C47C-4279-86F5-1714CC4193FB}" srcOrd="2" destOrd="0" presId="urn:microsoft.com/office/officeart/2016/7/layout/LinearArrowProcessNumbered"/>
    <dgm:cxn modelId="{3521DF1D-A1BB-4825-A964-480DEF272040}" type="presParOf" srcId="{5E29623D-C47C-4279-86F5-1714CC4193FB}" destId="{02605276-D842-4CDB-BA07-DBBEA38BAFA0}" srcOrd="0" destOrd="0" presId="urn:microsoft.com/office/officeart/2016/7/layout/LinearArrowProcessNumbered"/>
    <dgm:cxn modelId="{26E0E031-D856-4BA9-A17B-5D49F1C9241C}" type="presParOf" srcId="{5E29623D-C47C-4279-86F5-1714CC4193FB}" destId="{E8A00170-3B17-4C6C-B453-E8E0F164DC83}" srcOrd="1" destOrd="0" presId="urn:microsoft.com/office/officeart/2016/7/layout/LinearArrowProcessNumbered"/>
    <dgm:cxn modelId="{A666307F-A444-4DFC-AFC3-2F0CF19D22F8}" type="presParOf" srcId="{E8A00170-3B17-4C6C-B453-E8E0F164DC83}" destId="{2676D7C8-A27D-472B-8344-A077AE0D356A}" srcOrd="0" destOrd="0" presId="urn:microsoft.com/office/officeart/2016/7/layout/LinearArrowProcessNumbered"/>
    <dgm:cxn modelId="{23AF2308-CF20-4BBF-8C06-085D6D4EBCF3}" type="presParOf" srcId="{E8A00170-3B17-4C6C-B453-E8E0F164DC83}" destId="{D39C4CC5-86DC-45D6-9F77-DD4FE1E153BF}" srcOrd="1" destOrd="0" presId="urn:microsoft.com/office/officeart/2016/7/layout/LinearArrowProcessNumbered"/>
    <dgm:cxn modelId="{EF7C4BC9-17F8-4115-AD28-F4052C46848D}" type="presParOf" srcId="{E8A00170-3B17-4C6C-B453-E8E0F164DC83}" destId="{BB8CB53C-83DD-4B08-9129-F8C481F34482}" srcOrd="2" destOrd="0" presId="urn:microsoft.com/office/officeart/2016/7/layout/LinearArrowProcessNumbered"/>
    <dgm:cxn modelId="{8ECD36DF-858F-436E-96DD-08EB6B2315E3}" type="presParOf" srcId="{E8A00170-3B17-4C6C-B453-E8E0F164DC83}" destId="{3581C1B9-8282-428C-B940-7AED01B1CFF2}" srcOrd="3" destOrd="0" presId="urn:microsoft.com/office/officeart/2016/7/layout/LinearArrowProcessNumbered"/>
    <dgm:cxn modelId="{A0AC2BFE-4467-451E-A765-F162952E4145}" type="presParOf" srcId="{5E29623D-C47C-4279-86F5-1714CC4193FB}" destId="{C6ED9511-2542-4D61-9FE6-179158DD9E14}" srcOrd="2" destOrd="0" presId="urn:microsoft.com/office/officeart/2016/7/layout/LinearArrowProcessNumbered"/>
    <dgm:cxn modelId="{D49A4384-BE61-4349-9C8C-1EF35F0B754D}" type="presParOf" srcId="{52DBFE33-9B72-4B8D-ABDD-24962DE04148}" destId="{19DD3C87-0258-49D4-97EC-506EC264C7B8}" srcOrd="3" destOrd="0" presId="urn:microsoft.com/office/officeart/2016/7/layout/LinearArrowProcessNumbered"/>
    <dgm:cxn modelId="{A17D11B1-4E07-4508-9857-1CD7E82160F7}" type="presParOf" srcId="{52DBFE33-9B72-4B8D-ABDD-24962DE04148}" destId="{A537B0B1-D820-4AFF-9FDE-0FE04E60FCA3}" srcOrd="4" destOrd="0" presId="urn:microsoft.com/office/officeart/2016/7/layout/LinearArrowProcessNumbered"/>
    <dgm:cxn modelId="{3B8EBB61-FC24-400D-B357-3C5460752F31}" type="presParOf" srcId="{A537B0B1-D820-4AFF-9FDE-0FE04E60FCA3}" destId="{8E243DFA-72A7-4B86-851A-8A3E5C6A6B59}" srcOrd="0" destOrd="0" presId="urn:microsoft.com/office/officeart/2016/7/layout/LinearArrowProcessNumbered"/>
    <dgm:cxn modelId="{6F720EAD-4684-4CA7-9C8B-5871F2C4BB68}" type="presParOf" srcId="{A537B0B1-D820-4AFF-9FDE-0FE04E60FCA3}" destId="{52A06EC2-F42D-4100-9126-4C27DCFDF1CD}" srcOrd="1" destOrd="0" presId="urn:microsoft.com/office/officeart/2016/7/layout/LinearArrowProcessNumbered"/>
    <dgm:cxn modelId="{D82F1BB1-D877-4F0D-B0E6-B0E997F8C278}" type="presParOf" srcId="{52A06EC2-F42D-4100-9126-4C27DCFDF1CD}" destId="{D443F37E-D5E8-4A5B-B652-FC946BA66C4C}" srcOrd="0" destOrd="0" presId="urn:microsoft.com/office/officeart/2016/7/layout/LinearArrowProcessNumbered"/>
    <dgm:cxn modelId="{37DCB83D-FD8D-4548-A4DB-AFB8780D431A}" type="presParOf" srcId="{52A06EC2-F42D-4100-9126-4C27DCFDF1CD}" destId="{555CFD48-8309-450E-88C5-556A255C4536}" srcOrd="1" destOrd="0" presId="urn:microsoft.com/office/officeart/2016/7/layout/LinearArrowProcessNumbered"/>
    <dgm:cxn modelId="{E4D18997-C823-4046-8F24-5CE87488AB8E}" type="presParOf" srcId="{52A06EC2-F42D-4100-9126-4C27DCFDF1CD}" destId="{945FA6C0-282B-4FFF-A0E2-CCDB16ADC742}" srcOrd="2" destOrd="0" presId="urn:microsoft.com/office/officeart/2016/7/layout/LinearArrowProcessNumbered"/>
    <dgm:cxn modelId="{6208B028-8F5E-438F-AFF0-F84599777B4B}" type="presParOf" srcId="{52A06EC2-F42D-4100-9126-4C27DCFDF1CD}" destId="{57B2A226-8696-4ECE-AC24-C798DE634EC1}" srcOrd="3" destOrd="0" presId="urn:microsoft.com/office/officeart/2016/7/layout/LinearArrowProcessNumbered"/>
    <dgm:cxn modelId="{40B0976F-D6C0-4D06-BC52-F5D9B5A0FF53}" type="presParOf" srcId="{A537B0B1-D820-4AFF-9FDE-0FE04E60FCA3}" destId="{99CF9EAA-E28B-4329-BD57-E61D5D98FE10}" srcOrd="2" destOrd="0" presId="urn:microsoft.com/office/officeart/2016/7/layout/LinearArrowProcessNumbered"/>
    <dgm:cxn modelId="{438785BD-EA2F-4B0D-B389-92F60B22EA20}" type="presParOf" srcId="{52DBFE33-9B72-4B8D-ABDD-24962DE04148}" destId="{A53ACFE8-2804-4ECE-B1E0-E313FB25CABC}" srcOrd="5" destOrd="0" presId="urn:microsoft.com/office/officeart/2016/7/layout/LinearArrowProcessNumbered"/>
    <dgm:cxn modelId="{72BEE79B-1E9B-4794-8122-B54A7BD3426A}" type="presParOf" srcId="{52DBFE33-9B72-4B8D-ABDD-24962DE04148}" destId="{4571EF86-0D59-4BCB-A899-DA665669786C}" srcOrd="6" destOrd="0" presId="urn:microsoft.com/office/officeart/2016/7/layout/LinearArrowProcessNumbered"/>
    <dgm:cxn modelId="{1073462E-79A5-44E6-8D58-222058E53281}" type="presParOf" srcId="{4571EF86-0D59-4BCB-A899-DA665669786C}" destId="{C97228F7-97AB-4C18-8D03-C9ECF119012C}" srcOrd="0" destOrd="0" presId="urn:microsoft.com/office/officeart/2016/7/layout/LinearArrowProcessNumbered"/>
    <dgm:cxn modelId="{DC9FBC6D-E135-4125-9D52-3AF344DFB070}" type="presParOf" srcId="{4571EF86-0D59-4BCB-A899-DA665669786C}" destId="{BE0E37E5-516A-4E57-BA7B-1AEA3C57BDD3}" srcOrd="1" destOrd="0" presId="urn:microsoft.com/office/officeart/2016/7/layout/LinearArrowProcessNumbered"/>
    <dgm:cxn modelId="{F7077448-22E3-4FFF-BCDE-6D8F0E68DC02}" type="presParOf" srcId="{BE0E37E5-516A-4E57-BA7B-1AEA3C57BDD3}" destId="{2E77E8F4-2B15-4508-8D08-D172DEB16C5C}" srcOrd="0" destOrd="0" presId="urn:microsoft.com/office/officeart/2016/7/layout/LinearArrowProcessNumbered"/>
    <dgm:cxn modelId="{95DF679E-92C9-4B21-8F3B-D1B916B1BB99}" type="presParOf" srcId="{BE0E37E5-516A-4E57-BA7B-1AEA3C57BDD3}" destId="{C9D166ED-1738-4FEC-98B5-717AD4D39454}" srcOrd="1" destOrd="0" presId="urn:microsoft.com/office/officeart/2016/7/layout/LinearArrowProcessNumbered"/>
    <dgm:cxn modelId="{0B420A2C-BB10-4E4E-B29A-C444D63DAA1B}" type="presParOf" srcId="{BE0E37E5-516A-4E57-BA7B-1AEA3C57BDD3}" destId="{BBC1353D-6858-458D-8B47-21BC32EF505C}" srcOrd="2" destOrd="0" presId="urn:microsoft.com/office/officeart/2016/7/layout/LinearArrowProcessNumbered"/>
    <dgm:cxn modelId="{702F2EA2-75DD-4360-BCEC-6A8018636940}" type="presParOf" srcId="{BE0E37E5-516A-4E57-BA7B-1AEA3C57BDD3}" destId="{28E48C34-F8B4-43E4-9183-7CE408DF1230}" srcOrd="3" destOrd="0" presId="urn:microsoft.com/office/officeart/2016/7/layout/LinearArrowProcessNumbered"/>
    <dgm:cxn modelId="{D72F9367-700C-47BF-A76C-5C15156D3B1C}" type="presParOf" srcId="{4571EF86-0D59-4BCB-A899-DA665669786C}" destId="{E2186A34-11D9-40ED-B032-F249E18853FA}" srcOrd="2" destOrd="0" presId="urn:microsoft.com/office/officeart/2016/7/layout/LinearArrowProcessNumbered"/>
    <dgm:cxn modelId="{414701CD-CE99-455D-827A-E95BAFD5F965}" type="presParOf" srcId="{52DBFE33-9B72-4B8D-ABDD-24962DE04148}" destId="{9768FF92-FE1E-4114-A155-1A5AEA1B0128}" srcOrd="7" destOrd="0" presId="urn:microsoft.com/office/officeart/2016/7/layout/LinearArrowProcessNumbered"/>
    <dgm:cxn modelId="{F088BB91-FBF7-472B-A8D0-27AA0FF81048}" type="presParOf" srcId="{52DBFE33-9B72-4B8D-ABDD-24962DE04148}" destId="{0559701A-0111-4726-ACE4-2DE7E0EE24D0}" srcOrd="8" destOrd="0" presId="urn:microsoft.com/office/officeart/2016/7/layout/LinearArrowProcessNumbered"/>
    <dgm:cxn modelId="{55BD536A-DD18-4316-A2B6-29DAE7711EEA}" type="presParOf" srcId="{0559701A-0111-4726-ACE4-2DE7E0EE24D0}" destId="{82326AF2-3CAF-4DE3-850B-06E84500CF49}" srcOrd="0" destOrd="0" presId="urn:microsoft.com/office/officeart/2016/7/layout/LinearArrowProcessNumbered"/>
    <dgm:cxn modelId="{A67E8B51-390B-4DD2-86DB-0612FCE9BAAF}" type="presParOf" srcId="{0559701A-0111-4726-ACE4-2DE7E0EE24D0}" destId="{70D94EDE-BA60-4747-B9E1-C36142C5E548}" srcOrd="1" destOrd="0" presId="urn:microsoft.com/office/officeart/2016/7/layout/LinearArrowProcessNumbered"/>
    <dgm:cxn modelId="{22595940-AE7C-4B97-820C-53C80A7C820B}" type="presParOf" srcId="{70D94EDE-BA60-4747-B9E1-C36142C5E548}" destId="{2B48002B-332B-40C3-B545-4C42EEBCF248}" srcOrd="0" destOrd="0" presId="urn:microsoft.com/office/officeart/2016/7/layout/LinearArrowProcessNumbered"/>
    <dgm:cxn modelId="{D3682597-AC35-4A8D-9C6E-2DB350F2A783}" type="presParOf" srcId="{70D94EDE-BA60-4747-B9E1-C36142C5E548}" destId="{F2B46173-81BB-4EE3-B597-5F7EF8FBEEF9}" srcOrd="1" destOrd="0" presId="urn:microsoft.com/office/officeart/2016/7/layout/LinearArrowProcessNumbered"/>
    <dgm:cxn modelId="{933A1BDB-FDF5-4468-ADC4-3D2F2B5EABCF}" type="presParOf" srcId="{70D94EDE-BA60-4747-B9E1-C36142C5E548}" destId="{075F1AD5-50CF-4EEC-9D26-511574FB2637}" srcOrd="2" destOrd="0" presId="urn:microsoft.com/office/officeart/2016/7/layout/LinearArrowProcessNumbered"/>
    <dgm:cxn modelId="{A87C9B93-50CB-447F-B654-17564FADBC85}" type="presParOf" srcId="{70D94EDE-BA60-4747-B9E1-C36142C5E548}" destId="{44D9966E-3481-4FD4-95FD-4033AF9EBBD3}" srcOrd="3" destOrd="0" presId="urn:microsoft.com/office/officeart/2016/7/layout/LinearArrowProcessNumbered"/>
    <dgm:cxn modelId="{6250E670-3120-4D4A-BF9E-369A05970356}" type="presParOf" srcId="{0559701A-0111-4726-ACE4-2DE7E0EE24D0}" destId="{6F59FDA7-0F19-4284-9DA3-C51EF06E6F0F}" srcOrd="2" destOrd="0" presId="urn:microsoft.com/office/officeart/2016/7/layout/LinearArrowProcessNumbered"/>
    <dgm:cxn modelId="{C18057C8-B7C5-417B-B8D2-B9956E245337}" type="presParOf" srcId="{52DBFE33-9B72-4B8D-ABDD-24962DE04148}" destId="{393FF12D-E78E-45E7-B4D6-F96EA6F6A5D5}" srcOrd="9" destOrd="0" presId="urn:microsoft.com/office/officeart/2016/7/layout/LinearArrowProcessNumbered"/>
    <dgm:cxn modelId="{EE15BC09-154D-4580-9EC8-96A7E293B9E6}" type="presParOf" srcId="{52DBFE33-9B72-4B8D-ABDD-24962DE04148}" destId="{D17EA79C-CB4E-496A-A4BC-FB521F198CC2}" srcOrd="10" destOrd="0" presId="urn:microsoft.com/office/officeart/2016/7/layout/LinearArrowProcessNumbered"/>
    <dgm:cxn modelId="{FF20C674-CABD-4763-8E37-B3D7A9ECFBCA}" type="presParOf" srcId="{D17EA79C-CB4E-496A-A4BC-FB521F198CC2}" destId="{DB987C8F-8D49-440B-8118-EC93C2D1FD6D}" srcOrd="0" destOrd="0" presId="urn:microsoft.com/office/officeart/2016/7/layout/LinearArrowProcessNumbered"/>
    <dgm:cxn modelId="{EC0620BD-B3D6-414F-A042-B11C2379A6BD}" type="presParOf" srcId="{D17EA79C-CB4E-496A-A4BC-FB521F198CC2}" destId="{955A265E-5315-46DD-B001-14F637B29722}" srcOrd="1" destOrd="0" presId="urn:microsoft.com/office/officeart/2016/7/layout/LinearArrowProcessNumbered"/>
    <dgm:cxn modelId="{D26AFCCE-80BC-47FF-B190-CCA53B963248}" type="presParOf" srcId="{955A265E-5315-46DD-B001-14F637B29722}" destId="{E68DDCE5-70FB-44B3-AAA0-542FB9482E84}" srcOrd="0" destOrd="0" presId="urn:microsoft.com/office/officeart/2016/7/layout/LinearArrowProcessNumbered"/>
    <dgm:cxn modelId="{62A9190D-25AE-4AF4-A0A9-A22CB93A12AB}" type="presParOf" srcId="{955A265E-5315-46DD-B001-14F637B29722}" destId="{8FBB01CF-89B5-4EB0-B2DF-9C9CF377F20E}" srcOrd="1" destOrd="0" presId="urn:microsoft.com/office/officeart/2016/7/layout/LinearArrowProcessNumbered"/>
    <dgm:cxn modelId="{3B5F52D4-9457-48AA-8BBE-AB160D5A3A23}" type="presParOf" srcId="{955A265E-5315-46DD-B001-14F637B29722}" destId="{21476524-A8B8-40FC-B460-D273861B910B}" srcOrd="2" destOrd="0" presId="urn:microsoft.com/office/officeart/2016/7/layout/LinearArrowProcessNumbered"/>
    <dgm:cxn modelId="{F58DDDB7-2E3F-4D58-B5A5-27E568CFCA99}" type="presParOf" srcId="{955A265E-5315-46DD-B001-14F637B29722}" destId="{73F23266-793C-40CC-9F07-C96D15BF86D9}" srcOrd="3" destOrd="0" presId="urn:microsoft.com/office/officeart/2016/7/layout/LinearArrowProcessNumbered"/>
    <dgm:cxn modelId="{1EEA1E2C-BFFB-410C-A701-E71DFD9867ED}" type="presParOf" srcId="{D17EA79C-CB4E-496A-A4BC-FB521F198CC2}" destId="{952BE35D-81E5-4814-B28B-983EAE8B5DB5}" srcOrd="2" destOrd="0" presId="urn:microsoft.com/office/officeart/2016/7/layout/LinearArrowProcessNumbered"/>
    <dgm:cxn modelId="{2E4DC202-F956-425D-931E-9A4C7B080727}" type="presParOf" srcId="{52DBFE33-9B72-4B8D-ABDD-24962DE04148}" destId="{19B92A24-F7A8-4C60-95B4-EB4BBE99EB98}" srcOrd="11" destOrd="0" presId="urn:microsoft.com/office/officeart/2016/7/layout/LinearArrowProcessNumbered"/>
    <dgm:cxn modelId="{7D8BF64D-8AB6-4EE7-8249-210529840E43}" type="presParOf" srcId="{52DBFE33-9B72-4B8D-ABDD-24962DE04148}" destId="{A15D56C5-D1F7-4072-9647-B5AADBB9A375}" srcOrd="12" destOrd="0" presId="urn:microsoft.com/office/officeart/2016/7/layout/LinearArrowProcessNumbered"/>
    <dgm:cxn modelId="{2473A9CF-06A3-4178-81D5-97DF494921BB}" type="presParOf" srcId="{A15D56C5-D1F7-4072-9647-B5AADBB9A375}" destId="{F231DDE2-1E64-482D-8484-55054A84D308}" srcOrd="0" destOrd="0" presId="urn:microsoft.com/office/officeart/2016/7/layout/LinearArrowProcessNumbered"/>
    <dgm:cxn modelId="{5C71C317-03A2-4CB9-B383-9CD88FD54F04}" type="presParOf" srcId="{A15D56C5-D1F7-4072-9647-B5AADBB9A375}" destId="{093C4C6D-55FA-443D-A329-A7BC8C0BB72A}" srcOrd="1" destOrd="0" presId="urn:microsoft.com/office/officeart/2016/7/layout/LinearArrowProcessNumbered"/>
    <dgm:cxn modelId="{F302D3A4-4828-4E6B-A39F-E0F8D209CB88}" type="presParOf" srcId="{093C4C6D-55FA-443D-A329-A7BC8C0BB72A}" destId="{200A7C50-B355-4FCB-A1AB-7BD74C95AE37}" srcOrd="0" destOrd="0" presId="urn:microsoft.com/office/officeart/2016/7/layout/LinearArrowProcessNumbered"/>
    <dgm:cxn modelId="{E6550502-BE55-4B73-ACE3-9632BF9AB94D}" type="presParOf" srcId="{093C4C6D-55FA-443D-A329-A7BC8C0BB72A}" destId="{52CE28B4-63DB-4E51-A310-69D6D817C87C}" srcOrd="1" destOrd="0" presId="urn:microsoft.com/office/officeart/2016/7/layout/LinearArrowProcessNumbered"/>
    <dgm:cxn modelId="{44F20434-156E-4284-B05F-0B1909B47FB3}" type="presParOf" srcId="{093C4C6D-55FA-443D-A329-A7BC8C0BB72A}" destId="{CF5513EC-D53F-4EA8-8A60-FF7E19512577}" srcOrd="2" destOrd="0" presId="urn:microsoft.com/office/officeart/2016/7/layout/LinearArrowProcessNumbered"/>
    <dgm:cxn modelId="{59424435-4201-45F4-890B-3FD76F9EDDC7}" type="presParOf" srcId="{093C4C6D-55FA-443D-A329-A7BC8C0BB72A}" destId="{C68DBB90-F482-4067-BAE9-03929E1DE504}" srcOrd="3" destOrd="0" presId="urn:microsoft.com/office/officeart/2016/7/layout/LinearArrowProcessNumbered"/>
    <dgm:cxn modelId="{7D036F8B-5D3B-427E-969B-90E17E91FC33}" type="presParOf" srcId="{A15D56C5-D1F7-4072-9647-B5AADBB9A375}" destId="{2F906BA5-1F66-4BE2-95E9-85E705B55592}" srcOrd="2" destOrd="0" presId="urn:microsoft.com/office/officeart/2016/7/layout/LinearArrow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67F125-BBC3-45C8-BEE6-3027A87AE2E7}">
      <dsp:nvSpPr>
        <dsp:cNvPr id="0" name=""/>
        <dsp:cNvSpPr/>
      </dsp:nvSpPr>
      <dsp:spPr>
        <a:xfrm>
          <a:off x="756507" y="1110004"/>
          <a:ext cx="596054" cy="71"/>
        </a:xfrm>
        <a:prstGeom prst="rect">
          <a:avLst/>
        </a:prstGeom>
        <a:solidFill>
          <a:schemeClr val="lt1">
            <a:alpha val="90000"/>
            <a:tint val="40000"/>
            <a:hueOff val="0"/>
            <a:satOff val="0"/>
            <a:lumOff val="0"/>
            <a:alphaOff val="0"/>
          </a:schemeClr>
        </a:solidFill>
        <a:ln w="6350" cap="flat" cmpd="sng" algn="ctr">
          <a:solidFill>
            <a:schemeClr val="dk2">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CD7CC1F3-4F5F-454C-9292-DC5795C0223C}">
      <dsp:nvSpPr>
        <dsp:cNvPr id="0" name=""/>
        <dsp:cNvSpPr/>
      </dsp:nvSpPr>
      <dsp:spPr>
        <a:xfrm>
          <a:off x="1388325" y="1059922"/>
          <a:ext cx="68546" cy="128860"/>
        </a:xfrm>
        <a:prstGeom prst="chevron">
          <a:avLst>
            <a:gd name="adj" fmla="val 90000"/>
          </a:avLst>
        </a:prstGeom>
        <a:solidFill>
          <a:schemeClr val="lt1">
            <a:alpha val="90000"/>
            <a:tint val="40000"/>
            <a:hueOff val="0"/>
            <a:satOff val="0"/>
            <a:lumOff val="0"/>
            <a:alphaOff val="0"/>
          </a:schemeClr>
        </a:solidFill>
        <a:ln w="6350" cap="flat" cmpd="sng" algn="ctr">
          <a:solidFill>
            <a:schemeClr val="dk2">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9868F179-89AA-4BA1-BEE0-84F76B2E9B6E}">
      <dsp:nvSpPr>
        <dsp:cNvPr id="0" name=""/>
        <dsp:cNvSpPr/>
      </dsp:nvSpPr>
      <dsp:spPr>
        <a:xfrm>
          <a:off x="406810" y="834849"/>
          <a:ext cx="550381" cy="550381"/>
        </a:xfrm>
        <a:prstGeom prst="ellipse">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w="6350" cap="flat" cmpd="sng" algn="ctr">
          <a:solidFill>
            <a:schemeClr val="dk2">
              <a:shade val="80000"/>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1358" tIns="21358" rIns="21358" bIns="21358"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Arial" panose="020B0604020202020204" pitchFamily="34" charset="0"/>
              <a:cs typeface="Arial" panose="020B0604020202020204" pitchFamily="34" charset="0"/>
            </a:rPr>
            <a:t>1</a:t>
          </a:r>
        </a:p>
      </dsp:txBody>
      <dsp:txXfrm>
        <a:off x="487411" y="915450"/>
        <a:ext cx="389179" cy="389179"/>
      </dsp:txXfrm>
    </dsp:sp>
    <dsp:sp modelId="{FE0DBA35-7511-4A68-BC08-77DA668E4F6E}">
      <dsp:nvSpPr>
        <dsp:cNvPr id="0" name=""/>
        <dsp:cNvSpPr/>
      </dsp:nvSpPr>
      <dsp:spPr>
        <a:xfrm>
          <a:off x="11439" y="1550813"/>
          <a:ext cx="1341122" cy="1965600"/>
        </a:xfrm>
        <a:prstGeom prst="upArrowCallout">
          <a:avLst>
            <a:gd name="adj1" fmla="val 50000"/>
            <a:gd name="adj2" fmla="val 20000"/>
            <a:gd name="adj3" fmla="val 20000"/>
            <a:gd name="adj4" fmla="val 100000"/>
          </a:avLst>
        </a:prstGeom>
        <a:solidFill>
          <a:schemeClr val="lt1">
            <a:alpha val="90000"/>
            <a:tint val="40000"/>
            <a:hueOff val="0"/>
            <a:satOff val="0"/>
            <a:lumOff val="0"/>
            <a:alphaOff val="0"/>
          </a:schemeClr>
        </a:solidFill>
        <a:ln w="6350" cap="flat" cmpd="sng" algn="ctr">
          <a:solidFill>
            <a:schemeClr val="dk2">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5789" tIns="165100" rIns="105789" bIns="165100" numCol="1" spcCol="1270" anchor="t" anchorCtr="0">
          <a:noAutofit/>
        </a:bodyPr>
        <a:lstStyle/>
        <a:p>
          <a:pPr marL="0" lvl="0" indent="0" algn="l" defTabSz="444500">
            <a:lnSpc>
              <a:spcPct val="90000"/>
            </a:lnSpc>
            <a:spcBef>
              <a:spcPct val="0"/>
            </a:spcBef>
            <a:spcAft>
              <a:spcPct val="35000"/>
            </a:spcAft>
            <a:buNone/>
          </a:pPr>
          <a:r>
            <a:rPr lang="en-US" sz="1000" kern="1200" dirty="0">
              <a:solidFill>
                <a:schemeClr val="tx1"/>
              </a:solidFill>
              <a:latin typeface="Arial" panose="020B0604020202020204" pitchFamily="34" charset="0"/>
              <a:cs typeface="Arial" panose="020B0604020202020204" pitchFamily="34" charset="0"/>
            </a:rPr>
            <a:t>Easily create and schedule custom content such as promotions, discounts, reminders, events, etc.​</a:t>
          </a:r>
        </a:p>
      </dsp:txBody>
      <dsp:txXfrm>
        <a:off x="11439" y="1819037"/>
        <a:ext cx="1341122" cy="1697376"/>
      </dsp:txXfrm>
    </dsp:sp>
    <dsp:sp modelId="{2676D7C8-A27D-472B-8344-A077AE0D356A}">
      <dsp:nvSpPr>
        <dsp:cNvPr id="0" name=""/>
        <dsp:cNvSpPr/>
      </dsp:nvSpPr>
      <dsp:spPr>
        <a:xfrm>
          <a:off x="1501575" y="1110033"/>
          <a:ext cx="1341122" cy="72"/>
        </a:xfrm>
        <a:prstGeom prst="rect">
          <a:avLst/>
        </a:prstGeom>
        <a:solidFill>
          <a:schemeClr val="lt1">
            <a:alpha val="90000"/>
            <a:tint val="40000"/>
            <a:hueOff val="0"/>
            <a:satOff val="0"/>
            <a:lumOff val="0"/>
            <a:alphaOff val="0"/>
          </a:schemeClr>
        </a:solidFill>
        <a:ln w="6350" cap="flat" cmpd="sng" algn="ctr">
          <a:solidFill>
            <a:schemeClr val="dk2">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D39C4CC5-86DC-45D6-9F77-DD4FE1E153BF}">
      <dsp:nvSpPr>
        <dsp:cNvPr id="0" name=""/>
        <dsp:cNvSpPr/>
      </dsp:nvSpPr>
      <dsp:spPr>
        <a:xfrm>
          <a:off x="2878461" y="1059946"/>
          <a:ext cx="68546" cy="128887"/>
        </a:xfrm>
        <a:prstGeom prst="chevron">
          <a:avLst>
            <a:gd name="adj" fmla="val 90000"/>
          </a:avLst>
        </a:prstGeom>
        <a:solidFill>
          <a:schemeClr val="lt1">
            <a:alpha val="90000"/>
            <a:tint val="40000"/>
            <a:hueOff val="0"/>
            <a:satOff val="0"/>
            <a:lumOff val="0"/>
            <a:alphaOff val="0"/>
          </a:schemeClr>
        </a:solidFill>
        <a:ln w="6350" cap="flat" cmpd="sng" algn="ctr">
          <a:solidFill>
            <a:schemeClr val="dk2">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BB8CB53C-83DD-4B08-9129-F8C481F34482}">
      <dsp:nvSpPr>
        <dsp:cNvPr id="0" name=""/>
        <dsp:cNvSpPr/>
      </dsp:nvSpPr>
      <dsp:spPr>
        <a:xfrm>
          <a:off x="1896946" y="834878"/>
          <a:ext cx="550381" cy="550381"/>
        </a:xfrm>
        <a:prstGeom prst="ellipse">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w="6350" cap="flat" cmpd="sng" algn="ctr">
          <a:solidFill>
            <a:schemeClr val="dk2">
              <a:shade val="80000"/>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1358" tIns="21358" rIns="21358" bIns="21358"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Arial" panose="020B0604020202020204" pitchFamily="34" charset="0"/>
              <a:cs typeface="Arial" panose="020B0604020202020204" pitchFamily="34" charset="0"/>
            </a:rPr>
            <a:t>2</a:t>
          </a:r>
        </a:p>
      </dsp:txBody>
      <dsp:txXfrm>
        <a:off x="1977547" y="915479"/>
        <a:ext cx="389179" cy="389179"/>
      </dsp:txXfrm>
    </dsp:sp>
    <dsp:sp modelId="{C6ED9511-2542-4D61-9FE6-179158DD9E14}">
      <dsp:nvSpPr>
        <dsp:cNvPr id="0" name=""/>
        <dsp:cNvSpPr/>
      </dsp:nvSpPr>
      <dsp:spPr>
        <a:xfrm>
          <a:off x="1501575" y="1550888"/>
          <a:ext cx="1341122" cy="1965600"/>
        </a:xfrm>
        <a:prstGeom prst="upArrowCallout">
          <a:avLst>
            <a:gd name="adj1" fmla="val 50000"/>
            <a:gd name="adj2" fmla="val 20000"/>
            <a:gd name="adj3" fmla="val 20000"/>
            <a:gd name="adj4" fmla="val 100000"/>
          </a:avLst>
        </a:prstGeom>
        <a:solidFill>
          <a:schemeClr val="lt1">
            <a:alpha val="90000"/>
            <a:tint val="40000"/>
            <a:hueOff val="0"/>
            <a:satOff val="0"/>
            <a:lumOff val="0"/>
            <a:alphaOff val="0"/>
          </a:schemeClr>
        </a:solidFill>
        <a:ln w="6350" cap="flat" cmpd="sng" algn="ctr">
          <a:solidFill>
            <a:schemeClr val="dk2">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5789" tIns="165100" rIns="105789" bIns="165100" numCol="1" spcCol="1270" anchor="t" anchorCtr="0">
          <a:noAutofit/>
        </a:bodyPr>
        <a:lstStyle/>
        <a:p>
          <a:pPr marL="0" lvl="0" indent="0" algn="l" defTabSz="444500">
            <a:lnSpc>
              <a:spcPct val="90000"/>
            </a:lnSpc>
            <a:spcBef>
              <a:spcPct val="0"/>
            </a:spcBef>
            <a:spcAft>
              <a:spcPct val="35000"/>
            </a:spcAft>
            <a:buNone/>
          </a:pPr>
          <a:r>
            <a:rPr lang="en-US" sz="1000" kern="1200" dirty="0">
              <a:solidFill>
                <a:schemeClr val="tx1"/>
              </a:solidFill>
              <a:latin typeface="Arial" panose="020B0604020202020204" pitchFamily="34" charset="0"/>
              <a:cs typeface="Arial" panose="020B0604020202020204" pitchFamily="34" charset="0"/>
            </a:rPr>
            <a:t>Post to Facebook, Instagram, Twitter, Tumblr and LinkedIn</a:t>
          </a:r>
        </a:p>
      </dsp:txBody>
      <dsp:txXfrm>
        <a:off x="1501575" y="1819112"/>
        <a:ext cx="1341122" cy="1697376"/>
      </dsp:txXfrm>
    </dsp:sp>
    <dsp:sp modelId="{D443F37E-D5E8-4A5B-B652-FC946BA66C4C}">
      <dsp:nvSpPr>
        <dsp:cNvPr id="0" name=""/>
        <dsp:cNvSpPr/>
      </dsp:nvSpPr>
      <dsp:spPr>
        <a:xfrm>
          <a:off x="2991712" y="1110033"/>
          <a:ext cx="1341122" cy="72"/>
        </a:xfrm>
        <a:prstGeom prst="rect">
          <a:avLst/>
        </a:prstGeom>
        <a:solidFill>
          <a:schemeClr val="lt1">
            <a:alpha val="90000"/>
            <a:tint val="40000"/>
            <a:hueOff val="0"/>
            <a:satOff val="0"/>
            <a:lumOff val="0"/>
            <a:alphaOff val="0"/>
          </a:schemeClr>
        </a:solidFill>
        <a:ln w="6350" cap="flat" cmpd="sng" algn="ctr">
          <a:solidFill>
            <a:schemeClr val="dk2">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555CFD48-8309-450E-88C5-556A255C4536}">
      <dsp:nvSpPr>
        <dsp:cNvPr id="0" name=""/>
        <dsp:cNvSpPr/>
      </dsp:nvSpPr>
      <dsp:spPr>
        <a:xfrm>
          <a:off x="4368597" y="1059946"/>
          <a:ext cx="68546" cy="128887"/>
        </a:xfrm>
        <a:prstGeom prst="chevron">
          <a:avLst>
            <a:gd name="adj" fmla="val 90000"/>
          </a:avLst>
        </a:prstGeom>
        <a:solidFill>
          <a:schemeClr val="lt1">
            <a:alpha val="90000"/>
            <a:tint val="40000"/>
            <a:hueOff val="0"/>
            <a:satOff val="0"/>
            <a:lumOff val="0"/>
            <a:alphaOff val="0"/>
          </a:schemeClr>
        </a:solidFill>
        <a:ln w="6350" cap="flat" cmpd="sng" algn="ctr">
          <a:solidFill>
            <a:schemeClr val="dk2">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945FA6C0-282B-4FFF-A0E2-CCDB16ADC742}">
      <dsp:nvSpPr>
        <dsp:cNvPr id="0" name=""/>
        <dsp:cNvSpPr/>
      </dsp:nvSpPr>
      <dsp:spPr>
        <a:xfrm>
          <a:off x="3387082" y="834878"/>
          <a:ext cx="550381" cy="550381"/>
        </a:xfrm>
        <a:prstGeom prst="ellipse">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w="6350" cap="flat" cmpd="sng" algn="ctr">
          <a:solidFill>
            <a:schemeClr val="dk2">
              <a:shade val="80000"/>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1358" tIns="21358" rIns="21358" bIns="21358"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Arial" panose="020B0604020202020204" pitchFamily="34" charset="0"/>
              <a:cs typeface="Arial" panose="020B0604020202020204" pitchFamily="34" charset="0"/>
            </a:rPr>
            <a:t>3</a:t>
          </a:r>
        </a:p>
      </dsp:txBody>
      <dsp:txXfrm>
        <a:off x="3467683" y="915479"/>
        <a:ext cx="389179" cy="389179"/>
      </dsp:txXfrm>
    </dsp:sp>
    <dsp:sp modelId="{99CF9EAA-E28B-4329-BD57-E61D5D98FE10}">
      <dsp:nvSpPr>
        <dsp:cNvPr id="0" name=""/>
        <dsp:cNvSpPr/>
      </dsp:nvSpPr>
      <dsp:spPr>
        <a:xfrm>
          <a:off x="2960182" y="1603370"/>
          <a:ext cx="1341122" cy="1965600"/>
        </a:xfrm>
        <a:prstGeom prst="upArrowCallout">
          <a:avLst>
            <a:gd name="adj1" fmla="val 50000"/>
            <a:gd name="adj2" fmla="val 20000"/>
            <a:gd name="adj3" fmla="val 20000"/>
            <a:gd name="adj4" fmla="val 100000"/>
          </a:avLst>
        </a:prstGeom>
        <a:solidFill>
          <a:schemeClr val="lt1">
            <a:alpha val="90000"/>
            <a:tint val="40000"/>
            <a:hueOff val="0"/>
            <a:satOff val="0"/>
            <a:lumOff val="0"/>
            <a:alphaOff val="0"/>
          </a:schemeClr>
        </a:solidFill>
        <a:ln w="6350" cap="flat" cmpd="sng" algn="ctr">
          <a:solidFill>
            <a:schemeClr val="dk2">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5789" tIns="165100" rIns="105789" bIns="165100" numCol="1" spcCol="1270" anchor="t" anchorCtr="0">
          <a:noAutofit/>
        </a:bodyPr>
        <a:lstStyle/>
        <a:p>
          <a:pPr marL="0" lvl="0" indent="0" algn="l" defTabSz="444500">
            <a:lnSpc>
              <a:spcPct val="90000"/>
            </a:lnSpc>
            <a:spcBef>
              <a:spcPct val="0"/>
            </a:spcBef>
            <a:spcAft>
              <a:spcPct val="35000"/>
            </a:spcAft>
            <a:buNone/>
          </a:pPr>
          <a:r>
            <a:rPr lang="en-US" sz="1000" kern="1200" dirty="0">
              <a:solidFill>
                <a:schemeClr val="tx1"/>
              </a:solidFill>
              <a:latin typeface="Arial" panose="020B0604020202020204" pitchFamily="34" charset="0"/>
              <a:cs typeface="Arial" panose="020B0604020202020204" pitchFamily="34" charset="0"/>
            </a:rPr>
            <a:t>Artificial Intelligence Engine (AIE) will select and schedule engaging content that will be posted to multiple social media networks</a:t>
          </a:r>
        </a:p>
      </dsp:txBody>
      <dsp:txXfrm>
        <a:off x="2960182" y="1871594"/>
        <a:ext cx="1341122" cy="1697376"/>
      </dsp:txXfrm>
    </dsp:sp>
    <dsp:sp modelId="{2E77E8F4-2B15-4508-8D08-D172DEB16C5C}">
      <dsp:nvSpPr>
        <dsp:cNvPr id="0" name=""/>
        <dsp:cNvSpPr/>
      </dsp:nvSpPr>
      <dsp:spPr>
        <a:xfrm>
          <a:off x="4481848" y="1110033"/>
          <a:ext cx="1341122" cy="72"/>
        </a:xfrm>
        <a:prstGeom prst="rect">
          <a:avLst/>
        </a:prstGeom>
        <a:solidFill>
          <a:schemeClr val="lt1">
            <a:alpha val="90000"/>
            <a:tint val="40000"/>
            <a:hueOff val="0"/>
            <a:satOff val="0"/>
            <a:lumOff val="0"/>
            <a:alphaOff val="0"/>
          </a:schemeClr>
        </a:solidFill>
        <a:ln w="6350" cap="flat" cmpd="sng" algn="ctr">
          <a:solidFill>
            <a:schemeClr val="dk2">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C9D166ED-1738-4FEC-98B5-717AD4D39454}">
      <dsp:nvSpPr>
        <dsp:cNvPr id="0" name=""/>
        <dsp:cNvSpPr/>
      </dsp:nvSpPr>
      <dsp:spPr>
        <a:xfrm>
          <a:off x="5858733" y="1059946"/>
          <a:ext cx="68546" cy="128887"/>
        </a:xfrm>
        <a:prstGeom prst="chevron">
          <a:avLst>
            <a:gd name="adj" fmla="val 90000"/>
          </a:avLst>
        </a:prstGeom>
        <a:solidFill>
          <a:schemeClr val="lt1">
            <a:alpha val="90000"/>
            <a:tint val="40000"/>
            <a:hueOff val="0"/>
            <a:satOff val="0"/>
            <a:lumOff val="0"/>
            <a:alphaOff val="0"/>
          </a:schemeClr>
        </a:solidFill>
        <a:ln w="6350" cap="flat" cmpd="sng" algn="ctr">
          <a:solidFill>
            <a:schemeClr val="dk2">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BBC1353D-6858-458D-8B47-21BC32EF505C}">
      <dsp:nvSpPr>
        <dsp:cNvPr id="0" name=""/>
        <dsp:cNvSpPr/>
      </dsp:nvSpPr>
      <dsp:spPr>
        <a:xfrm>
          <a:off x="4877218" y="834878"/>
          <a:ext cx="550381" cy="550381"/>
        </a:xfrm>
        <a:prstGeom prst="ellipse">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w="6350" cap="flat" cmpd="sng" algn="ctr">
          <a:solidFill>
            <a:schemeClr val="dk2">
              <a:shade val="80000"/>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1358" tIns="21358" rIns="21358" bIns="21358"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Arial" panose="020B0604020202020204" pitchFamily="34" charset="0"/>
              <a:cs typeface="Arial" panose="020B0604020202020204" pitchFamily="34" charset="0"/>
            </a:rPr>
            <a:t>4</a:t>
          </a:r>
        </a:p>
      </dsp:txBody>
      <dsp:txXfrm>
        <a:off x="4957819" y="915479"/>
        <a:ext cx="389179" cy="389179"/>
      </dsp:txXfrm>
    </dsp:sp>
    <dsp:sp modelId="{E2186A34-11D9-40ED-B032-F249E18853FA}">
      <dsp:nvSpPr>
        <dsp:cNvPr id="0" name=""/>
        <dsp:cNvSpPr/>
      </dsp:nvSpPr>
      <dsp:spPr>
        <a:xfrm>
          <a:off x="4481848" y="1550888"/>
          <a:ext cx="1341122" cy="1965600"/>
        </a:xfrm>
        <a:prstGeom prst="upArrowCallout">
          <a:avLst>
            <a:gd name="adj1" fmla="val 50000"/>
            <a:gd name="adj2" fmla="val 20000"/>
            <a:gd name="adj3" fmla="val 20000"/>
            <a:gd name="adj4" fmla="val 100000"/>
          </a:avLst>
        </a:prstGeom>
        <a:solidFill>
          <a:schemeClr val="lt1">
            <a:alpha val="90000"/>
            <a:tint val="40000"/>
            <a:hueOff val="0"/>
            <a:satOff val="0"/>
            <a:lumOff val="0"/>
            <a:alphaOff val="0"/>
          </a:schemeClr>
        </a:solidFill>
        <a:ln w="6350" cap="flat" cmpd="sng" algn="ctr">
          <a:solidFill>
            <a:schemeClr val="dk2">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5789" tIns="165100" rIns="105789" bIns="165100" numCol="1" spcCol="1270" anchor="t" anchorCtr="0">
          <a:noAutofit/>
        </a:bodyPr>
        <a:lstStyle/>
        <a:p>
          <a:pPr marL="0" lvl="0" indent="0" algn="l" defTabSz="444500">
            <a:lnSpc>
              <a:spcPct val="90000"/>
            </a:lnSpc>
            <a:spcBef>
              <a:spcPct val="0"/>
            </a:spcBef>
            <a:spcAft>
              <a:spcPct val="35000"/>
            </a:spcAft>
            <a:buNone/>
          </a:pPr>
          <a:r>
            <a:rPr lang="en-US" sz="1000" kern="1200" dirty="0">
              <a:solidFill>
                <a:schemeClr val="tx1"/>
              </a:solidFill>
              <a:latin typeface="Arial" panose="020B0604020202020204" pitchFamily="34" charset="0"/>
              <a:cs typeface="Arial" panose="020B0604020202020204" pitchFamily="34" charset="0"/>
            </a:rPr>
            <a:t>Configure when posts are scheduled</a:t>
          </a:r>
        </a:p>
      </dsp:txBody>
      <dsp:txXfrm>
        <a:off x="4481848" y="1819112"/>
        <a:ext cx="1341122" cy="1697376"/>
      </dsp:txXfrm>
    </dsp:sp>
    <dsp:sp modelId="{2B48002B-332B-40C3-B545-4C42EEBCF248}">
      <dsp:nvSpPr>
        <dsp:cNvPr id="0" name=""/>
        <dsp:cNvSpPr/>
      </dsp:nvSpPr>
      <dsp:spPr>
        <a:xfrm>
          <a:off x="5971984" y="1110033"/>
          <a:ext cx="1341122" cy="72"/>
        </a:xfrm>
        <a:prstGeom prst="rect">
          <a:avLst/>
        </a:prstGeom>
        <a:solidFill>
          <a:schemeClr val="lt1">
            <a:alpha val="90000"/>
            <a:tint val="40000"/>
            <a:hueOff val="0"/>
            <a:satOff val="0"/>
            <a:lumOff val="0"/>
            <a:alphaOff val="0"/>
          </a:schemeClr>
        </a:solidFill>
        <a:ln w="6350" cap="flat" cmpd="sng" algn="ctr">
          <a:solidFill>
            <a:schemeClr val="dk2">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F2B46173-81BB-4EE3-B597-5F7EF8FBEEF9}">
      <dsp:nvSpPr>
        <dsp:cNvPr id="0" name=""/>
        <dsp:cNvSpPr/>
      </dsp:nvSpPr>
      <dsp:spPr>
        <a:xfrm>
          <a:off x="7348869" y="1059946"/>
          <a:ext cx="68546" cy="128887"/>
        </a:xfrm>
        <a:prstGeom prst="chevron">
          <a:avLst>
            <a:gd name="adj" fmla="val 90000"/>
          </a:avLst>
        </a:prstGeom>
        <a:solidFill>
          <a:schemeClr val="lt1">
            <a:alpha val="90000"/>
            <a:tint val="40000"/>
            <a:hueOff val="0"/>
            <a:satOff val="0"/>
            <a:lumOff val="0"/>
            <a:alphaOff val="0"/>
          </a:schemeClr>
        </a:solidFill>
        <a:ln w="6350" cap="flat" cmpd="sng" algn="ctr">
          <a:solidFill>
            <a:schemeClr val="dk2">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075F1AD5-50CF-4EEC-9D26-511574FB2637}">
      <dsp:nvSpPr>
        <dsp:cNvPr id="0" name=""/>
        <dsp:cNvSpPr/>
      </dsp:nvSpPr>
      <dsp:spPr>
        <a:xfrm>
          <a:off x="6367354" y="834878"/>
          <a:ext cx="550381" cy="550381"/>
        </a:xfrm>
        <a:prstGeom prst="ellipse">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w="6350" cap="flat" cmpd="sng" algn="ctr">
          <a:solidFill>
            <a:schemeClr val="dk2">
              <a:shade val="80000"/>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1358" tIns="21358" rIns="21358" bIns="21358"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Arial" panose="020B0604020202020204" pitchFamily="34" charset="0"/>
              <a:cs typeface="Arial" panose="020B0604020202020204" pitchFamily="34" charset="0"/>
            </a:rPr>
            <a:t>5</a:t>
          </a:r>
        </a:p>
      </dsp:txBody>
      <dsp:txXfrm>
        <a:off x="6447955" y="915479"/>
        <a:ext cx="389179" cy="389179"/>
      </dsp:txXfrm>
    </dsp:sp>
    <dsp:sp modelId="{6F59FDA7-0F19-4284-9DA3-C51EF06E6F0F}">
      <dsp:nvSpPr>
        <dsp:cNvPr id="0" name=""/>
        <dsp:cNvSpPr/>
      </dsp:nvSpPr>
      <dsp:spPr>
        <a:xfrm>
          <a:off x="5971984" y="1550888"/>
          <a:ext cx="1341122" cy="1965600"/>
        </a:xfrm>
        <a:prstGeom prst="upArrowCallout">
          <a:avLst>
            <a:gd name="adj1" fmla="val 50000"/>
            <a:gd name="adj2" fmla="val 20000"/>
            <a:gd name="adj3" fmla="val 20000"/>
            <a:gd name="adj4" fmla="val 100000"/>
          </a:avLst>
        </a:prstGeom>
        <a:solidFill>
          <a:schemeClr val="lt1">
            <a:alpha val="90000"/>
            <a:tint val="40000"/>
            <a:hueOff val="0"/>
            <a:satOff val="0"/>
            <a:lumOff val="0"/>
            <a:alphaOff val="0"/>
          </a:schemeClr>
        </a:solidFill>
        <a:ln w="6350" cap="flat" cmpd="sng" algn="ctr">
          <a:solidFill>
            <a:schemeClr val="dk2">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5789" tIns="165100" rIns="105789" bIns="165100" numCol="1" spcCol="1270" anchor="t" anchorCtr="0">
          <a:noAutofit/>
        </a:bodyPr>
        <a:lstStyle/>
        <a:p>
          <a:pPr marL="0" lvl="0" indent="0" algn="l" defTabSz="444500">
            <a:lnSpc>
              <a:spcPct val="90000"/>
            </a:lnSpc>
            <a:spcBef>
              <a:spcPct val="0"/>
            </a:spcBef>
            <a:spcAft>
              <a:spcPct val="35000"/>
            </a:spcAft>
            <a:buNone/>
          </a:pPr>
          <a:r>
            <a:rPr lang="en-US" sz="1000" kern="1200" dirty="0">
              <a:solidFill>
                <a:schemeClr val="tx1"/>
              </a:solidFill>
              <a:latin typeface="Arial" panose="020B0604020202020204" pitchFamily="34" charset="0"/>
              <a:cs typeface="Arial" panose="020B0604020202020204" pitchFamily="34" charset="0"/>
            </a:rPr>
            <a:t>Access a library of free stock photos for social content</a:t>
          </a:r>
        </a:p>
      </dsp:txBody>
      <dsp:txXfrm>
        <a:off x="5971984" y="1819112"/>
        <a:ext cx="1341122" cy="1697376"/>
      </dsp:txXfrm>
    </dsp:sp>
    <dsp:sp modelId="{E68DDCE5-70FB-44B3-AAA0-542FB9482E84}">
      <dsp:nvSpPr>
        <dsp:cNvPr id="0" name=""/>
        <dsp:cNvSpPr/>
      </dsp:nvSpPr>
      <dsp:spPr>
        <a:xfrm>
          <a:off x="7462120" y="1110033"/>
          <a:ext cx="1341122" cy="72"/>
        </a:xfrm>
        <a:prstGeom prst="rect">
          <a:avLst/>
        </a:prstGeom>
        <a:solidFill>
          <a:schemeClr val="lt1">
            <a:alpha val="90000"/>
            <a:tint val="40000"/>
            <a:hueOff val="0"/>
            <a:satOff val="0"/>
            <a:lumOff val="0"/>
            <a:alphaOff val="0"/>
          </a:schemeClr>
        </a:solidFill>
        <a:ln w="6350" cap="flat" cmpd="sng" algn="ctr">
          <a:solidFill>
            <a:schemeClr val="dk2">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8FBB01CF-89B5-4EB0-B2DF-9C9CF377F20E}">
      <dsp:nvSpPr>
        <dsp:cNvPr id="0" name=""/>
        <dsp:cNvSpPr/>
      </dsp:nvSpPr>
      <dsp:spPr>
        <a:xfrm>
          <a:off x="8839005" y="1059946"/>
          <a:ext cx="68546" cy="128887"/>
        </a:xfrm>
        <a:prstGeom prst="chevron">
          <a:avLst>
            <a:gd name="adj" fmla="val 90000"/>
          </a:avLst>
        </a:prstGeom>
        <a:solidFill>
          <a:schemeClr val="lt1">
            <a:alpha val="90000"/>
            <a:tint val="40000"/>
            <a:hueOff val="0"/>
            <a:satOff val="0"/>
            <a:lumOff val="0"/>
            <a:alphaOff val="0"/>
          </a:schemeClr>
        </a:solidFill>
        <a:ln w="6350" cap="flat" cmpd="sng" algn="ctr">
          <a:solidFill>
            <a:schemeClr val="dk2">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21476524-A8B8-40FC-B460-D273861B910B}">
      <dsp:nvSpPr>
        <dsp:cNvPr id="0" name=""/>
        <dsp:cNvSpPr/>
      </dsp:nvSpPr>
      <dsp:spPr>
        <a:xfrm>
          <a:off x="7857490" y="834878"/>
          <a:ext cx="550381" cy="550381"/>
        </a:xfrm>
        <a:prstGeom prst="ellipse">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w="6350" cap="flat" cmpd="sng" algn="ctr">
          <a:solidFill>
            <a:schemeClr val="dk2">
              <a:shade val="80000"/>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1358" tIns="21358" rIns="21358" bIns="21358"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Arial" panose="020B0604020202020204" pitchFamily="34" charset="0"/>
              <a:cs typeface="Arial" panose="020B0604020202020204" pitchFamily="34" charset="0"/>
            </a:rPr>
            <a:t>6</a:t>
          </a:r>
        </a:p>
      </dsp:txBody>
      <dsp:txXfrm>
        <a:off x="7938091" y="915479"/>
        <a:ext cx="389179" cy="389179"/>
      </dsp:txXfrm>
    </dsp:sp>
    <dsp:sp modelId="{952BE35D-81E5-4814-B28B-983EAE8B5DB5}">
      <dsp:nvSpPr>
        <dsp:cNvPr id="0" name=""/>
        <dsp:cNvSpPr/>
      </dsp:nvSpPr>
      <dsp:spPr>
        <a:xfrm>
          <a:off x="7462120" y="1550888"/>
          <a:ext cx="1341122" cy="1965600"/>
        </a:xfrm>
        <a:prstGeom prst="upArrowCallout">
          <a:avLst>
            <a:gd name="adj1" fmla="val 50000"/>
            <a:gd name="adj2" fmla="val 20000"/>
            <a:gd name="adj3" fmla="val 20000"/>
            <a:gd name="adj4" fmla="val 100000"/>
          </a:avLst>
        </a:prstGeom>
        <a:solidFill>
          <a:schemeClr val="lt1">
            <a:alpha val="90000"/>
            <a:tint val="40000"/>
            <a:hueOff val="0"/>
            <a:satOff val="0"/>
            <a:lumOff val="0"/>
            <a:alphaOff val="0"/>
          </a:schemeClr>
        </a:solidFill>
        <a:ln w="6350" cap="flat" cmpd="sng" algn="ctr">
          <a:solidFill>
            <a:schemeClr val="dk2">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5789" tIns="165100" rIns="105789" bIns="165100" numCol="1" spcCol="1270" anchor="t" anchorCtr="0">
          <a:noAutofit/>
        </a:bodyPr>
        <a:lstStyle/>
        <a:p>
          <a:pPr marL="0" lvl="0" indent="0" algn="l" defTabSz="444500">
            <a:lnSpc>
              <a:spcPct val="90000"/>
            </a:lnSpc>
            <a:spcBef>
              <a:spcPct val="0"/>
            </a:spcBef>
            <a:spcAft>
              <a:spcPct val="35000"/>
            </a:spcAft>
            <a:buNone/>
          </a:pPr>
          <a:r>
            <a:rPr lang="en-US" sz="1000" kern="1200" dirty="0">
              <a:solidFill>
                <a:schemeClr val="tx1"/>
              </a:solidFill>
              <a:latin typeface="Arial" panose="020B0604020202020204" pitchFamily="34" charset="0"/>
              <a:cs typeface="Arial" panose="020B0604020202020204" pitchFamily="34" charset="0"/>
            </a:rPr>
            <a:t>See all the postings that will take place on the calendar, along with the amount of time saved by using the “Social 365” tool</a:t>
          </a:r>
        </a:p>
      </dsp:txBody>
      <dsp:txXfrm>
        <a:off x="7462120" y="1819112"/>
        <a:ext cx="1341122" cy="1697376"/>
      </dsp:txXfrm>
    </dsp:sp>
    <dsp:sp modelId="{200A7C50-B355-4FCB-A1AB-7BD74C95AE37}">
      <dsp:nvSpPr>
        <dsp:cNvPr id="0" name=""/>
        <dsp:cNvSpPr/>
      </dsp:nvSpPr>
      <dsp:spPr>
        <a:xfrm>
          <a:off x="8952256" y="1110033"/>
          <a:ext cx="671216" cy="72"/>
        </a:xfrm>
        <a:prstGeom prst="rect">
          <a:avLst/>
        </a:prstGeom>
        <a:solidFill>
          <a:schemeClr val="lt1">
            <a:alpha val="90000"/>
            <a:tint val="40000"/>
            <a:hueOff val="0"/>
            <a:satOff val="0"/>
            <a:lumOff val="0"/>
            <a:alphaOff val="0"/>
          </a:schemeClr>
        </a:solidFill>
        <a:ln w="6350" cap="flat" cmpd="sng" algn="ctr">
          <a:solidFill>
            <a:schemeClr val="dk2">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CF5513EC-D53F-4EA8-8A60-FF7E19512577}">
      <dsp:nvSpPr>
        <dsp:cNvPr id="0" name=""/>
        <dsp:cNvSpPr/>
      </dsp:nvSpPr>
      <dsp:spPr>
        <a:xfrm>
          <a:off x="9348281" y="834878"/>
          <a:ext cx="550381" cy="550381"/>
        </a:xfrm>
        <a:prstGeom prst="ellipse">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w="6350" cap="flat" cmpd="sng" algn="ctr">
          <a:solidFill>
            <a:schemeClr val="dk2">
              <a:shade val="80000"/>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21358" tIns="21358" rIns="21358" bIns="21358"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Arial" panose="020B0604020202020204" pitchFamily="34" charset="0"/>
              <a:cs typeface="Arial" panose="020B0604020202020204" pitchFamily="34" charset="0"/>
            </a:rPr>
            <a:t>7</a:t>
          </a:r>
        </a:p>
      </dsp:txBody>
      <dsp:txXfrm>
        <a:off x="9428882" y="915479"/>
        <a:ext cx="389179" cy="389179"/>
      </dsp:txXfrm>
    </dsp:sp>
    <dsp:sp modelId="{2F906BA5-1F66-4BE2-95E9-85E705B55592}">
      <dsp:nvSpPr>
        <dsp:cNvPr id="0" name=""/>
        <dsp:cNvSpPr/>
      </dsp:nvSpPr>
      <dsp:spPr>
        <a:xfrm>
          <a:off x="8952256" y="1550888"/>
          <a:ext cx="1396713" cy="1965600"/>
        </a:xfrm>
        <a:prstGeom prst="upArrowCallout">
          <a:avLst>
            <a:gd name="adj1" fmla="val 50000"/>
            <a:gd name="adj2" fmla="val 20000"/>
            <a:gd name="adj3" fmla="val 20000"/>
            <a:gd name="adj4" fmla="val 100000"/>
          </a:avLst>
        </a:prstGeom>
        <a:solidFill>
          <a:schemeClr val="lt1">
            <a:alpha val="90000"/>
            <a:tint val="40000"/>
            <a:hueOff val="0"/>
            <a:satOff val="0"/>
            <a:lumOff val="0"/>
            <a:alphaOff val="0"/>
          </a:schemeClr>
        </a:solidFill>
        <a:ln w="6350" cap="flat" cmpd="sng" algn="ctr">
          <a:solidFill>
            <a:schemeClr val="dk2">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0174" tIns="165100" rIns="110174" bIns="165100" numCol="1" spcCol="1270" anchor="t" anchorCtr="0">
          <a:noAutofit/>
        </a:bodyPr>
        <a:lstStyle/>
        <a:p>
          <a:pPr marL="0" lvl="0" indent="0" algn="l" defTabSz="444500">
            <a:lnSpc>
              <a:spcPct val="90000"/>
            </a:lnSpc>
            <a:spcBef>
              <a:spcPct val="0"/>
            </a:spcBef>
            <a:spcAft>
              <a:spcPct val="35000"/>
            </a:spcAft>
            <a:buNone/>
          </a:pPr>
          <a:r>
            <a:rPr lang="en-US" sz="1000" kern="1200" dirty="0">
              <a:solidFill>
                <a:schemeClr val="tx1"/>
              </a:solidFill>
              <a:latin typeface="Arial" panose="020B0604020202020204" pitchFamily="34" charset="0"/>
              <a:cs typeface="Arial" panose="020B0604020202020204" pitchFamily="34" charset="0"/>
            </a:rPr>
            <a:t>View Social Analytics to track reactions, comments, shares and total engagement across platforms. Set up email notifications on social performance, post schedules and more</a:t>
          </a:r>
        </a:p>
      </dsp:txBody>
      <dsp:txXfrm>
        <a:off x="8952256" y="1830231"/>
        <a:ext cx="1396713" cy="1686257"/>
      </dsp:txXfrm>
    </dsp:sp>
  </dsp:spTree>
</dsp:drawing>
</file>

<file path=ppt/diagrams/layout1.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AF263D6E-FC6B-476C-B7EA-3A5019901561}" type="datetimeFigureOut">
              <a:rPr lang="en-US" smtClean="0"/>
              <a:pPr/>
              <a:t>7/9/2023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45621D89-F7BE-4A30-B883-9740DAD80204}" type="slidenum">
              <a:rPr lang="en-US" smtClean="0"/>
              <a:pPr/>
              <a:t>‹#›</a:t>
            </a:fld>
            <a:endParaRPr lang="en-US" dirty="0"/>
          </a:p>
        </p:txBody>
      </p:sp>
    </p:spTree>
    <p:extLst>
      <p:ext uri="{BB962C8B-B14F-4D97-AF65-F5344CB8AC3E}">
        <p14:creationId xmlns:p14="http://schemas.microsoft.com/office/powerpoint/2010/main" val="1625999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621D89-F7BE-4A30-B883-9740DAD80204}" type="slidenum">
              <a:rPr lang="en-US" smtClean="0"/>
              <a:t>1</a:t>
            </a:fld>
            <a:endParaRPr lang="en-US" dirty="0"/>
          </a:p>
        </p:txBody>
      </p:sp>
    </p:spTree>
    <p:extLst>
      <p:ext uri="{BB962C8B-B14F-4D97-AF65-F5344CB8AC3E}">
        <p14:creationId xmlns:p14="http://schemas.microsoft.com/office/powerpoint/2010/main" val="24575680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621D89-F7BE-4A30-B883-9740DAD80204}" type="slidenum">
              <a:rPr lang="en-US" smtClean="0"/>
              <a:t>2</a:t>
            </a:fld>
            <a:endParaRPr lang="en-US" dirty="0"/>
          </a:p>
        </p:txBody>
      </p:sp>
    </p:spTree>
    <p:extLst>
      <p:ext uri="{BB962C8B-B14F-4D97-AF65-F5344CB8AC3E}">
        <p14:creationId xmlns:p14="http://schemas.microsoft.com/office/powerpoint/2010/main" val="38004383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Statistics on how many consumers read online reviews before making a purchase and how positive reviews can lead to increased customer trust, loyalty, and sales. </a:t>
            </a:r>
            <a:endParaRPr lang="en-US" dirty="0"/>
          </a:p>
        </p:txBody>
      </p:sp>
      <p:sp>
        <p:nvSpPr>
          <p:cNvPr id="4" name="Slide Number Placeholder 3"/>
          <p:cNvSpPr>
            <a:spLocks noGrp="1"/>
          </p:cNvSpPr>
          <p:nvPr>
            <p:ph type="sldNum" sz="quarter" idx="5"/>
          </p:nvPr>
        </p:nvSpPr>
        <p:spPr/>
        <p:txBody>
          <a:bodyPr/>
          <a:lstStyle/>
          <a:p>
            <a:fld id="{45621D89-F7BE-4A30-B883-9740DAD80204}" type="slidenum">
              <a:rPr lang="en-US" smtClean="0"/>
              <a:t>3</a:t>
            </a:fld>
            <a:endParaRPr lang="en-US" dirty="0"/>
          </a:p>
        </p:txBody>
      </p:sp>
    </p:spTree>
    <p:extLst>
      <p:ext uri="{BB962C8B-B14F-4D97-AF65-F5344CB8AC3E}">
        <p14:creationId xmlns:p14="http://schemas.microsoft.com/office/powerpoint/2010/main" val="23503209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621D89-F7BE-4A30-B883-9740DAD80204}" type="slidenum">
              <a:rPr lang="en-US" smtClean="0"/>
              <a:t>4</a:t>
            </a:fld>
            <a:endParaRPr lang="en-US" dirty="0"/>
          </a:p>
        </p:txBody>
      </p:sp>
    </p:spTree>
    <p:extLst>
      <p:ext uri="{BB962C8B-B14F-4D97-AF65-F5344CB8AC3E}">
        <p14:creationId xmlns:p14="http://schemas.microsoft.com/office/powerpoint/2010/main" val="37839515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621D89-F7BE-4A30-B883-9740DAD80204}" type="slidenum">
              <a:rPr lang="en-US" smtClean="0"/>
              <a:t>5</a:t>
            </a:fld>
            <a:endParaRPr lang="en-US" dirty="0"/>
          </a:p>
        </p:txBody>
      </p:sp>
    </p:spTree>
    <p:extLst>
      <p:ext uri="{BB962C8B-B14F-4D97-AF65-F5344CB8AC3E}">
        <p14:creationId xmlns:p14="http://schemas.microsoft.com/office/powerpoint/2010/main" val="25146463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5621D89-F7BE-4A30-B883-9740DAD80204}" type="slidenum">
              <a:rPr lang="en-US" smtClean="0"/>
              <a:t>6</a:t>
            </a:fld>
            <a:endParaRPr lang="en-US" dirty="0"/>
          </a:p>
        </p:txBody>
      </p:sp>
    </p:spTree>
    <p:extLst>
      <p:ext uri="{BB962C8B-B14F-4D97-AF65-F5344CB8AC3E}">
        <p14:creationId xmlns:p14="http://schemas.microsoft.com/office/powerpoint/2010/main" val="12874303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20</a:t>
            </a:fld>
            <a:endParaRPr lang="en-US"/>
          </a:p>
        </p:txBody>
      </p:sp>
    </p:spTree>
    <p:extLst>
      <p:ext uri="{BB962C8B-B14F-4D97-AF65-F5344CB8AC3E}">
        <p14:creationId xmlns:p14="http://schemas.microsoft.com/office/powerpoint/2010/main" val="26027951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22</a:t>
            </a:fld>
            <a:endParaRPr lang="en-US"/>
          </a:p>
        </p:txBody>
      </p:sp>
    </p:spTree>
    <p:extLst>
      <p:ext uri="{BB962C8B-B14F-4D97-AF65-F5344CB8AC3E}">
        <p14:creationId xmlns:p14="http://schemas.microsoft.com/office/powerpoint/2010/main" val="6705463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24</a:t>
            </a:fld>
            <a:endParaRPr lang="en-US"/>
          </a:p>
        </p:txBody>
      </p:sp>
    </p:spTree>
    <p:extLst>
      <p:ext uri="{BB962C8B-B14F-4D97-AF65-F5344CB8AC3E}">
        <p14:creationId xmlns:p14="http://schemas.microsoft.com/office/powerpoint/2010/main" val="3968088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621D89-F7BE-4A30-B883-9740DAD80204}" type="slidenum">
              <a:rPr lang="en-US" smtClean="0"/>
              <a:t>25</a:t>
            </a:fld>
            <a:endParaRPr lang="en-US"/>
          </a:p>
        </p:txBody>
      </p:sp>
    </p:spTree>
    <p:extLst>
      <p:ext uri="{BB962C8B-B14F-4D97-AF65-F5344CB8AC3E}">
        <p14:creationId xmlns:p14="http://schemas.microsoft.com/office/powerpoint/2010/main" val="10470894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09847-DA81-ED5C-D168-41B0B4C8761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00D067F-E0E6-F4B3-AA9E-1C7FD4961D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BFCD895-F0EE-0454-D274-87C83DAAA4DF}"/>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5" name="Footer Placeholder 4">
            <a:extLst>
              <a:ext uri="{FF2B5EF4-FFF2-40B4-BE49-F238E27FC236}">
                <a16:creationId xmlns:a16="http://schemas.microsoft.com/office/drawing/2014/main" id="{B1A52C02-6EE3-6AA7-10F1-F57408319D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901FA4-3F5A-0CA7-2EF5-E93FF49225E9}"/>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47512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FBD4D-DE77-5C33-C1E1-4B77626BBE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41061D-A7C8-E47A-6BD7-28BBD1404F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61D2CD9-C9F6-971F-444C-84E3ACA3E3F4}"/>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5" name="Footer Placeholder 4">
            <a:extLst>
              <a:ext uri="{FF2B5EF4-FFF2-40B4-BE49-F238E27FC236}">
                <a16:creationId xmlns:a16="http://schemas.microsoft.com/office/drawing/2014/main" id="{5CF0053D-D9F9-6C93-DB61-DD0C5BF9C7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048C4C-1CFB-6731-5BE7-6E0C67C232FF}"/>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3437296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5D5FA-7430-A0E9-9204-2DA9271086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31AE264-5292-10AF-E868-2E032F927D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B35EF2-B302-B5B9-8B9F-727F6EDC15CF}"/>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5" name="Footer Placeholder 4">
            <a:extLst>
              <a:ext uri="{FF2B5EF4-FFF2-40B4-BE49-F238E27FC236}">
                <a16:creationId xmlns:a16="http://schemas.microsoft.com/office/drawing/2014/main" id="{A3EE28E0-5A6A-1748-CB59-AC2A11E19B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F329AA-A0E3-6824-E151-05EC9C030700}"/>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40255702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FBC72-4898-C9E1-D71E-69FEECCD2F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A199CBB-4C28-A03A-FB74-67FA943059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2BE389D-DC7E-8813-BB52-6EBE37E85F9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B40443E-1020-96BD-CE62-19C06EF8EB97}"/>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6" name="Footer Placeholder 5">
            <a:extLst>
              <a:ext uri="{FF2B5EF4-FFF2-40B4-BE49-F238E27FC236}">
                <a16:creationId xmlns:a16="http://schemas.microsoft.com/office/drawing/2014/main" id="{A816DB42-C9BF-932A-9FE8-6A8C963389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5CEFB8-0FC9-A74B-F7CC-065508ED89AC}"/>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32458224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D5F8C-F35A-841B-48D4-299E2B3AE6E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6DB4A19-1C71-0405-F9C0-3E5DE16143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B2E7BD-45AE-1354-D3EA-488BD4C6CCE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FF36374-CEE3-F022-C133-33DF7C42B1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1C7106-FD18-1FCC-2308-F0951857C05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77333EF-42DA-D9AD-8308-BF943E9AA544}"/>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8" name="Footer Placeholder 7">
            <a:extLst>
              <a:ext uri="{FF2B5EF4-FFF2-40B4-BE49-F238E27FC236}">
                <a16:creationId xmlns:a16="http://schemas.microsoft.com/office/drawing/2014/main" id="{CFAE569B-3F07-0041-197E-8C9A5F01E57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84F6900-B4B0-5602-44B9-A4E3E7A5C596}"/>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2207057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1EFD0-76AD-B4D5-C4EE-A1DF38D323B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17EDE83-CF83-FFCE-51A3-DD09BB6A0BCD}"/>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4" name="Footer Placeholder 3">
            <a:extLst>
              <a:ext uri="{FF2B5EF4-FFF2-40B4-BE49-F238E27FC236}">
                <a16:creationId xmlns:a16="http://schemas.microsoft.com/office/drawing/2014/main" id="{BD123C39-995E-B7FD-4658-2CB460DCCF4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31B6DB-0B7C-762F-CA25-4A0D98774180}"/>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791238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5DCEAA-A644-4994-2E63-F30C8FC4169E}"/>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3" name="Footer Placeholder 2">
            <a:extLst>
              <a:ext uri="{FF2B5EF4-FFF2-40B4-BE49-F238E27FC236}">
                <a16:creationId xmlns:a16="http://schemas.microsoft.com/office/drawing/2014/main" id="{4A6C8464-0B34-4462-2E9D-F254D7DE600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C8FFE00-F847-3BC3-F773-E8B82FB44F0E}"/>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25389226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0C7BC-D35E-771A-E398-3FE3C2522A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CABDAE3-10B8-7EAF-F45F-6FDC991B73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85F1857-D357-A4D5-0A9E-E551665833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05924F-1805-02A0-5538-BD6163026710}"/>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6" name="Footer Placeholder 5">
            <a:extLst>
              <a:ext uri="{FF2B5EF4-FFF2-40B4-BE49-F238E27FC236}">
                <a16:creationId xmlns:a16="http://schemas.microsoft.com/office/drawing/2014/main" id="{0870AA4A-0D75-31F1-6A94-9859F72E78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C51255-A517-36F3-5AD6-4DE890E481FA}"/>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1555583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CDC71-BA24-422E-CCA0-C2CDFAE9C9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A0476F5-7A92-DB79-1B6E-EC2060F70E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9AA7ECC-4591-D76B-62CF-97C00E2B78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5384F8-CCAF-C3E2-2FCB-35F802C952CE}"/>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6" name="Footer Placeholder 5">
            <a:extLst>
              <a:ext uri="{FF2B5EF4-FFF2-40B4-BE49-F238E27FC236}">
                <a16:creationId xmlns:a16="http://schemas.microsoft.com/office/drawing/2014/main" id="{8E6C3DC7-38B8-709D-D73C-78CB667A8A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5081AF-88A8-AC00-A035-D1B0009B0A54}"/>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56347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8A0A4-60C5-EEF5-3F9B-9D5719568D8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E055DB7-8070-FC0F-DB07-05FBF87322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3B21CD-DAFB-645F-4B8A-FC8E0B4888B3}"/>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5" name="Footer Placeholder 4">
            <a:extLst>
              <a:ext uri="{FF2B5EF4-FFF2-40B4-BE49-F238E27FC236}">
                <a16:creationId xmlns:a16="http://schemas.microsoft.com/office/drawing/2014/main" id="{E62D2747-3AD4-AA39-CFE1-68B0D98E25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0DCF72-FC75-7385-FE90-36BC526B1035}"/>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2237234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BF7A0C-450F-2157-43E8-B1552F78B0D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171BF46-1889-2DC0-2B0B-6BFCF6B822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6DCFC0-D57B-7E00-A7AA-A05C4BE9E7C7}"/>
              </a:ext>
            </a:extLst>
          </p:cNvPr>
          <p:cNvSpPr>
            <a:spLocks noGrp="1"/>
          </p:cNvSpPr>
          <p:nvPr>
            <p:ph type="dt" sz="half" idx="10"/>
          </p:nvPr>
        </p:nvSpPr>
        <p:spPr/>
        <p:txBody>
          <a:bodyPr/>
          <a:lstStyle/>
          <a:p>
            <a:fld id="{C57D70A5-BF3C-4DA7-987D-578DEFCFF55E}" type="datetimeFigureOut">
              <a:rPr lang="en-US" smtClean="0"/>
              <a:t>7/9/2023</a:t>
            </a:fld>
            <a:endParaRPr lang="en-US"/>
          </a:p>
        </p:txBody>
      </p:sp>
      <p:sp>
        <p:nvSpPr>
          <p:cNvPr id="5" name="Footer Placeholder 4">
            <a:extLst>
              <a:ext uri="{FF2B5EF4-FFF2-40B4-BE49-F238E27FC236}">
                <a16:creationId xmlns:a16="http://schemas.microsoft.com/office/drawing/2014/main" id="{3EC197E6-5990-2B10-9EF9-010F13555A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52C436-797C-25BB-FB7B-4862DB21B1FD}"/>
              </a:ext>
            </a:extLst>
          </p:cNvPr>
          <p:cNvSpPr>
            <a:spLocks noGrp="1"/>
          </p:cNvSpPr>
          <p:nvPr>
            <p:ph type="sldNum" sz="quarter" idx="12"/>
          </p:nvPr>
        </p:nvSpPr>
        <p:spPr/>
        <p:txBody>
          <a:bodyPr/>
          <a:lstStyle/>
          <a:p>
            <a:fld id="{DBB7DFA0-4D9A-4002-B4D9-D990D290019E}" type="slidenum">
              <a:rPr lang="en-US" smtClean="0"/>
              <a:t>‹#›</a:t>
            </a:fld>
            <a:endParaRPr lang="en-US"/>
          </a:p>
        </p:txBody>
      </p:sp>
    </p:spTree>
    <p:extLst>
      <p:ext uri="{BB962C8B-B14F-4D97-AF65-F5344CB8AC3E}">
        <p14:creationId xmlns:p14="http://schemas.microsoft.com/office/powerpoint/2010/main" val="1641922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9D32D7-C89C-996C-FD67-E140DD583F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79C94FC-427F-F8E1-F09D-8C8087D4A0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F0F26E8-989A-28B3-F80A-EB24AA36ED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defRPr>
            </a:lvl1pPr>
          </a:lstStyle>
          <a:p>
            <a:fld id="{C57D70A5-BF3C-4DA7-987D-578DEFCFF55E}" type="datetimeFigureOut">
              <a:rPr lang="en-US" smtClean="0"/>
              <a:pPr/>
              <a:t>7/9/2023</a:t>
            </a:fld>
            <a:endParaRPr lang="en-US" dirty="0"/>
          </a:p>
        </p:txBody>
      </p:sp>
      <p:sp>
        <p:nvSpPr>
          <p:cNvPr id="5" name="Footer Placeholder 4">
            <a:extLst>
              <a:ext uri="{FF2B5EF4-FFF2-40B4-BE49-F238E27FC236}">
                <a16:creationId xmlns:a16="http://schemas.microsoft.com/office/drawing/2014/main" id="{B8243039-64B4-63D2-FAA7-514095D303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defRPr>
            </a:lvl1pPr>
          </a:lstStyle>
          <a:p>
            <a:endParaRPr lang="en-US" dirty="0"/>
          </a:p>
        </p:txBody>
      </p:sp>
      <p:sp>
        <p:nvSpPr>
          <p:cNvPr id="6" name="Slide Number Placeholder 5">
            <a:extLst>
              <a:ext uri="{FF2B5EF4-FFF2-40B4-BE49-F238E27FC236}">
                <a16:creationId xmlns:a16="http://schemas.microsoft.com/office/drawing/2014/main" id="{F4AE4C7A-8A5C-E747-DDEF-95A9C1FFA0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defRPr>
            </a:lvl1pPr>
          </a:lstStyle>
          <a:p>
            <a:fld id="{DBB7DFA0-4D9A-4002-B4D9-D990D290019E}" type="slidenum">
              <a:rPr lang="en-US" smtClean="0"/>
              <a:pPr/>
              <a:t>‹#›</a:t>
            </a:fld>
            <a:endParaRPr lang="en-US" dirty="0"/>
          </a:p>
        </p:txBody>
      </p:sp>
      <p:sp>
        <p:nvSpPr>
          <p:cNvPr id="8" name="TextBox 7">
            <a:extLst>
              <a:ext uri="{FF2B5EF4-FFF2-40B4-BE49-F238E27FC236}">
                <a16:creationId xmlns:a16="http://schemas.microsoft.com/office/drawing/2014/main" id="{248E54A4-C7C2-B6A8-FB3A-03C6649A3867}"/>
              </a:ext>
            </a:extLst>
          </p:cNvPr>
          <p:cNvSpPr txBox="1"/>
          <p:nvPr userDrawn="1">
            <p:extLst>
              <p:ext uri="{1162E1C5-73C7-4A58-AE30-91384D911F3F}">
                <p184:classification xmlns:p184="http://schemas.microsoft.com/office/powerpoint/2018/4/main" val="ftr"/>
              </p:ext>
            </p:extLst>
          </p:nvPr>
        </p:nvSpPr>
        <p:spPr>
          <a:xfrm>
            <a:off x="5893562" y="6705600"/>
            <a:ext cx="461963" cy="152400"/>
          </a:xfrm>
          <a:prstGeom prst="rect">
            <a:avLst/>
          </a:prstGeom>
        </p:spPr>
        <p:txBody>
          <a:bodyPr horzOverflow="overflow" lIns="0" tIns="0" rIns="0" bIns="0">
            <a:spAutoFit/>
          </a:bodyPr>
          <a:lstStyle/>
          <a:p>
            <a:pPr algn="l"/>
            <a:r>
              <a:rPr lang="en-US" sz="1000" dirty="0">
                <a:solidFill>
                  <a:srgbClr val="000000"/>
                </a:solidFill>
                <a:latin typeface="Arial" panose="020B0604020202020204" pitchFamily="34" charset="0"/>
                <a:cs typeface="Arial" panose="020B0604020202020204" pitchFamily="34" charset="0"/>
              </a:rPr>
              <a:t>Internal </a:t>
            </a:r>
          </a:p>
        </p:txBody>
      </p:sp>
    </p:spTree>
    <p:extLst>
      <p:ext uri="{BB962C8B-B14F-4D97-AF65-F5344CB8AC3E}">
        <p14:creationId xmlns:p14="http://schemas.microsoft.com/office/powerpoint/2010/main" val="31580909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brightlocal.com/research/local-consumer-review-survey/"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microsoft.com/office/2018/10/relationships/comments" Target="../comments/modernComment_103_252114DB.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10_592F8617.xml"/><Relationship Id="rId7"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www.brightlocal.com/research/local-consumer-review-survey/" TargetMode="External"/><Relationship Id="rId5" Type="http://schemas.openxmlformats.org/officeDocument/2006/relationships/image" Target="../media/image3.png"/><Relationship Id="rId4" Type="http://schemas.openxmlformats.org/officeDocument/2006/relationships/hyperlink" Target="https://www.qualtrics.com/blog/online-review-stats/"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microsoft.com/office/2018/10/relationships/comments" Target="../comments/modernComment_105_CE847D6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36">
            <a:extLst>
              <a:ext uri="{FF2B5EF4-FFF2-40B4-BE49-F238E27FC236}">
                <a16:creationId xmlns:a16="http://schemas.microsoft.com/office/drawing/2014/main" id="{46F1F2C8-798B-4CCE-A851-94AFAF350B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2" name="Title 1">
            <a:extLst>
              <a:ext uri="{FF2B5EF4-FFF2-40B4-BE49-F238E27FC236}">
                <a16:creationId xmlns:a16="http://schemas.microsoft.com/office/drawing/2014/main" id="{303D6B2D-04E2-FEDA-6E81-829D960118D8}"/>
              </a:ext>
            </a:extLst>
          </p:cNvPr>
          <p:cNvSpPr>
            <a:spLocks noGrp="1"/>
          </p:cNvSpPr>
          <p:nvPr>
            <p:ph type="ctrTitle"/>
          </p:nvPr>
        </p:nvSpPr>
        <p:spPr>
          <a:xfrm>
            <a:off x="970908" y="1220919"/>
            <a:ext cx="5425781" cy="2387600"/>
          </a:xfrm>
        </p:spPr>
        <p:txBody>
          <a:bodyPr>
            <a:normAutofit/>
          </a:bodyPr>
          <a:lstStyle/>
          <a:p>
            <a:pPr algn="l"/>
            <a:r>
              <a:rPr lang="en-US" b="1" dirty="0">
                <a:latin typeface="Arial" panose="020B0604020202020204" pitchFamily="34" charset="0"/>
                <a:cs typeface="Arial" panose="020B0604020202020204" pitchFamily="34" charset="0"/>
              </a:rPr>
              <a:t>Reviews Promoter</a:t>
            </a:r>
          </a:p>
        </p:txBody>
      </p:sp>
      <p:sp>
        <p:nvSpPr>
          <p:cNvPr id="3" name="Subtitle 2">
            <a:extLst>
              <a:ext uri="{FF2B5EF4-FFF2-40B4-BE49-F238E27FC236}">
                <a16:creationId xmlns:a16="http://schemas.microsoft.com/office/drawing/2014/main" id="{B908F796-3D75-659C-A611-BD58C9DC6D0B}"/>
              </a:ext>
            </a:extLst>
          </p:cNvPr>
          <p:cNvSpPr>
            <a:spLocks noGrp="1"/>
          </p:cNvSpPr>
          <p:nvPr>
            <p:ph type="subTitle" idx="1"/>
          </p:nvPr>
        </p:nvSpPr>
        <p:spPr>
          <a:xfrm>
            <a:off x="970909" y="3700594"/>
            <a:ext cx="3550292" cy="1655762"/>
          </a:xfrm>
        </p:spPr>
        <p:txBody>
          <a:bodyPr>
            <a:normAutofit/>
          </a:bodyPr>
          <a:lstStyle/>
          <a:p>
            <a:pPr algn="l"/>
            <a:r>
              <a:rPr lang="en-US" sz="1400" dirty="0">
                <a:effectLst/>
                <a:latin typeface="Arial" panose="020B0604020202020204" pitchFamily="34" charset="0"/>
                <a:ea typeface="MS Mincho" panose="02020609040205080304" pitchFamily="49" charset="-128"/>
              </a:rPr>
              <a:t>Build online trust. Spread the word through customer reviews and social media. </a:t>
            </a:r>
          </a:p>
        </p:txBody>
      </p:sp>
      <p:sp>
        <p:nvSpPr>
          <p:cNvPr id="46" name="Freeform: Shape 38">
            <a:extLst>
              <a:ext uri="{FF2B5EF4-FFF2-40B4-BE49-F238E27FC236}">
                <a16:creationId xmlns:a16="http://schemas.microsoft.com/office/drawing/2014/main" id="{755E9CD0-04B0-4A3C-B291-AD913379C7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Arial" panose="020B0604020202020204" pitchFamily="34" charset="0"/>
            </a:endParaRPr>
          </a:p>
        </p:txBody>
      </p:sp>
      <p:sp>
        <p:nvSpPr>
          <p:cNvPr id="48" name="Oval 40">
            <a:extLst>
              <a:ext uri="{FF2B5EF4-FFF2-40B4-BE49-F238E27FC236}">
                <a16:creationId xmlns:a16="http://schemas.microsoft.com/office/drawing/2014/main" id="{1DD8BF3B-6066-418C-8D1A-75C5E396FC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43" name="Block Arc 42">
            <a:extLst>
              <a:ext uri="{FF2B5EF4-FFF2-40B4-BE49-F238E27FC236}">
                <a16:creationId xmlns:a16="http://schemas.microsoft.com/office/drawing/2014/main" id="{80BC66F9-7A74-4286-AD22-1174052CC2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02394"/>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endParaRPr>
          </a:p>
        </p:txBody>
      </p:sp>
      <p:sp>
        <p:nvSpPr>
          <p:cNvPr id="45" name="Freeform: Shape 44">
            <a:extLst>
              <a:ext uri="{FF2B5EF4-FFF2-40B4-BE49-F238E27FC236}">
                <a16:creationId xmlns:a16="http://schemas.microsoft.com/office/drawing/2014/main" id="{D8142CC3-2B5C-48E6-9DF0-6C8ACBAF23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latin typeface="Arial" panose="020B0604020202020204" pitchFamily="34" charset="0"/>
            </a:endParaRPr>
          </a:p>
        </p:txBody>
      </p:sp>
      <p:cxnSp>
        <p:nvCxnSpPr>
          <p:cNvPr id="47" name="Straight Connector 46">
            <a:extLst>
              <a:ext uri="{FF2B5EF4-FFF2-40B4-BE49-F238E27FC236}">
                <a16:creationId xmlns:a16="http://schemas.microsoft.com/office/drawing/2014/main" id="{7B2D303B-3DD0-4319-9EAD-361847FEC7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49" name="Freeform: Shape 48">
            <a:extLst>
              <a:ext uri="{FF2B5EF4-FFF2-40B4-BE49-F238E27FC236}">
                <a16:creationId xmlns:a16="http://schemas.microsoft.com/office/drawing/2014/main" id="{46A89C79-8EF3-4AF9-B3D9-59A883F41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dirty="0">
              <a:latin typeface="Arial" panose="020B0604020202020204" pitchFamily="34" charset="0"/>
            </a:endParaRPr>
          </a:p>
        </p:txBody>
      </p:sp>
      <p:sp>
        <p:nvSpPr>
          <p:cNvPr id="51" name="Arc 50">
            <a:extLst>
              <a:ext uri="{FF2B5EF4-FFF2-40B4-BE49-F238E27FC236}">
                <a16:creationId xmlns:a16="http://schemas.microsoft.com/office/drawing/2014/main" id="{EFE5CE34-4543-42E5-B82C-1F3D12422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rial" panose="020B0604020202020204" pitchFamily="34" charset="0"/>
            </a:endParaRPr>
          </a:p>
        </p:txBody>
      </p:sp>
      <p:sp>
        <p:nvSpPr>
          <p:cNvPr id="53" name="Freeform: Shape 52">
            <a:extLst>
              <a:ext uri="{FF2B5EF4-FFF2-40B4-BE49-F238E27FC236}">
                <a16:creationId xmlns:a16="http://schemas.microsoft.com/office/drawing/2014/main" id="{72AF41FE-63D7-4695-81D2-66D2510E4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Tree>
    <p:extLst>
      <p:ext uri="{BB962C8B-B14F-4D97-AF65-F5344CB8AC3E}">
        <p14:creationId xmlns:p14="http://schemas.microsoft.com/office/powerpoint/2010/main" val="2982933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F7FE7-AF5C-5BF2-891D-EDC3FB61856F}"/>
              </a:ext>
            </a:extLst>
          </p:cNvPr>
          <p:cNvSpPr>
            <a:spLocks noGrp="1"/>
          </p:cNvSpPr>
          <p:nvPr>
            <p:ph type="title"/>
          </p:nvPr>
        </p:nvSpPr>
        <p:spPr/>
        <p:txBody>
          <a:bodyPr>
            <a:normAutofit/>
          </a:bodyPr>
          <a:lstStyle/>
          <a:p>
            <a:r>
              <a:rPr lang="en-US" sz="3200" b="1" i="0" dirty="0">
                <a:solidFill>
                  <a:srgbClr val="2CADB2"/>
                </a:solidFill>
                <a:effectLst/>
                <a:latin typeface="Arial" panose="020B0604020202020204" pitchFamily="34" charset="0"/>
                <a:cs typeface="Arial" panose="020B0604020202020204" pitchFamily="34" charset="0"/>
              </a:rPr>
              <a:t>Agenda</a:t>
            </a:r>
          </a:p>
        </p:txBody>
      </p:sp>
      <p:grpSp>
        <p:nvGrpSpPr>
          <p:cNvPr id="15" name="Group 14">
            <a:extLst>
              <a:ext uri="{FF2B5EF4-FFF2-40B4-BE49-F238E27FC236}">
                <a16:creationId xmlns:a16="http://schemas.microsoft.com/office/drawing/2014/main" id="{330CC5C3-C35C-56DD-1CCB-213E8B1CBF58}"/>
              </a:ext>
            </a:extLst>
          </p:cNvPr>
          <p:cNvGrpSpPr/>
          <p:nvPr/>
        </p:nvGrpSpPr>
        <p:grpSpPr>
          <a:xfrm>
            <a:off x="845421" y="3919603"/>
            <a:ext cx="2370489" cy="720000"/>
            <a:chOff x="100682" y="2684598"/>
            <a:chExt cx="2370489" cy="720000"/>
          </a:xfrm>
        </p:grpSpPr>
        <p:sp>
          <p:nvSpPr>
            <p:cNvPr id="25" name="Rectangle 24">
              <a:extLst>
                <a:ext uri="{FF2B5EF4-FFF2-40B4-BE49-F238E27FC236}">
                  <a16:creationId xmlns:a16="http://schemas.microsoft.com/office/drawing/2014/main" id="{4277FBCA-71F5-7367-917F-E2269C3668EE}"/>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6" name="TextBox 25">
              <a:extLst>
                <a:ext uri="{FF2B5EF4-FFF2-40B4-BE49-F238E27FC236}">
                  <a16:creationId xmlns:a16="http://schemas.microsoft.com/office/drawing/2014/main" id="{57C0549D-AF63-37B6-B3E4-6D02D78A6195}"/>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algn="ctr" defTabSz="711200">
                <a:spcBef>
                  <a:spcPct val="0"/>
                </a:spcBef>
                <a:spcAft>
                  <a:spcPct val="35000"/>
                </a:spcAft>
                <a:defRPr cap="all"/>
              </a:pPr>
              <a:r>
                <a:rPr lang="en-US" sz="1600" b="0" i="0" kern="1200" cap="none" dirty="0">
                  <a:solidFill>
                    <a:srgbClr val="374151"/>
                  </a:solidFill>
                  <a:effectLst/>
                  <a:latin typeface="Arial"/>
                  <a:cs typeface="Arial"/>
                </a:rPr>
                <a:t>Importance Of </a:t>
              </a:r>
              <a:br>
                <a:rPr lang="en-US" sz="1600" dirty="0">
                  <a:solidFill>
                    <a:srgbClr val="374151"/>
                  </a:solidFill>
                  <a:latin typeface="Arial"/>
                  <a:cs typeface="Arial"/>
                </a:rPr>
              </a:br>
              <a:r>
                <a:rPr lang="en-US" sz="1600" b="0" i="0" kern="1200" cap="none" dirty="0">
                  <a:solidFill>
                    <a:srgbClr val="374151"/>
                  </a:solidFill>
                  <a:effectLst/>
                  <a:latin typeface="Arial"/>
                  <a:cs typeface="Arial"/>
                </a:rPr>
                <a:t>Online Reviews</a:t>
              </a:r>
              <a:endParaRPr lang="en-US" sz="1600" kern="1200" cap="none" dirty="0">
                <a:solidFill>
                  <a:srgbClr val="24282B"/>
                </a:solidFill>
                <a:latin typeface="Arial"/>
                <a:cs typeface="Arial"/>
              </a:endParaRPr>
            </a:p>
          </p:txBody>
        </p:sp>
      </p:grpSp>
      <p:grpSp>
        <p:nvGrpSpPr>
          <p:cNvPr id="16" name="Group 15">
            <a:extLst>
              <a:ext uri="{FF2B5EF4-FFF2-40B4-BE49-F238E27FC236}">
                <a16:creationId xmlns:a16="http://schemas.microsoft.com/office/drawing/2014/main" id="{EB97E42A-2168-EE60-127E-A86C139A183F}"/>
              </a:ext>
            </a:extLst>
          </p:cNvPr>
          <p:cNvGrpSpPr/>
          <p:nvPr/>
        </p:nvGrpSpPr>
        <p:grpSpPr>
          <a:xfrm>
            <a:off x="3630746" y="3919603"/>
            <a:ext cx="2370489" cy="720000"/>
            <a:chOff x="2886007" y="2684598"/>
            <a:chExt cx="2370489" cy="720000"/>
          </a:xfrm>
        </p:grpSpPr>
        <p:sp>
          <p:nvSpPr>
            <p:cNvPr id="23" name="Rectangle 22">
              <a:extLst>
                <a:ext uri="{FF2B5EF4-FFF2-40B4-BE49-F238E27FC236}">
                  <a16:creationId xmlns:a16="http://schemas.microsoft.com/office/drawing/2014/main" id="{C72990FB-DE43-7032-61F9-AF5F76786CE5}"/>
                </a:ext>
              </a:extLst>
            </p:cNvPr>
            <p:cNvSpPr/>
            <p:nvPr/>
          </p:nvSpPr>
          <p:spPr>
            <a:xfrm>
              <a:off x="2886007"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4" name="TextBox 23">
              <a:extLst>
                <a:ext uri="{FF2B5EF4-FFF2-40B4-BE49-F238E27FC236}">
                  <a16:creationId xmlns:a16="http://schemas.microsoft.com/office/drawing/2014/main" id="{63D9458C-0C1C-9C20-5BA4-9099C59553B4}"/>
                </a:ext>
              </a:extLst>
            </p:cNvPr>
            <p:cNvSpPr txBox="1"/>
            <p:nvPr/>
          </p:nvSpPr>
          <p:spPr>
            <a:xfrm>
              <a:off x="2886007"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b="0" i="0" kern="1200" cap="none" dirty="0">
                  <a:solidFill>
                    <a:srgbClr val="374151"/>
                  </a:solidFill>
                  <a:effectLst/>
                  <a:latin typeface="Arial" panose="020B0604020202020204" pitchFamily="34" charset="0"/>
                  <a:cs typeface="Arial" panose="020B0604020202020204" pitchFamily="34" charset="0"/>
                </a:rPr>
                <a:t>Reviews Promoter</a:t>
              </a:r>
              <a:endParaRPr lang="en-US" sz="1600" kern="1200" cap="none" dirty="0">
                <a:solidFill>
                  <a:srgbClr val="24282B"/>
                </a:solidFill>
                <a:latin typeface="Arial" panose="020B0604020202020204" pitchFamily="34" charset="0"/>
                <a:cs typeface="Arial" panose="020B0604020202020204" pitchFamily="34" charset="0"/>
              </a:endParaRPr>
            </a:p>
          </p:txBody>
        </p:sp>
      </p:grpSp>
      <p:grpSp>
        <p:nvGrpSpPr>
          <p:cNvPr id="17" name="Group 16">
            <a:extLst>
              <a:ext uri="{FF2B5EF4-FFF2-40B4-BE49-F238E27FC236}">
                <a16:creationId xmlns:a16="http://schemas.microsoft.com/office/drawing/2014/main" id="{8A31DEB8-F1B1-BAE8-1DA4-464C5D05B17C}"/>
              </a:ext>
            </a:extLst>
          </p:cNvPr>
          <p:cNvGrpSpPr/>
          <p:nvPr/>
        </p:nvGrpSpPr>
        <p:grpSpPr>
          <a:xfrm>
            <a:off x="6416071" y="3919603"/>
            <a:ext cx="2370489" cy="720000"/>
            <a:chOff x="5671332" y="2684598"/>
            <a:chExt cx="2370489" cy="720000"/>
          </a:xfrm>
        </p:grpSpPr>
        <p:sp>
          <p:nvSpPr>
            <p:cNvPr id="21" name="Rectangle 20">
              <a:extLst>
                <a:ext uri="{FF2B5EF4-FFF2-40B4-BE49-F238E27FC236}">
                  <a16:creationId xmlns:a16="http://schemas.microsoft.com/office/drawing/2014/main" id="{5EA074DA-D237-1567-4FD7-E70D2422830C}"/>
                </a:ext>
              </a:extLst>
            </p:cNvPr>
            <p:cNvSpPr/>
            <p:nvPr/>
          </p:nvSpPr>
          <p:spPr>
            <a:xfrm>
              <a:off x="567133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2" name="TextBox 21">
              <a:extLst>
                <a:ext uri="{FF2B5EF4-FFF2-40B4-BE49-F238E27FC236}">
                  <a16:creationId xmlns:a16="http://schemas.microsoft.com/office/drawing/2014/main" id="{128AD731-A601-285D-7B77-31A59D8B3508}"/>
                </a:ext>
              </a:extLst>
            </p:cNvPr>
            <p:cNvSpPr txBox="1"/>
            <p:nvPr/>
          </p:nvSpPr>
          <p:spPr>
            <a:xfrm>
              <a:off x="567133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cap="none" dirty="0">
                  <a:solidFill>
                    <a:srgbClr val="24282B"/>
                  </a:solidFill>
                  <a:latin typeface="Arial" panose="020B0604020202020204" pitchFamily="34" charset="0"/>
                  <a:cs typeface="Arial" panose="020B0604020202020204" pitchFamily="34" charset="0"/>
                </a:rPr>
                <a:t>Features &amp; Benefits Overview</a:t>
              </a:r>
            </a:p>
          </p:txBody>
        </p:sp>
      </p:grpSp>
      <p:grpSp>
        <p:nvGrpSpPr>
          <p:cNvPr id="18" name="Group 17">
            <a:extLst>
              <a:ext uri="{FF2B5EF4-FFF2-40B4-BE49-F238E27FC236}">
                <a16:creationId xmlns:a16="http://schemas.microsoft.com/office/drawing/2014/main" id="{A0D0ECE9-0E5B-1647-7D76-0029E5F11159}"/>
              </a:ext>
            </a:extLst>
          </p:cNvPr>
          <p:cNvGrpSpPr/>
          <p:nvPr/>
        </p:nvGrpSpPr>
        <p:grpSpPr>
          <a:xfrm>
            <a:off x="9201396" y="3919603"/>
            <a:ext cx="2370489" cy="720000"/>
            <a:chOff x="8456657" y="2684598"/>
            <a:chExt cx="2370489" cy="720000"/>
          </a:xfrm>
        </p:grpSpPr>
        <p:sp>
          <p:nvSpPr>
            <p:cNvPr id="19" name="Rectangle 18">
              <a:extLst>
                <a:ext uri="{FF2B5EF4-FFF2-40B4-BE49-F238E27FC236}">
                  <a16:creationId xmlns:a16="http://schemas.microsoft.com/office/drawing/2014/main" id="{09A63A92-4674-1FF0-F1CC-F3F721EDFC6C}"/>
                </a:ext>
              </a:extLst>
            </p:cNvPr>
            <p:cNvSpPr/>
            <p:nvPr/>
          </p:nvSpPr>
          <p:spPr>
            <a:xfrm>
              <a:off x="8456657"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0" name="TextBox 19">
              <a:extLst>
                <a:ext uri="{FF2B5EF4-FFF2-40B4-BE49-F238E27FC236}">
                  <a16:creationId xmlns:a16="http://schemas.microsoft.com/office/drawing/2014/main" id="{4FD23377-1110-4CA3-823F-5065983DE0D1}"/>
                </a:ext>
              </a:extLst>
            </p:cNvPr>
            <p:cNvSpPr txBox="1"/>
            <p:nvPr/>
          </p:nvSpPr>
          <p:spPr>
            <a:xfrm>
              <a:off x="8456657"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cap="none" dirty="0">
                  <a:solidFill>
                    <a:srgbClr val="24282B"/>
                  </a:solidFill>
                  <a:latin typeface="Arial" panose="020B0604020202020204" pitchFamily="34" charset="0"/>
                  <a:cs typeface="Arial" panose="020B0604020202020204" pitchFamily="34" charset="0"/>
                </a:rPr>
                <a:t>Addressing Common Concerns</a:t>
              </a:r>
            </a:p>
          </p:txBody>
        </p:sp>
      </p:grpSp>
      <p:grpSp>
        <p:nvGrpSpPr>
          <p:cNvPr id="27" name="Group 26">
            <a:extLst>
              <a:ext uri="{FF2B5EF4-FFF2-40B4-BE49-F238E27FC236}">
                <a16:creationId xmlns:a16="http://schemas.microsoft.com/office/drawing/2014/main" id="{4B6E6B5D-F3A3-F47C-56E6-D1A967FBE0E3}"/>
              </a:ext>
            </a:extLst>
          </p:cNvPr>
          <p:cNvGrpSpPr/>
          <p:nvPr/>
        </p:nvGrpSpPr>
        <p:grpSpPr>
          <a:xfrm>
            <a:off x="845421" y="2590533"/>
            <a:ext cx="2370489" cy="720000"/>
            <a:chOff x="100682" y="2684598"/>
            <a:chExt cx="2370489" cy="720000"/>
          </a:xfrm>
        </p:grpSpPr>
        <p:sp>
          <p:nvSpPr>
            <p:cNvPr id="28" name="Rectangle 27">
              <a:extLst>
                <a:ext uri="{FF2B5EF4-FFF2-40B4-BE49-F238E27FC236}">
                  <a16:creationId xmlns:a16="http://schemas.microsoft.com/office/drawing/2014/main" id="{E3BB154A-4D47-F10A-8EC5-4D82A4ED9A99}"/>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29" name="TextBox 28">
              <a:extLst>
                <a:ext uri="{FF2B5EF4-FFF2-40B4-BE49-F238E27FC236}">
                  <a16:creationId xmlns:a16="http://schemas.microsoft.com/office/drawing/2014/main" id="{1BD6821F-D700-B7FD-1880-8871BF6F74DF}"/>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7200" b="1" i="0" kern="1200" cap="none" dirty="0">
                  <a:solidFill>
                    <a:srgbClr val="374151"/>
                  </a:solidFill>
                  <a:effectLst/>
                  <a:latin typeface="Arial" panose="020B0604020202020204" pitchFamily="34" charset="0"/>
                  <a:cs typeface="Arial" panose="020B0604020202020204" pitchFamily="34" charset="0"/>
                </a:rPr>
                <a:t>1</a:t>
              </a:r>
              <a:endParaRPr lang="en-US" sz="7200" b="1" kern="1200" cap="none" dirty="0">
                <a:solidFill>
                  <a:srgbClr val="24282B"/>
                </a:solidFill>
                <a:latin typeface="Arial" panose="020B0604020202020204" pitchFamily="34" charset="0"/>
                <a:cs typeface="Arial" panose="020B0604020202020204" pitchFamily="34" charset="0"/>
              </a:endParaRPr>
            </a:p>
          </p:txBody>
        </p:sp>
      </p:grpSp>
      <p:grpSp>
        <p:nvGrpSpPr>
          <p:cNvPr id="30" name="Group 29">
            <a:extLst>
              <a:ext uri="{FF2B5EF4-FFF2-40B4-BE49-F238E27FC236}">
                <a16:creationId xmlns:a16="http://schemas.microsoft.com/office/drawing/2014/main" id="{42C9A0F1-A826-9A0E-4E9D-048F0D5F5670}"/>
              </a:ext>
            </a:extLst>
          </p:cNvPr>
          <p:cNvGrpSpPr/>
          <p:nvPr/>
        </p:nvGrpSpPr>
        <p:grpSpPr>
          <a:xfrm>
            <a:off x="3630746" y="2590533"/>
            <a:ext cx="2370489" cy="720000"/>
            <a:chOff x="100682" y="2684598"/>
            <a:chExt cx="2370489" cy="720000"/>
          </a:xfrm>
        </p:grpSpPr>
        <p:sp>
          <p:nvSpPr>
            <p:cNvPr id="31" name="Rectangle 30">
              <a:extLst>
                <a:ext uri="{FF2B5EF4-FFF2-40B4-BE49-F238E27FC236}">
                  <a16:creationId xmlns:a16="http://schemas.microsoft.com/office/drawing/2014/main" id="{7D3183A4-7B7F-11E5-9989-56863262EC36}"/>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2" name="TextBox 31">
              <a:extLst>
                <a:ext uri="{FF2B5EF4-FFF2-40B4-BE49-F238E27FC236}">
                  <a16:creationId xmlns:a16="http://schemas.microsoft.com/office/drawing/2014/main" id="{D9F63762-0A34-62FF-45B8-FBEE03884A98}"/>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7200" b="1" i="0" kern="1200" cap="none" dirty="0">
                  <a:solidFill>
                    <a:srgbClr val="374151"/>
                  </a:solidFill>
                  <a:effectLst/>
                  <a:latin typeface="Arial" panose="020B0604020202020204" pitchFamily="34" charset="0"/>
                  <a:cs typeface="Arial" panose="020B0604020202020204" pitchFamily="34" charset="0"/>
                </a:rPr>
                <a:t>2</a:t>
              </a:r>
              <a:endParaRPr lang="en-US" sz="7200" b="1" kern="1200" cap="none" dirty="0">
                <a:solidFill>
                  <a:srgbClr val="24282B"/>
                </a:solidFill>
                <a:latin typeface="Arial" panose="020B0604020202020204" pitchFamily="34" charset="0"/>
                <a:cs typeface="Arial" panose="020B0604020202020204" pitchFamily="34" charset="0"/>
              </a:endParaRPr>
            </a:p>
          </p:txBody>
        </p:sp>
      </p:grpSp>
      <p:grpSp>
        <p:nvGrpSpPr>
          <p:cNvPr id="33" name="Group 32">
            <a:extLst>
              <a:ext uri="{FF2B5EF4-FFF2-40B4-BE49-F238E27FC236}">
                <a16:creationId xmlns:a16="http://schemas.microsoft.com/office/drawing/2014/main" id="{A222FE1F-9C65-EAB2-5EAA-6DDE9F00D337}"/>
              </a:ext>
            </a:extLst>
          </p:cNvPr>
          <p:cNvGrpSpPr/>
          <p:nvPr/>
        </p:nvGrpSpPr>
        <p:grpSpPr>
          <a:xfrm>
            <a:off x="6416070" y="2590533"/>
            <a:ext cx="2370489" cy="720000"/>
            <a:chOff x="100682" y="2684598"/>
            <a:chExt cx="2370489" cy="720000"/>
          </a:xfrm>
        </p:grpSpPr>
        <p:sp>
          <p:nvSpPr>
            <p:cNvPr id="34" name="Rectangle 33">
              <a:extLst>
                <a:ext uri="{FF2B5EF4-FFF2-40B4-BE49-F238E27FC236}">
                  <a16:creationId xmlns:a16="http://schemas.microsoft.com/office/drawing/2014/main" id="{B190ACAF-580F-C7C9-47DB-2F6A45810714}"/>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5" name="TextBox 34">
              <a:extLst>
                <a:ext uri="{FF2B5EF4-FFF2-40B4-BE49-F238E27FC236}">
                  <a16:creationId xmlns:a16="http://schemas.microsoft.com/office/drawing/2014/main" id="{34E23768-A24A-9030-A4CD-97D74AAF1BC7}"/>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7200" b="1" i="0" kern="1200" cap="none" dirty="0">
                  <a:solidFill>
                    <a:srgbClr val="374151"/>
                  </a:solidFill>
                  <a:effectLst/>
                  <a:latin typeface="Arial" panose="020B0604020202020204" pitchFamily="34" charset="0"/>
                  <a:cs typeface="Arial" panose="020B0604020202020204" pitchFamily="34" charset="0"/>
                </a:rPr>
                <a:t>3</a:t>
              </a:r>
              <a:endParaRPr lang="en-US" sz="7200" b="1" kern="1200" cap="none" dirty="0">
                <a:solidFill>
                  <a:srgbClr val="24282B"/>
                </a:solidFill>
                <a:latin typeface="Arial" panose="020B0604020202020204" pitchFamily="34" charset="0"/>
                <a:cs typeface="Arial" panose="020B0604020202020204" pitchFamily="34" charset="0"/>
              </a:endParaRPr>
            </a:p>
          </p:txBody>
        </p:sp>
      </p:grpSp>
      <p:grpSp>
        <p:nvGrpSpPr>
          <p:cNvPr id="36" name="Group 35">
            <a:extLst>
              <a:ext uri="{FF2B5EF4-FFF2-40B4-BE49-F238E27FC236}">
                <a16:creationId xmlns:a16="http://schemas.microsoft.com/office/drawing/2014/main" id="{7E6A717D-00FA-6874-C9D8-015CB952CE1B}"/>
              </a:ext>
            </a:extLst>
          </p:cNvPr>
          <p:cNvGrpSpPr/>
          <p:nvPr/>
        </p:nvGrpSpPr>
        <p:grpSpPr>
          <a:xfrm>
            <a:off x="9201396" y="2590533"/>
            <a:ext cx="2370489" cy="720000"/>
            <a:chOff x="100682" y="2684598"/>
            <a:chExt cx="2370489" cy="720000"/>
          </a:xfrm>
        </p:grpSpPr>
        <p:sp>
          <p:nvSpPr>
            <p:cNvPr id="37" name="Rectangle 36">
              <a:extLst>
                <a:ext uri="{FF2B5EF4-FFF2-40B4-BE49-F238E27FC236}">
                  <a16:creationId xmlns:a16="http://schemas.microsoft.com/office/drawing/2014/main" id="{A40C570F-F284-1A73-9333-3BDF8C182B8A}"/>
                </a:ext>
              </a:extLst>
            </p:cNvPr>
            <p:cNvSpPr/>
            <p:nvPr/>
          </p:nvSpPr>
          <p:spPr>
            <a:xfrm>
              <a:off x="100682" y="2684598"/>
              <a:ext cx="2370489" cy="720000"/>
            </a:xfrm>
            <a:prstGeom prst="rect">
              <a:avLst/>
            </a:pr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sp>
        <p:sp>
          <p:nvSpPr>
            <p:cNvPr id="38" name="TextBox 37">
              <a:extLst>
                <a:ext uri="{FF2B5EF4-FFF2-40B4-BE49-F238E27FC236}">
                  <a16:creationId xmlns:a16="http://schemas.microsoft.com/office/drawing/2014/main" id="{615C1030-EACF-22AB-8FE3-2C1D3A2D8B3B}"/>
                </a:ext>
              </a:extLst>
            </p:cNvPr>
            <p:cNvSpPr txBox="1"/>
            <p:nvPr/>
          </p:nvSpPr>
          <p:spPr>
            <a:xfrm>
              <a:off x="100682" y="2684598"/>
              <a:ext cx="2370489" cy="72000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7200" b="1" i="0" kern="1200" cap="none" dirty="0">
                  <a:solidFill>
                    <a:srgbClr val="374151"/>
                  </a:solidFill>
                  <a:effectLst/>
                  <a:latin typeface="Arial" panose="020B0604020202020204" pitchFamily="34" charset="0"/>
                  <a:cs typeface="Arial" panose="020B0604020202020204" pitchFamily="34" charset="0"/>
                </a:rPr>
                <a:t>4</a:t>
              </a:r>
              <a:endParaRPr lang="en-US" sz="7200" b="1" kern="1200" cap="none" dirty="0">
                <a:solidFill>
                  <a:srgbClr val="24282B"/>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210783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F7FE7-AF5C-5BF2-891D-EDC3FB61856F}"/>
              </a:ext>
            </a:extLst>
          </p:cNvPr>
          <p:cNvSpPr>
            <a:spLocks noGrp="1"/>
          </p:cNvSpPr>
          <p:nvPr>
            <p:ph type="title"/>
          </p:nvPr>
        </p:nvSpPr>
        <p:spPr/>
        <p:txBody>
          <a:bodyPr>
            <a:normAutofit/>
          </a:bodyPr>
          <a:lstStyle/>
          <a:p>
            <a:r>
              <a:rPr lang="en-US" sz="3200" b="1" dirty="0">
                <a:solidFill>
                  <a:srgbClr val="2CADB2"/>
                </a:solidFill>
                <a:latin typeface="Arial" panose="020B0604020202020204" pitchFamily="34" charset="0"/>
                <a:cs typeface="Arial" panose="020B0604020202020204" pitchFamily="34" charset="0"/>
              </a:rPr>
              <a:t>C</a:t>
            </a:r>
            <a:r>
              <a:rPr lang="en-US" sz="3200" b="1" i="0" dirty="0">
                <a:solidFill>
                  <a:srgbClr val="2CADB2"/>
                </a:solidFill>
                <a:effectLst/>
                <a:latin typeface="Arial" panose="020B0604020202020204" pitchFamily="34" charset="0"/>
                <a:cs typeface="Arial" panose="020B0604020202020204" pitchFamily="34" charset="0"/>
              </a:rPr>
              <a:t>ustomers are talking online</a:t>
            </a:r>
          </a:p>
        </p:txBody>
      </p:sp>
      <p:sp>
        <p:nvSpPr>
          <p:cNvPr id="3" name="Content Placeholder 2">
            <a:extLst>
              <a:ext uri="{FF2B5EF4-FFF2-40B4-BE49-F238E27FC236}">
                <a16:creationId xmlns:a16="http://schemas.microsoft.com/office/drawing/2014/main" id="{F7CFE162-2B72-DECB-B17E-7A2BA5626B69}"/>
              </a:ext>
            </a:extLst>
          </p:cNvPr>
          <p:cNvSpPr>
            <a:spLocks noGrp="1"/>
          </p:cNvSpPr>
          <p:nvPr>
            <p:ph idx="1"/>
          </p:nvPr>
        </p:nvSpPr>
        <p:spPr>
          <a:xfrm>
            <a:off x="838200" y="1825625"/>
            <a:ext cx="10515600" cy="747454"/>
          </a:xfrm>
        </p:spPr>
        <p:txBody>
          <a:bodyPr>
            <a:noAutofit/>
          </a:bodyPr>
          <a:lstStyle/>
          <a:p>
            <a:pPr marL="0" indent="0">
              <a:buNone/>
            </a:pPr>
            <a:r>
              <a:rPr lang="en-US" sz="1400" dirty="0">
                <a:latin typeface="Arial" panose="020B0604020202020204" pitchFamily="34" charset="0"/>
                <a:cs typeface="Arial" panose="020B0604020202020204" pitchFamily="34" charset="0"/>
              </a:rPr>
              <a:t>When it comes to making a purchase decision, customers today heavily rely on online reviews to help guide their choices.</a:t>
            </a:r>
          </a:p>
          <a:p>
            <a:pPr marL="0" indent="0">
              <a:buNone/>
            </a:pPr>
            <a:endParaRPr lang="en-US" sz="1400" dirty="0">
              <a:latin typeface="Arial" panose="020B0604020202020204" pitchFamily="34" charset="0"/>
              <a:cs typeface="Arial" panose="020B0604020202020204" pitchFamily="34" charset="0"/>
            </a:endParaRPr>
          </a:p>
          <a:p>
            <a:pPr marL="0" indent="0">
              <a:buNone/>
            </a:pPr>
            <a:r>
              <a:rPr lang="en-US" sz="1400" dirty="0">
                <a:latin typeface="Arial" panose="020B0604020202020204" pitchFamily="34" charset="0"/>
                <a:cs typeface="Arial" panose="020B0604020202020204" pitchFamily="34" charset="0"/>
              </a:rPr>
              <a:t>Positive reviews can also have a significant impact on a business's bottom line, as they can lead to increased customer trust, loyalty, and ultimately, sales.</a:t>
            </a:r>
          </a:p>
          <a:p>
            <a:pPr marL="0" indent="0">
              <a:buNone/>
            </a:pPr>
            <a:endParaRPr lang="en-US" sz="1400" b="1" dirty="0">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endParaRPr>
          </a:p>
          <a:p>
            <a:pPr marL="0" indent="0">
              <a:buNone/>
            </a:pPr>
            <a:r>
              <a:rPr lang="en-US" sz="1400" dirty="0">
                <a:latin typeface="Arial" panose="020B0604020202020204" pitchFamily="34" charset="0"/>
                <a:cs typeface="Arial" panose="020B0604020202020204" pitchFamily="34" charset="0"/>
              </a:rPr>
              <a:t>As per local </a:t>
            </a:r>
            <a:r>
              <a:rPr lang="en-US" sz="1400" dirty="0">
                <a:latin typeface="Arial" panose="020B0604020202020204" pitchFamily="34" charset="0"/>
                <a:cs typeface="Arial" panose="020B0604020202020204" pitchFamily="34" charset="0"/>
                <a:hlinkClick r:id="rId3"/>
              </a:rPr>
              <a:t>Consumer Review Survey 2023</a:t>
            </a:r>
            <a:endParaRPr lang="en-US" sz="1400" dirty="0">
              <a:latin typeface="Arial" panose="020B0604020202020204" pitchFamily="34" charset="0"/>
              <a:cs typeface="Arial" panose="020B0604020202020204" pitchFamily="34" charset="0"/>
            </a:endParaRPr>
          </a:p>
        </p:txBody>
      </p:sp>
      <p:sp>
        <p:nvSpPr>
          <p:cNvPr id="4" name="Content Placeholder 2">
            <a:extLst>
              <a:ext uri="{FF2B5EF4-FFF2-40B4-BE49-F238E27FC236}">
                <a16:creationId xmlns:a16="http://schemas.microsoft.com/office/drawing/2014/main" id="{2B0F5887-39A2-95AB-1749-C7A849B9D95E}"/>
              </a:ext>
            </a:extLst>
          </p:cNvPr>
          <p:cNvSpPr txBox="1">
            <a:spLocks/>
          </p:cNvSpPr>
          <p:nvPr/>
        </p:nvSpPr>
        <p:spPr>
          <a:xfrm>
            <a:off x="838200" y="3787330"/>
            <a:ext cx="2564219" cy="134287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8800" b="1" dirty="0">
                <a:solidFill>
                  <a:srgbClr val="2CADB2"/>
                </a:solidFill>
                <a:latin typeface="Arial" panose="020B0604020202020204" pitchFamily="34" charset="0"/>
                <a:cs typeface="Arial" panose="020B0604020202020204" pitchFamily="34" charset="0"/>
              </a:rPr>
              <a:t>98%</a:t>
            </a:r>
          </a:p>
        </p:txBody>
      </p:sp>
      <p:sp>
        <p:nvSpPr>
          <p:cNvPr id="7" name="Content Placeholder 2">
            <a:extLst>
              <a:ext uri="{FF2B5EF4-FFF2-40B4-BE49-F238E27FC236}">
                <a16:creationId xmlns:a16="http://schemas.microsoft.com/office/drawing/2014/main" id="{224B0AA7-1BFA-7DBF-53DA-5E5F3AA24A17}"/>
              </a:ext>
            </a:extLst>
          </p:cNvPr>
          <p:cNvSpPr txBox="1">
            <a:spLocks/>
          </p:cNvSpPr>
          <p:nvPr/>
        </p:nvSpPr>
        <p:spPr>
          <a:xfrm>
            <a:off x="3847213" y="4006888"/>
            <a:ext cx="2564219" cy="74745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600" b="1" dirty="0">
                <a:latin typeface="Arial" panose="020B0604020202020204" pitchFamily="34" charset="0"/>
                <a:cs typeface="Arial" panose="020B0604020202020204" pitchFamily="34" charset="0"/>
              </a:rPr>
              <a:t>Of customers read online reviews for local businesses</a:t>
            </a:r>
          </a:p>
        </p:txBody>
      </p:sp>
      <p:cxnSp>
        <p:nvCxnSpPr>
          <p:cNvPr id="9" name="Straight Connector 8">
            <a:extLst>
              <a:ext uri="{FF2B5EF4-FFF2-40B4-BE49-F238E27FC236}">
                <a16:creationId xmlns:a16="http://schemas.microsoft.com/office/drawing/2014/main" id="{D38CBF84-880C-30A0-E980-AC11315DFC5C}"/>
              </a:ext>
            </a:extLst>
          </p:cNvPr>
          <p:cNvCxnSpPr/>
          <p:nvPr/>
        </p:nvCxnSpPr>
        <p:spPr>
          <a:xfrm>
            <a:off x="3519377" y="3907466"/>
            <a:ext cx="0" cy="946298"/>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Graphic 9" descr="Customer review outline">
            <a:extLst>
              <a:ext uri="{FF2B5EF4-FFF2-40B4-BE49-F238E27FC236}">
                <a16:creationId xmlns:a16="http://schemas.microsoft.com/office/drawing/2014/main" id="{29522E81-52DC-E2A2-266A-03CE0594A38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7512363" y="2764460"/>
            <a:ext cx="3781051" cy="3781051"/>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Tree>
    <p:extLst>
      <p:ext uri="{BB962C8B-B14F-4D97-AF65-F5344CB8AC3E}">
        <p14:creationId xmlns:p14="http://schemas.microsoft.com/office/powerpoint/2010/main" val="4203690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Title 1">
            <a:extLst>
              <a:ext uri="{FF2B5EF4-FFF2-40B4-BE49-F238E27FC236}">
                <a16:creationId xmlns:a16="http://schemas.microsoft.com/office/drawing/2014/main" id="{3F7F26C5-632D-DDD8-183A-2C64C77C744B}"/>
              </a:ext>
            </a:extLst>
          </p:cNvPr>
          <p:cNvSpPr txBox="1">
            <a:spLocks/>
          </p:cNvSpPr>
          <p:nvPr/>
        </p:nvSpPr>
        <p:spPr>
          <a:xfrm>
            <a:off x="990600" y="31667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2CADB2"/>
                </a:solidFill>
                <a:latin typeface="Arial" panose="020B0604020202020204" pitchFamily="34" charset="0"/>
                <a:cs typeface="Arial" panose="020B0604020202020204" pitchFamily="34" charset="0"/>
              </a:rPr>
              <a:t>Cost of neglecting online reputation</a:t>
            </a:r>
          </a:p>
        </p:txBody>
      </p:sp>
      <p:sp>
        <p:nvSpPr>
          <p:cNvPr id="179" name="Rectangle 178">
            <a:extLst>
              <a:ext uri="{FF2B5EF4-FFF2-40B4-BE49-F238E27FC236}">
                <a16:creationId xmlns:a16="http://schemas.microsoft.com/office/drawing/2014/main" id="{3C203E89-7A22-093E-B129-FC251119622D}"/>
              </a:ext>
            </a:extLst>
          </p:cNvPr>
          <p:cNvSpPr/>
          <p:nvPr/>
        </p:nvSpPr>
        <p:spPr>
          <a:xfrm>
            <a:off x="998768" y="1947834"/>
            <a:ext cx="2881428" cy="1952238"/>
          </a:xfrm>
          <a:prstGeom prst="rect">
            <a:avLst/>
          </a:prstGeom>
          <a:solidFill>
            <a:srgbClr val="2CAD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180" name="Google Shape;3082;p148">
            <a:extLst>
              <a:ext uri="{FF2B5EF4-FFF2-40B4-BE49-F238E27FC236}">
                <a16:creationId xmlns:a16="http://schemas.microsoft.com/office/drawing/2014/main" id="{27582B2C-3518-76FC-7DFF-6CA3ED83CCA9}"/>
              </a:ext>
            </a:extLst>
          </p:cNvPr>
          <p:cNvSpPr txBox="1">
            <a:spLocks/>
          </p:cNvSpPr>
          <p:nvPr/>
        </p:nvSpPr>
        <p:spPr>
          <a:xfrm>
            <a:off x="990600" y="1955481"/>
            <a:ext cx="2889596" cy="1947576"/>
          </a:xfrm>
          <a:prstGeom prst="rect">
            <a:avLst/>
          </a:prstGeom>
          <a:solidFill>
            <a:schemeClr val="tx1">
              <a:lumMod val="75000"/>
              <a:lumOff val="25000"/>
            </a:schemeClr>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100" b="1" dirty="0">
                <a:solidFill>
                  <a:schemeClr val="bg1"/>
                </a:solidFill>
                <a:latin typeface="Arial" panose="020B0604020202020204" pitchFamily="34" charset="0"/>
                <a:cs typeface="Arial" panose="020B0604020202020204" pitchFamily="34" charset="0"/>
              </a:rPr>
              <a:t>Lower Search Engine Rankings</a:t>
            </a:r>
          </a:p>
          <a:p>
            <a:pPr marL="171450" indent="-171450" algn="ctr">
              <a:spcBef>
                <a:spcPts val="0"/>
              </a:spcBef>
              <a:buClr>
                <a:srgbClr val="47464B"/>
              </a:buClr>
              <a:buFont typeface="Arial"/>
              <a:buNone/>
            </a:pPr>
            <a:r>
              <a:rPr lang="en-US" sz="1100" dirty="0">
                <a:solidFill>
                  <a:schemeClr val="bg1"/>
                </a:solidFill>
                <a:latin typeface="Arial" panose="020B0604020202020204" pitchFamily="34" charset="0"/>
                <a:cs typeface="Arial" panose="020B0604020202020204" pitchFamily="34" charset="0"/>
              </a:rPr>
              <a:t>Businesses with more positive reviews are more likely to rank higher in search engine results pages</a:t>
            </a:r>
          </a:p>
        </p:txBody>
      </p:sp>
      <p:sp>
        <p:nvSpPr>
          <p:cNvPr id="181" name="Rectangle 180">
            <a:extLst>
              <a:ext uri="{FF2B5EF4-FFF2-40B4-BE49-F238E27FC236}">
                <a16:creationId xmlns:a16="http://schemas.microsoft.com/office/drawing/2014/main" id="{D0810BD6-288B-932D-83A8-4A48272470FA}"/>
              </a:ext>
            </a:extLst>
          </p:cNvPr>
          <p:cNvSpPr/>
          <p:nvPr/>
        </p:nvSpPr>
        <p:spPr>
          <a:xfrm>
            <a:off x="4367516" y="1947834"/>
            <a:ext cx="2881428" cy="1952238"/>
          </a:xfrm>
          <a:prstGeom prst="rect">
            <a:avLst/>
          </a:prstGeom>
          <a:solidFill>
            <a:srgbClr val="2CAD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182" name="Google Shape;3082;p148">
            <a:extLst>
              <a:ext uri="{FF2B5EF4-FFF2-40B4-BE49-F238E27FC236}">
                <a16:creationId xmlns:a16="http://schemas.microsoft.com/office/drawing/2014/main" id="{F1B063E6-A023-FE8B-BE28-B874FAFB4F80}"/>
              </a:ext>
            </a:extLst>
          </p:cNvPr>
          <p:cNvSpPr txBox="1">
            <a:spLocks/>
          </p:cNvSpPr>
          <p:nvPr/>
        </p:nvSpPr>
        <p:spPr>
          <a:xfrm>
            <a:off x="4359348" y="1955481"/>
            <a:ext cx="2889596" cy="1947576"/>
          </a:xfrm>
          <a:prstGeom prst="rect">
            <a:avLst/>
          </a:prstGeom>
          <a:solidFill>
            <a:schemeClr val="tx1">
              <a:lumMod val="75000"/>
              <a:lumOff val="25000"/>
            </a:schemeClr>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100" b="1" dirty="0">
                <a:solidFill>
                  <a:schemeClr val="bg1"/>
                </a:solidFill>
                <a:latin typeface="Arial" panose="020B0604020202020204" pitchFamily="34" charset="0"/>
                <a:cs typeface="Arial" panose="020B0604020202020204" pitchFamily="34" charset="0"/>
              </a:rPr>
              <a:t>Lack of Social Proof</a:t>
            </a:r>
          </a:p>
          <a:p>
            <a:pPr marL="171450" indent="-171450" algn="ctr">
              <a:spcBef>
                <a:spcPts val="0"/>
              </a:spcBef>
              <a:buClr>
                <a:srgbClr val="47464B"/>
              </a:buClr>
              <a:buFont typeface="Arial"/>
              <a:buNone/>
            </a:pPr>
            <a:r>
              <a:rPr lang="en-US" sz="1100" dirty="0">
                <a:solidFill>
                  <a:schemeClr val="bg1"/>
                </a:solidFill>
                <a:latin typeface="Arial" panose="020B0604020202020204" pitchFamily="34" charset="0"/>
                <a:cs typeface="Arial" panose="020B0604020202020204" pitchFamily="34" charset="0"/>
              </a:rPr>
              <a:t>Without reviews, businesses may be perceived as less trustworthy or less credible</a:t>
            </a:r>
            <a:endParaRPr lang="en-US" sz="1100" dirty="0">
              <a:solidFill>
                <a:schemeClr val="bg1"/>
              </a:solidFill>
              <a:latin typeface="Arial" panose="020B0604020202020204" pitchFamily="34" charset="0"/>
            </a:endParaRPr>
          </a:p>
        </p:txBody>
      </p:sp>
      <p:sp>
        <p:nvSpPr>
          <p:cNvPr id="183" name="Rectangle 182">
            <a:extLst>
              <a:ext uri="{FF2B5EF4-FFF2-40B4-BE49-F238E27FC236}">
                <a16:creationId xmlns:a16="http://schemas.microsoft.com/office/drawing/2014/main" id="{3FD716A6-9474-1C35-F39F-3819F3BE7406}"/>
              </a:ext>
            </a:extLst>
          </p:cNvPr>
          <p:cNvSpPr/>
          <p:nvPr/>
        </p:nvSpPr>
        <p:spPr>
          <a:xfrm>
            <a:off x="7792408" y="1947834"/>
            <a:ext cx="2881428" cy="1952238"/>
          </a:xfrm>
          <a:prstGeom prst="rect">
            <a:avLst/>
          </a:prstGeom>
          <a:solidFill>
            <a:srgbClr val="2CAD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184" name="Google Shape;3082;p148">
            <a:extLst>
              <a:ext uri="{FF2B5EF4-FFF2-40B4-BE49-F238E27FC236}">
                <a16:creationId xmlns:a16="http://schemas.microsoft.com/office/drawing/2014/main" id="{6D4A3B30-6024-F8BC-C99D-CFA77605D151}"/>
              </a:ext>
            </a:extLst>
          </p:cNvPr>
          <p:cNvSpPr txBox="1">
            <a:spLocks/>
          </p:cNvSpPr>
          <p:nvPr/>
        </p:nvSpPr>
        <p:spPr>
          <a:xfrm>
            <a:off x="7784240" y="1955481"/>
            <a:ext cx="2889596" cy="1947576"/>
          </a:xfrm>
          <a:prstGeom prst="rect">
            <a:avLst/>
          </a:prstGeom>
          <a:solidFill>
            <a:schemeClr val="tx1">
              <a:lumMod val="75000"/>
              <a:lumOff val="25000"/>
            </a:schemeClr>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100" b="1" dirty="0">
                <a:solidFill>
                  <a:schemeClr val="bg1"/>
                </a:solidFill>
                <a:latin typeface="Arial" panose="020B0604020202020204" pitchFamily="34" charset="0"/>
                <a:cs typeface="Arial" panose="020B0604020202020204" pitchFamily="34" charset="0"/>
              </a:rPr>
              <a:t>Lack of Customer Engagement</a:t>
            </a:r>
          </a:p>
          <a:p>
            <a:pPr marL="171450" indent="-171450" algn="ctr">
              <a:spcBef>
                <a:spcPts val="0"/>
              </a:spcBef>
              <a:buClr>
                <a:srgbClr val="47464B"/>
              </a:buClr>
              <a:buFont typeface="Arial"/>
              <a:buNone/>
            </a:pPr>
            <a:r>
              <a:rPr lang="en-US" sz="1100" dirty="0">
                <a:solidFill>
                  <a:schemeClr val="bg1"/>
                </a:solidFill>
                <a:latin typeface="Arial" panose="020B0604020202020204" pitchFamily="34" charset="0"/>
                <a:cs typeface="Arial" panose="020B0604020202020204" pitchFamily="34" charset="0"/>
              </a:rPr>
              <a:t>Businesses may miss out on opportunities to build relationships with customers and foster loyalty</a:t>
            </a:r>
          </a:p>
        </p:txBody>
      </p:sp>
      <p:sp>
        <p:nvSpPr>
          <p:cNvPr id="185" name="Rectangle 184">
            <a:extLst>
              <a:ext uri="{FF2B5EF4-FFF2-40B4-BE49-F238E27FC236}">
                <a16:creationId xmlns:a16="http://schemas.microsoft.com/office/drawing/2014/main" id="{72F73396-FE1E-9327-116C-307515ACE0D5}"/>
              </a:ext>
            </a:extLst>
          </p:cNvPr>
          <p:cNvSpPr/>
          <p:nvPr/>
        </p:nvSpPr>
        <p:spPr>
          <a:xfrm>
            <a:off x="998768" y="4198025"/>
            <a:ext cx="2881428" cy="1952238"/>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186" name="Google Shape;3082;p148">
            <a:extLst>
              <a:ext uri="{FF2B5EF4-FFF2-40B4-BE49-F238E27FC236}">
                <a16:creationId xmlns:a16="http://schemas.microsoft.com/office/drawing/2014/main" id="{5C2ACC82-3763-242C-E90A-459633A8EF08}"/>
              </a:ext>
            </a:extLst>
          </p:cNvPr>
          <p:cNvSpPr txBox="1">
            <a:spLocks/>
          </p:cNvSpPr>
          <p:nvPr/>
        </p:nvSpPr>
        <p:spPr>
          <a:xfrm>
            <a:off x="990600" y="4205672"/>
            <a:ext cx="2889596" cy="1947576"/>
          </a:xfrm>
          <a:prstGeom prst="rect">
            <a:avLst/>
          </a:prstGeom>
          <a:solidFill>
            <a:schemeClr val="tx1">
              <a:lumMod val="75000"/>
              <a:lumOff val="25000"/>
            </a:schemeClr>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100" b="1" dirty="0">
                <a:solidFill>
                  <a:schemeClr val="bg1"/>
                </a:solidFill>
                <a:latin typeface="Arial" panose="020B0604020202020204" pitchFamily="34" charset="0"/>
                <a:cs typeface="Arial" panose="020B0604020202020204" pitchFamily="34" charset="0"/>
              </a:rPr>
              <a:t>Missed Opportunities for Improvement</a:t>
            </a:r>
          </a:p>
          <a:p>
            <a:pPr marL="171450" indent="-171450" algn="ctr">
              <a:spcBef>
                <a:spcPts val="0"/>
              </a:spcBef>
              <a:buClr>
                <a:srgbClr val="47464B"/>
              </a:buClr>
              <a:buFont typeface="Arial"/>
              <a:buNone/>
            </a:pPr>
            <a:r>
              <a:rPr lang="en-US" sz="1100" dirty="0">
                <a:solidFill>
                  <a:schemeClr val="bg1"/>
                </a:solidFill>
                <a:latin typeface="Arial" panose="020B0604020202020204" pitchFamily="34" charset="0"/>
                <a:cs typeface="Arial" panose="020B0604020202020204" pitchFamily="34" charset="0"/>
              </a:rPr>
              <a:t>Reviews provide valuable feedback and can help businesses identify areas for improvement</a:t>
            </a:r>
          </a:p>
        </p:txBody>
      </p:sp>
      <p:sp>
        <p:nvSpPr>
          <p:cNvPr id="187" name="Rectangle 186">
            <a:extLst>
              <a:ext uri="{FF2B5EF4-FFF2-40B4-BE49-F238E27FC236}">
                <a16:creationId xmlns:a16="http://schemas.microsoft.com/office/drawing/2014/main" id="{94179762-3842-2E4B-DB8D-CA87A0141BA9}"/>
              </a:ext>
            </a:extLst>
          </p:cNvPr>
          <p:cNvSpPr/>
          <p:nvPr/>
        </p:nvSpPr>
        <p:spPr>
          <a:xfrm>
            <a:off x="4367516" y="4198025"/>
            <a:ext cx="2881428" cy="1952238"/>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188" name="Google Shape;3082;p148">
            <a:extLst>
              <a:ext uri="{FF2B5EF4-FFF2-40B4-BE49-F238E27FC236}">
                <a16:creationId xmlns:a16="http://schemas.microsoft.com/office/drawing/2014/main" id="{11CF0FE0-172D-2DDC-2021-98427E780148}"/>
              </a:ext>
            </a:extLst>
          </p:cNvPr>
          <p:cNvSpPr txBox="1">
            <a:spLocks/>
          </p:cNvSpPr>
          <p:nvPr/>
        </p:nvSpPr>
        <p:spPr>
          <a:xfrm>
            <a:off x="4359348" y="4205672"/>
            <a:ext cx="2889596" cy="1947576"/>
          </a:xfrm>
          <a:prstGeom prst="rect">
            <a:avLst/>
          </a:prstGeom>
          <a:solidFill>
            <a:schemeClr val="tx1">
              <a:lumMod val="75000"/>
              <a:lumOff val="25000"/>
            </a:schemeClr>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b="1" dirty="0">
                <a:solidFill>
                  <a:schemeClr val="bg1"/>
                </a:solidFill>
                <a:latin typeface="Arial"/>
                <a:cs typeface="Arial"/>
              </a:rPr>
              <a:t>Missed Sales Opportunities</a:t>
            </a:r>
          </a:p>
          <a:p>
            <a:pPr marL="171450" indent="-171450" algn="ctr">
              <a:spcBef>
                <a:spcPts val="0"/>
              </a:spcBef>
              <a:buClr>
                <a:srgbClr val="47464B"/>
              </a:buClr>
              <a:buFont typeface="Arial"/>
              <a:buNone/>
            </a:pPr>
            <a:r>
              <a:rPr lang="en-US" sz="1100" dirty="0">
                <a:solidFill>
                  <a:schemeClr val="bg1"/>
                </a:solidFill>
                <a:latin typeface="Arial"/>
                <a:cs typeface="Arial"/>
              </a:rPr>
              <a:t>Without reviews, businesses may miss out on potential sales and revenue</a:t>
            </a:r>
          </a:p>
        </p:txBody>
      </p:sp>
      <p:sp>
        <p:nvSpPr>
          <p:cNvPr id="189" name="Rectangle 188">
            <a:extLst>
              <a:ext uri="{FF2B5EF4-FFF2-40B4-BE49-F238E27FC236}">
                <a16:creationId xmlns:a16="http://schemas.microsoft.com/office/drawing/2014/main" id="{D53809F8-608A-6D93-A12E-71BDD41E2F61}"/>
              </a:ext>
            </a:extLst>
          </p:cNvPr>
          <p:cNvSpPr/>
          <p:nvPr/>
        </p:nvSpPr>
        <p:spPr>
          <a:xfrm>
            <a:off x="7792408" y="4198025"/>
            <a:ext cx="2881428" cy="1952238"/>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190" name="Google Shape;3082;p148">
            <a:extLst>
              <a:ext uri="{FF2B5EF4-FFF2-40B4-BE49-F238E27FC236}">
                <a16:creationId xmlns:a16="http://schemas.microsoft.com/office/drawing/2014/main" id="{D50F87BB-A654-CFE3-E802-76DBD2A7B8C0}"/>
              </a:ext>
            </a:extLst>
          </p:cNvPr>
          <p:cNvSpPr txBox="1">
            <a:spLocks/>
          </p:cNvSpPr>
          <p:nvPr/>
        </p:nvSpPr>
        <p:spPr>
          <a:xfrm>
            <a:off x="7784240" y="4205672"/>
            <a:ext cx="2889596" cy="1947576"/>
          </a:xfrm>
          <a:prstGeom prst="rect">
            <a:avLst/>
          </a:prstGeom>
          <a:solidFill>
            <a:schemeClr val="tx1">
              <a:lumMod val="75000"/>
              <a:lumOff val="25000"/>
            </a:schemeClr>
          </a:solid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b="1" dirty="0">
                <a:solidFill>
                  <a:schemeClr val="bg1"/>
                </a:solidFill>
                <a:latin typeface="Arial"/>
                <a:cs typeface="Arial"/>
              </a:rPr>
              <a:t>Increased Risk of Negative Publicity</a:t>
            </a:r>
          </a:p>
          <a:p>
            <a:pPr marL="171450" indent="-171450" algn="ctr">
              <a:spcBef>
                <a:spcPts val="0"/>
              </a:spcBef>
              <a:buClr>
                <a:srgbClr val="47464B"/>
              </a:buClr>
              <a:buFont typeface="Arial"/>
              <a:buNone/>
            </a:pPr>
            <a:r>
              <a:rPr lang="en-US" sz="1100" dirty="0">
                <a:solidFill>
                  <a:schemeClr val="bg1"/>
                </a:solidFill>
                <a:latin typeface="Arial"/>
                <a:cs typeface="Arial"/>
              </a:rPr>
              <a:t>Businesses may be more susceptible to negative publicity and damage to their reputation.</a:t>
            </a:r>
          </a:p>
        </p:txBody>
      </p:sp>
    </p:spTree>
    <p:extLst>
      <p:ext uri="{BB962C8B-B14F-4D97-AF65-F5344CB8AC3E}">
        <p14:creationId xmlns:p14="http://schemas.microsoft.com/office/powerpoint/2010/main" val="622925019"/>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F7FE7-AF5C-5BF2-891D-EDC3FB61856F}"/>
              </a:ext>
            </a:extLst>
          </p:cNvPr>
          <p:cNvSpPr>
            <a:spLocks noGrp="1"/>
          </p:cNvSpPr>
          <p:nvPr>
            <p:ph type="title"/>
          </p:nvPr>
        </p:nvSpPr>
        <p:spPr/>
        <p:txBody>
          <a:bodyPr>
            <a:normAutofit/>
          </a:bodyPr>
          <a:lstStyle/>
          <a:p>
            <a:r>
              <a:rPr lang="en-US" sz="3200" b="1" i="0" dirty="0">
                <a:solidFill>
                  <a:srgbClr val="2CADB2"/>
                </a:solidFill>
                <a:effectLst/>
                <a:latin typeface="Arial"/>
                <a:cs typeface="Arial"/>
              </a:rPr>
              <a:t>Online reviews </a:t>
            </a:r>
            <a:r>
              <a:rPr lang="en-US" sz="3200" b="1" dirty="0">
                <a:solidFill>
                  <a:srgbClr val="2CADB2"/>
                </a:solidFill>
                <a:latin typeface="Arial"/>
                <a:cs typeface="Arial"/>
              </a:rPr>
              <a:t>impact</a:t>
            </a:r>
            <a:r>
              <a:rPr lang="en-US" sz="3200" b="1" i="0" dirty="0">
                <a:solidFill>
                  <a:srgbClr val="2CADB2"/>
                </a:solidFill>
                <a:effectLst/>
                <a:latin typeface="Arial"/>
                <a:cs typeface="Arial"/>
              </a:rPr>
              <a:t> reputation and bottom line</a:t>
            </a:r>
            <a:endParaRPr lang="en-US" sz="3200" b="1" dirty="0">
              <a:solidFill>
                <a:srgbClr val="2CADB2"/>
              </a:solidFill>
              <a:latin typeface="Arial"/>
              <a:cs typeface="Arial"/>
            </a:endParaRPr>
          </a:p>
        </p:txBody>
      </p:sp>
      <p:sp>
        <p:nvSpPr>
          <p:cNvPr id="86" name="Google Shape;3082;p148">
            <a:extLst>
              <a:ext uri="{FF2B5EF4-FFF2-40B4-BE49-F238E27FC236}">
                <a16:creationId xmlns:a16="http://schemas.microsoft.com/office/drawing/2014/main" id="{F6A81919-3767-EE27-2704-60EC5890B0C0}"/>
              </a:ext>
            </a:extLst>
          </p:cNvPr>
          <p:cNvSpPr txBox="1">
            <a:spLocks/>
          </p:cNvSpPr>
          <p:nvPr/>
        </p:nvSpPr>
        <p:spPr>
          <a:xfrm>
            <a:off x="1260528" y="4940291"/>
            <a:ext cx="3023319" cy="341632"/>
          </a:xfrm>
          <a:prstGeom prst="rect">
            <a:avLst/>
          </a:prstGeom>
          <a:no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dirty="0">
                <a:latin typeface="Arial" panose="020B0604020202020204" pitchFamily="34" charset="0"/>
                <a:cs typeface="Arial" panose="020B0604020202020204" pitchFamily="34" charset="0"/>
              </a:rPr>
              <a:t>of customer saying an online review has convinced them to avoid a business</a:t>
            </a:r>
          </a:p>
          <a:p>
            <a:pPr marL="171450" indent="-171450" algn="ctr">
              <a:spcBef>
                <a:spcPts val="0"/>
              </a:spcBef>
              <a:buClr>
                <a:srgbClr val="47464B"/>
              </a:buClr>
              <a:buFont typeface="Arial"/>
              <a:buNone/>
            </a:pPr>
            <a:r>
              <a:rPr lang="en-US" sz="1200" dirty="0">
                <a:latin typeface="Arial" panose="020B0604020202020204" pitchFamily="34" charset="0"/>
                <a:cs typeface="Arial" panose="020B0604020202020204" pitchFamily="34" charset="0"/>
                <a:hlinkClick r:id="rId4"/>
              </a:rPr>
              <a:t>Qualtrics</a:t>
            </a:r>
            <a:endParaRPr lang="en-US" sz="1200" dirty="0">
              <a:latin typeface="Arial" panose="020B0604020202020204" pitchFamily="34" charset="0"/>
            </a:endParaRPr>
          </a:p>
        </p:txBody>
      </p:sp>
      <p:pic>
        <p:nvPicPr>
          <p:cNvPr id="87" name="Google Shape;3083;p148">
            <a:extLst>
              <a:ext uri="{FF2B5EF4-FFF2-40B4-BE49-F238E27FC236}">
                <a16:creationId xmlns:a16="http://schemas.microsoft.com/office/drawing/2014/main" id="{14F7C8EC-3CB1-345C-D8CA-6CA7B592DA43}"/>
              </a:ext>
            </a:extLst>
          </p:cNvPr>
          <p:cNvPicPr preferRelativeResize="0"/>
          <p:nvPr/>
        </p:nvPicPr>
        <p:blipFill rotWithShape="1">
          <a:blip r:embed="rId5">
            <a:alphaModFix/>
            <a:duotone>
              <a:prstClr val="black"/>
              <a:srgbClr val="2CADB2">
                <a:tint val="45000"/>
                <a:satMod val="400000"/>
              </a:srgbClr>
            </a:duotone>
          </a:blip>
          <a:srcRect/>
          <a:stretch/>
        </p:blipFill>
        <p:spPr>
          <a:xfrm rot="1800000">
            <a:off x="1439007" y="1762680"/>
            <a:ext cx="2667000" cy="3117850"/>
          </a:xfrm>
          <a:prstGeom prst="rect">
            <a:avLst/>
          </a:prstGeom>
          <a:noFill/>
          <a:ln>
            <a:noFill/>
          </a:ln>
        </p:spPr>
      </p:pic>
      <p:grpSp>
        <p:nvGrpSpPr>
          <p:cNvPr id="102" name="Google Shape;3098;p148">
            <a:extLst>
              <a:ext uri="{FF2B5EF4-FFF2-40B4-BE49-F238E27FC236}">
                <a16:creationId xmlns:a16="http://schemas.microsoft.com/office/drawing/2014/main" id="{66717580-4494-3E47-7DF1-37935096A69D}"/>
              </a:ext>
            </a:extLst>
          </p:cNvPr>
          <p:cNvGrpSpPr/>
          <p:nvPr/>
        </p:nvGrpSpPr>
        <p:grpSpPr>
          <a:xfrm>
            <a:off x="1476599" y="2025274"/>
            <a:ext cx="2591814" cy="2591814"/>
            <a:chOff x="3527425" y="860425"/>
            <a:chExt cx="5138738" cy="5138738"/>
          </a:xfrm>
        </p:grpSpPr>
        <p:sp>
          <p:nvSpPr>
            <p:cNvPr id="103" name="Google Shape;3099;p148">
              <a:extLst>
                <a:ext uri="{FF2B5EF4-FFF2-40B4-BE49-F238E27FC236}">
                  <a16:creationId xmlns:a16="http://schemas.microsoft.com/office/drawing/2014/main" id="{44D66C58-C2E7-B132-A896-1899916ACBDB}"/>
                </a:ext>
              </a:extLst>
            </p:cNvPr>
            <p:cNvSpPr/>
            <p:nvPr/>
          </p:nvSpPr>
          <p:spPr>
            <a:xfrm>
              <a:off x="6096000" y="860425"/>
              <a:ext cx="1511300" cy="2568575"/>
            </a:xfrm>
            <a:custGeom>
              <a:avLst/>
              <a:gdLst/>
              <a:ahLst/>
              <a:cxnLst/>
              <a:rect l="l" t="t" r="r" b="b"/>
              <a:pathLst>
                <a:path w="120000" h="120000" extrusionOk="0">
                  <a:moveTo>
                    <a:pt x="0" y="120000"/>
                  </a:moveTo>
                  <a:lnTo>
                    <a:pt x="120000" y="22917"/>
                  </a:lnTo>
                  <a:lnTo>
                    <a:pt x="113315" y="20135"/>
                  </a:lnTo>
                  <a:lnTo>
                    <a:pt x="106568" y="17651"/>
                  </a:lnTo>
                  <a:lnTo>
                    <a:pt x="99632" y="15203"/>
                  </a:lnTo>
                  <a:lnTo>
                    <a:pt x="92506" y="13016"/>
                  </a:lnTo>
                  <a:lnTo>
                    <a:pt x="85380" y="10939"/>
                  </a:lnTo>
                  <a:lnTo>
                    <a:pt x="78003" y="9085"/>
                  </a:lnTo>
                  <a:lnTo>
                    <a:pt x="70562" y="7379"/>
                  </a:lnTo>
                  <a:lnTo>
                    <a:pt x="63058" y="5822"/>
                  </a:lnTo>
                  <a:lnTo>
                    <a:pt x="55428" y="4487"/>
                  </a:lnTo>
                  <a:lnTo>
                    <a:pt x="47672" y="3263"/>
                  </a:lnTo>
                  <a:lnTo>
                    <a:pt x="39852" y="2262"/>
                  </a:lnTo>
                  <a:lnTo>
                    <a:pt x="31970" y="1409"/>
                  </a:lnTo>
                  <a:lnTo>
                    <a:pt x="24088" y="778"/>
                  </a:lnTo>
                  <a:lnTo>
                    <a:pt x="16079" y="333"/>
                  </a:lnTo>
                  <a:lnTo>
                    <a:pt x="8008" y="74"/>
                  </a:lnTo>
                  <a:lnTo>
                    <a:pt x="0"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04" name="Google Shape;3100;p148">
              <a:extLst>
                <a:ext uri="{FF2B5EF4-FFF2-40B4-BE49-F238E27FC236}">
                  <a16:creationId xmlns:a16="http://schemas.microsoft.com/office/drawing/2014/main" id="{F14CEE76-4061-4FF3-15A4-167FB32BE4EB}"/>
                </a:ext>
              </a:extLst>
            </p:cNvPr>
            <p:cNvSpPr/>
            <p:nvPr/>
          </p:nvSpPr>
          <p:spPr>
            <a:xfrm>
              <a:off x="6096000" y="1350963"/>
              <a:ext cx="2443163" cy="2078038"/>
            </a:xfrm>
            <a:custGeom>
              <a:avLst/>
              <a:gdLst/>
              <a:ahLst/>
              <a:cxnLst/>
              <a:rect l="l" t="t" r="r" b="b"/>
              <a:pathLst>
                <a:path w="120000" h="120000" extrusionOk="0">
                  <a:moveTo>
                    <a:pt x="0" y="120000"/>
                  </a:moveTo>
                  <a:lnTo>
                    <a:pt x="120000" y="74163"/>
                  </a:lnTo>
                  <a:lnTo>
                    <a:pt x="118440" y="68617"/>
                  </a:lnTo>
                  <a:lnTo>
                    <a:pt x="116569" y="63162"/>
                  </a:lnTo>
                  <a:lnTo>
                    <a:pt x="114619" y="57799"/>
                  </a:lnTo>
                  <a:lnTo>
                    <a:pt x="112436" y="52620"/>
                  </a:lnTo>
                  <a:lnTo>
                    <a:pt x="110097" y="47394"/>
                  </a:lnTo>
                  <a:lnTo>
                    <a:pt x="107563" y="42398"/>
                  </a:lnTo>
                  <a:lnTo>
                    <a:pt x="104951" y="37540"/>
                  </a:lnTo>
                  <a:lnTo>
                    <a:pt x="102105" y="32818"/>
                  </a:lnTo>
                  <a:lnTo>
                    <a:pt x="99103" y="28143"/>
                  </a:lnTo>
                  <a:lnTo>
                    <a:pt x="95984" y="23651"/>
                  </a:lnTo>
                  <a:lnTo>
                    <a:pt x="92670" y="19343"/>
                  </a:lnTo>
                  <a:lnTo>
                    <a:pt x="89317" y="15126"/>
                  </a:lnTo>
                  <a:lnTo>
                    <a:pt x="85692" y="11092"/>
                  </a:lnTo>
                  <a:lnTo>
                    <a:pt x="81949" y="7196"/>
                  </a:lnTo>
                  <a:lnTo>
                    <a:pt x="78167" y="3483"/>
                  </a:lnTo>
                  <a:lnTo>
                    <a:pt x="74191"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05" name="Google Shape;3101;p148">
              <a:extLst>
                <a:ext uri="{FF2B5EF4-FFF2-40B4-BE49-F238E27FC236}">
                  <a16:creationId xmlns:a16="http://schemas.microsoft.com/office/drawing/2014/main" id="{8B944D50-23D6-6F86-F64D-A2CAB7BA136A}"/>
                </a:ext>
              </a:extLst>
            </p:cNvPr>
            <p:cNvSpPr/>
            <p:nvPr/>
          </p:nvSpPr>
          <p:spPr>
            <a:xfrm>
              <a:off x="6096000" y="2635250"/>
              <a:ext cx="2570163" cy="1589088"/>
            </a:xfrm>
            <a:custGeom>
              <a:avLst/>
              <a:gdLst/>
              <a:ahLst/>
              <a:cxnLst/>
              <a:rect l="l" t="t" r="r" b="b"/>
              <a:pathLst>
                <a:path w="120000" h="120000" extrusionOk="0">
                  <a:moveTo>
                    <a:pt x="0" y="60000"/>
                  </a:moveTo>
                  <a:lnTo>
                    <a:pt x="114105" y="120000"/>
                  </a:lnTo>
                  <a:lnTo>
                    <a:pt x="115514" y="112620"/>
                  </a:lnTo>
                  <a:lnTo>
                    <a:pt x="116737" y="105240"/>
                  </a:lnTo>
                  <a:lnTo>
                    <a:pt x="117738" y="97800"/>
                  </a:lnTo>
                  <a:lnTo>
                    <a:pt x="118517" y="90300"/>
                  </a:lnTo>
                  <a:lnTo>
                    <a:pt x="119147" y="82680"/>
                  </a:lnTo>
                  <a:lnTo>
                    <a:pt x="119666" y="75180"/>
                  </a:lnTo>
                  <a:lnTo>
                    <a:pt x="119925" y="67620"/>
                  </a:lnTo>
                  <a:lnTo>
                    <a:pt x="120000" y="60000"/>
                  </a:lnTo>
                  <a:lnTo>
                    <a:pt x="119925" y="52380"/>
                  </a:lnTo>
                  <a:lnTo>
                    <a:pt x="119666" y="44820"/>
                  </a:lnTo>
                  <a:lnTo>
                    <a:pt x="119147" y="37200"/>
                  </a:lnTo>
                  <a:lnTo>
                    <a:pt x="118517" y="29700"/>
                  </a:lnTo>
                  <a:lnTo>
                    <a:pt x="117738" y="22200"/>
                  </a:lnTo>
                  <a:lnTo>
                    <a:pt x="116737" y="14760"/>
                  </a:lnTo>
                  <a:lnTo>
                    <a:pt x="115514" y="7260"/>
                  </a:lnTo>
                  <a:lnTo>
                    <a:pt x="114105" y="0"/>
                  </a:lnTo>
                  <a:lnTo>
                    <a:pt x="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06" name="Google Shape;3102;p148">
              <a:extLst>
                <a:ext uri="{FF2B5EF4-FFF2-40B4-BE49-F238E27FC236}">
                  <a16:creationId xmlns:a16="http://schemas.microsoft.com/office/drawing/2014/main" id="{FABD5C76-2A90-533D-6B77-42F005079EF4}"/>
                </a:ext>
              </a:extLst>
            </p:cNvPr>
            <p:cNvSpPr/>
            <p:nvPr/>
          </p:nvSpPr>
          <p:spPr>
            <a:xfrm>
              <a:off x="6096000" y="3429000"/>
              <a:ext cx="2443163" cy="2079625"/>
            </a:xfrm>
            <a:custGeom>
              <a:avLst/>
              <a:gdLst/>
              <a:ahLst/>
              <a:cxnLst/>
              <a:rect l="l" t="t" r="r" b="b"/>
              <a:pathLst>
                <a:path w="120000" h="120000" extrusionOk="0">
                  <a:moveTo>
                    <a:pt x="0" y="0"/>
                  </a:moveTo>
                  <a:lnTo>
                    <a:pt x="74191" y="120000"/>
                  </a:lnTo>
                  <a:lnTo>
                    <a:pt x="78167" y="116470"/>
                  </a:lnTo>
                  <a:lnTo>
                    <a:pt x="81949" y="112711"/>
                  </a:lnTo>
                  <a:lnTo>
                    <a:pt x="85692" y="108815"/>
                  </a:lnTo>
                  <a:lnTo>
                    <a:pt x="89317" y="104873"/>
                  </a:lnTo>
                  <a:lnTo>
                    <a:pt x="92670" y="100656"/>
                  </a:lnTo>
                  <a:lnTo>
                    <a:pt x="95984" y="96256"/>
                  </a:lnTo>
                  <a:lnTo>
                    <a:pt x="99103" y="91764"/>
                  </a:lnTo>
                  <a:lnTo>
                    <a:pt x="102105" y="87181"/>
                  </a:lnTo>
                  <a:lnTo>
                    <a:pt x="104951" y="82459"/>
                  </a:lnTo>
                  <a:lnTo>
                    <a:pt x="107563" y="77509"/>
                  </a:lnTo>
                  <a:lnTo>
                    <a:pt x="110097" y="72513"/>
                  </a:lnTo>
                  <a:lnTo>
                    <a:pt x="112436" y="67379"/>
                  </a:lnTo>
                  <a:lnTo>
                    <a:pt x="114619" y="62108"/>
                  </a:lnTo>
                  <a:lnTo>
                    <a:pt x="116569" y="56837"/>
                  </a:lnTo>
                  <a:lnTo>
                    <a:pt x="118440" y="51382"/>
                  </a:lnTo>
                  <a:lnTo>
                    <a:pt x="120000" y="45836"/>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07" name="Google Shape;3103;p148">
              <a:extLst>
                <a:ext uri="{FF2B5EF4-FFF2-40B4-BE49-F238E27FC236}">
                  <a16:creationId xmlns:a16="http://schemas.microsoft.com/office/drawing/2014/main" id="{CC2A0F27-E553-D013-021E-6BAD9D73A176}"/>
                </a:ext>
              </a:extLst>
            </p:cNvPr>
            <p:cNvSpPr/>
            <p:nvPr/>
          </p:nvSpPr>
          <p:spPr>
            <a:xfrm>
              <a:off x="6096001" y="3429001"/>
              <a:ext cx="1511300" cy="2570162"/>
            </a:xfrm>
            <a:custGeom>
              <a:avLst/>
              <a:gdLst/>
              <a:ahLst/>
              <a:cxnLst/>
              <a:rect l="l" t="t" r="r" b="b"/>
              <a:pathLst>
                <a:path w="120000" h="120000" extrusionOk="0">
                  <a:moveTo>
                    <a:pt x="0" y="0"/>
                  </a:moveTo>
                  <a:lnTo>
                    <a:pt x="0" y="120000"/>
                  </a:lnTo>
                  <a:lnTo>
                    <a:pt x="8008" y="119851"/>
                  </a:lnTo>
                  <a:lnTo>
                    <a:pt x="16079" y="119592"/>
                  </a:lnTo>
                  <a:lnTo>
                    <a:pt x="24088" y="119147"/>
                  </a:lnTo>
                  <a:lnTo>
                    <a:pt x="31970" y="118516"/>
                  </a:lnTo>
                  <a:lnTo>
                    <a:pt x="39852" y="117663"/>
                  </a:lnTo>
                  <a:lnTo>
                    <a:pt x="47672" y="116662"/>
                  </a:lnTo>
                  <a:lnTo>
                    <a:pt x="55428" y="115438"/>
                  </a:lnTo>
                  <a:lnTo>
                    <a:pt x="63058" y="114103"/>
                  </a:lnTo>
                  <a:lnTo>
                    <a:pt x="70562" y="112620"/>
                  </a:lnTo>
                  <a:lnTo>
                    <a:pt x="78003" y="110914"/>
                  </a:lnTo>
                  <a:lnTo>
                    <a:pt x="85380" y="108986"/>
                  </a:lnTo>
                  <a:lnTo>
                    <a:pt x="92506" y="106909"/>
                  </a:lnTo>
                  <a:lnTo>
                    <a:pt x="99632" y="104721"/>
                  </a:lnTo>
                  <a:lnTo>
                    <a:pt x="106568" y="102348"/>
                  </a:lnTo>
                  <a:lnTo>
                    <a:pt x="113315" y="99789"/>
                  </a:lnTo>
                  <a:lnTo>
                    <a:pt x="120000" y="97082"/>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08" name="Google Shape;3104;p148">
              <a:extLst>
                <a:ext uri="{FF2B5EF4-FFF2-40B4-BE49-F238E27FC236}">
                  <a16:creationId xmlns:a16="http://schemas.microsoft.com/office/drawing/2014/main" id="{7E94B6A4-CB54-913E-C2FC-8D79A6584321}"/>
                </a:ext>
              </a:extLst>
            </p:cNvPr>
            <p:cNvSpPr/>
            <p:nvPr/>
          </p:nvSpPr>
          <p:spPr>
            <a:xfrm>
              <a:off x="4586288" y="3429000"/>
              <a:ext cx="1509713" cy="2570163"/>
            </a:xfrm>
            <a:custGeom>
              <a:avLst/>
              <a:gdLst/>
              <a:ahLst/>
              <a:cxnLst/>
              <a:rect l="l" t="t" r="r" b="b"/>
              <a:pathLst>
                <a:path w="120000" h="120000" extrusionOk="0">
                  <a:moveTo>
                    <a:pt x="120000" y="0"/>
                  </a:moveTo>
                  <a:lnTo>
                    <a:pt x="0" y="97082"/>
                  </a:lnTo>
                  <a:lnTo>
                    <a:pt x="6558" y="99789"/>
                  </a:lnTo>
                  <a:lnTo>
                    <a:pt x="13305" y="102348"/>
                  </a:lnTo>
                  <a:lnTo>
                    <a:pt x="20241" y="104721"/>
                  </a:lnTo>
                  <a:lnTo>
                    <a:pt x="27367" y="106909"/>
                  </a:lnTo>
                  <a:lnTo>
                    <a:pt x="34492" y="108986"/>
                  </a:lnTo>
                  <a:lnTo>
                    <a:pt x="41870" y="110914"/>
                  </a:lnTo>
                  <a:lnTo>
                    <a:pt x="49311" y="112620"/>
                  </a:lnTo>
                  <a:lnTo>
                    <a:pt x="56941" y="114103"/>
                  </a:lnTo>
                  <a:lnTo>
                    <a:pt x="64571" y="115438"/>
                  </a:lnTo>
                  <a:lnTo>
                    <a:pt x="72264" y="116662"/>
                  </a:lnTo>
                  <a:lnTo>
                    <a:pt x="80021" y="117663"/>
                  </a:lnTo>
                  <a:lnTo>
                    <a:pt x="87903" y="118516"/>
                  </a:lnTo>
                  <a:lnTo>
                    <a:pt x="95911" y="119147"/>
                  </a:lnTo>
                  <a:lnTo>
                    <a:pt x="103920" y="119592"/>
                  </a:lnTo>
                  <a:lnTo>
                    <a:pt x="111865" y="119851"/>
                  </a:lnTo>
                  <a:lnTo>
                    <a:pt x="120000"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09" name="Google Shape;3105;p148">
              <a:extLst>
                <a:ext uri="{FF2B5EF4-FFF2-40B4-BE49-F238E27FC236}">
                  <a16:creationId xmlns:a16="http://schemas.microsoft.com/office/drawing/2014/main" id="{BC9EFB21-446C-09F2-59DF-84A649AC4393}"/>
                </a:ext>
              </a:extLst>
            </p:cNvPr>
            <p:cNvSpPr/>
            <p:nvPr/>
          </p:nvSpPr>
          <p:spPr>
            <a:xfrm>
              <a:off x="3652838" y="3429000"/>
              <a:ext cx="2443163" cy="2079625"/>
            </a:xfrm>
            <a:custGeom>
              <a:avLst/>
              <a:gdLst/>
              <a:ahLst/>
              <a:cxnLst/>
              <a:rect l="l" t="t" r="r" b="b"/>
              <a:pathLst>
                <a:path w="120000" h="120000" extrusionOk="0">
                  <a:moveTo>
                    <a:pt x="120000" y="0"/>
                  </a:moveTo>
                  <a:lnTo>
                    <a:pt x="0" y="45836"/>
                  </a:lnTo>
                  <a:lnTo>
                    <a:pt x="1636" y="51382"/>
                  </a:lnTo>
                  <a:lnTo>
                    <a:pt x="3428" y="56837"/>
                  </a:lnTo>
                  <a:lnTo>
                    <a:pt x="5454" y="62108"/>
                  </a:lnTo>
                  <a:lnTo>
                    <a:pt x="7636" y="67379"/>
                  </a:lnTo>
                  <a:lnTo>
                    <a:pt x="9935" y="72513"/>
                  </a:lnTo>
                  <a:lnTo>
                    <a:pt x="12428" y="77509"/>
                  </a:lnTo>
                  <a:lnTo>
                    <a:pt x="15116" y="82459"/>
                  </a:lnTo>
                  <a:lnTo>
                    <a:pt x="17961" y="87181"/>
                  </a:lnTo>
                  <a:lnTo>
                    <a:pt x="20883" y="91764"/>
                  </a:lnTo>
                  <a:lnTo>
                    <a:pt x="24000" y="96256"/>
                  </a:lnTo>
                  <a:lnTo>
                    <a:pt x="27311" y="100656"/>
                  </a:lnTo>
                  <a:lnTo>
                    <a:pt x="30740" y="104782"/>
                  </a:lnTo>
                  <a:lnTo>
                    <a:pt x="34324" y="108815"/>
                  </a:lnTo>
                  <a:lnTo>
                    <a:pt x="38025" y="112711"/>
                  </a:lnTo>
                  <a:lnTo>
                    <a:pt x="41805" y="116424"/>
                  </a:lnTo>
                  <a:lnTo>
                    <a:pt x="45857"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10" name="Google Shape;3106;p148">
              <a:extLst>
                <a:ext uri="{FF2B5EF4-FFF2-40B4-BE49-F238E27FC236}">
                  <a16:creationId xmlns:a16="http://schemas.microsoft.com/office/drawing/2014/main" id="{DE63B285-5E13-7443-3F8E-D3F7543C003E}"/>
                </a:ext>
              </a:extLst>
            </p:cNvPr>
            <p:cNvSpPr/>
            <p:nvPr/>
          </p:nvSpPr>
          <p:spPr>
            <a:xfrm>
              <a:off x="3527425" y="2635250"/>
              <a:ext cx="2568575" cy="1589088"/>
            </a:xfrm>
            <a:custGeom>
              <a:avLst/>
              <a:gdLst/>
              <a:ahLst/>
              <a:cxnLst/>
              <a:rect l="l" t="t" r="r" b="b"/>
              <a:pathLst>
                <a:path w="120000" h="120000" extrusionOk="0">
                  <a:moveTo>
                    <a:pt x="120000" y="60000"/>
                  </a:moveTo>
                  <a:lnTo>
                    <a:pt x="5820" y="0"/>
                  </a:lnTo>
                  <a:lnTo>
                    <a:pt x="4485" y="7260"/>
                  </a:lnTo>
                  <a:lnTo>
                    <a:pt x="3262" y="14760"/>
                  </a:lnTo>
                  <a:lnTo>
                    <a:pt x="2261" y="22080"/>
                  </a:lnTo>
                  <a:lnTo>
                    <a:pt x="1408" y="29700"/>
                  </a:lnTo>
                  <a:lnTo>
                    <a:pt x="778" y="37200"/>
                  </a:lnTo>
                  <a:lnTo>
                    <a:pt x="333" y="44820"/>
                  </a:lnTo>
                  <a:lnTo>
                    <a:pt x="74" y="52380"/>
                  </a:lnTo>
                  <a:lnTo>
                    <a:pt x="0" y="60000"/>
                  </a:lnTo>
                  <a:lnTo>
                    <a:pt x="74" y="67620"/>
                  </a:lnTo>
                  <a:lnTo>
                    <a:pt x="333" y="75060"/>
                  </a:lnTo>
                  <a:lnTo>
                    <a:pt x="778" y="82680"/>
                  </a:lnTo>
                  <a:lnTo>
                    <a:pt x="1408" y="90300"/>
                  </a:lnTo>
                  <a:lnTo>
                    <a:pt x="2261" y="97800"/>
                  </a:lnTo>
                  <a:lnTo>
                    <a:pt x="3262" y="105240"/>
                  </a:lnTo>
                  <a:lnTo>
                    <a:pt x="4485" y="112620"/>
                  </a:lnTo>
                  <a:lnTo>
                    <a:pt x="5820" y="120000"/>
                  </a:lnTo>
                  <a:lnTo>
                    <a:pt x="12000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11" name="Google Shape;3107;p148">
              <a:extLst>
                <a:ext uri="{FF2B5EF4-FFF2-40B4-BE49-F238E27FC236}">
                  <a16:creationId xmlns:a16="http://schemas.microsoft.com/office/drawing/2014/main" id="{9D03300C-9E2A-E344-ED99-17A5110F7516}"/>
                </a:ext>
              </a:extLst>
            </p:cNvPr>
            <p:cNvSpPr/>
            <p:nvPr/>
          </p:nvSpPr>
          <p:spPr>
            <a:xfrm>
              <a:off x="3652838" y="1350963"/>
              <a:ext cx="2443163" cy="2078038"/>
            </a:xfrm>
            <a:custGeom>
              <a:avLst/>
              <a:gdLst/>
              <a:ahLst/>
              <a:cxnLst/>
              <a:rect l="l" t="t" r="r" b="b"/>
              <a:pathLst>
                <a:path w="120000" h="120000" extrusionOk="0">
                  <a:moveTo>
                    <a:pt x="120000" y="120000"/>
                  </a:moveTo>
                  <a:lnTo>
                    <a:pt x="45857" y="0"/>
                  </a:lnTo>
                  <a:lnTo>
                    <a:pt x="41805" y="3483"/>
                  </a:lnTo>
                  <a:lnTo>
                    <a:pt x="38025" y="7196"/>
                  </a:lnTo>
                  <a:lnTo>
                    <a:pt x="34324" y="11092"/>
                  </a:lnTo>
                  <a:lnTo>
                    <a:pt x="30740" y="15126"/>
                  </a:lnTo>
                  <a:lnTo>
                    <a:pt x="27311" y="19343"/>
                  </a:lnTo>
                  <a:lnTo>
                    <a:pt x="24000" y="23651"/>
                  </a:lnTo>
                  <a:lnTo>
                    <a:pt x="20883" y="28143"/>
                  </a:lnTo>
                  <a:lnTo>
                    <a:pt x="17961" y="32818"/>
                  </a:lnTo>
                  <a:lnTo>
                    <a:pt x="15116" y="37540"/>
                  </a:lnTo>
                  <a:lnTo>
                    <a:pt x="12428" y="42398"/>
                  </a:lnTo>
                  <a:lnTo>
                    <a:pt x="9935" y="47394"/>
                  </a:lnTo>
                  <a:lnTo>
                    <a:pt x="7636" y="52528"/>
                  </a:lnTo>
                  <a:lnTo>
                    <a:pt x="5454" y="57799"/>
                  </a:lnTo>
                  <a:lnTo>
                    <a:pt x="3428" y="63162"/>
                  </a:lnTo>
                  <a:lnTo>
                    <a:pt x="1636" y="68617"/>
                  </a:lnTo>
                  <a:lnTo>
                    <a:pt x="0" y="74163"/>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12" name="Google Shape;3108;p148">
              <a:extLst>
                <a:ext uri="{FF2B5EF4-FFF2-40B4-BE49-F238E27FC236}">
                  <a16:creationId xmlns:a16="http://schemas.microsoft.com/office/drawing/2014/main" id="{82430204-4C7B-F3C8-7CC0-0442A9CB0268}"/>
                </a:ext>
              </a:extLst>
            </p:cNvPr>
            <p:cNvSpPr/>
            <p:nvPr/>
          </p:nvSpPr>
          <p:spPr>
            <a:xfrm>
              <a:off x="4586288" y="860425"/>
              <a:ext cx="1509713" cy="2568575"/>
            </a:xfrm>
            <a:custGeom>
              <a:avLst/>
              <a:gdLst/>
              <a:ahLst/>
              <a:cxnLst/>
              <a:rect l="l" t="t" r="r" b="b"/>
              <a:pathLst>
                <a:path w="120000" h="120000" extrusionOk="0">
                  <a:moveTo>
                    <a:pt x="120000" y="120000"/>
                  </a:moveTo>
                  <a:lnTo>
                    <a:pt x="120000" y="0"/>
                  </a:lnTo>
                  <a:lnTo>
                    <a:pt x="111865" y="74"/>
                  </a:lnTo>
                  <a:lnTo>
                    <a:pt x="103920" y="333"/>
                  </a:lnTo>
                  <a:lnTo>
                    <a:pt x="95911" y="778"/>
                  </a:lnTo>
                  <a:lnTo>
                    <a:pt x="87903" y="1409"/>
                  </a:lnTo>
                  <a:lnTo>
                    <a:pt x="80021" y="2262"/>
                  </a:lnTo>
                  <a:lnTo>
                    <a:pt x="72264" y="3263"/>
                  </a:lnTo>
                  <a:lnTo>
                    <a:pt x="64571" y="4487"/>
                  </a:lnTo>
                  <a:lnTo>
                    <a:pt x="56941" y="5822"/>
                  </a:lnTo>
                  <a:lnTo>
                    <a:pt x="49311" y="7379"/>
                  </a:lnTo>
                  <a:lnTo>
                    <a:pt x="41870" y="9085"/>
                  </a:lnTo>
                  <a:lnTo>
                    <a:pt x="34492" y="10939"/>
                  </a:lnTo>
                  <a:lnTo>
                    <a:pt x="27367" y="13016"/>
                  </a:lnTo>
                  <a:lnTo>
                    <a:pt x="20241" y="15203"/>
                  </a:lnTo>
                  <a:lnTo>
                    <a:pt x="13305" y="17651"/>
                  </a:lnTo>
                  <a:lnTo>
                    <a:pt x="6558" y="20135"/>
                  </a:lnTo>
                  <a:lnTo>
                    <a:pt x="0" y="22917"/>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grpSp>
      <p:sp>
        <p:nvSpPr>
          <p:cNvPr id="125" name="Google Shape;3121;p148">
            <a:extLst>
              <a:ext uri="{FF2B5EF4-FFF2-40B4-BE49-F238E27FC236}">
                <a16:creationId xmlns:a16="http://schemas.microsoft.com/office/drawing/2014/main" id="{82BDCDCC-405F-EA5E-7157-D1EED237857A}"/>
              </a:ext>
            </a:extLst>
          </p:cNvPr>
          <p:cNvSpPr txBox="1">
            <a:spLocks/>
          </p:cNvSpPr>
          <p:nvPr/>
        </p:nvSpPr>
        <p:spPr>
          <a:xfrm>
            <a:off x="2296258" y="3150765"/>
            <a:ext cx="952501" cy="341632"/>
          </a:xfrm>
          <a:prstGeom prst="rect">
            <a:avLst/>
          </a:prstGeom>
          <a:noFill/>
          <a:ln>
            <a:noFill/>
          </a:ln>
        </p:spPr>
        <p:txBody>
          <a:bodyPr spcFirstLastPara="1" wrap="square" lIns="91425" tIns="45700" rIns="91425" bIns="4570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2400" b="1" dirty="0">
                <a:solidFill>
                  <a:srgbClr val="47464B"/>
                </a:solidFill>
                <a:latin typeface="Arial" panose="020B0604020202020204" pitchFamily="34" charset="0"/>
                <a:ea typeface="Calibri"/>
                <a:cs typeface="Arial" panose="020B0604020202020204" pitchFamily="34" charset="0"/>
                <a:sym typeface="Calibri"/>
              </a:rPr>
              <a:t>94%</a:t>
            </a:r>
          </a:p>
        </p:txBody>
      </p:sp>
      <p:sp>
        <p:nvSpPr>
          <p:cNvPr id="130" name="Google Shape;3082;p148">
            <a:extLst>
              <a:ext uri="{FF2B5EF4-FFF2-40B4-BE49-F238E27FC236}">
                <a16:creationId xmlns:a16="http://schemas.microsoft.com/office/drawing/2014/main" id="{C7E3B4A7-B30B-CAAD-232C-577E8D779B1D}"/>
              </a:ext>
            </a:extLst>
          </p:cNvPr>
          <p:cNvSpPr txBox="1">
            <a:spLocks/>
          </p:cNvSpPr>
          <p:nvPr/>
        </p:nvSpPr>
        <p:spPr>
          <a:xfrm>
            <a:off x="4659523" y="4940291"/>
            <a:ext cx="3272365" cy="341632"/>
          </a:xfrm>
          <a:prstGeom prst="rect">
            <a:avLst/>
          </a:prstGeom>
          <a:no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dirty="0">
                <a:latin typeface="Arial"/>
                <a:cs typeface="Arial"/>
              </a:rPr>
              <a:t>of businesses with a 4-star rating or higher see an average increase of 9% in revenue </a:t>
            </a:r>
            <a:endParaRPr lang="en-US" dirty="0">
              <a:latin typeface="Arial" panose="020B0604020202020204" pitchFamily="34" charset="0"/>
            </a:endParaRPr>
          </a:p>
          <a:p>
            <a:pPr marL="171450" indent="-171450" algn="ctr">
              <a:spcBef>
                <a:spcPts val="0"/>
              </a:spcBef>
              <a:buClr>
                <a:srgbClr val="47464B"/>
              </a:buClr>
              <a:buFont typeface="Arial"/>
              <a:buNone/>
            </a:pPr>
            <a:r>
              <a:rPr lang="en-US" sz="1200" dirty="0">
                <a:latin typeface="Arial"/>
                <a:cs typeface="Arial"/>
                <a:hlinkClick r:id="rId6"/>
              </a:rPr>
              <a:t>Bright Local</a:t>
            </a:r>
            <a:endParaRPr lang="en-US" sz="1200" dirty="0">
              <a:latin typeface="Arial"/>
              <a:cs typeface="Arial"/>
            </a:endParaRPr>
          </a:p>
        </p:txBody>
      </p:sp>
      <p:sp>
        <p:nvSpPr>
          <p:cNvPr id="144" name="Google Shape;3082;p148">
            <a:extLst>
              <a:ext uri="{FF2B5EF4-FFF2-40B4-BE49-F238E27FC236}">
                <a16:creationId xmlns:a16="http://schemas.microsoft.com/office/drawing/2014/main" id="{52E3660B-A5F0-0F3B-CE5F-E2813C9FF9C0}"/>
              </a:ext>
            </a:extLst>
          </p:cNvPr>
          <p:cNvSpPr txBox="1">
            <a:spLocks/>
          </p:cNvSpPr>
          <p:nvPr/>
        </p:nvSpPr>
        <p:spPr>
          <a:xfrm>
            <a:off x="8343249" y="4940291"/>
            <a:ext cx="3272365" cy="341632"/>
          </a:xfrm>
          <a:prstGeom prst="rect">
            <a:avLst/>
          </a:prstGeom>
          <a:noFill/>
          <a:ln>
            <a:noFill/>
          </a:ln>
        </p:spPr>
        <p:txBody>
          <a:bodyPr spcFirstLastPara="1" vert="horz" wrap="square" lIns="91425" tIns="45700" rIns="91425" bIns="457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1200" dirty="0">
                <a:latin typeface="Arial"/>
                <a:cs typeface="Arial"/>
              </a:rPr>
              <a:t>of consumers hesitate to buy from a business with no reviews</a:t>
            </a:r>
          </a:p>
          <a:p>
            <a:pPr marL="171450" indent="-171450" algn="ctr">
              <a:spcBef>
                <a:spcPts val="0"/>
              </a:spcBef>
              <a:buClr>
                <a:srgbClr val="47464B"/>
              </a:buClr>
              <a:buFont typeface="Arial"/>
              <a:buNone/>
            </a:pPr>
            <a:r>
              <a:rPr lang="en-US" sz="1200" dirty="0">
                <a:latin typeface="Arial"/>
                <a:cs typeface="Arial"/>
                <a:hlinkClick r:id="rId6"/>
              </a:rPr>
              <a:t>Bright Local</a:t>
            </a:r>
            <a:endParaRPr lang="en-US" sz="1200" dirty="0">
              <a:latin typeface="Arial"/>
              <a:cs typeface="Arial"/>
            </a:endParaRPr>
          </a:p>
        </p:txBody>
      </p:sp>
      <p:pic>
        <p:nvPicPr>
          <p:cNvPr id="145" name="Google Shape;3083;p148">
            <a:extLst>
              <a:ext uri="{FF2B5EF4-FFF2-40B4-BE49-F238E27FC236}">
                <a16:creationId xmlns:a16="http://schemas.microsoft.com/office/drawing/2014/main" id="{8CF30444-B580-83B8-0391-7C86CBAC7563}"/>
              </a:ext>
            </a:extLst>
          </p:cNvPr>
          <p:cNvPicPr preferRelativeResize="0"/>
          <p:nvPr/>
        </p:nvPicPr>
        <p:blipFill rotWithShape="1">
          <a:blip r:embed="rId5">
            <a:alphaModFix/>
            <a:duotone>
              <a:prstClr val="black"/>
              <a:srgbClr val="2CADB2">
                <a:tint val="45000"/>
                <a:satMod val="400000"/>
              </a:srgbClr>
            </a:duotone>
          </a:blip>
          <a:srcRect/>
          <a:stretch/>
        </p:blipFill>
        <p:spPr>
          <a:xfrm rot="1800000">
            <a:off x="8446227" y="1762680"/>
            <a:ext cx="2667000" cy="3117850"/>
          </a:xfrm>
          <a:prstGeom prst="rect">
            <a:avLst/>
          </a:prstGeom>
          <a:noFill/>
          <a:ln>
            <a:noFill/>
          </a:ln>
        </p:spPr>
      </p:pic>
      <p:grpSp>
        <p:nvGrpSpPr>
          <p:cNvPr id="146" name="Google Shape;3098;p148">
            <a:extLst>
              <a:ext uri="{FF2B5EF4-FFF2-40B4-BE49-F238E27FC236}">
                <a16:creationId xmlns:a16="http://schemas.microsoft.com/office/drawing/2014/main" id="{00F9D3C5-9554-55D2-8437-E6AD4F0AA29A}"/>
              </a:ext>
            </a:extLst>
          </p:cNvPr>
          <p:cNvGrpSpPr/>
          <p:nvPr/>
        </p:nvGrpSpPr>
        <p:grpSpPr>
          <a:xfrm>
            <a:off x="8483819" y="2025274"/>
            <a:ext cx="2591814" cy="2591814"/>
            <a:chOff x="3527425" y="860425"/>
            <a:chExt cx="5138738" cy="5138738"/>
          </a:xfrm>
        </p:grpSpPr>
        <p:sp>
          <p:nvSpPr>
            <p:cNvPr id="147" name="Google Shape;3099;p148">
              <a:extLst>
                <a:ext uri="{FF2B5EF4-FFF2-40B4-BE49-F238E27FC236}">
                  <a16:creationId xmlns:a16="http://schemas.microsoft.com/office/drawing/2014/main" id="{F69B6919-71C4-8BCF-B452-8A5BCD12C490}"/>
                </a:ext>
              </a:extLst>
            </p:cNvPr>
            <p:cNvSpPr/>
            <p:nvPr/>
          </p:nvSpPr>
          <p:spPr>
            <a:xfrm>
              <a:off x="6096000" y="860425"/>
              <a:ext cx="1511300" cy="2568575"/>
            </a:xfrm>
            <a:custGeom>
              <a:avLst/>
              <a:gdLst/>
              <a:ahLst/>
              <a:cxnLst/>
              <a:rect l="l" t="t" r="r" b="b"/>
              <a:pathLst>
                <a:path w="120000" h="120000" extrusionOk="0">
                  <a:moveTo>
                    <a:pt x="0" y="120000"/>
                  </a:moveTo>
                  <a:lnTo>
                    <a:pt x="120000" y="22917"/>
                  </a:lnTo>
                  <a:lnTo>
                    <a:pt x="113315" y="20135"/>
                  </a:lnTo>
                  <a:lnTo>
                    <a:pt x="106568" y="17651"/>
                  </a:lnTo>
                  <a:lnTo>
                    <a:pt x="99632" y="15203"/>
                  </a:lnTo>
                  <a:lnTo>
                    <a:pt x="92506" y="13016"/>
                  </a:lnTo>
                  <a:lnTo>
                    <a:pt x="85380" y="10939"/>
                  </a:lnTo>
                  <a:lnTo>
                    <a:pt x="78003" y="9085"/>
                  </a:lnTo>
                  <a:lnTo>
                    <a:pt x="70562" y="7379"/>
                  </a:lnTo>
                  <a:lnTo>
                    <a:pt x="63058" y="5822"/>
                  </a:lnTo>
                  <a:lnTo>
                    <a:pt x="55428" y="4487"/>
                  </a:lnTo>
                  <a:lnTo>
                    <a:pt x="47672" y="3263"/>
                  </a:lnTo>
                  <a:lnTo>
                    <a:pt x="39852" y="2262"/>
                  </a:lnTo>
                  <a:lnTo>
                    <a:pt x="31970" y="1409"/>
                  </a:lnTo>
                  <a:lnTo>
                    <a:pt x="24088" y="778"/>
                  </a:lnTo>
                  <a:lnTo>
                    <a:pt x="16079" y="333"/>
                  </a:lnTo>
                  <a:lnTo>
                    <a:pt x="8008" y="74"/>
                  </a:lnTo>
                  <a:lnTo>
                    <a:pt x="0"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48" name="Google Shape;3100;p148">
              <a:extLst>
                <a:ext uri="{FF2B5EF4-FFF2-40B4-BE49-F238E27FC236}">
                  <a16:creationId xmlns:a16="http://schemas.microsoft.com/office/drawing/2014/main" id="{CD8E816A-5B8F-ADD4-F4AA-F8F0DCB34F72}"/>
                </a:ext>
              </a:extLst>
            </p:cNvPr>
            <p:cNvSpPr/>
            <p:nvPr/>
          </p:nvSpPr>
          <p:spPr>
            <a:xfrm>
              <a:off x="6096000" y="1350963"/>
              <a:ext cx="2443163" cy="2078038"/>
            </a:xfrm>
            <a:custGeom>
              <a:avLst/>
              <a:gdLst/>
              <a:ahLst/>
              <a:cxnLst/>
              <a:rect l="l" t="t" r="r" b="b"/>
              <a:pathLst>
                <a:path w="120000" h="120000" extrusionOk="0">
                  <a:moveTo>
                    <a:pt x="0" y="120000"/>
                  </a:moveTo>
                  <a:lnTo>
                    <a:pt x="120000" y="74163"/>
                  </a:lnTo>
                  <a:lnTo>
                    <a:pt x="118440" y="68617"/>
                  </a:lnTo>
                  <a:lnTo>
                    <a:pt x="116569" y="63162"/>
                  </a:lnTo>
                  <a:lnTo>
                    <a:pt x="114619" y="57799"/>
                  </a:lnTo>
                  <a:lnTo>
                    <a:pt x="112436" y="52620"/>
                  </a:lnTo>
                  <a:lnTo>
                    <a:pt x="110097" y="47394"/>
                  </a:lnTo>
                  <a:lnTo>
                    <a:pt x="107563" y="42398"/>
                  </a:lnTo>
                  <a:lnTo>
                    <a:pt x="104951" y="37540"/>
                  </a:lnTo>
                  <a:lnTo>
                    <a:pt x="102105" y="32818"/>
                  </a:lnTo>
                  <a:lnTo>
                    <a:pt x="99103" y="28143"/>
                  </a:lnTo>
                  <a:lnTo>
                    <a:pt x="95984" y="23651"/>
                  </a:lnTo>
                  <a:lnTo>
                    <a:pt x="92670" y="19343"/>
                  </a:lnTo>
                  <a:lnTo>
                    <a:pt x="89317" y="15126"/>
                  </a:lnTo>
                  <a:lnTo>
                    <a:pt x="85692" y="11092"/>
                  </a:lnTo>
                  <a:lnTo>
                    <a:pt x="81949" y="7196"/>
                  </a:lnTo>
                  <a:lnTo>
                    <a:pt x="78167" y="3483"/>
                  </a:lnTo>
                  <a:lnTo>
                    <a:pt x="74191"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49" name="Google Shape;3101;p148">
              <a:extLst>
                <a:ext uri="{FF2B5EF4-FFF2-40B4-BE49-F238E27FC236}">
                  <a16:creationId xmlns:a16="http://schemas.microsoft.com/office/drawing/2014/main" id="{DAD10C57-6589-BBAB-13E4-DA9B3674F39A}"/>
                </a:ext>
              </a:extLst>
            </p:cNvPr>
            <p:cNvSpPr/>
            <p:nvPr/>
          </p:nvSpPr>
          <p:spPr>
            <a:xfrm>
              <a:off x="6096000" y="2635250"/>
              <a:ext cx="2570163" cy="1589088"/>
            </a:xfrm>
            <a:custGeom>
              <a:avLst/>
              <a:gdLst/>
              <a:ahLst/>
              <a:cxnLst/>
              <a:rect l="l" t="t" r="r" b="b"/>
              <a:pathLst>
                <a:path w="120000" h="120000" extrusionOk="0">
                  <a:moveTo>
                    <a:pt x="0" y="60000"/>
                  </a:moveTo>
                  <a:lnTo>
                    <a:pt x="114105" y="120000"/>
                  </a:lnTo>
                  <a:lnTo>
                    <a:pt x="115514" y="112620"/>
                  </a:lnTo>
                  <a:lnTo>
                    <a:pt x="116737" y="105240"/>
                  </a:lnTo>
                  <a:lnTo>
                    <a:pt x="117738" y="97800"/>
                  </a:lnTo>
                  <a:lnTo>
                    <a:pt x="118517" y="90300"/>
                  </a:lnTo>
                  <a:lnTo>
                    <a:pt x="119147" y="82680"/>
                  </a:lnTo>
                  <a:lnTo>
                    <a:pt x="119666" y="75180"/>
                  </a:lnTo>
                  <a:lnTo>
                    <a:pt x="119925" y="67620"/>
                  </a:lnTo>
                  <a:lnTo>
                    <a:pt x="120000" y="60000"/>
                  </a:lnTo>
                  <a:lnTo>
                    <a:pt x="119925" y="52380"/>
                  </a:lnTo>
                  <a:lnTo>
                    <a:pt x="119666" y="44820"/>
                  </a:lnTo>
                  <a:lnTo>
                    <a:pt x="119147" y="37200"/>
                  </a:lnTo>
                  <a:lnTo>
                    <a:pt x="118517" y="29700"/>
                  </a:lnTo>
                  <a:lnTo>
                    <a:pt x="117738" y="22200"/>
                  </a:lnTo>
                  <a:lnTo>
                    <a:pt x="116737" y="14760"/>
                  </a:lnTo>
                  <a:lnTo>
                    <a:pt x="115514" y="7260"/>
                  </a:lnTo>
                  <a:lnTo>
                    <a:pt x="114105" y="0"/>
                  </a:lnTo>
                  <a:lnTo>
                    <a:pt x="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50" name="Google Shape;3102;p148">
              <a:extLst>
                <a:ext uri="{FF2B5EF4-FFF2-40B4-BE49-F238E27FC236}">
                  <a16:creationId xmlns:a16="http://schemas.microsoft.com/office/drawing/2014/main" id="{2B81DC3F-37AF-5B9D-5123-A1E0421D20F3}"/>
                </a:ext>
              </a:extLst>
            </p:cNvPr>
            <p:cNvSpPr/>
            <p:nvPr/>
          </p:nvSpPr>
          <p:spPr>
            <a:xfrm>
              <a:off x="6096000" y="3429000"/>
              <a:ext cx="2443163" cy="2079625"/>
            </a:xfrm>
            <a:custGeom>
              <a:avLst/>
              <a:gdLst/>
              <a:ahLst/>
              <a:cxnLst/>
              <a:rect l="l" t="t" r="r" b="b"/>
              <a:pathLst>
                <a:path w="120000" h="120000" extrusionOk="0">
                  <a:moveTo>
                    <a:pt x="0" y="0"/>
                  </a:moveTo>
                  <a:lnTo>
                    <a:pt x="74191" y="120000"/>
                  </a:lnTo>
                  <a:lnTo>
                    <a:pt x="78167" y="116470"/>
                  </a:lnTo>
                  <a:lnTo>
                    <a:pt x="81949" y="112711"/>
                  </a:lnTo>
                  <a:lnTo>
                    <a:pt x="85692" y="108815"/>
                  </a:lnTo>
                  <a:lnTo>
                    <a:pt x="89317" y="104873"/>
                  </a:lnTo>
                  <a:lnTo>
                    <a:pt x="92670" y="100656"/>
                  </a:lnTo>
                  <a:lnTo>
                    <a:pt x="95984" y="96256"/>
                  </a:lnTo>
                  <a:lnTo>
                    <a:pt x="99103" y="91764"/>
                  </a:lnTo>
                  <a:lnTo>
                    <a:pt x="102105" y="87181"/>
                  </a:lnTo>
                  <a:lnTo>
                    <a:pt x="104951" y="82459"/>
                  </a:lnTo>
                  <a:lnTo>
                    <a:pt x="107563" y="77509"/>
                  </a:lnTo>
                  <a:lnTo>
                    <a:pt x="110097" y="72513"/>
                  </a:lnTo>
                  <a:lnTo>
                    <a:pt x="112436" y="67379"/>
                  </a:lnTo>
                  <a:lnTo>
                    <a:pt x="114619" y="62108"/>
                  </a:lnTo>
                  <a:lnTo>
                    <a:pt x="116569" y="56837"/>
                  </a:lnTo>
                  <a:lnTo>
                    <a:pt x="118440" y="51382"/>
                  </a:lnTo>
                  <a:lnTo>
                    <a:pt x="120000" y="45836"/>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51" name="Google Shape;3103;p148">
              <a:extLst>
                <a:ext uri="{FF2B5EF4-FFF2-40B4-BE49-F238E27FC236}">
                  <a16:creationId xmlns:a16="http://schemas.microsoft.com/office/drawing/2014/main" id="{8D152693-E4CE-091C-C8FE-DB2F7D65A7AB}"/>
                </a:ext>
              </a:extLst>
            </p:cNvPr>
            <p:cNvSpPr/>
            <p:nvPr/>
          </p:nvSpPr>
          <p:spPr>
            <a:xfrm>
              <a:off x="6096001" y="3429001"/>
              <a:ext cx="1511300" cy="2570162"/>
            </a:xfrm>
            <a:custGeom>
              <a:avLst/>
              <a:gdLst/>
              <a:ahLst/>
              <a:cxnLst/>
              <a:rect l="l" t="t" r="r" b="b"/>
              <a:pathLst>
                <a:path w="120000" h="120000" extrusionOk="0">
                  <a:moveTo>
                    <a:pt x="0" y="0"/>
                  </a:moveTo>
                  <a:lnTo>
                    <a:pt x="0" y="120000"/>
                  </a:lnTo>
                  <a:lnTo>
                    <a:pt x="8008" y="119851"/>
                  </a:lnTo>
                  <a:lnTo>
                    <a:pt x="16079" y="119592"/>
                  </a:lnTo>
                  <a:lnTo>
                    <a:pt x="24088" y="119147"/>
                  </a:lnTo>
                  <a:lnTo>
                    <a:pt x="31970" y="118516"/>
                  </a:lnTo>
                  <a:lnTo>
                    <a:pt x="39852" y="117663"/>
                  </a:lnTo>
                  <a:lnTo>
                    <a:pt x="47672" y="116662"/>
                  </a:lnTo>
                  <a:lnTo>
                    <a:pt x="55428" y="115438"/>
                  </a:lnTo>
                  <a:lnTo>
                    <a:pt x="63058" y="114103"/>
                  </a:lnTo>
                  <a:lnTo>
                    <a:pt x="70562" y="112620"/>
                  </a:lnTo>
                  <a:lnTo>
                    <a:pt x="78003" y="110914"/>
                  </a:lnTo>
                  <a:lnTo>
                    <a:pt x="85380" y="108986"/>
                  </a:lnTo>
                  <a:lnTo>
                    <a:pt x="92506" y="106909"/>
                  </a:lnTo>
                  <a:lnTo>
                    <a:pt x="99632" y="104721"/>
                  </a:lnTo>
                  <a:lnTo>
                    <a:pt x="106568" y="102348"/>
                  </a:lnTo>
                  <a:lnTo>
                    <a:pt x="113315" y="99789"/>
                  </a:lnTo>
                  <a:lnTo>
                    <a:pt x="120000" y="97082"/>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52" name="Google Shape;3104;p148">
              <a:extLst>
                <a:ext uri="{FF2B5EF4-FFF2-40B4-BE49-F238E27FC236}">
                  <a16:creationId xmlns:a16="http://schemas.microsoft.com/office/drawing/2014/main" id="{E8F7871A-6539-7222-2DEA-697414DDC6B8}"/>
                </a:ext>
              </a:extLst>
            </p:cNvPr>
            <p:cNvSpPr/>
            <p:nvPr/>
          </p:nvSpPr>
          <p:spPr>
            <a:xfrm>
              <a:off x="4586288" y="3429000"/>
              <a:ext cx="1509713" cy="2570163"/>
            </a:xfrm>
            <a:custGeom>
              <a:avLst/>
              <a:gdLst/>
              <a:ahLst/>
              <a:cxnLst/>
              <a:rect l="l" t="t" r="r" b="b"/>
              <a:pathLst>
                <a:path w="120000" h="120000" extrusionOk="0">
                  <a:moveTo>
                    <a:pt x="120000" y="0"/>
                  </a:moveTo>
                  <a:lnTo>
                    <a:pt x="0" y="97082"/>
                  </a:lnTo>
                  <a:lnTo>
                    <a:pt x="6558" y="99789"/>
                  </a:lnTo>
                  <a:lnTo>
                    <a:pt x="13305" y="102348"/>
                  </a:lnTo>
                  <a:lnTo>
                    <a:pt x="20241" y="104721"/>
                  </a:lnTo>
                  <a:lnTo>
                    <a:pt x="27367" y="106909"/>
                  </a:lnTo>
                  <a:lnTo>
                    <a:pt x="34492" y="108986"/>
                  </a:lnTo>
                  <a:lnTo>
                    <a:pt x="41870" y="110914"/>
                  </a:lnTo>
                  <a:lnTo>
                    <a:pt x="49311" y="112620"/>
                  </a:lnTo>
                  <a:lnTo>
                    <a:pt x="56941" y="114103"/>
                  </a:lnTo>
                  <a:lnTo>
                    <a:pt x="64571" y="115438"/>
                  </a:lnTo>
                  <a:lnTo>
                    <a:pt x="72264" y="116662"/>
                  </a:lnTo>
                  <a:lnTo>
                    <a:pt x="80021" y="117663"/>
                  </a:lnTo>
                  <a:lnTo>
                    <a:pt x="87903" y="118516"/>
                  </a:lnTo>
                  <a:lnTo>
                    <a:pt x="95911" y="119147"/>
                  </a:lnTo>
                  <a:lnTo>
                    <a:pt x="103920" y="119592"/>
                  </a:lnTo>
                  <a:lnTo>
                    <a:pt x="111865" y="119851"/>
                  </a:lnTo>
                  <a:lnTo>
                    <a:pt x="120000"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53" name="Google Shape;3105;p148">
              <a:extLst>
                <a:ext uri="{FF2B5EF4-FFF2-40B4-BE49-F238E27FC236}">
                  <a16:creationId xmlns:a16="http://schemas.microsoft.com/office/drawing/2014/main" id="{73D68CED-5019-2D22-6152-D7D81A3E3D70}"/>
                </a:ext>
              </a:extLst>
            </p:cNvPr>
            <p:cNvSpPr/>
            <p:nvPr/>
          </p:nvSpPr>
          <p:spPr>
            <a:xfrm>
              <a:off x="3652838" y="3429000"/>
              <a:ext cx="2443163" cy="2079625"/>
            </a:xfrm>
            <a:custGeom>
              <a:avLst/>
              <a:gdLst/>
              <a:ahLst/>
              <a:cxnLst/>
              <a:rect l="l" t="t" r="r" b="b"/>
              <a:pathLst>
                <a:path w="120000" h="120000" extrusionOk="0">
                  <a:moveTo>
                    <a:pt x="120000" y="0"/>
                  </a:moveTo>
                  <a:lnTo>
                    <a:pt x="0" y="45836"/>
                  </a:lnTo>
                  <a:lnTo>
                    <a:pt x="1636" y="51382"/>
                  </a:lnTo>
                  <a:lnTo>
                    <a:pt x="3428" y="56837"/>
                  </a:lnTo>
                  <a:lnTo>
                    <a:pt x="5454" y="62108"/>
                  </a:lnTo>
                  <a:lnTo>
                    <a:pt x="7636" y="67379"/>
                  </a:lnTo>
                  <a:lnTo>
                    <a:pt x="9935" y="72513"/>
                  </a:lnTo>
                  <a:lnTo>
                    <a:pt x="12428" y="77509"/>
                  </a:lnTo>
                  <a:lnTo>
                    <a:pt x="15116" y="82459"/>
                  </a:lnTo>
                  <a:lnTo>
                    <a:pt x="17961" y="87181"/>
                  </a:lnTo>
                  <a:lnTo>
                    <a:pt x="20883" y="91764"/>
                  </a:lnTo>
                  <a:lnTo>
                    <a:pt x="24000" y="96256"/>
                  </a:lnTo>
                  <a:lnTo>
                    <a:pt x="27311" y="100656"/>
                  </a:lnTo>
                  <a:lnTo>
                    <a:pt x="30740" y="104782"/>
                  </a:lnTo>
                  <a:lnTo>
                    <a:pt x="34324" y="108815"/>
                  </a:lnTo>
                  <a:lnTo>
                    <a:pt x="38025" y="112711"/>
                  </a:lnTo>
                  <a:lnTo>
                    <a:pt x="41805" y="116424"/>
                  </a:lnTo>
                  <a:lnTo>
                    <a:pt x="45857"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54" name="Google Shape;3106;p148">
              <a:extLst>
                <a:ext uri="{FF2B5EF4-FFF2-40B4-BE49-F238E27FC236}">
                  <a16:creationId xmlns:a16="http://schemas.microsoft.com/office/drawing/2014/main" id="{62F44A62-769D-4AA7-8D86-625AFC95249A}"/>
                </a:ext>
              </a:extLst>
            </p:cNvPr>
            <p:cNvSpPr/>
            <p:nvPr/>
          </p:nvSpPr>
          <p:spPr>
            <a:xfrm>
              <a:off x="3527425" y="2635250"/>
              <a:ext cx="2568575" cy="1589088"/>
            </a:xfrm>
            <a:custGeom>
              <a:avLst/>
              <a:gdLst/>
              <a:ahLst/>
              <a:cxnLst/>
              <a:rect l="l" t="t" r="r" b="b"/>
              <a:pathLst>
                <a:path w="120000" h="120000" extrusionOk="0">
                  <a:moveTo>
                    <a:pt x="120000" y="60000"/>
                  </a:moveTo>
                  <a:lnTo>
                    <a:pt x="5820" y="0"/>
                  </a:lnTo>
                  <a:lnTo>
                    <a:pt x="4485" y="7260"/>
                  </a:lnTo>
                  <a:lnTo>
                    <a:pt x="3262" y="14760"/>
                  </a:lnTo>
                  <a:lnTo>
                    <a:pt x="2261" y="22080"/>
                  </a:lnTo>
                  <a:lnTo>
                    <a:pt x="1408" y="29700"/>
                  </a:lnTo>
                  <a:lnTo>
                    <a:pt x="778" y="37200"/>
                  </a:lnTo>
                  <a:lnTo>
                    <a:pt x="333" y="44820"/>
                  </a:lnTo>
                  <a:lnTo>
                    <a:pt x="74" y="52380"/>
                  </a:lnTo>
                  <a:lnTo>
                    <a:pt x="0" y="60000"/>
                  </a:lnTo>
                  <a:lnTo>
                    <a:pt x="74" y="67620"/>
                  </a:lnTo>
                  <a:lnTo>
                    <a:pt x="333" y="75060"/>
                  </a:lnTo>
                  <a:lnTo>
                    <a:pt x="778" y="82680"/>
                  </a:lnTo>
                  <a:lnTo>
                    <a:pt x="1408" y="90300"/>
                  </a:lnTo>
                  <a:lnTo>
                    <a:pt x="2261" y="97800"/>
                  </a:lnTo>
                  <a:lnTo>
                    <a:pt x="3262" y="105240"/>
                  </a:lnTo>
                  <a:lnTo>
                    <a:pt x="4485" y="112620"/>
                  </a:lnTo>
                  <a:lnTo>
                    <a:pt x="5820" y="120000"/>
                  </a:lnTo>
                  <a:lnTo>
                    <a:pt x="12000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55" name="Google Shape;3107;p148">
              <a:extLst>
                <a:ext uri="{FF2B5EF4-FFF2-40B4-BE49-F238E27FC236}">
                  <a16:creationId xmlns:a16="http://schemas.microsoft.com/office/drawing/2014/main" id="{6E33A581-747F-05D1-A4B9-C5054C4A7BD4}"/>
                </a:ext>
              </a:extLst>
            </p:cNvPr>
            <p:cNvSpPr/>
            <p:nvPr/>
          </p:nvSpPr>
          <p:spPr>
            <a:xfrm>
              <a:off x="3652838" y="1350963"/>
              <a:ext cx="2443163" cy="2078038"/>
            </a:xfrm>
            <a:custGeom>
              <a:avLst/>
              <a:gdLst/>
              <a:ahLst/>
              <a:cxnLst/>
              <a:rect l="l" t="t" r="r" b="b"/>
              <a:pathLst>
                <a:path w="120000" h="120000" extrusionOk="0">
                  <a:moveTo>
                    <a:pt x="120000" y="120000"/>
                  </a:moveTo>
                  <a:lnTo>
                    <a:pt x="45857" y="0"/>
                  </a:lnTo>
                  <a:lnTo>
                    <a:pt x="41805" y="3483"/>
                  </a:lnTo>
                  <a:lnTo>
                    <a:pt x="38025" y="7196"/>
                  </a:lnTo>
                  <a:lnTo>
                    <a:pt x="34324" y="11092"/>
                  </a:lnTo>
                  <a:lnTo>
                    <a:pt x="30740" y="15126"/>
                  </a:lnTo>
                  <a:lnTo>
                    <a:pt x="27311" y="19343"/>
                  </a:lnTo>
                  <a:lnTo>
                    <a:pt x="24000" y="23651"/>
                  </a:lnTo>
                  <a:lnTo>
                    <a:pt x="20883" y="28143"/>
                  </a:lnTo>
                  <a:lnTo>
                    <a:pt x="17961" y="32818"/>
                  </a:lnTo>
                  <a:lnTo>
                    <a:pt x="15116" y="37540"/>
                  </a:lnTo>
                  <a:lnTo>
                    <a:pt x="12428" y="42398"/>
                  </a:lnTo>
                  <a:lnTo>
                    <a:pt x="9935" y="47394"/>
                  </a:lnTo>
                  <a:lnTo>
                    <a:pt x="7636" y="52528"/>
                  </a:lnTo>
                  <a:lnTo>
                    <a:pt x="5454" y="57799"/>
                  </a:lnTo>
                  <a:lnTo>
                    <a:pt x="3428" y="63162"/>
                  </a:lnTo>
                  <a:lnTo>
                    <a:pt x="1636" y="68617"/>
                  </a:lnTo>
                  <a:lnTo>
                    <a:pt x="0" y="74163"/>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56" name="Google Shape;3108;p148">
              <a:extLst>
                <a:ext uri="{FF2B5EF4-FFF2-40B4-BE49-F238E27FC236}">
                  <a16:creationId xmlns:a16="http://schemas.microsoft.com/office/drawing/2014/main" id="{91E4CF46-20D1-2529-E516-45987E6A46E8}"/>
                </a:ext>
              </a:extLst>
            </p:cNvPr>
            <p:cNvSpPr/>
            <p:nvPr/>
          </p:nvSpPr>
          <p:spPr>
            <a:xfrm>
              <a:off x="4586288" y="860425"/>
              <a:ext cx="1509713" cy="2568575"/>
            </a:xfrm>
            <a:custGeom>
              <a:avLst/>
              <a:gdLst/>
              <a:ahLst/>
              <a:cxnLst/>
              <a:rect l="l" t="t" r="r" b="b"/>
              <a:pathLst>
                <a:path w="120000" h="120000" extrusionOk="0">
                  <a:moveTo>
                    <a:pt x="120000" y="120000"/>
                  </a:moveTo>
                  <a:lnTo>
                    <a:pt x="120000" y="0"/>
                  </a:lnTo>
                  <a:lnTo>
                    <a:pt x="111865" y="74"/>
                  </a:lnTo>
                  <a:lnTo>
                    <a:pt x="103920" y="333"/>
                  </a:lnTo>
                  <a:lnTo>
                    <a:pt x="95911" y="778"/>
                  </a:lnTo>
                  <a:lnTo>
                    <a:pt x="87903" y="1409"/>
                  </a:lnTo>
                  <a:lnTo>
                    <a:pt x="80021" y="2262"/>
                  </a:lnTo>
                  <a:lnTo>
                    <a:pt x="72264" y="3263"/>
                  </a:lnTo>
                  <a:lnTo>
                    <a:pt x="64571" y="4487"/>
                  </a:lnTo>
                  <a:lnTo>
                    <a:pt x="56941" y="5822"/>
                  </a:lnTo>
                  <a:lnTo>
                    <a:pt x="49311" y="7379"/>
                  </a:lnTo>
                  <a:lnTo>
                    <a:pt x="41870" y="9085"/>
                  </a:lnTo>
                  <a:lnTo>
                    <a:pt x="34492" y="10939"/>
                  </a:lnTo>
                  <a:lnTo>
                    <a:pt x="27367" y="13016"/>
                  </a:lnTo>
                  <a:lnTo>
                    <a:pt x="20241" y="15203"/>
                  </a:lnTo>
                  <a:lnTo>
                    <a:pt x="13305" y="17651"/>
                  </a:lnTo>
                  <a:lnTo>
                    <a:pt x="6558" y="20135"/>
                  </a:lnTo>
                  <a:lnTo>
                    <a:pt x="0" y="22917"/>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grpSp>
      <p:sp>
        <p:nvSpPr>
          <p:cNvPr id="157" name="Google Shape;3121;p148">
            <a:extLst>
              <a:ext uri="{FF2B5EF4-FFF2-40B4-BE49-F238E27FC236}">
                <a16:creationId xmlns:a16="http://schemas.microsoft.com/office/drawing/2014/main" id="{3F585280-CD7C-1485-5CA4-63639F05AFDE}"/>
              </a:ext>
            </a:extLst>
          </p:cNvPr>
          <p:cNvSpPr txBox="1">
            <a:spLocks/>
          </p:cNvSpPr>
          <p:nvPr/>
        </p:nvSpPr>
        <p:spPr>
          <a:xfrm>
            <a:off x="9303478" y="3150765"/>
            <a:ext cx="952501" cy="341632"/>
          </a:xfrm>
          <a:prstGeom prst="rect">
            <a:avLst/>
          </a:prstGeom>
          <a:noFill/>
          <a:ln>
            <a:noFill/>
          </a:ln>
        </p:spPr>
        <p:txBody>
          <a:bodyPr spcFirstLastPara="1" wrap="square" lIns="91425" tIns="45700" rIns="91425" bIns="4570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2400" b="1" dirty="0">
                <a:solidFill>
                  <a:srgbClr val="47464B"/>
                </a:solidFill>
                <a:latin typeface="Arial" panose="020B0604020202020204" pitchFamily="34" charset="0"/>
                <a:ea typeface="Calibri"/>
                <a:cs typeface="Arial" panose="020B0604020202020204" pitchFamily="34" charset="0"/>
                <a:sym typeface="Calibri"/>
              </a:rPr>
              <a:t>92%</a:t>
            </a:r>
            <a:endParaRPr lang="en-US" sz="2400" b="1" dirty="0">
              <a:solidFill>
                <a:srgbClr val="47464B"/>
              </a:solidFill>
              <a:latin typeface="Arial" panose="020B0604020202020204" pitchFamily="34" charset="0"/>
              <a:ea typeface="Calibri"/>
              <a:cs typeface="Arial" panose="020B0604020202020204" pitchFamily="34" charset="0"/>
            </a:endParaRPr>
          </a:p>
        </p:txBody>
      </p:sp>
      <p:pic>
        <p:nvPicPr>
          <p:cNvPr id="158" name="Google Shape;3081;p148">
            <a:extLst>
              <a:ext uri="{FF2B5EF4-FFF2-40B4-BE49-F238E27FC236}">
                <a16:creationId xmlns:a16="http://schemas.microsoft.com/office/drawing/2014/main" id="{D543EA52-0186-4637-E371-18DF032ECD5F}"/>
              </a:ext>
            </a:extLst>
          </p:cNvPr>
          <p:cNvPicPr preferRelativeResize="0"/>
          <p:nvPr/>
        </p:nvPicPr>
        <p:blipFill rotWithShape="1">
          <a:blip r:embed="rId7">
            <a:alphaModFix/>
            <a:duotone>
              <a:prstClr val="black"/>
              <a:srgbClr val="2CADB2">
                <a:tint val="45000"/>
                <a:satMod val="400000"/>
              </a:srgbClr>
            </a:duotone>
          </a:blip>
          <a:srcRect/>
          <a:stretch/>
        </p:blipFill>
        <p:spPr>
          <a:xfrm>
            <a:off x="4997328" y="1765940"/>
            <a:ext cx="2667000" cy="3117850"/>
          </a:xfrm>
          <a:prstGeom prst="rect">
            <a:avLst/>
          </a:prstGeom>
          <a:noFill/>
          <a:ln>
            <a:noFill/>
          </a:ln>
        </p:spPr>
      </p:pic>
      <p:grpSp>
        <p:nvGrpSpPr>
          <p:cNvPr id="159" name="Google Shape;3087;p148">
            <a:extLst>
              <a:ext uri="{FF2B5EF4-FFF2-40B4-BE49-F238E27FC236}">
                <a16:creationId xmlns:a16="http://schemas.microsoft.com/office/drawing/2014/main" id="{6C9BDCDE-35CE-D26B-AB29-9A605D81BDE0}"/>
              </a:ext>
            </a:extLst>
          </p:cNvPr>
          <p:cNvGrpSpPr/>
          <p:nvPr/>
        </p:nvGrpSpPr>
        <p:grpSpPr>
          <a:xfrm>
            <a:off x="5034920" y="2028534"/>
            <a:ext cx="2591814" cy="2591814"/>
            <a:chOff x="3527425" y="860425"/>
            <a:chExt cx="5138738" cy="5138738"/>
          </a:xfrm>
        </p:grpSpPr>
        <p:sp>
          <p:nvSpPr>
            <p:cNvPr id="160" name="Google Shape;3088;p148">
              <a:extLst>
                <a:ext uri="{FF2B5EF4-FFF2-40B4-BE49-F238E27FC236}">
                  <a16:creationId xmlns:a16="http://schemas.microsoft.com/office/drawing/2014/main" id="{6DA6DE97-D541-DA93-DC46-72713E7EE36E}"/>
                </a:ext>
              </a:extLst>
            </p:cNvPr>
            <p:cNvSpPr/>
            <p:nvPr/>
          </p:nvSpPr>
          <p:spPr>
            <a:xfrm>
              <a:off x="6096000" y="860425"/>
              <a:ext cx="1511300" cy="2568575"/>
            </a:xfrm>
            <a:custGeom>
              <a:avLst/>
              <a:gdLst/>
              <a:ahLst/>
              <a:cxnLst/>
              <a:rect l="l" t="t" r="r" b="b"/>
              <a:pathLst>
                <a:path w="120000" h="120000" extrusionOk="0">
                  <a:moveTo>
                    <a:pt x="0" y="120000"/>
                  </a:moveTo>
                  <a:lnTo>
                    <a:pt x="120000" y="22917"/>
                  </a:lnTo>
                  <a:lnTo>
                    <a:pt x="113315" y="20135"/>
                  </a:lnTo>
                  <a:lnTo>
                    <a:pt x="106568" y="17651"/>
                  </a:lnTo>
                  <a:lnTo>
                    <a:pt x="99632" y="15203"/>
                  </a:lnTo>
                  <a:lnTo>
                    <a:pt x="92506" y="13016"/>
                  </a:lnTo>
                  <a:lnTo>
                    <a:pt x="85380" y="10939"/>
                  </a:lnTo>
                  <a:lnTo>
                    <a:pt x="78003" y="9085"/>
                  </a:lnTo>
                  <a:lnTo>
                    <a:pt x="70562" y="7379"/>
                  </a:lnTo>
                  <a:lnTo>
                    <a:pt x="63058" y="5822"/>
                  </a:lnTo>
                  <a:lnTo>
                    <a:pt x="55428" y="4487"/>
                  </a:lnTo>
                  <a:lnTo>
                    <a:pt x="47672" y="3263"/>
                  </a:lnTo>
                  <a:lnTo>
                    <a:pt x="39852" y="2262"/>
                  </a:lnTo>
                  <a:lnTo>
                    <a:pt x="31970" y="1409"/>
                  </a:lnTo>
                  <a:lnTo>
                    <a:pt x="24088" y="778"/>
                  </a:lnTo>
                  <a:lnTo>
                    <a:pt x="16079" y="333"/>
                  </a:lnTo>
                  <a:lnTo>
                    <a:pt x="8008" y="74"/>
                  </a:lnTo>
                  <a:lnTo>
                    <a:pt x="0"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61" name="Google Shape;3089;p148">
              <a:extLst>
                <a:ext uri="{FF2B5EF4-FFF2-40B4-BE49-F238E27FC236}">
                  <a16:creationId xmlns:a16="http://schemas.microsoft.com/office/drawing/2014/main" id="{7560D3B5-2E30-FCD3-E7E4-B8AEB165D40F}"/>
                </a:ext>
              </a:extLst>
            </p:cNvPr>
            <p:cNvSpPr/>
            <p:nvPr/>
          </p:nvSpPr>
          <p:spPr>
            <a:xfrm>
              <a:off x="6096000" y="1350963"/>
              <a:ext cx="2443163" cy="2078038"/>
            </a:xfrm>
            <a:custGeom>
              <a:avLst/>
              <a:gdLst/>
              <a:ahLst/>
              <a:cxnLst/>
              <a:rect l="l" t="t" r="r" b="b"/>
              <a:pathLst>
                <a:path w="120000" h="120000" extrusionOk="0">
                  <a:moveTo>
                    <a:pt x="0" y="120000"/>
                  </a:moveTo>
                  <a:lnTo>
                    <a:pt x="120000" y="74163"/>
                  </a:lnTo>
                  <a:lnTo>
                    <a:pt x="118440" y="68617"/>
                  </a:lnTo>
                  <a:lnTo>
                    <a:pt x="116569" y="63162"/>
                  </a:lnTo>
                  <a:lnTo>
                    <a:pt x="114619" y="57799"/>
                  </a:lnTo>
                  <a:lnTo>
                    <a:pt x="112436" y="52620"/>
                  </a:lnTo>
                  <a:lnTo>
                    <a:pt x="110097" y="47394"/>
                  </a:lnTo>
                  <a:lnTo>
                    <a:pt x="107563" y="42398"/>
                  </a:lnTo>
                  <a:lnTo>
                    <a:pt x="104951" y="37540"/>
                  </a:lnTo>
                  <a:lnTo>
                    <a:pt x="102105" y="32818"/>
                  </a:lnTo>
                  <a:lnTo>
                    <a:pt x="99103" y="28143"/>
                  </a:lnTo>
                  <a:lnTo>
                    <a:pt x="95984" y="23651"/>
                  </a:lnTo>
                  <a:lnTo>
                    <a:pt x="92670" y="19343"/>
                  </a:lnTo>
                  <a:lnTo>
                    <a:pt x="89317" y="15126"/>
                  </a:lnTo>
                  <a:lnTo>
                    <a:pt x="85692" y="11092"/>
                  </a:lnTo>
                  <a:lnTo>
                    <a:pt x="81949" y="7196"/>
                  </a:lnTo>
                  <a:lnTo>
                    <a:pt x="78167" y="3483"/>
                  </a:lnTo>
                  <a:lnTo>
                    <a:pt x="74191" y="0"/>
                  </a:lnTo>
                  <a:lnTo>
                    <a:pt x="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62" name="Google Shape;3090;p148">
              <a:extLst>
                <a:ext uri="{FF2B5EF4-FFF2-40B4-BE49-F238E27FC236}">
                  <a16:creationId xmlns:a16="http://schemas.microsoft.com/office/drawing/2014/main" id="{C7641BC1-651D-E5FB-7F0F-D40754894BE9}"/>
                </a:ext>
              </a:extLst>
            </p:cNvPr>
            <p:cNvSpPr/>
            <p:nvPr/>
          </p:nvSpPr>
          <p:spPr>
            <a:xfrm>
              <a:off x="6096000" y="2635250"/>
              <a:ext cx="2570163" cy="1589088"/>
            </a:xfrm>
            <a:custGeom>
              <a:avLst/>
              <a:gdLst/>
              <a:ahLst/>
              <a:cxnLst/>
              <a:rect l="l" t="t" r="r" b="b"/>
              <a:pathLst>
                <a:path w="120000" h="120000" extrusionOk="0">
                  <a:moveTo>
                    <a:pt x="0" y="60000"/>
                  </a:moveTo>
                  <a:lnTo>
                    <a:pt x="114105" y="120000"/>
                  </a:lnTo>
                  <a:lnTo>
                    <a:pt x="115514" y="112620"/>
                  </a:lnTo>
                  <a:lnTo>
                    <a:pt x="116737" y="105240"/>
                  </a:lnTo>
                  <a:lnTo>
                    <a:pt x="117738" y="97800"/>
                  </a:lnTo>
                  <a:lnTo>
                    <a:pt x="118517" y="90300"/>
                  </a:lnTo>
                  <a:lnTo>
                    <a:pt x="119147" y="82680"/>
                  </a:lnTo>
                  <a:lnTo>
                    <a:pt x="119666" y="75180"/>
                  </a:lnTo>
                  <a:lnTo>
                    <a:pt x="119925" y="67620"/>
                  </a:lnTo>
                  <a:lnTo>
                    <a:pt x="120000" y="60000"/>
                  </a:lnTo>
                  <a:lnTo>
                    <a:pt x="119925" y="52380"/>
                  </a:lnTo>
                  <a:lnTo>
                    <a:pt x="119666" y="44820"/>
                  </a:lnTo>
                  <a:lnTo>
                    <a:pt x="119147" y="37200"/>
                  </a:lnTo>
                  <a:lnTo>
                    <a:pt x="118517" y="29700"/>
                  </a:lnTo>
                  <a:lnTo>
                    <a:pt x="117738" y="22200"/>
                  </a:lnTo>
                  <a:lnTo>
                    <a:pt x="116737" y="14760"/>
                  </a:lnTo>
                  <a:lnTo>
                    <a:pt x="115514" y="7260"/>
                  </a:lnTo>
                  <a:lnTo>
                    <a:pt x="114105" y="0"/>
                  </a:lnTo>
                  <a:lnTo>
                    <a:pt x="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63" name="Google Shape;3091;p148">
              <a:extLst>
                <a:ext uri="{FF2B5EF4-FFF2-40B4-BE49-F238E27FC236}">
                  <a16:creationId xmlns:a16="http://schemas.microsoft.com/office/drawing/2014/main" id="{D0C9D32C-9768-F4DA-6587-4CE2B5349722}"/>
                </a:ext>
              </a:extLst>
            </p:cNvPr>
            <p:cNvSpPr/>
            <p:nvPr/>
          </p:nvSpPr>
          <p:spPr>
            <a:xfrm>
              <a:off x="6096000" y="3429000"/>
              <a:ext cx="2443163" cy="2079625"/>
            </a:xfrm>
            <a:custGeom>
              <a:avLst/>
              <a:gdLst/>
              <a:ahLst/>
              <a:cxnLst/>
              <a:rect l="l" t="t" r="r" b="b"/>
              <a:pathLst>
                <a:path w="120000" h="120000" extrusionOk="0">
                  <a:moveTo>
                    <a:pt x="0" y="0"/>
                  </a:moveTo>
                  <a:lnTo>
                    <a:pt x="74191" y="120000"/>
                  </a:lnTo>
                  <a:lnTo>
                    <a:pt x="78167" y="116470"/>
                  </a:lnTo>
                  <a:lnTo>
                    <a:pt x="81949" y="112711"/>
                  </a:lnTo>
                  <a:lnTo>
                    <a:pt x="85692" y="108815"/>
                  </a:lnTo>
                  <a:lnTo>
                    <a:pt x="89317" y="104873"/>
                  </a:lnTo>
                  <a:lnTo>
                    <a:pt x="92670" y="100656"/>
                  </a:lnTo>
                  <a:lnTo>
                    <a:pt x="95984" y="96256"/>
                  </a:lnTo>
                  <a:lnTo>
                    <a:pt x="99103" y="91764"/>
                  </a:lnTo>
                  <a:lnTo>
                    <a:pt x="102105" y="87181"/>
                  </a:lnTo>
                  <a:lnTo>
                    <a:pt x="104951" y="82459"/>
                  </a:lnTo>
                  <a:lnTo>
                    <a:pt x="107563" y="77509"/>
                  </a:lnTo>
                  <a:lnTo>
                    <a:pt x="110097" y="72513"/>
                  </a:lnTo>
                  <a:lnTo>
                    <a:pt x="112436" y="67379"/>
                  </a:lnTo>
                  <a:lnTo>
                    <a:pt x="114619" y="62108"/>
                  </a:lnTo>
                  <a:lnTo>
                    <a:pt x="116569" y="56837"/>
                  </a:lnTo>
                  <a:lnTo>
                    <a:pt x="118440" y="51382"/>
                  </a:lnTo>
                  <a:lnTo>
                    <a:pt x="120000" y="45836"/>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64" name="Google Shape;3092;p148">
              <a:extLst>
                <a:ext uri="{FF2B5EF4-FFF2-40B4-BE49-F238E27FC236}">
                  <a16:creationId xmlns:a16="http://schemas.microsoft.com/office/drawing/2014/main" id="{5B8D89CE-81E6-2945-8CE4-E633040963FC}"/>
                </a:ext>
              </a:extLst>
            </p:cNvPr>
            <p:cNvSpPr/>
            <p:nvPr/>
          </p:nvSpPr>
          <p:spPr>
            <a:xfrm>
              <a:off x="6096000" y="3429000"/>
              <a:ext cx="1511300" cy="2570163"/>
            </a:xfrm>
            <a:custGeom>
              <a:avLst/>
              <a:gdLst/>
              <a:ahLst/>
              <a:cxnLst/>
              <a:rect l="l" t="t" r="r" b="b"/>
              <a:pathLst>
                <a:path w="120000" h="120000" extrusionOk="0">
                  <a:moveTo>
                    <a:pt x="0" y="0"/>
                  </a:moveTo>
                  <a:lnTo>
                    <a:pt x="0" y="120000"/>
                  </a:lnTo>
                  <a:lnTo>
                    <a:pt x="8008" y="119851"/>
                  </a:lnTo>
                  <a:lnTo>
                    <a:pt x="16079" y="119592"/>
                  </a:lnTo>
                  <a:lnTo>
                    <a:pt x="24088" y="119147"/>
                  </a:lnTo>
                  <a:lnTo>
                    <a:pt x="31970" y="118516"/>
                  </a:lnTo>
                  <a:lnTo>
                    <a:pt x="39852" y="117663"/>
                  </a:lnTo>
                  <a:lnTo>
                    <a:pt x="47672" y="116662"/>
                  </a:lnTo>
                  <a:lnTo>
                    <a:pt x="55428" y="115438"/>
                  </a:lnTo>
                  <a:lnTo>
                    <a:pt x="63058" y="114103"/>
                  </a:lnTo>
                  <a:lnTo>
                    <a:pt x="70562" y="112620"/>
                  </a:lnTo>
                  <a:lnTo>
                    <a:pt x="78003" y="110914"/>
                  </a:lnTo>
                  <a:lnTo>
                    <a:pt x="85380" y="108986"/>
                  </a:lnTo>
                  <a:lnTo>
                    <a:pt x="92506" y="106909"/>
                  </a:lnTo>
                  <a:lnTo>
                    <a:pt x="99632" y="104721"/>
                  </a:lnTo>
                  <a:lnTo>
                    <a:pt x="106568" y="102348"/>
                  </a:lnTo>
                  <a:lnTo>
                    <a:pt x="113315" y="99789"/>
                  </a:lnTo>
                  <a:lnTo>
                    <a:pt x="120000" y="97082"/>
                  </a:lnTo>
                  <a:lnTo>
                    <a:pt x="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65" name="Google Shape;3093;p148">
              <a:extLst>
                <a:ext uri="{FF2B5EF4-FFF2-40B4-BE49-F238E27FC236}">
                  <a16:creationId xmlns:a16="http://schemas.microsoft.com/office/drawing/2014/main" id="{80329582-221B-FC50-3482-FE1F811A6BB3}"/>
                </a:ext>
              </a:extLst>
            </p:cNvPr>
            <p:cNvSpPr/>
            <p:nvPr/>
          </p:nvSpPr>
          <p:spPr>
            <a:xfrm>
              <a:off x="4586288" y="3429000"/>
              <a:ext cx="1509713" cy="2570163"/>
            </a:xfrm>
            <a:custGeom>
              <a:avLst/>
              <a:gdLst/>
              <a:ahLst/>
              <a:cxnLst/>
              <a:rect l="l" t="t" r="r" b="b"/>
              <a:pathLst>
                <a:path w="120000" h="120000" extrusionOk="0">
                  <a:moveTo>
                    <a:pt x="120000" y="0"/>
                  </a:moveTo>
                  <a:lnTo>
                    <a:pt x="0" y="97082"/>
                  </a:lnTo>
                  <a:lnTo>
                    <a:pt x="6558" y="99789"/>
                  </a:lnTo>
                  <a:lnTo>
                    <a:pt x="13305" y="102348"/>
                  </a:lnTo>
                  <a:lnTo>
                    <a:pt x="20241" y="104721"/>
                  </a:lnTo>
                  <a:lnTo>
                    <a:pt x="27367" y="106909"/>
                  </a:lnTo>
                  <a:lnTo>
                    <a:pt x="34492" y="108986"/>
                  </a:lnTo>
                  <a:lnTo>
                    <a:pt x="41870" y="110914"/>
                  </a:lnTo>
                  <a:lnTo>
                    <a:pt x="49311" y="112620"/>
                  </a:lnTo>
                  <a:lnTo>
                    <a:pt x="56941" y="114103"/>
                  </a:lnTo>
                  <a:lnTo>
                    <a:pt x="64571" y="115438"/>
                  </a:lnTo>
                  <a:lnTo>
                    <a:pt x="72264" y="116662"/>
                  </a:lnTo>
                  <a:lnTo>
                    <a:pt x="80021" y="117663"/>
                  </a:lnTo>
                  <a:lnTo>
                    <a:pt x="87903" y="118516"/>
                  </a:lnTo>
                  <a:lnTo>
                    <a:pt x="95911" y="119147"/>
                  </a:lnTo>
                  <a:lnTo>
                    <a:pt x="103920" y="119592"/>
                  </a:lnTo>
                  <a:lnTo>
                    <a:pt x="111865" y="119851"/>
                  </a:lnTo>
                  <a:lnTo>
                    <a:pt x="120000"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66" name="Google Shape;3094;p148">
              <a:extLst>
                <a:ext uri="{FF2B5EF4-FFF2-40B4-BE49-F238E27FC236}">
                  <a16:creationId xmlns:a16="http://schemas.microsoft.com/office/drawing/2014/main" id="{63680F1A-F41F-96BF-F763-1AFC2AF65476}"/>
                </a:ext>
              </a:extLst>
            </p:cNvPr>
            <p:cNvSpPr/>
            <p:nvPr/>
          </p:nvSpPr>
          <p:spPr>
            <a:xfrm>
              <a:off x="3652838" y="3429000"/>
              <a:ext cx="2443163" cy="2079625"/>
            </a:xfrm>
            <a:custGeom>
              <a:avLst/>
              <a:gdLst/>
              <a:ahLst/>
              <a:cxnLst/>
              <a:rect l="l" t="t" r="r" b="b"/>
              <a:pathLst>
                <a:path w="120000" h="120000" extrusionOk="0">
                  <a:moveTo>
                    <a:pt x="120000" y="0"/>
                  </a:moveTo>
                  <a:lnTo>
                    <a:pt x="0" y="45836"/>
                  </a:lnTo>
                  <a:lnTo>
                    <a:pt x="1636" y="51382"/>
                  </a:lnTo>
                  <a:lnTo>
                    <a:pt x="3428" y="56837"/>
                  </a:lnTo>
                  <a:lnTo>
                    <a:pt x="5454" y="62108"/>
                  </a:lnTo>
                  <a:lnTo>
                    <a:pt x="7636" y="67379"/>
                  </a:lnTo>
                  <a:lnTo>
                    <a:pt x="9935" y="72513"/>
                  </a:lnTo>
                  <a:lnTo>
                    <a:pt x="12428" y="77509"/>
                  </a:lnTo>
                  <a:lnTo>
                    <a:pt x="15116" y="82459"/>
                  </a:lnTo>
                  <a:lnTo>
                    <a:pt x="17961" y="87181"/>
                  </a:lnTo>
                  <a:lnTo>
                    <a:pt x="20883" y="91764"/>
                  </a:lnTo>
                  <a:lnTo>
                    <a:pt x="24000" y="96256"/>
                  </a:lnTo>
                  <a:lnTo>
                    <a:pt x="27311" y="100656"/>
                  </a:lnTo>
                  <a:lnTo>
                    <a:pt x="30740" y="104782"/>
                  </a:lnTo>
                  <a:lnTo>
                    <a:pt x="34324" y="108815"/>
                  </a:lnTo>
                  <a:lnTo>
                    <a:pt x="38025" y="112711"/>
                  </a:lnTo>
                  <a:lnTo>
                    <a:pt x="41805" y="116424"/>
                  </a:lnTo>
                  <a:lnTo>
                    <a:pt x="45857" y="120000"/>
                  </a:lnTo>
                  <a:lnTo>
                    <a:pt x="120000" y="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67" name="Google Shape;3095;p148">
              <a:extLst>
                <a:ext uri="{FF2B5EF4-FFF2-40B4-BE49-F238E27FC236}">
                  <a16:creationId xmlns:a16="http://schemas.microsoft.com/office/drawing/2014/main" id="{851E0B5B-9347-6CB1-3BE1-C4855F124C07}"/>
                </a:ext>
              </a:extLst>
            </p:cNvPr>
            <p:cNvSpPr/>
            <p:nvPr/>
          </p:nvSpPr>
          <p:spPr>
            <a:xfrm>
              <a:off x="3527425" y="2635250"/>
              <a:ext cx="2568575" cy="1589088"/>
            </a:xfrm>
            <a:custGeom>
              <a:avLst/>
              <a:gdLst/>
              <a:ahLst/>
              <a:cxnLst/>
              <a:rect l="l" t="t" r="r" b="b"/>
              <a:pathLst>
                <a:path w="120000" h="120000" extrusionOk="0">
                  <a:moveTo>
                    <a:pt x="120000" y="60000"/>
                  </a:moveTo>
                  <a:lnTo>
                    <a:pt x="5820" y="0"/>
                  </a:lnTo>
                  <a:lnTo>
                    <a:pt x="4485" y="7260"/>
                  </a:lnTo>
                  <a:lnTo>
                    <a:pt x="3262" y="14760"/>
                  </a:lnTo>
                  <a:lnTo>
                    <a:pt x="2261" y="22080"/>
                  </a:lnTo>
                  <a:lnTo>
                    <a:pt x="1408" y="29700"/>
                  </a:lnTo>
                  <a:lnTo>
                    <a:pt x="778" y="37200"/>
                  </a:lnTo>
                  <a:lnTo>
                    <a:pt x="333" y="44820"/>
                  </a:lnTo>
                  <a:lnTo>
                    <a:pt x="74" y="52380"/>
                  </a:lnTo>
                  <a:lnTo>
                    <a:pt x="0" y="60000"/>
                  </a:lnTo>
                  <a:lnTo>
                    <a:pt x="74" y="67620"/>
                  </a:lnTo>
                  <a:lnTo>
                    <a:pt x="333" y="75060"/>
                  </a:lnTo>
                  <a:lnTo>
                    <a:pt x="778" y="82680"/>
                  </a:lnTo>
                  <a:lnTo>
                    <a:pt x="1408" y="90300"/>
                  </a:lnTo>
                  <a:lnTo>
                    <a:pt x="2261" y="97800"/>
                  </a:lnTo>
                  <a:lnTo>
                    <a:pt x="3262" y="105240"/>
                  </a:lnTo>
                  <a:lnTo>
                    <a:pt x="4485" y="112620"/>
                  </a:lnTo>
                  <a:lnTo>
                    <a:pt x="5820" y="120000"/>
                  </a:lnTo>
                  <a:lnTo>
                    <a:pt x="120000" y="6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68" name="Google Shape;3096;p148">
              <a:extLst>
                <a:ext uri="{FF2B5EF4-FFF2-40B4-BE49-F238E27FC236}">
                  <a16:creationId xmlns:a16="http://schemas.microsoft.com/office/drawing/2014/main" id="{9DD7611F-3417-0F52-936E-499E6ED06EE3}"/>
                </a:ext>
              </a:extLst>
            </p:cNvPr>
            <p:cNvSpPr/>
            <p:nvPr/>
          </p:nvSpPr>
          <p:spPr>
            <a:xfrm>
              <a:off x="3652838" y="1350963"/>
              <a:ext cx="2443163" cy="2078038"/>
            </a:xfrm>
            <a:custGeom>
              <a:avLst/>
              <a:gdLst/>
              <a:ahLst/>
              <a:cxnLst/>
              <a:rect l="l" t="t" r="r" b="b"/>
              <a:pathLst>
                <a:path w="120000" h="120000" extrusionOk="0">
                  <a:moveTo>
                    <a:pt x="120000" y="120000"/>
                  </a:moveTo>
                  <a:lnTo>
                    <a:pt x="45857" y="0"/>
                  </a:lnTo>
                  <a:lnTo>
                    <a:pt x="41805" y="3483"/>
                  </a:lnTo>
                  <a:lnTo>
                    <a:pt x="38025" y="7196"/>
                  </a:lnTo>
                  <a:lnTo>
                    <a:pt x="34324" y="11092"/>
                  </a:lnTo>
                  <a:lnTo>
                    <a:pt x="30740" y="15126"/>
                  </a:lnTo>
                  <a:lnTo>
                    <a:pt x="27311" y="19343"/>
                  </a:lnTo>
                  <a:lnTo>
                    <a:pt x="24000" y="23651"/>
                  </a:lnTo>
                  <a:lnTo>
                    <a:pt x="20883" y="28143"/>
                  </a:lnTo>
                  <a:lnTo>
                    <a:pt x="17961" y="32818"/>
                  </a:lnTo>
                  <a:lnTo>
                    <a:pt x="15116" y="37540"/>
                  </a:lnTo>
                  <a:lnTo>
                    <a:pt x="12428" y="42398"/>
                  </a:lnTo>
                  <a:lnTo>
                    <a:pt x="9935" y="47394"/>
                  </a:lnTo>
                  <a:lnTo>
                    <a:pt x="7636" y="52528"/>
                  </a:lnTo>
                  <a:lnTo>
                    <a:pt x="5454" y="57799"/>
                  </a:lnTo>
                  <a:lnTo>
                    <a:pt x="3428" y="63162"/>
                  </a:lnTo>
                  <a:lnTo>
                    <a:pt x="1636" y="68617"/>
                  </a:lnTo>
                  <a:lnTo>
                    <a:pt x="0" y="74163"/>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sp>
          <p:nvSpPr>
            <p:cNvPr id="169" name="Google Shape;3097;p148">
              <a:extLst>
                <a:ext uri="{FF2B5EF4-FFF2-40B4-BE49-F238E27FC236}">
                  <a16:creationId xmlns:a16="http://schemas.microsoft.com/office/drawing/2014/main" id="{1864DF2D-34AB-411F-631D-3737DA3A360A}"/>
                </a:ext>
              </a:extLst>
            </p:cNvPr>
            <p:cNvSpPr/>
            <p:nvPr/>
          </p:nvSpPr>
          <p:spPr>
            <a:xfrm>
              <a:off x="4586288" y="860425"/>
              <a:ext cx="1509713" cy="2568575"/>
            </a:xfrm>
            <a:custGeom>
              <a:avLst/>
              <a:gdLst/>
              <a:ahLst/>
              <a:cxnLst/>
              <a:rect l="l" t="t" r="r" b="b"/>
              <a:pathLst>
                <a:path w="120000" h="120000" extrusionOk="0">
                  <a:moveTo>
                    <a:pt x="120000" y="120000"/>
                  </a:moveTo>
                  <a:lnTo>
                    <a:pt x="120000" y="0"/>
                  </a:lnTo>
                  <a:lnTo>
                    <a:pt x="111865" y="74"/>
                  </a:lnTo>
                  <a:lnTo>
                    <a:pt x="103920" y="333"/>
                  </a:lnTo>
                  <a:lnTo>
                    <a:pt x="95911" y="778"/>
                  </a:lnTo>
                  <a:lnTo>
                    <a:pt x="87903" y="1409"/>
                  </a:lnTo>
                  <a:lnTo>
                    <a:pt x="80021" y="2262"/>
                  </a:lnTo>
                  <a:lnTo>
                    <a:pt x="72264" y="3263"/>
                  </a:lnTo>
                  <a:lnTo>
                    <a:pt x="64571" y="4487"/>
                  </a:lnTo>
                  <a:lnTo>
                    <a:pt x="56941" y="5822"/>
                  </a:lnTo>
                  <a:lnTo>
                    <a:pt x="49311" y="7379"/>
                  </a:lnTo>
                  <a:lnTo>
                    <a:pt x="41870" y="9085"/>
                  </a:lnTo>
                  <a:lnTo>
                    <a:pt x="34492" y="10939"/>
                  </a:lnTo>
                  <a:lnTo>
                    <a:pt x="27367" y="13016"/>
                  </a:lnTo>
                  <a:lnTo>
                    <a:pt x="20241" y="15203"/>
                  </a:lnTo>
                  <a:lnTo>
                    <a:pt x="13305" y="17651"/>
                  </a:lnTo>
                  <a:lnTo>
                    <a:pt x="6558" y="20135"/>
                  </a:lnTo>
                  <a:lnTo>
                    <a:pt x="0" y="22917"/>
                  </a:lnTo>
                  <a:lnTo>
                    <a:pt x="120000" y="120000"/>
                  </a:lnTo>
                  <a:close/>
                </a:path>
              </a:pathLst>
            </a:custGeom>
            <a:noFill/>
            <a:ln w="28575" cap="flat" cmpd="sng">
              <a:solidFill>
                <a:schemeClr val="lt1"/>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dirty="0">
                <a:solidFill>
                  <a:schemeClr val="dk1"/>
                </a:solidFill>
                <a:latin typeface="Arial" panose="020B0604020202020204" pitchFamily="34" charset="0"/>
                <a:ea typeface="Calibri"/>
                <a:cs typeface="Arial" panose="020B0604020202020204" pitchFamily="34" charset="0"/>
                <a:sym typeface="Calibri"/>
              </a:endParaRPr>
            </a:p>
          </p:txBody>
        </p:sp>
      </p:grpSp>
      <p:sp>
        <p:nvSpPr>
          <p:cNvPr id="170" name="Google Shape;3120;p148">
            <a:extLst>
              <a:ext uri="{FF2B5EF4-FFF2-40B4-BE49-F238E27FC236}">
                <a16:creationId xmlns:a16="http://schemas.microsoft.com/office/drawing/2014/main" id="{40888CAF-551B-ABE8-D21F-2A4E9F6D8D8A}"/>
              </a:ext>
            </a:extLst>
          </p:cNvPr>
          <p:cNvSpPr txBox="1">
            <a:spLocks/>
          </p:cNvSpPr>
          <p:nvPr/>
        </p:nvSpPr>
        <p:spPr>
          <a:xfrm>
            <a:off x="5854578" y="3154025"/>
            <a:ext cx="952501" cy="341632"/>
          </a:xfrm>
          <a:prstGeom prst="rect">
            <a:avLst/>
          </a:prstGeom>
          <a:noFill/>
          <a:ln>
            <a:noFill/>
          </a:ln>
        </p:spPr>
        <p:txBody>
          <a:bodyPr spcFirstLastPara="1" wrap="square" lIns="91425" tIns="45700" rIns="91425" bIns="4570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ctr">
              <a:spcBef>
                <a:spcPts val="0"/>
              </a:spcBef>
              <a:buClr>
                <a:srgbClr val="47464B"/>
              </a:buClr>
              <a:buFont typeface="Arial"/>
              <a:buNone/>
            </a:pPr>
            <a:r>
              <a:rPr lang="en-US" sz="2400" b="1" dirty="0">
                <a:solidFill>
                  <a:srgbClr val="47464B"/>
                </a:solidFill>
                <a:latin typeface="Arial" panose="020B0604020202020204" pitchFamily="34" charset="0"/>
                <a:ea typeface="Calibri"/>
                <a:cs typeface="Arial" panose="020B0604020202020204" pitchFamily="34" charset="0"/>
                <a:sym typeface="Calibri"/>
              </a:rPr>
              <a:t>9%</a:t>
            </a:r>
            <a:endParaRPr lang="en-US" sz="2400" b="1" dirty="0">
              <a:solidFill>
                <a:srgbClr val="47464B"/>
              </a:solidFill>
              <a:latin typeface="Arial" panose="020B0604020202020204" pitchFamily="34" charset="0"/>
              <a:ea typeface="Calibri"/>
              <a:cs typeface="Arial" panose="020B0604020202020204" pitchFamily="34" charset="0"/>
            </a:endParaRPr>
          </a:p>
        </p:txBody>
      </p:sp>
    </p:spTree>
    <p:extLst>
      <p:ext uri="{BB962C8B-B14F-4D97-AF65-F5344CB8AC3E}">
        <p14:creationId xmlns:p14="http://schemas.microsoft.com/office/powerpoint/2010/main" val="1496286743"/>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9">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20" name="Rectangle 11">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3" name="Content Placeholder 2">
            <a:extLst>
              <a:ext uri="{FF2B5EF4-FFF2-40B4-BE49-F238E27FC236}">
                <a16:creationId xmlns:a16="http://schemas.microsoft.com/office/drawing/2014/main" id="{F7CFE162-2B72-DECB-B17E-7A2BA5626B69}"/>
              </a:ext>
            </a:extLst>
          </p:cNvPr>
          <p:cNvSpPr>
            <a:spLocks noGrp="1"/>
          </p:cNvSpPr>
          <p:nvPr>
            <p:ph idx="1"/>
          </p:nvPr>
        </p:nvSpPr>
        <p:spPr>
          <a:xfrm>
            <a:off x="710915" y="3013004"/>
            <a:ext cx="4765949" cy="3479871"/>
          </a:xfrm>
        </p:spPr>
        <p:txBody>
          <a:bodyPr anchor="t">
            <a:normAutofit/>
          </a:bodyPr>
          <a:lstStyle/>
          <a:p>
            <a:pPr marL="342900" marR="0" lvl="0" indent="-342900">
              <a:lnSpc>
                <a:spcPct val="100000"/>
              </a:lnSpc>
              <a:spcBef>
                <a:spcPts val="1800"/>
              </a:spcBef>
              <a:spcAft>
                <a:spcPts val="0"/>
              </a:spcAft>
              <a:buFont typeface="Symbol" panose="05050102010706020507" pitchFamily="18" charset="2"/>
              <a:buChar char=""/>
            </a:pPr>
            <a:r>
              <a:rPr lang="en-US" sz="1600" dirty="0">
                <a:effectLst/>
                <a:latin typeface="Arial" panose="020B0604020202020204" pitchFamily="34" charset="0"/>
                <a:ea typeface="Cambria" panose="02040503050406030204" pitchFamily="18" charset="0"/>
                <a:cs typeface="Arial" panose="020B0604020202020204" pitchFamily="34" charset="0"/>
              </a:rPr>
              <a:t>Simple solution to improve local online marketing</a:t>
            </a:r>
            <a:endParaRPr lang="en-US" sz="1600" dirty="0">
              <a:effectLst/>
              <a:latin typeface="Arial" panose="020B0604020202020204" pitchFamily="34" charset="0"/>
              <a:ea typeface="Cambria" panose="02040503050406030204" pitchFamily="18" charset="0"/>
            </a:endParaRPr>
          </a:p>
          <a:p>
            <a:pPr marL="342900" marR="0" lvl="0" indent="-342900">
              <a:lnSpc>
                <a:spcPct val="100000"/>
              </a:lnSpc>
              <a:spcBef>
                <a:spcPts val="1800"/>
              </a:spcBef>
              <a:spcAft>
                <a:spcPts val="0"/>
              </a:spcAft>
              <a:buFont typeface="Symbol" panose="05050102010706020507" pitchFamily="18" charset="2"/>
              <a:buChar char=""/>
            </a:pPr>
            <a:r>
              <a:rPr lang="en-US" sz="1600" dirty="0">
                <a:effectLst/>
                <a:latin typeface="Arial" panose="020B0604020202020204" pitchFamily="34" charset="0"/>
                <a:ea typeface="Cambria" panose="02040503050406030204" pitchFamily="18" charset="0"/>
                <a:cs typeface="Arial" panose="020B0604020202020204" pitchFamily="34" charset="0"/>
              </a:rPr>
              <a:t>Collect 5-star reviews</a:t>
            </a:r>
            <a:endParaRPr lang="en-US" sz="1600" dirty="0">
              <a:effectLst/>
              <a:latin typeface="Arial" panose="020B0604020202020204" pitchFamily="34" charset="0"/>
              <a:ea typeface="Cambria" panose="02040503050406030204" pitchFamily="18" charset="0"/>
            </a:endParaRPr>
          </a:p>
          <a:p>
            <a:pPr marL="342900" marR="0" lvl="0" indent="-342900">
              <a:lnSpc>
                <a:spcPct val="100000"/>
              </a:lnSpc>
              <a:spcBef>
                <a:spcPts val="1800"/>
              </a:spcBef>
              <a:spcAft>
                <a:spcPts val="0"/>
              </a:spcAft>
              <a:buFont typeface="Symbol" panose="05050102010706020507" pitchFamily="18" charset="2"/>
              <a:buChar char=""/>
            </a:pPr>
            <a:r>
              <a:rPr lang="en-US" sz="1600" dirty="0">
                <a:effectLst/>
                <a:latin typeface="Arial" panose="020B0604020202020204" pitchFamily="34" charset="0"/>
                <a:ea typeface="Cambria" panose="02040503050406030204" pitchFamily="18" charset="0"/>
                <a:cs typeface="Arial" panose="020B0604020202020204" pitchFamily="34" charset="0"/>
              </a:rPr>
              <a:t>Improve online credibility and trust</a:t>
            </a:r>
          </a:p>
          <a:p>
            <a:pPr marL="342900" marR="0" lvl="0" indent="-342900">
              <a:lnSpc>
                <a:spcPct val="100000"/>
              </a:lnSpc>
              <a:spcBef>
                <a:spcPts val="1800"/>
              </a:spcBef>
              <a:spcAft>
                <a:spcPts val="0"/>
              </a:spcAft>
              <a:buFont typeface="Symbol" panose="05050102010706020507" pitchFamily="18" charset="2"/>
              <a:buChar char=""/>
            </a:pPr>
            <a:r>
              <a:rPr lang="en-US" sz="1600" dirty="0">
                <a:ea typeface="Cambria" panose="02040503050406030204" pitchFamily="18" charset="0"/>
                <a:cs typeface="Arial" panose="020B0604020202020204" pitchFamily="34" charset="0"/>
              </a:rPr>
              <a:t>Monitor your competitors</a:t>
            </a:r>
            <a:endParaRPr lang="en-US" sz="1600" dirty="0">
              <a:effectLst/>
              <a:latin typeface="Arial" panose="020B0604020202020204" pitchFamily="34" charset="0"/>
              <a:ea typeface="Cambria" panose="02040503050406030204" pitchFamily="18" charset="0"/>
            </a:endParaRPr>
          </a:p>
          <a:p>
            <a:pPr marL="342900" marR="0" lvl="0" indent="-342900">
              <a:lnSpc>
                <a:spcPct val="100000"/>
              </a:lnSpc>
              <a:spcBef>
                <a:spcPts val="1800"/>
              </a:spcBef>
              <a:spcAft>
                <a:spcPts val="0"/>
              </a:spcAft>
              <a:buFont typeface="Symbol" panose="05050102010706020507" pitchFamily="18" charset="2"/>
              <a:buChar char=""/>
            </a:pPr>
            <a:r>
              <a:rPr lang="en-US" sz="1600" dirty="0">
                <a:effectLst/>
                <a:latin typeface="Arial" panose="020B0604020202020204" pitchFamily="34" charset="0"/>
                <a:ea typeface="Cambria" panose="02040503050406030204" pitchFamily="18" charset="0"/>
                <a:cs typeface="Arial" panose="020B0604020202020204" pitchFamily="34" charset="0"/>
              </a:rPr>
              <a:t>Easily share testimonials online</a:t>
            </a:r>
            <a:endParaRPr lang="en-US" sz="1600" dirty="0">
              <a:effectLst/>
              <a:latin typeface="Arial" panose="020B0604020202020204" pitchFamily="34" charset="0"/>
              <a:ea typeface="Cambria" panose="02040503050406030204" pitchFamily="18" charset="0"/>
            </a:endParaRPr>
          </a:p>
          <a:p>
            <a:pPr marL="342900" marR="0" lvl="0" indent="-342900">
              <a:lnSpc>
                <a:spcPct val="100000"/>
              </a:lnSpc>
              <a:spcBef>
                <a:spcPts val="1800"/>
              </a:spcBef>
              <a:spcAft>
                <a:spcPts val="1000"/>
              </a:spcAft>
              <a:buFont typeface="Symbol" panose="05050102010706020507" pitchFamily="18" charset="2"/>
              <a:buChar char=""/>
            </a:pPr>
            <a:r>
              <a:rPr lang="en-US" sz="1600" dirty="0">
                <a:effectLst/>
                <a:latin typeface="Arial" panose="020B0604020202020204" pitchFamily="34" charset="0"/>
                <a:ea typeface="Cambria" panose="02040503050406030204" pitchFamily="18" charset="0"/>
                <a:cs typeface="Arial" panose="020B0604020202020204" pitchFamily="34" charset="0"/>
              </a:rPr>
              <a:t>Automate social posting</a:t>
            </a:r>
            <a:endParaRPr lang="en-US" sz="1600" dirty="0">
              <a:effectLst/>
              <a:latin typeface="Arial" panose="020B0604020202020204" pitchFamily="34" charset="0"/>
              <a:ea typeface="Cambria" panose="02040503050406030204" pitchFamily="18" charset="0"/>
            </a:endParaRPr>
          </a:p>
        </p:txBody>
      </p:sp>
      <p:grpSp>
        <p:nvGrpSpPr>
          <p:cNvPr id="14" name="Group 13">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5" name="Freeform: Shape 14">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16" name="Freeform: Shape 15">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17" name="Freeform: Shape 16">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18" name="Freeform: Shape 17">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grpSp>
      <p:pic>
        <p:nvPicPr>
          <p:cNvPr id="5" name="Picture 4" descr="Graphical user interface, application&#10;&#10;Description automatically generated">
            <a:extLst>
              <a:ext uri="{FF2B5EF4-FFF2-40B4-BE49-F238E27FC236}">
                <a16:creationId xmlns:a16="http://schemas.microsoft.com/office/drawing/2014/main" id="{9F95BC6D-1521-1A62-2F43-594381C2A3B1}"/>
              </a:ext>
            </a:extLst>
          </p:cNvPr>
          <p:cNvPicPr>
            <a:picLocks noChangeAspect="1"/>
          </p:cNvPicPr>
          <p:nvPr/>
        </p:nvPicPr>
        <p:blipFill rotWithShape="1">
          <a:blip r:embed="rId3">
            <a:extLst>
              <a:ext uri="{28A0092B-C50C-407E-A947-70E740481C1C}">
                <a14:useLocalDpi xmlns:a14="http://schemas.microsoft.com/office/drawing/2010/main" val="0"/>
              </a:ext>
            </a:extLst>
          </a:blip>
          <a:srcRect t="10559" b="16099"/>
          <a:stretch/>
        </p:blipFill>
        <p:spPr>
          <a:xfrm>
            <a:off x="7708392" y="2257006"/>
            <a:ext cx="4142232" cy="3038007"/>
          </a:xfrm>
          <a:prstGeom prst="rect">
            <a:avLst/>
          </a:prstGeom>
        </p:spPr>
      </p:pic>
      <p:sp>
        <p:nvSpPr>
          <p:cNvPr id="6" name="Title 1">
            <a:extLst>
              <a:ext uri="{FF2B5EF4-FFF2-40B4-BE49-F238E27FC236}">
                <a16:creationId xmlns:a16="http://schemas.microsoft.com/office/drawing/2014/main" id="{C6F4B2F6-1299-CA17-A2EC-54FF9654EB06}"/>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i="0" dirty="0">
                <a:solidFill>
                  <a:srgbClr val="2CADB2"/>
                </a:solidFill>
                <a:effectLst/>
                <a:latin typeface="Arial" panose="020B0604020202020204" pitchFamily="34" charset="0"/>
                <a:cs typeface="Arial" panose="020B0604020202020204" pitchFamily="34" charset="0"/>
              </a:rPr>
              <a:t>Reviews Promoter</a:t>
            </a:r>
            <a:endParaRPr lang="en-US" sz="3200" b="1" dirty="0">
              <a:solidFill>
                <a:srgbClr val="2CADB2"/>
              </a:solidFill>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F18023ED-D6BF-7B75-32B0-08DD8CA39B1B}"/>
              </a:ext>
            </a:extLst>
          </p:cNvPr>
          <p:cNvSpPr txBox="1"/>
          <p:nvPr/>
        </p:nvSpPr>
        <p:spPr>
          <a:xfrm>
            <a:off x="838199" y="1654767"/>
            <a:ext cx="4980040" cy="830997"/>
          </a:xfrm>
          <a:prstGeom prst="rect">
            <a:avLst/>
          </a:prstGeom>
          <a:noFill/>
        </p:spPr>
        <p:txBody>
          <a:bodyPr wrap="square">
            <a:spAutoFit/>
          </a:bodyPr>
          <a:lstStyle/>
          <a:p>
            <a:r>
              <a:rPr lang="en-US" sz="1600" b="1" dirty="0">
                <a:latin typeface="Arial" panose="020B0604020202020204" pitchFamily="34" charset="0"/>
                <a:cs typeface="Arial" panose="020B0604020202020204" pitchFamily="34" charset="0"/>
              </a:rPr>
              <a:t>Review collection, review response, social media engagement, social media content, and competitor intelligence.</a:t>
            </a:r>
          </a:p>
        </p:txBody>
      </p:sp>
    </p:spTree>
    <p:extLst>
      <p:ext uri="{BB962C8B-B14F-4D97-AF65-F5344CB8AC3E}">
        <p14:creationId xmlns:p14="http://schemas.microsoft.com/office/powerpoint/2010/main" val="1245139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1">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20" name="Freeform: Shape 13">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Arial" panose="020B0604020202020204" pitchFamily="34" charset="0"/>
            </a:endParaRPr>
          </a:p>
        </p:txBody>
      </p:sp>
      <p:sp>
        <p:nvSpPr>
          <p:cNvPr id="2" name="Title 1">
            <a:extLst>
              <a:ext uri="{FF2B5EF4-FFF2-40B4-BE49-F238E27FC236}">
                <a16:creationId xmlns:a16="http://schemas.microsoft.com/office/drawing/2014/main" id="{0045988D-9CB0-43D9-323F-CDD5BA7AA567}"/>
              </a:ext>
            </a:extLst>
          </p:cNvPr>
          <p:cNvSpPr txBox="1">
            <a:spLocks/>
          </p:cNvSpPr>
          <p:nvPr/>
        </p:nvSpPr>
        <p:spPr>
          <a:xfrm>
            <a:off x="838200" y="609600"/>
            <a:ext cx="3739341" cy="133083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3200" b="1" kern="1200" dirty="0">
                <a:solidFill>
                  <a:srgbClr val="2CADB2"/>
                </a:solidFill>
                <a:effectLst/>
                <a:latin typeface="Arial" panose="020B0604020202020204" pitchFamily="34" charset="0"/>
                <a:ea typeface="+mj-ea"/>
                <a:cs typeface="+mj-cs"/>
              </a:rPr>
              <a:t>Get 5-Star Reviews </a:t>
            </a:r>
            <a:endParaRPr lang="en-US" sz="3200" b="1" kern="1200" dirty="0">
              <a:solidFill>
                <a:srgbClr val="2CADB2"/>
              </a:solidFill>
              <a:latin typeface="Arial" panose="020B0604020202020204" pitchFamily="34" charset="0"/>
              <a:ea typeface="+mj-ea"/>
              <a:cs typeface="+mj-cs"/>
            </a:endParaRPr>
          </a:p>
        </p:txBody>
      </p:sp>
      <p:sp>
        <p:nvSpPr>
          <p:cNvPr id="6" name="TextBox 5">
            <a:extLst>
              <a:ext uri="{FF2B5EF4-FFF2-40B4-BE49-F238E27FC236}">
                <a16:creationId xmlns:a16="http://schemas.microsoft.com/office/drawing/2014/main" id="{4F45A191-89EB-1A99-1E7C-F8302FA9F1D2}"/>
              </a:ext>
            </a:extLst>
          </p:cNvPr>
          <p:cNvSpPr txBox="1"/>
          <p:nvPr/>
        </p:nvSpPr>
        <p:spPr>
          <a:xfrm>
            <a:off x="862366" y="2194102"/>
            <a:ext cx="3427001" cy="4385374"/>
          </a:xfrm>
          <a:prstGeom prst="rect">
            <a:avLst/>
          </a:prstGeom>
        </p:spPr>
        <p:txBody>
          <a:bodyPr vert="horz" lIns="91440" tIns="45720" rIns="91440" bIns="45720" rtlCol="0">
            <a:normAutofit/>
          </a:bodyPr>
          <a:lstStyle/>
          <a:p>
            <a:pPr marL="285750" indent="-228600">
              <a:lnSpc>
                <a:spcPct val="90000"/>
              </a:lnSpc>
              <a:spcBef>
                <a:spcPts val="600"/>
              </a:spcBef>
              <a:buFont typeface="Arial" panose="020B0604020202020204" pitchFamily="34" charset="0"/>
              <a:buChar char="•"/>
            </a:pPr>
            <a:r>
              <a:rPr lang="en-US" sz="1400" dirty="0">
                <a:latin typeface="Arial" panose="020B0604020202020204" pitchFamily="34" charset="0"/>
              </a:rPr>
              <a:t>Send SMS texts and/or emails to customers asking them to review your company/product/service</a:t>
            </a:r>
          </a:p>
          <a:p>
            <a:pPr marL="285750" indent="-228600">
              <a:lnSpc>
                <a:spcPct val="90000"/>
              </a:lnSpc>
              <a:spcBef>
                <a:spcPts val="600"/>
              </a:spcBef>
              <a:buFont typeface="Arial" panose="020B0604020202020204" pitchFamily="34" charset="0"/>
              <a:buChar char="•"/>
            </a:pPr>
            <a:r>
              <a:rPr lang="en-US" sz="1400" dirty="0">
                <a:latin typeface="Arial" panose="020B0604020202020204" pitchFamily="34" charset="0"/>
              </a:rPr>
              <a:t>Send review requests in bulk by uploading a customer list</a:t>
            </a:r>
          </a:p>
          <a:p>
            <a:pPr marL="285750" indent="-228600">
              <a:lnSpc>
                <a:spcPct val="90000"/>
              </a:lnSpc>
              <a:spcBef>
                <a:spcPts val="600"/>
              </a:spcBef>
              <a:buFont typeface="Arial" panose="020B0604020202020204" pitchFamily="34" charset="0"/>
              <a:buChar char="•"/>
            </a:pPr>
            <a:r>
              <a:rPr lang="en-US" sz="1400" dirty="0">
                <a:latin typeface="Arial" panose="020B0604020202020204" pitchFamily="34" charset="0"/>
              </a:rPr>
              <a:t>Set up automated texts and/or emails to be sent out upon successful payment if the payment system is integrated with Zapier</a:t>
            </a:r>
          </a:p>
          <a:p>
            <a:pPr marL="285750" indent="-228600">
              <a:lnSpc>
                <a:spcPct val="90000"/>
              </a:lnSpc>
              <a:spcBef>
                <a:spcPts val="600"/>
              </a:spcBef>
              <a:buFont typeface="Arial" panose="020B0604020202020204" pitchFamily="34" charset="0"/>
              <a:buChar char="•"/>
            </a:pPr>
            <a:r>
              <a:rPr lang="en-US" sz="1400" dirty="0">
                <a:latin typeface="Arial" panose="020B0604020202020204" pitchFamily="34" charset="0"/>
              </a:rPr>
              <a:t>Set up automatic sharing of a single review to multiple social platforms based on rules</a:t>
            </a:r>
          </a:p>
          <a:p>
            <a:pPr marL="285750" indent="-228600">
              <a:lnSpc>
                <a:spcPct val="90000"/>
              </a:lnSpc>
              <a:spcBef>
                <a:spcPts val="600"/>
              </a:spcBef>
              <a:buFont typeface="Arial" panose="020B0604020202020204" pitchFamily="34" charset="0"/>
              <a:buChar char="•"/>
            </a:pPr>
            <a:r>
              <a:rPr lang="en-US" sz="1400" dirty="0">
                <a:latin typeface="Arial" panose="020B0604020202020204" pitchFamily="34" charset="0"/>
              </a:rPr>
              <a:t>Easy-to-use visual customizer for SMS text and email</a:t>
            </a:r>
          </a:p>
          <a:p>
            <a:pPr marL="285750" indent="-228600">
              <a:lnSpc>
                <a:spcPct val="90000"/>
              </a:lnSpc>
              <a:spcBef>
                <a:spcPts val="600"/>
              </a:spcBef>
              <a:buFont typeface="Arial" panose="020B0604020202020204" pitchFamily="34" charset="0"/>
              <a:buChar char="•"/>
            </a:pPr>
            <a:r>
              <a:rPr lang="en-US" sz="1400" dirty="0">
                <a:latin typeface="Arial" panose="020B0604020202020204" pitchFamily="34" charset="0"/>
              </a:rPr>
              <a:t>Easily view your published reviews within the service reviews section of your dashboard</a:t>
            </a:r>
          </a:p>
          <a:p>
            <a:pPr marL="285750" indent="-228600">
              <a:lnSpc>
                <a:spcPct val="90000"/>
              </a:lnSpc>
              <a:spcBef>
                <a:spcPts val="600"/>
              </a:spcBef>
              <a:buFont typeface="Arial" panose="020B0604020202020204" pitchFamily="34" charset="0"/>
              <a:buChar char="•"/>
            </a:pPr>
            <a:r>
              <a:rPr lang="en-US" sz="1400" dirty="0">
                <a:latin typeface="Arial" panose="020B0604020202020204" pitchFamily="34" charset="0"/>
              </a:rPr>
              <a:t>Simple and intuitive user interface</a:t>
            </a:r>
          </a:p>
        </p:txBody>
      </p:sp>
      <p:pic>
        <p:nvPicPr>
          <p:cNvPr id="7" name="Picture 6">
            <a:extLst>
              <a:ext uri="{FF2B5EF4-FFF2-40B4-BE49-F238E27FC236}">
                <a16:creationId xmlns:a16="http://schemas.microsoft.com/office/drawing/2014/main" id="{F3A4754C-4BD4-EE85-CE99-66912B742A72}"/>
              </a:ext>
            </a:extLst>
          </p:cNvPr>
          <p:cNvPicPr>
            <a:picLocks noChangeAspect="1"/>
          </p:cNvPicPr>
          <p:nvPr/>
        </p:nvPicPr>
        <p:blipFill>
          <a:blip r:embed="rId2"/>
          <a:stretch>
            <a:fillRect/>
          </a:stretch>
        </p:blipFill>
        <p:spPr>
          <a:xfrm>
            <a:off x="5445457" y="1394286"/>
            <a:ext cx="6155141" cy="4093169"/>
          </a:xfrm>
          <a:prstGeom prst="rect">
            <a:avLst/>
          </a:prstGeom>
        </p:spPr>
      </p:pic>
      <p:sp>
        <p:nvSpPr>
          <p:cNvPr id="4" name="Title 1">
            <a:extLst>
              <a:ext uri="{FF2B5EF4-FFF2-40B4-BE49-F238E27FC236}">
                <a16:creationId xmlns:a16="http://schemas.microsoft.com/office/drawing/2014/main" id="{FACAC4FE-4067-90CC-4804-FD259EA62B79}"/>
              </a:ext>
            </a:extLst>
          </p:cNvPr>
          <p:cNvSpPr txBox="1">
            <a:spLocks/>
          </p:cNvSpPr>
          <p:nvPr/>
        </p:nvSpPr>
        <p:spPr>
          <a:xfrm>
            <a:off x="804672" y="802955"/>
            <a:ext cx="4766330" cy="14540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3600" b="1" dirty="0">
              <a:solidFill>
                <a:schemeClr val="tx2"/>
              </a:solidFill>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1836893"/>
            <a:ext cx="4765949" cy="335347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lvl="0" indent="0">
              <a:spcBef>
                <a:spcPts val="600"/>
              </a:spcBef>
              <a:spcAft>
                <a:spcPts val="600"/>
              </a:spcAft>
              <a:buSzPts val="800"/>
              <a:buNone/>
            </a:pPr>
            <a:endParaRPr lang="en-US" sz="1300" dirty="0">
              <a:latin typeface="Arial" panose="020B0604020202020204" pitchFamily="34"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3210314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2421683"/>
            <a:ext cx="4765949" cy="335347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lvl="0" indent="0">
              <a:spcBef>
                <a:spcPts val="600"/>
              </a:spcBef>
              <a:spcAft>
                <a:spcPts val="600"/>
              </a:spcAft>
              <a:buSzPts val="800"/>
              <a:buNone/>
            </a:pPr>
            <a:endParaRPr lang="en-US" sz="1300" dirty="0">
              <a:latin typeface="Arial" panose="020B0604020202020204" pitchFamily="34" charset="0"/>
              <a:ea typeface="Cambria" panose="02040503050406030204" pitchFamily="18" charset="0"/>
              <a:cs typeface="Arial" panose="020B0604020202020204" pitchFamily="34" charset="0"/>
            </a:endParaRPr>
          </a:p>
        </p:txBody>
      </p:sp>
      <p:sp>
        <p:nvSpPr>
          <p:cNvPr id="3" name="TextBox 2">
            <a:extLst>
              <a:ext uri="{FF2B5EF4-FFF2-40B4-BE49-F238E27FC236}">
                <a16:creationId xmlns:a16="http://schemas.microsoft.com/office/drawing/2014/main" id="{45E1B33E-87FB-ACC4-2056-67A29AB43D15}"/>
              </a:ext>
            </a:extLst>
          </p:cNvPr>
          <p:cNvSpPr txBox="1"/>
          <p:nvPr/>
        </p:nvSpPr>
        <p:spPr>
          <a:xfrm>
            <a:off x="804672" y="1690688"/>
            <a:ext cx="6096000" cy="3046988"/>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Consolidated view of all reviews and social media posts from multiple networks</a:t>
            </a:r>
          </a:p>
          <a:p>
            <a:pPr marL="285750"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Easily respond to reviews and posts</a:t>
            </a:r>
          </a:p>
          <a:p>
            <a:pPr marL="285750"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Sentiment analysis on a “Happiness Meter” provides an overall score across all networks for customer satisfaction</a:t>
            </a:r>
          </a:p>
          <a:p>
            <a:pPr marL="285750"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Filter views based on sentiment analysis and/or social networks</a:t>
            </a:r>
          </a:p>
          <a:p>
            <a:pPr marL="285750"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Automated notifications for new reviews and posts. </a:t>
            </a:r>
          </a:p>
        </p:txBody>
      </p:sp>
      <p:sp>
        <p:nvSpPr>
          <p:cNvPr id="10" name="Title 1">
            <a:extLst>
              <a:ext uri="{FF2B5EF4-FFF2-40B4-BE49-F238E27FC236}">
                <a16:creationId xmlns:a16="http://schemas.microsoft.com/office/drawing/2014/main" id="{18137FAD-738F-B0BF-6DFA-98E30C1BC6A6}"/>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2CADB2"/>
                </a:solidFill>
                <a:effectLst/>
                <a:latin typeface="Arial" panose="020B0604020202020204" pitchFamily="34" charset="0"/>
                <a:ea typeface="MS Mincho" panose="02020609040205080304" pitchFamily="49" charset="-128"/>
              </a:rPr>
              <a:t>Reputation Manager</a:t>
            </a:r>
            <a:endParaRPr lang="en-US" sz="3200" b="1" dirty="0">
              <a:solidFill>
                <a:schemeClr val="tx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62809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FE52B0C-64AC-4E7D-8D50-A584051FC1C9}"/>
              </a:ext>
            </a:extLst>
          </p:cNvPr>
          <p:cNvPicPr>
            <a:picLocks noChangeAspect="1"/>
          </p:cNvPicPr>
          <p:nvPr/>
        </p:nvPicPr>
        <p:blipFill rotWithShape="1">
          <a:blip r:embed="rId2">
            <a:duotone>
              <a:schemeClr val="bg2">
                <a:shade val="45000"/>
                <a:satMod val="135000"/>
              </a:schemeClr>
              <a:prstClr val="white"/>
            </a:duotone>
          </a:blip>
          <a:srcRect t="8537"/>
          <a:stretch/>
        </p:blipFill>
        <p:spPr>
          <a:xfrm>
            <a:off x="20" y="10"/>
            <a:ext cx="12191980" cy="6857990"/>
          </a:xfrm>
          <a:prstGeom prst="rect">
            <a:avLst/>
          </a:prstGeom>
        </p:spPr>
      </p:pic>
      <p:sp>
        <p:nvSpPr>
          <p:cNvPr id="13" name="Rectangle 12">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6" name="Title 1">
            <a:extLst>
              <a:ext uri="{FF2B5EF4-FFF2-40B4-BE49-F238E27FC236}">
                <a16:creationId xmlns:a16="http://schemas.microsoft.com/office/drawing/2014/main" id="{25269506-0E4A-04CE-D77E-BD2927928566}"/>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sz="3200" b="1" dirty="0">
                <a:solidFill>
                  <a:srgbClr val="2CADB2"/>
                </a:solidFill>
                <a:effectLst/>
                <a:latin typeface="Arial" panose="020B0604020202020204" pitchFamily="34" charset="0"/>
              </a:rPr>
              <a:t>Social Calendar</a:t>
            </a:r>
            <a:endParaRPr lang="en-US" sz="3200" b="1" dirty="0">
              <a:solidFill>
                <a:srgbClr val="2CADB2"/>
              </a:solidFill>
              <a:latin typeface="Arial" panose="020B0604020202020204" pitchFamily="34" charset="0"/>
            </a:endParaRPr>
          </a:p>
        </p:txBody>
      </p:sp>
      <p:sp>
        <p:nvSpPr>
          <p:cNvPr id="4" name="Title 1">
            <a:extLst>
              <a:ext uri="{FF2B5EF4-FFF2-40B4-BE49-F238E27FC236}">
                <a16:creationId xmlns:a16="http://schemas.microsoft.com/office/drawing/2014/main" id="{FACAC4FE-4067-90CC-4804-FD259EA62B79}"/>
              </a:ext>
            </a:extLst>
          </p:cNvPr>
          <p:cNvSpPr txBox="1">
            <a:spLocks/>
          </p:cNvSpPr>
          <p:nvPr/>
        </p:nvSpPr>
        <p:spPr>
          <a:xfrm>
            <a:off x="804672" y="802955"/>
            <a:ext cx="4766330" cy="14540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3600" b="1" dirty="0">
              <a:solidFill>
                <a:schemeClr val="tx2"/>
              </a:solidFill>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2421683"/>
            <a:ext cx="4765949" cy="335347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SzPts val="800"/>
              <a:buNone/>
            </a:pPr>
            <a:endParaRPr lang="en-US" sz="1300" dirty="0">
              <a:latin typeface="Arial" panose="020B0604020202020204" pitchFamily="34" charset="0"/>
              <a:ea typeface="Cambria" panose="02040503050406030204" pitchFamily="18" charset="0"/>
              <a:cs typeface="Arial" panose="020B0604020202020204" pitchFamily="34" charset="0"/>
            </a:endParaRPr>
          </a:p>
        </p:txBody>
      </p:sp>
      <p:graphicFrame>
        <p:nvGraphicFramePr>
          <p:cNvPr id="8" name="TextBox 2">
            <a:extLst>
              <a:ext uri="{FF2B5EF4-FFF2-40B4-BE49-F238E27FC236}">
                <a16:creationId xmlns:a16="http://schemas.microsoft.com/office/drawing/2014/main" id="{2C1721EC-2B65-00B1-B27F-CCEFF3BDC1EF}"/>
              </a:ext>
            </a:extLst>
          </p:cNvPr>
          <p:cNvGraphicFramePr/>
          <p:nvPr>
            <p:extLst>
              <p:ext uri="{D42A27DB-BD31-4B8C-83A1-F6EECF244321}">
                <p14:modId xmlns:p14="http://schemas.microsoft.com/office/powerpoint/2010/main" val="2462366842"/>
              </p:ext>
            </p:extLst>
          </p:nvPr>
        </p:nvGraphicFramePr>
        <p:xfrm>
          <a:off x="838200" y="1423821"/>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33189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ACAC4FE-4067-90CC-4804-FD259EA62B79}"/>
              </a:ext>
            </a:extLst>
          </p:cNvPr>
          <p:cNvSpPr txBox="1">
            <a:spLocks/>
          </p:cNvSpPr>
          <p:nvPr/>
        </p:nvSpPr>
        <p:spPr>
          <a:xfrm>
            <a:off x="804672" y="802955"/>
            <a:ext cx="4766330" cy="14540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3600" b="1" dirty="0">
              <a:solidFill>
                <a:schemeClr val="tx2"/>
              </a:solidFill>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2421683"/>
            <a:ext cx="4765949" cy="335347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SzPts val="800"/>
              <a:buNone/>
            </a:pPr>
            <a:endParaRPr lang="en-US" sz="1300" dirty="0">
              <a:latin typeface="Arial" panose="020B0604020202020204" pitchFamily="34" charset="0"/>
              <a:ea typeface="Cambria" panose="02040503050406030204" pitchFamily="18" charset="0"/>
              <a:cs typeface="Arial" panose="020B0604020202020204" pitchFamily="34" charset="0"/>
            </a:endParaRPr>
          </a:p>
        </p:txBody>
      </p:sp>
      <p:sp>
        <p:nvSpPr>
          <p:cNvPr id="6" name="Title 1">
            <a:extLst>
              <a:ext uri="{FF2B5EF4-FFF2-40B4-BE49-F238E27FC236}">
                <a16:creationId xmlns:a16="http://schemas.microsoft.com/office/drawing/2014/main" id="{25269506-0E4A-04CE-D77E-BD2927928566}"/>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2CADB2"/>
                </a:solidFill>
                <a:latin typeface="Arial"/>
                <a:ea typeface="MS Mincho"/>
                <a:cs typeface="Arial"/>
              </a:rPr>
              <a:t>Competition Tracker</a:t>
            </a:r>
            <a:endParaRPr lang="en-US" dirty="0">
              <a:latin typeface="Arial" panose="020B0604020202020204" pitchFamily="34" charset="0"/>
            </a:endParaRPr>
          </a:p>
        </p:txBody>
      </p:sp>
      <p:sp>
        <p:nvSpPr>
          <p:cNvPr id="2" name="Content Placeholder 2">
            <a:extLst>
              <a:ext uri="{FF2B5EF4-FFF2-40B4-BE49-F238E27FC236}">
                <a16:creationId xmlns:a16="http://schemas.microsoft.com/office/drawing/2014/main" id="{9D834D37-DB1C-1340-B62D-C85A100A8E33}"/>
              </a:ext>
            </a:extLst>
          </p:cNvPr>
          <p:cNvSpPr txBox="1">
            <a:spLocks/>
          </p:cNvSpPr>
          <p:nvPr/>
        </p:nvSpPr>
        <p:spPr>
          <a:xfrm>
            <a:off x="804672" y="1847524"/>
            <a:ext cx="4765949" cy="44770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54610">
              <a:spcBef>
                <a:spcPts val="600"/>
              </a:spcBef>
              <a:spcAft>
                <a:spcPts val="600"/>
              </a:spcAft>
              <a:buSzPct val="100000"/>
            </a:pPr>
            <a:r>
              <a:rPr lang="en-US" sz="1600" dirty="0">
                <a:latin typeface="Arial" panose="020B0604020202020204" pitchFamily="34" charset="0"/>
                <a:cs typeface="Arial" panose="020B0604020202020204" pitchFamily="34" charset="0"/>
              </a:rPr>
              <a:t>Monitor and track what customers are saying about competitors online. </a:t>
            </a:r>
          </a:p>
          <a:p>
            <a:pPr marR="54610">
              <a:spcBef>
                <a:spcPts val="600"/>
              </a:spcBef>
              <a:spcAft>
                <a:spcPts val="600"/>
              </a:spcAft>
              <a:buSzPct val="100000"/>
            </a:pPr>
            <a:r>
              <a:rPr lang="en-US" sz="1600" dirty="0">
                <a:latin typeface="Arial" panose="020B0604020202020204" pitchFamily="34" charset="0"/>
                <a:cs typeface="Arial" panose="020B0604020202020204" pitchFamily="34" charset="0"/>
              </a:rPr>
              <a:t>Gather intelligence to help build competitive offerings and promotions. </a:t>
            </a:r>
          </a:p>
          <a:p>
            <a:pPr marR="54610">
              <a:spcBef>
                <a:spcPts val="600"/>
              </a:spcBef>
              <a:spcAft>
                <a:spcPts val="600"/>
              </a:spcAft>
              <a:buSzPct val="100000"/>
            </a:pPr>
            <a:r>
              <a:rPr lang="en-US" sz="1600" dirty="0">
                <a:latin typeface="Arial" panose="020B0604020202020204" pitchFamily="34" charset="0"/>
                <a:cs typeface="Arial" panose="020B0604020202020204" pitchFamily="34" charset="0"/>
              </a:rPr>
              <a:t>Sentiment analysis of a “Happiness Meter” provides an overall score across all networks for each competitor.</a:t>
            </a:r>
          </a:p>
          <a:p>
            <a:pPr marR="54610">
              <a:spcBef>
                <a:spcPts val="600"/>
              </a:spcBef>
              <a:spcAft>
                <a:spcPts val="600"/>
              </a:spcAft>
              <a:buSzPct val="100000"/>
            </a:pPr>
            <a:r>
              <a:rPr lang="en-US" sz="1600" dirty="0">
                <a:latin typeface="Arial" panose="020B0604020202020204" pitchFamily="34" charset="0"/>
                <a:cs typeface="Arial" panose="020B0604020202020204" pitchFamily="34" charset="0"/>
              </a:rPr>
              <a:t>Filter views based on sentiment analysis, selected competitors, and/or social networks.</a:t>
            </a:r>
          </a:p>
        </p:txBody>
      </p:sp>
      <p:pic>
        <p:nvPicPr>
          <p:cNvPr id="3" name="Picture 2">
            <a:extLst>
              <a:ext uri="{FF2B5EF4-FFF2-40B4-BE49-F238E27FC236}">
                <a16:creationId xmlns:a16="http://schemas.microsoft.com/office/drawing/2014/main" id="{40DBF07E-8CBD-68C2-97CD-DC3F50FB504D}"/>
              </a:ext>
            </a:extLst>
          </p:cNvPr>
          <p:cNvPicPr>
            <a:picLocks noChangeAspect="1"/>
          </p:cNvPicPr>
          <p:nvPr/>
        </p:nvPicPr>
        <p:blipFill>
          <a:blip r:embed="rId2"/>
          <a:stretch>
            <a:fillRect/>
          </a:stretch>
        </p:blipFill>
        <p:spPr>
          <a:xfrm>
            <a:off x="6096000" y="1529980"/>
            <a:ext cx="5759450" cy="3554730"/>
          </a:xfrm>
          <a:prstGeom prst="rect">
            <a:avLst/>
          </a:prstGeom>
          <a:ln>
            <a:solidFill>
              <a:schemeClr val="bg1">
                <a:lumMod val="95000"/>
              </a:schemeClr>
            </a:solidFill>
          </a:ln>
        </p:spPr>
      </p:pic>
    </p:spTree>
    <p:extLst>
      <p:ext uri="{BB962C8B-B14F-4D97-AF65-F5344CB8AC3E}">
        <p14:creationId xmlns:p14="http://schemas.microsoft.com/office/powerpoint/2010/main" val="17502239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ACAC4FE-4067-90CC-4804-FD259EA62B79}"/>
              </a:ext>
            </a:extLst>
          </p:cNvPr>
          <p:cNvSpPr txBox="1">
            <a:spLocks/>
          </p:cNvSpPr>
          <p:nvPr/>
        </p:nvSpPr>
        <p:spPr>
          <a:xfrm>
            <a:off x="804672" y="802955"/>
            <a:ext cx="4766330" cy="145405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3600" b="1" dirty="0">
              <a:solidFill>
                <a:srgbClr val="2CADB2"/>
              </a:solidFill>
              <a:latin typeface="Arial" panose="020B0604020202020204" pitchFamily="34" charset="0"/>
              <a:cs typeface="Arial" panose="020B0604020202020204" pitchFamily="34" charset="0"/>
            </a:endParaRPr>
          </a:p>
        </p:txBody>
      </p:sp>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1847525"/>
            <a:ext cx="5734352" cy="335347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60000"/>
              </a:lnSpc>
              <a:spcBef>
                <a:spcPts val="0"/>
              </a:spcBef>
              <a:buNone/>
            </a:pPr>
            <a:r>
              <a:rPr lang="en-US" sz="1400" b="1" dirty="0">
                <a:latin typeface="Arial"/>
                <a:ea typeface="Cambria"/>
                <a:cs typeface="Arial"/>
              </a:rPr>
              <a:t>- Facebook Reviews - Google Reviews - Foursquare Reviews - Yelp  - Instagram - Angie’s List - TripAdvisor - Trustpilot - Open Table  - Houzz - Manta - Wedding Wire - Rate MDs - Realtor.com - </a:t>
            </a:r>
            <a:r>
              <a:rPr lang="en-US" sz="1400" b="1" dirty="0" err="1">
                <a:latin typeface="Arial"/>
                <a:ea typeface="Cambria"/>
                <a:cs typeface="Arial"/>
              </a:rPr>
              <a:t>Cylex</a:t>
            </a:r>
            <a:r>
              <a:rPr lang="en-US" sz="1400" b="1" dirty="0">
                <a:latin typeface="Arial"/>
                <a:ea typeface="Cambria"/>
                <a:cs typeface="Arial"/>
              </a:rPr>
              <a:t>  - The Knot - Yellow Pages - Consumer Affairs - </a:t>
            </a:r>
            <a:r>
              <a:rPr lang="en-US" sz="1400" b="1" dirty="0" err="1">
                <a:latin typeface="Arial"/>
                <a:ea typeface="Cambria"/>
                <a:cs typeface="Arial"/>
              </a:rPr>
              <a:t>ZocDoc</a:t>
            </a:r>
            <a:r>
              <a:rPr lang="en-US" sz="1400" b="1" dirty="0">
                <a:latin typeface="Arial"/>
                <a:ea typeface="Cambria"/>
                <a:cs typeface="Arial"/>
              </a:rPr>
              <a:t> – Zillow – Trulia</a:t>
            </a:r>
            <a:endParaRPr lang="en-US" dirty="0">
              <a:latin typeface="Arial" panose="020B0604020202020204" pitchFamily="34" charset="0"/>
            </a:endParaRPr>
          </a:p>
          <a:p>
            <a:pPr marL="0" indent="0">
              <a:lnSpc>
                <a:spcPct val="160000"/>
              </a:lnSpc>
              <a:spcBef>
                <a:spcPts val="0"/>
              </a:spcBef>
              <a:buNone/>
            </a:pPr>
            <a:endParaRPr lang="en-US" sz="1400" b="1" dirty="0">
              <a:latin typeface="Arial" panose="020B0604020202020204" pitchFamily="34" charset="0"/>
              <a:ea typeface="Cambria" panose="02040503050406030204" pitchFamily="18" charset="0"/>
              <a:cs typeface="Arial" panose="020B0604020202020204" pitchFamily="34" charset="0"/>
            </a:endParaRPr>
          </a:p>
          <a:p>
            <a:pPr marL="0" indent="0">
              <a:lnSpc>
                <a:spcPct val="160000"/>
              </a:lnSpc>
              <a:spcBef>
                <a:spcPts val="0"/>
              </a:spcBef>
              <a:buNone/>
            </a:pPr>
            <a:endParaRPr lang="en-US" sz="1400" b="1" dirty="0">
              <a:latin typeface="Arial" panose="020B0604020202020204" pitchFamily="34" charset="0"/>
              <a:ea typeface="Cambria" panose="02040503050406030204" pitchFamily="18" charset="0"/>
              <a:cs typeface="Arial" panose="020B0604020202020204" pitchFamily="34" charset="0"/>
            </a:endParaRPr>
          </a:p>
          <a:p>
            <a:pPr marL="0" indent="0">
              <a:lnSpc>
                <a:spcPct val="160000"/>
              </a:lnSpc>
              <a:spcBef>
                <a:spcPts val="0"/>
              </a:spcBef>
              <a:buNone/>
            </a:pPr>
            <a:r>
              <a:rPr lang="en-US" sz="1100" i="1" dirty="0">
                <a:latin typeface="Arial" panose="020B0604020202020204" pitchFamily="34" charset="0"/>
                <a:ea typeface="+mn-lt"/>
                <a:cs typeface="Arial" panose="020B0604020202020204" pitchFamily="34" charset="0"/>
              </a:rPr>
              <a:t>Disclaimer: The supported channels may change at anytime and without prior notice. </a:t>
            </a:r>
            <a:endParaRPr lang="en-US" sz="1100" b="1" i="1" dirty="0">
              <a:latin typeface="Arial" panose="020B0604020202020204" pitchFamily="34" charset="0"/>
              <a:ea typeface="+mn-lt"/>
              <a:cs typeface="Arial" panose="020B0604020202020204" pitchFamily="34" charset="0"/>
            </a:endParaRPr>
          </a:p>
        </p:txBody>
      </p:sp>
      <p:sp>
        <p:nvSpPr>
          <p:cNvPr id="6" name="Title 1">
            <a:extLst>
              <a:ext uri="{FF2B5EF4-FFF2-40B4-BE49-F238E27FC236}">
                <a16:creationId xmlns:a16="http://schemas.microsoft.com/office/drawing/2014/main" id="{2D3FF557-7AE1-839B-63BC-956F4DF24B5D}"/>
              </a:ext>
            </a:extLst>
          </p:cNvPr>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solidFill>
                  <a:srgbClr val="2CADB2"/>
                </a:solidFill>
                <a:latin typeface="Arial" panose="020B0604020202020204" pitchFamily="34" charset="0"/>
                <a:cs typeface="Arial" panose="020B0604020202020204" pitchFamily="34" charset="0"/>
              </a:rPr>
              <a:t>Supported Channels</a:t>
            </a:r>
          </a:p>
        </p:txBody>
      </p:sp>
    </p:spTree>
    <p:extLst>
      <p:ext uri="{BB962C8B-B14F-4D97-AF65-F5344CB8AC3E}">
        <p14:creationId xmlns:p14="http://schemas.microsoft.com/office/powerpoint/2010/main" val="3464789348"/>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CADB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lstStyle/>
          <a:p>
            <a:r>
              <a:rPr lang="en-US" sz="4400" b="1">
                <a:solidFill>
                  <a:schemeClr val="bg1"/>
                </a:solidFill>
                <a:latin typeface="Arial" panose="020B0604020202020204" pitchFamily="34" charset="0"/>
                <a:cs typeface="Arial" panose="020B0604020202020204" pitchFamily="34" charset="0"/>
              </a:rPr>
              <a:t>How it works</a:t>
            </a:r>
            <a:endParaRPr lang="en-US">
              <a:solidFill>
                <a:schemeClr val="bg1"/>
              </a:solidFill>
            </a:endParaRPr>
          </a:p>
        </p:txBody>
      </p:sp>
    </p:spTree>
    <p:extLst>
      <p:ext uri="{BB962C8B-B14F-4D97-AF65-F5344CB8AC3E}">
        <p14:creationId xmlns:p14="http://schemas.microsoft.com/office/powerpoint/2010/main" val="983438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FAD79-696F-725E-91C7-FF7EF9C17F19}"/>
              </a:ext>
            </a:extLst>
          </p:cNvPr>
          <p:cNvSpPr>
            <a:spLocks noGrp="1"/>
          </p:cNvSpPr>
          <p:nvPr>
            <p:ph type="title"/>
          </p:nvPr>
        </p:nvSpPr>
        <p:spPr/>
        <p:txBody>
          <a:bodyPr>
            <a:normAutofit/>
          </a:bodyPr>
          <a:lstStyle/>
          <a:p>
            <a:r>
              <a:rPr lang="en-US" sz="2800" b="1">
                <a:solidFill>
                  <a:srgbClr val="2CADB2"/>
                </a:solidFill>
                <a:effectLst/>
                <a:latin typeface="Arial" panose="020B0604020202020204" pitchFamily="34" charset="0"/>
                <a:ea typeface="MS Mincho" panose="02020609040205080304" pitchFamily="49" charset="-128"/>
              </a:rPr>
              <a:t>First step is to connect social and review accounts</a:t>
            </a:r>
            <a:endParaRPr lang="en-US" sz="6000" b="1">
              <a:solidFill>
                <a:srgbClr val="2CADB2"/>
              </a:solidFill>
            </a:endParaRPr>
          </a:p>
        </p:txBody>
      </p:sp>
      <p:pic>
        <p:nvPicPr>
          <p:cNvPr id="4" name="Content Placeholder 3">
            <a:extLst>
              <a:ext uri="{FF2B5EF4-FFF2-40B4-BE49-F238E27FC236}">
                <a16:creationId xmlns:a16="http://schemas.microsoft.com/office/drawing/2014/main" id="{D5A4C975-3805-B488-EEB3-7767D3DDCE64}"/>
              </a:ext>
            </a:extLst>
          </p:cNvPr>
          <p:cNvPicPr>
            <a:picLocks noGrp="1" noChangeAspect="1"/>
          </p:cNvPicPr>
          <p:nvPr>
            <p:ph idx="1"/>
          </p:nvPr>
        </p:nvPicPr>
        <p:blipFill>
          <a:blip r:embed="rId2"/>
          <a:stretch>
            <a:fillRect/>
          </a:stretch>
        </p:blipFill>
        <p:spPr>
          <a:xfrm>
            <a:off x="3751212" y="1825625"/>
            <a:ext cx="7602588" cy="4351338"/>
          </a:xfrm>
          <a:prstGeom prst="rect">
            <a:avLst/>
          </a:prstGeom>
          <a:ln>
            <a:solidFill>
              <a:schemeClr val="bg1">
                <a:lumMod val="95000"/>
              </a:schemeClr>
            </a:solidFill>
          </a:ln>
        </p:spPr>
      </p:pic>
      <p:sp>
        <p:nvSpPr>
          <p:cNvPr id="5" name="Content Placeholder 2">
            <a:extLst>
              <a:ext uri="{FF2B5EF4-FFF2-40B4-BE49-F238E27FC236}">
                <a16:creationId xmlns:a16="http://schemas.microsoft.com/office/drawing/2014/main" id="{1D8B62A5-CAF7-DA8F-08AD-5FAC2C84E8EB}"/>
              </a:ext>
            </a:extLst>
          </p:cNvPr>
          <p:cNvSpPr txBox="1">
            <a:spLocks/>
          </p:cNvSpPr>
          <p:nvPr/>
        </p:nvSpPr>
        <p:spPr>
          <a:xfrm>
            <a:off x="804672" y="1847525"/>
            <a:ext cx="2821030" cy="3353476"/>
          </a:xfrm>
          <a:prstGeom prst="rect">
            <a:avLst/>
          </a:prstGeom>
        </p:spPr>
        <p:txBody>
          <a:bodyPr vert="horz" lIns="91440" tIns="45720" rIns="91440" bIns="45720" rtlCol="0" anchor="t">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60000"/>
              </a:lnSpc>
              <a:spcBef>
                <a:spcPts val="0"/>
              </a:spcBef>
              <a:buNone/>
            </a:pPr>
            <a:r>
              <a:rPr lang="en-US" sz="1800">
                <a:effectLst/>
                <a:latin typeface="Arial" panose="020B0604020202020204" pitchFamily="34" charset="0"/>
                <a:ea typeface="MS Mincho" panose="02020609040205080304" pitchFamily="49" charset="-128"/>
              </a:rPr>
              <a:t>Connecting accounts will allow customers to request reviews, get review and post notifications, respond to reviews and post to social accounts all through the Reviews Promoter dashboard. Connect all relevant accounts to maximize impact.</a:t>
            </a:r>
            <a:endParaRPr lang="en-US" sz="1400" b="1">
              <a:latin typeface="Arial" panose="020B0604020202020204" pitchFamily="34" charset="0"/>
              <a:ea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10195863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FAD79-696F-725E-91C7-FF7EF9C17F19}"/>
              </a:ext>
            </a:extLst>
          </p:cNvPr>
          <p:cNvSpPr>
            <a:spLocks noGrp="1"/>
          </p:cNvSpPr>
          <p:nvPr>
            <p:ph type="title"/>
          </p:nvPr>
        </p:nvSpPr>
        <p:spPr/>
        <p:txBody>
          <a:bodyPr>
            <a:normAutofit/>
          </a:bodyPr>
          <a:lstStyle/>
          <a:p>
            <a:r>
              <a:rPr lang="en-US" sz="2800" b="1">
                <a:solidFill>
                  <a:srgbClr val="2CADB2"/>
                </a:solidFill>
                <a:effectLst/>
                <a:latin typeface="Arial" panose="020B0604020202020204" pitchFamily="34" charset="0"/>
                <a:ea typeface="MS Mincho" panose="02020609040205080304" pitchFamily="49" charset="-128"/>
              </a:rPr>
              <a:t>Dashboard </a:t>
            </a:r>
            <a:r>
              <a:rPr lang="en-US" sz="2800" b="1">
                <a:solidFill>
                  <a:srgbClr val="2CADB2"/>
                </a:solidFill>
                <a:latin typeface="Arial" panose="020B0604020202020204" pitchFamily="34" charset="0"/>
                <a:ea typeface="MS Mincho" panose="02020609040205080304" pitchFamily="49" charset="-128"/>
              </a:rPr>
              <a:t>that </a:t>
            </a:r>
            <a:r>
              <a:rPr lang="en-US" sz="2800" b="1">
                <a:solidFill>
                  <a:srgbClr val="2CADB2"/>
                </a:solidFill>
                <a:effectLst/>
                <a:latin typeface="Arial" panose="020B0604020202020204" pitchFamily="34" charset="0"/>
                <a:ea typeface="MS Mincho" panose="02020609040205080304" pitchFamily="49" charset="-128"/>
              </a:rPr>
              <a:t>puts everything you need right at your fingertips</a:t>
            </a:r>
            <a:endParaRPr lang="en-US" sz="6000" b="1">
              <a:solidFill>
                <a:srgbClr val="2CADB2"/>
              </a:solidFill>
            </a:endParaRPr>
          </a:p>
        </p:txBody>
      </p:sp>
      <p:pic>
        <p:nvPicPr>
          <p:cNvPr id="7" name="Picture 6">
            <a:extLst>
              <a:ext uri="{FF2B5EF4-FFF2-40B4-BE49-F238E27FC236}">
                <a16:creationId xmlns:a16="http://schemas.microsoft.com/office/drawing/2014/main" id="{C37EF475-FF1D-3370-E35E-242B02BFFE57}"/>
              </a:ext>
            </a:extLst>
          </p:cNvPr>
          <p:cNvPicPr>
            <a:picLocks noChangeAspect="1"/>
          </p:cNvPicPr>
          <p:nvPr/>
        </p:nvPicPr>
        <p:blipFill rotWithShape="1">
          <a:blip r:embed="rId2"/>
          <a:srcRect r="14801"/>
          <a:stretch/>
        </p:blipFill>
        <p:spPr>
          <a:xfrm>
            <a:off x="5029201" y="1796371"/>
            <a:ext cx="6026888" cy="4369918"/>
          </a:xfrm>
          <a:prstGeom prst="rect">
            <a:avLst/>
          </a:prstGeom>
          <a:ln>
            <a:solidFill>
              <a:schemeClr val="bg1">
                <a:lumMod val="95000"/>
              </a:schemeClr>
            </a:solidFill>
          </a:ln>
        </p:spPr>
      </p:pic>
      <p:sp>
        <p:nvSpPr>
          <p:cNvPr id="9" name="Content Placeholder 8">
            <a:extLst>
              <a:ext uri="{FF2B5EF4-FFF2-40B4-BE49-F238E27FC236}">
                <a16:creationId xmlns:a16="http://schemas.microsoft.com/office/drawing/2014/main" id="{3D039334-CE0F-0FBD-53E3-2F2811018D74}"/>
              </a:ext>
            </a:extLst>
          </p:cNvPr>
          <p:cNvSpPr>
            <a:spLocks noGrp="1"/>
          </p:cNvSpPr>
          <p:nvPr>
            <p:ph idx="1"/>
          </p:nvPr>
        </p:nvSpPr>
        <p:spPr>
          <a:xfrm>
            <a:off x="838200" y="1825625"/>
            <a:ext cx="3893288" cy="4351338"/>
          </a:xfrm>
        </p:spPr>
        <p:txBody>
          <a:bodyPr>
            <a:normAutofit/>
          </a:bodyPr>
          <a:lstStyle/>
          <a:p>
            <a:pPr>
              <a:lnSpc>
                <a:spcPct val="150000"/>
              </a:lnSpc>
            </a:pPr>
            <a:r>
              <a:rPr lang="en-US" sz="1500">
                <a:latin typeface="Arial" panose="020B0604020202020204" pitchFamily="34" charset="0"/>
                <a:ea typeface="MS Mincho" panose="02020609040205080304" pitchFamily="49" charset="-128"/>
              </a:rPr>
              <a:t>Customers can effortlessly access all of the features to enhance their online reputation and drive business growth. Say goodbye to the hassle of navigating multiple tools and platforms </a:t>
            </a:r>
          </a:p>
        </p:txBody>
      </p:sp>
    </p:spTree>
    <p:extLst>
      <p:ext uri="{BB962C8B-B14F-4D97-AF65-F5344CB8AC3E}">
        <p14:creationId xmlns:p14="http://schemas.microsoft.com/office/powerpoint/2010/main" val="37721584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FAD79-696F-725E-91C7-FF7EF9C17F19}"/>
              </a:ext>
            </a:extLst>
          </p:cNvPr>
          <p:cNvSpPr>
            <a:spLocks noGrp="1"/>
          </p:cNvSpPr>
          <p:nvPr>
            <p:ph type="title"/>
          </p:nvPr>
        </p:nvSpPr>
        <p:spPr/>
        <p:txBody>
          <a:bodyPr>
            <a:normAutofit/>
          </a:bodyPr>
          <a:lstStyle/>
          <a:p>
            <a:r>
              <a:rPr lang="en-US" sz="2800" b="1">
                <a:solidFill>
                  <a:srgbClr val="2CADB2"/>
                </a:solidFill>
                <a:effectLst/>
                <a:latin typeface="Arial" panose="020B0604020202020204" pitchFamily="34" charset="0"/>
                <a:ea typeface="MS Mincho" panose="02020609040205080304" pitchFamily="49" charset="-128"/>
              </a:rPr>
              <a:t>Benefits</a:t>
            </a:r>
            <a:endParaRPr lang="en-US" sz="6000" b="1">
              <a:solidFill>
                <a:srgbClr val="2CADB2"/>
              </a:solidFill>
            </a:endParaRPr>
          </a:p>
        </p:txBody>
      </p:sp>
      <p:sp>
        <p:nvSpPr>
          <p:cNvPr id="4" name="Content Placeholder 3">
            <a:extLst>
              <a:ext uri="{FF2B5EF4-FFF2-40B4-BE49-F238E27FC236}">
                <a16:creationId xmlns:a16="http://schemas.microsoft.com/office/drawing/2014/main" id="{5C3130C1-C1D2-5514-76F0-DDF764D06147}"/>
              </a:ext>
            </a:extLst>
          </p:cNvPr>
          <p:cNvSpPr>
            <a:spLocks noGrp="1"/>
          </p:cNvSpPr>
          <p:nvPr>
            <p:ph idx="1"/>
          </p:nvPr>
        </p:nvSpPr>
        <p:spPr>
          <a:xfrm>
            <a:off x="6096000" y="1297172"/>
            <a:ext cx="5823098" cy="4879791"/>
          </a:xfrm>
        </p:spPr>
        <p:txBody>
          <a:bodyPr vert="horz" lIns="91440" tIns="45720" rIns="91440" bIns="45720" rtlCol="0" anchor="t">
            <a:normAutofit/>
          </a:bodyPr>
          <a:lstStyle/>
          <a:p>
            <a:pPr marL="0" marR="54610" indent="0">
              <a:spcBef>
                <a:spcPts val="600"/>
              </a:spcBef>
              <a:spcAft>
                <a:spcPts val="600"/>
              </a:spcAft>
              <a:buNone/>
            </a:pPr>
            <a:r>
              <a:rPr lang="en-US" sz="1000">
                <a:solidFill>
                  <a:srgbClr val="000000"/>
                </a:solidFill>
                <a:effectLst/>
                <a:latin typeface="Arial"/>
                <a:ea typeface="MS Mincho"/>
                <a:cs typeface="Arial"/>
              </a:rPr>
              <a:t>Increase the number of online reviews b</a:t>
            </a:r>
            <a:r>
              <a:rPr lang="en-US" sz="1000">
                <a:effectLst/>
                <a:latin typeface="Arial"/>
                <a:ea typeface="MS Mincho"/>
                <a:cs typeface="Arial"/>
              </a:rPr>
              <a:t>y sending</a:t>
            </a:r>
            <a:r>
              <a:rPr lang="en-US" sz="1000">
                <a:solidFill>
                  <a:srgbClr val="000000"/>
                </a:solidFill>
                <a:effectLst/>
                <a:latin typeface="Arial"/>
                <a:ea typeface="MS Mincho"/>
                <a:cs typeface="Arial"/>
              </a:rPr>
              <a:t> requests </a:t>
            </a:r>
            <a:r>
              <a:rPr lang="en-US" sz="1000">
                <a:solidFill>
                  <a:srgbClr val="000000"/>
                </a:solidFill>
                <a:latin typeface="Arial"/>
                <a:ea typeface="MS Mincho"/>
                <a:cs typeface="Arial"/>
              </a:rPr>
              <a:t>to your customers</a:t>
            </a:r>
            <a:r>
              <a:rPr lang="en-US" sz="1000">
                <a:solidFill>
                  <a:srgbClr val="000000"/>
                </a:solidFill>
                <a:effectLst/>
                <a:latin typeface="Arial"/>
                <a:ea typeface="MS Mincho"/>
                <a:cs typeface="Arial"/>
              </a:rPr>
              <a:t> b</a:t>
            </a:r>
            <a:r>
              <a:rPr lang="en-US" sz="1000">
                <a:effectLst/>
                <a:latin typeface="Arial"/>
                <a:ea typeface="MS Mincho"/>
                <a:cs typeface="Arial"/>
              </a:rPr>
              <a:t>y</a:t>
            </a:r>
            <a:r>
              <a:rPr lang="en-US" sz="1000">
                <a:solidFill>
                  <a:srgbClr val="000000"/>
                </a:solidFill>
                <a:effectLst/>
                <a:latin typeface="Arial"/>
                <a:ea typeface="MS Mincho"/>
                <a:cs typeface="Arial"/>
              </a:rPr>
              <a:t> SMS texts and emails. </a:t>
            </a:r>
            <a:endParaRPr lang="en-US" sz="1000">
              <a:effectLst/>
              <a:latin typeface="Arial"/>
              <a:ea typeface="MS Mincho"/>
              <a:cs typeface="Arial"/>
            </a:endParaRPr>
          </a:p>
          <a:p>
            <a:pPr marL="0" marR="54610" indent="0">
              <a:spcBef>
                <a:spcPts val="600"/>
              </a:spcBef>
              <a:spcAft>
                <a:spcPts val="600"/>
              </a:spcAft>
              <a:buNone/>
            </a:pPr>
            <a:r>
              <a:rPr lang="en-US" sz="1000">
                <a:solidFill>
                  <a:srgbClr val="000000"/>
                </a:solidFill>
                <a:effectLst/>
                <a:latin typeface="Arial"/>
                <a:ea typeface="MS Mincho"/>
                <a:cs typeface="Arial"/>
              </a:rPr>
              <a:t>Customer reviews go a long way toward encouraging new prospects to try your business, plus they provide online content that helps your search engine ranking. </a:t>
            </a:r>
            <a:endParaRPr lang="en-US" sz="1000">
              <a:effectLst/>
              <a:latin typeface="Arial"/>
              <a:ea typeface="MS Mincho"/>
              <a:cs typeface="Arial"/>
            </a:endParaRPr>
          </a:p>
          <a:p>
            <a:pPr marL="0" marR="54610" indent="0">
              <a:spcBef>
                <a:spcPts val="600"/>
              </a:spcBef>
              <a:spcAft>
                <a:spcPts val="600"/>
              </a:spcAft>
              <a:buNone/>
            </a:pPr>
            <a:r>
              <a:rPr lang="en-US" sz="1000">
                <a:solidFill>
                  <a:srgbClr val="000000"/>
                </a:solidFill>
                <a:effectLst/>
                <a:latin typeface="Arial"/>
                <a:ea typeface="MS Mincho"/>
                <a:cs typeface="Arial"/>
              </a:rPr>
              <a:t>Easily embed real-time reviews on your company’s website. </a:t>
            </a:r>
            <a:endParaRPr lang="en-US" sz="1000">
              <a:effectLst/>
              <a:latin typeface="Arial"/>
              <a:ea typeface="MS Mincho"/>
              <a:cs typeface="Arial"/>
            </a:endParaRPr>
          </a:p>
          <a:p>
            <a:pPr marL="0" marR="54610" indent="0">
              <a:spcBef>
                <a:spcPts val="600"/>
              </a:spcBef>
              <a:spcAft>
                <a:spcPts val="600"/>
              </a:spcAft>
              <a:buNone/>
            </a:pPr>
            <a:r>
              <a:rPr lang="en-US" sz="1000">
                <a:solidFill>
                  <a:srgbClr val="000000"/>
                </a:solidFill>
                <a:effectLst/>
                <a:latin typeface="Arial"/>
                <a:ea typeface="MS Mincho"/>
                <a:cs typeface="Arial"/>
              </a:rPr>
              <a:t>Monitor social activity and reviews across the web. </a:t>
            </a:r>
            <a:endParaRPr lang="en-US" sz="1000">
              <a:effectLst/>
              <a:latin typeface="Arial"/>
              <a:ea typeface="MS Mincho"/>
              <a:cs typeface="Arial"/>
            </a:endParaRPr>
          </a:p>
          <a:p>
            <a:pPr marL="0" marR="54610" indent="0">
              <a:spcBef>
                <a:spcPts val="600"/>
              </a:spcBef>
              <a:spcAft>
                <a:spcPts val="600"/>
              </a:spcAft>
              <a:buNone/>
            </a:pPr>
            <a:r>
              <a:rPr lang="en-US" sz="1000">
                <a:solidFill>
                  <a:srgbClr val="000000"/>
                </a:solidFill>
                <a:effectLst/>
                <a:latin typeface="Arial"/>
                <a:ea typeface="MS Mincho"/>
                <a:cs typeface="Arial"/>
              </a:rPr>
              <a:t>Through a single platform, you can solicit reviews from multiple customers and have those reviews </a:t>
            </a:r>
            <a:r>
              <a:rPr lang="en-US" sz="1000">
                <a:solidFill>
                  <a:srgbClr val="000000"/>
                </a:solidFill>
                <a:latin typeface="Arial"/>
                <a:ea typeface="MS Mincho"/>
                <a:cs typeface="Arial"/>
              </a:rPr>
              <a:t>auto-published </a:t>
            </a:r>
            <a:r>
              <a:rPr lang="en-US" sz="1000">
                <a:solidFill>
                  <a:srgbClr val="000000"/>
                </a:solidFill>
                <a:effectLst/>
                <a:latin typeface="Arial"/>
                <a:ea typeface="MS Mincho"/>
                <a:cs typeface="Arial"/>
              </a:rPr>
              <a:t>on your website and various social media channels.</a:t>
            </a:r>
            <a:r>
              <a:rPr lang="en-US" sz="1000">
                <a:solidFill>
                  <a:srgbClr val="000000"/>
                </a:solidFill>
                <a:latin typeface="Arial"/>
                <a:ea typeface="MS Mincho"/>
                <a:cs typeface="Arial"/>
              </a:rPr>
              <a:t> </a:t>
            </a:r>
            <a:endParaRPr lang="en-US" sz="1000">
              <a:effectLst/>
              <a:latin typeface="Arial" panose="020B0604020202020204" pitchFamily="34" charset="0"/>
              <a:ea typeface="MS Mincho" panose="02020609040205080304" pitchFamily="49" charset="-128"/>
            </a:endParaRPr>
          </a:p>
          <a:p>
            <a:pPr marL="0" marR="54610" indent="0">
              <a:spcBef>
                <a:spcPts val="600"/>
              </a:spcBef>
              <a:spcAft>
                <a:spcPts val="600"/>
              </a:spcAft>
              <a:buNone/>
            </a:pPr>
            <a:r>
              <a:rPr lang="en-US" sz="1000">
                <a:solidFill>
                  <a:srgbClr val="000000"/>
                </a:solidFill>
                <a:effectLst/>
                <a:latin typeface="Arial"/>
                <a:ea typeface="MS Mincho"/>
                <a:cs typeface="Arial"/>
              </a:rPr>
              <a:t>Schedule hundreds of social media posts across multiple</a:t>
            </a:r>
            <a:r>
              <a:rPr lang="en-US" sz="1000">
                <a:solidFill>
                  <a:srgbClr val="000000"/>
                </a:solidFill>
                <a:latin typeface="Arial"/>
                <a:ea typeface="MS Mincho"/>
                <a:cs typeface="Arial"/>
              </a:rPr>
              <a:t> connected platforms</a:t>
            </a:r>
            <a:r>
              <a:rPr lang="en-US" sz="1000">
                <a:solidFill>
                  <a:srgbClr val="000000"/>
                </a:solidFill>
                <a:effectLst/>
                <a:latin typeface="Arial"/>
                <a:ea typeface="MS Mincho"/>
                <a:cs typeface="Arial"/>
              </a:rPr>
              <a:t> based on selected interests and desired posting frequency. </a:t>
            </a:r>
            <a:endParaRPr lang="en-US" sz="1000">
              <a:effectLst/>
              <a:latin typeface="Arial"/>
              <a:ea typeface="MS Mincho"/>
              <a:cs typeface="Arial"/>
            </a:endParaRPr>
          </a:p>
          <a:p>
            <a:pPr marL="0" marR="54610" indent="0">
              <a:spcBef>
                <a:spcPts val="600"/>
              </a:spcBef>
              <a:spcAft>
                <a:spcPts val="600"/>
              </a:spcAft>
              <a:buNone/>
            </a:pPr>
            <a:r>
              <a:rPr lang="en-US" sz="1000">
                <a:solidFill>
                  <a:srgbClr val="000000"/>
                </a:solidFill>
                <a:effectLst/>
                <a:latin typeface="Arial"/>
                <a:ea typeface="MS Mincho"/>
                <a:cs typeface="Arial"/>
              </a:rPr>
              <a:t>Receive automated notifications for new reviews and posts.</a:t>
            </a:r>
            <a:r>
              <a:rPr lang="en-US" sz="1000">
                <a:solidFill>
                  <a:srgbClr val="000000"/>
                </a:solidFill>
                <a:latin typeface="Arial"/>
                <a:ea typeface="MS Mincho"/>
                <a:cs typeface="Arial"/>
              </a:rPr>
              <a:t> </a:t>
            </a:r>
            <a:r>
              <a:rPr lang="en-US" sz="900" i="1">
                <a:solidFill>
                  <a:srgbClr val="000000"/>
                </a:solidFill>
                <a:latin typeface="Arial"/>
                <a:ea typeface="MS Mincho"/>
                <a:cs typeface="Arial"/>
              </a:rPr>
              <a:t>(not available for indirect channel)</a:t>
            </a:r>
            <a:endParaRPr lang="en-US" sz="900" i="1">
              <a:effectLst/>
              <a:latin typeface="Arial" panose="020B0604020202020204" pitchFamily="34" charset="0"/>
              <a:ea typeface="MS Mincho" panose="02020609040205080304" pitchFamily="49" charset="-128"/>
            </a:endParaRPr>
          </a:p>
          <a:p>
            <a:pPr marL="0" marR="54610" indent="0">
              <a:spcBef>
                <a:spcPts val="600"/>
              </a:spcBef>
              <a:spcAft>
                <a:spcPts val="600"/>
              </a:spcAft>
              <a:buNone/>
            </a:pPr>
            <a:r>
              <a:rPr lang="en-US" sz="1000">
                <a:solidFill>
                  <a:srgbClr val="000000"/>
                </a:solidFill>
                <a:effectLst/>
                <a:latin typeface="Arial"/>
                <a:ea typeface="MS Mincho"/>
                <a:cs typeface="Arial"/>
              </a:rPr>
              <a:t>Respond directly to reviews, posts, and comments from multiple</a:t>
            </a:r>
            <a:r>
              <a:rPr lang="en-US" sz="1000">
                <a:solidFill>
                  <a:srgbClr val="000000"/>
                </a:solidFill>
                <a:latin typeface="Arial"/>
                <a:ea typeface="MS Mincho"/>
                <a:cs typeface="Arial"/>
              </a:rPr>
              <a:t> connected</a:t>
            </a:r>
            <a:r>
              <a:rPr lang="en-US" sz="1000">
                <a:solidFill>
                  <a:srgbClr val="000000"/>
                </a:solidFill>
                <a:effectLst/>
                <a:latin typeface="Arial"/>
                <a:ea typeface="MS Mincho"/>
                <a:cs typeface="Arial"/>
              </a:rPr>
              <a:t> platforms and sources. </a:t>
            </a:r>
            <a:endParaRPr lang="en-US" sz="1000">
              <a:effectLst/>
              <a:latin typeface="Arial"/>
              <a:ea typeface="MS Mincho"/>
              <a:cs typeface="Arial"/>
            </a:endParaRPr>
          </a:p>
          <a:p>
            <a:pPr marL="0" marR="54610" indent="0">
              <a:spcBef>
                <a:spcPts val="600"/>
              </a:spcBef>
              <a:spcAft>
                <a:spcPts val="600"/>
              </a:spcAft>
              <a:buNone/>
            </a:pPr>
            <a:r>
              <a:rPr lang="en-US" sz="1000">
                <a:solidFill>
                  <a:srgbClr val="000000"/>
                </a:solidFill>
                <a:effectLst/>
                <a:latin typeface="Arial"/>
                <a:ea typeface="MS Mincho"/>
                <a:cs typeface="Arial"/>
              </a:rPr>
              <a:t>Track your reputation through the “Happiness Meter”.</a:t>
            </a:r>
            <a:endParaRPr lang="en-US" sz="1000">
              <a:effectLst/>
              <a:latin typeface="Arial"/>
              <a:ea typeface="MS Mincho"/>
              <a:cs typeface="Arial"/>
            </a:endParaRPr>
          </a:p>
          <a:p>
            <a:pPr marL="0" marR="54610" indent="0">
              <a:spcBef>
                <a:spcPts val="600"/>
              </a:spcBef>
              <a:spcAft>
                <a:spcPts val="600"/>
              </a:spcAft>
              <a:buNone/>
            </a:pPr>
            <a:r>
              <a:rPr lang="en-US" sz="1000">
                <a:solidFill>
                  <a:srgbClr val="000000"/>
                </a:solidFill>
                <a:effectLst/>
                <a:latin typeface="Arial"/>
                <a:ea typeface="MS Mincho"/>
                <a:cs typeface="Arial"/>
              </a:rPr>
              <a:t>A</a:t>
            </a:r>
            <a:r>
              <a:rPr lang="en-US" sz="1000">
                <a:effectLst/>
                <a:latin typeface="Arial"/>
                <a:ea typeface="MS Mincho"/>
                <a:cs typeface="Arial"/>
              </a:rPr>
              <a:t>n active social media presence can help your business stay credible to prospective customers and can help improve your search engine ranking.</a:t>
            </a:r>
          </a:p>
          <a:p>
            <a:pPr marL="0" marR="54610" indent="0">
              <a:spcBef>
                <a:spcPts val="600"/>
              </a:spcBef>
              <a:spcAft>
                <a:spcPts val="600"/>
              </a:spcAft>
              <a:buNone/>
            </a:pPr>
            <a:r>
              <a:rPr lang="en-US" sz="1000">
                <a:solidFill>
                  <a:srgbClr val="000000"/>
                </a:solidFill>
                <a:effectLst/>
                <a:latin typeface="Arial"/>
                <a:ea typeface="MS Mincho"/>
                <a:cs typeface="Arial"/>
              </a:rPr>
              <a:t>Schedule automated posts with relevant content using A.I. and/or schedule custom posts to keep accounts active.</a:t>
            </a:r>
            <a:endParaRPr lang="en-US" sz="1000">
              <a:effectLst/>
              <a:latin typeface="Arial"/>
              <a:ea typeface="MS Mincho"/>
              <a:cs typeface="Arial"/>
            </a:endParaRPr>
          </a:p>
          <a:p>
            <a:pPr marL="0" marR="54610" indent="0">
              <a:spcBef>
                <a:spcPts val="600"/>
              </a:spcBef>
              <a:spcAft>
                <a:spcPts val="600"/>
              </a:spcAft>
              <a:buNone/>
            </a:pPr>
            <a:r>
              <a:rPr lang="en-US" sz="1000">
                <a:solidFill>
                  <a:srgbClr val="000000"/>
                </a:solidFill>
                <a:effectLst/>
                <a:latin typeface="Arial"/>
                <a:ea typeface="MS Mincho"/>
                <a:cs typeface="Arial"/>
              </a:rPr>
              <a:t>Gather competitor intelligence by monitoring what customers say about competitors online. </a:t>
            </a:r>
          </a:p>
          <a:p>
            <a:pPr marL="0" indent="0">
              <a:lnSpc>
                <a:spcPct val="300000"/>
              </a:lnSpc>
              <a:buNone/>
            </a:pPr>
            <a:r>
              <a:rPr lang="en-US" sz="1000">
                <a:solidFill>
                  <a:srgbClr val="000000"/>
                </a:solidFill>
                <a:effectLst/>
                <a:latin typeface="Arial"/>
                <a:ea typeface="MS Mincho"/>
                <a:cs typeface="Arial"/>
              </a:rPr>
              <a:t>Access all your Reviews Promoter features through a simple mobile app while on-the-go.</a:t>
            </a:r>
            <a:endParaRPr lang="en-US" sz="1600">
              <a:latin typeface="Arial"/>
              <a:ea typeface="MS Mincho"/>
              <a:cs typeface="Arial"/>
            </a:endParaRPr>
          </a:p>
        </p:txBody>
      </p:sp>
      <p:sp>
        <p:nvSpPr>
          <p:cNvPr id="12" name="Content Placeholder 3">
            <a:extLst>
              <a:ext uri="{FF2B5EF4-FFF2-40B4-BE49-F238E27FC236}">
                <a16:creationId xmlns:a16="http://schemas.microsoft.com/office/drawing/2014/main" id="{2635EBA5-264F-A4E5-3722-0EB486DB843E}"/>
              </a:ext>
            </a:extLst>
          </p:cNvPr>
          <p:cNvSpPr txBox="1">
            <a:spLocks/>
          </p:cNvSpPr>
          <p:nvPr/>
        </p:nvSpPr>
        <p:spPr>
          <a:xfrm>
            <a:off x="838200" y="1658534"/>
            <a:ext cx="5257800"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dirty="0">
                <a:effectLst/>
                <a:latin typeface="Arial" panose="020B0604020202020204" pitchFamily="34" charset="0"/>
                <a:ea typeface="MS Mincho" panose="02020609040205080304" pitchFamily="49" charset="-128"/>
              </a:rPr>
              <a:t>Turn customers into promoters </a:t>
            </a:r>
            <a:endParaRPr lang="en-US" sz="2400" dirty="0">
              <a:latin typeface="Arial" panose="020B0604020202020204" pitchFamily="34" charset="0"/>
            </a:endParaRPr>
          </a:p>
        </p:txBody>
      </p:sp>
      <p:sp>
        <p:nvSpPr>
          <p:cNvPr id="13" name="Content Placeholder 3">
            <a:extLst>
              <a:ext uri="{FF2B5EF4-FFF2-40B4-BE49-F238E27FC236}">
                <a16:creationId xmlns:a16="http://schemas.microsoft.com/office/drawing/2014/main" id="{AEDEE1FA-ABA7-3648-2FE7-2E22B26020AA}"/>
              </a:ext>
            </a:extLst>
          </p:cNvPr>
          <p:cNvSpPr txBox="1">
            <a:spLocks/>
          </p:cNvSpPr>
          <p:nvPr/>
        </p:nvSpPr>
        <p:spPr>
          <a:xfrm>
            <a:off x="838200" y="2734800"/>
            <a:ext cx="3797595" cy="52099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dirty="0">
                <a:effectLst/>
                <a:latin typeface="Arial" panose="020B0604020202020204" pitchFamily="34" charset="0"/>
                <a:ea typeface="MS Mincho" panose="02020609040205080304" pitchFamily="49" charset="-128"/>
              </a:rPr>
              <a:t>Save time with an all-in-one engagement platform</a:t>
            </a:r>
            <a:endParaRPr lang="en-US" sz="2400" dirty="0">
              <a:latin typeface="Arial" panose="020B0604020202020204" pitchFamily="34" charset="0"/>
            </a:endParaRPr>
          </a:p>
        </p:txBody>
      </p:sp>
      <p:sp>
        <p:nvSpPr>
          <p:cNvPr id="14" name="Content Placeholder 3">
            <a:extLst>
              <a:ext uri="{FF2B5EF4-FFF2-40B4-BE49-F238E27FC236}">
                <a16:creationId xmlns:a16="http://schemas.microsoft.com/office/drawing/2014/main" id="{8396E9FF-5F8B-43DB-1CF8-1A60B7140E27}"/>
              </a:ext>
            </a:extLst>
          </p:cNvPr>
          <p:cNvSpPr txBox="1">
            <a:spLocks/>
          </p:cNvSpPr>
          <p:nvPr/>
        </p:nvSpPr>
        <p:spPr>
          <a:xfrm>
            <a:off x="838200" y="3841303"/>
            <a:ext cx="5257800"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dirty="0">
                <a:effectLst/>
                <a:latin typeface="Arial" panose="020B0604020202020204" pitchFamily="34" charset="0"/>
                <a:ea typeface="MS Mincho" panose="02020609040205080304" pitchFamily="49" charset="-128"/>
              </a:rPr>
              <a:t>Manage your online reputation</a:t>
            </a:r>
            <a:endParaRPr lang="en-US" sz="2400" dirty="0">
              <a:latin typeface="Arial" panose="020B0604020202020204" pitchFamily="34" charset="0"/>
            </a:endParaRPr>
          </a:p>
        </p:txBody>
      </p:sp>
      <p:sp>
        <p:nvSpPr>
          <p:cNvPr id="15" name="Content Placeholder 3">
            <a:extLst>
              <a:ext uri="{FF2B5EF4-FFF2-40B4-BE49-F238E27FC236}">
                <a16:creationId xmlns:a16="http://schemas.microsoft.com/office/drawing/2014/main" id="{E1D11F32-F7B4-22CE-B974-B5CF6AC13841}"/>
              </a:ext>
            </a:extLst>
          </p:cNvPr>
          <p:cNvSpPr txBox="1">
            <a:spLocks/>
          </p:cNvSpPr>
          <p:nvPr/>
        </p:nvSpPr>
        <p:spPr>
          <a:xfrm>
            <a:off x="838200" y="4641930"/>
            <a:ext cx="5257800"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dirty="0">
                <a:effectLst/>
                <a:latin typeface="Arial" panose="020B0604020202020204" pitchFamily="34" charset="0"/>
                <a:ea typeface="MS Mincho" panose="02020609040205080304" pitchFamily="49" charset="-128"/>
              </a:rPr>
              <a:t>Stay active on social media</a:t>
            </a:r>
            <a:endParaRPr lang="en-US" sz="2400" dirty="0">
              <a:latin typeface="Arial" panose="020B0604020202020204" pitchFamily="34" charset="0"/>
            </a:endParaRPr>
          </a:p>
        </p:txBody>
      </p:sp>
      <p:sp>
        <p:nvSpPr>
          <p:cNvPr id="16" name="Content Placeholder 3">
            <a:extLst>
              <a:ext uri="{FF2B5EF4-FFF2-40B4-BE49-F238E27FC236}">
                <a16:creationId xmlns:a16="http://schemas.microsoft.com/office/drawing/2014/main" id="{85F78DA4-E5E7-66C8-E675-B5E3A666394D}"/>
              </a:ext>
            </a:extLst>
          </p:cNvPr>
          <p:cNvSpPr txBox="1">
            <a:spLocks/>
          </p:cNvSpPr>
          <p:nvPr/>
        </p:nvSpPr>
        <p:spPr>
          <a:xfrm>
            <a:off x="838200" y="5274210"/>
            <a:ext cx="5257800"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dirty="0">
                <a:effectLst/>
                <a:latin typeface="Arial" panose="020B0604020202020204" pitchFamily="34" charset="0"/>
                <a:ea typeface="MS Mincho" panose="02020609040205080304" pitchFamily="49" charset="-128"/>
              </a:rPr>
              <a:t>Gain competitive insight </a:t>
            </a:r>
            <a:endParaRPr lang="en-US" sz="2400" dirty="0">
              <a:latin typeface="Arial" panose="020B0604020202020204" pitchFamily="34" charset="0"/>
            </a:endParaRPr>
          </a:p>
        </p:txBody>
      </p:sp>
      <p:sp>
        <p:nvSpPr>
          <p:cNvPr id="17" name="Content Placeholder 3">
            <a:extLst>
              <a:ext uri="{FF2B5EF4-FFF2-40B4-BE49-F238E27FC236}">
                <a16:creationId xmlns:a16="http://schemas.microsoft.com/office/drawing/2014/main" id="{5A9411EE-8AA8-144F-CC51-F3473BE4479A}"/>
              </a:ext>
            </a:extLst>
          </p:cNvPr>
          <p:cNvSpPr txBox="1">
            <a:spLocks/>
          </p:cNvSpPr>
          <p:nvPr/>
        </p:nvSpPr>
        <p:spPr>
          <a:xfrm>
            <a:off x="838200" y="5893195"/>
            <a:ext cx="5257800" cy="5209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54610" indent="0">
              <a:spcBef>
                <a:spcPts val="600"/>
              </a:spcBef>
              <a:spcAft>
                <a:spcPts val="600"/>
              </a:spcAft>
              <a:buNone/>
            </a:pPr>
            <a:r>
              <a:rPr lang="en-US" sz="1600" dirty="0">
                <a:effectLst/>
                <a:latin typeface="Arial" panose="020B0604020202020204" pitchFamily="34" charset="0"/>
                <a:ea typeface="MS Mincho" panose="02020609040205080304" pitchFamily="49" charset="-128"/>
              </a:rPr>
              <a:t>Easy mobile app</a:t>
            </a:r>
            <a:endParaRPr lang="en-US" sz="2400" dirty="0">
              <a:latin typeface="Arial" panose="020B0604020202020204" pitchFamily="34" charset="0"/>
            </a:endParaRPr>
          </a:p>
        </p:txBody>
      </p:sp>
      <p:cxnSp>
        <p:nvCxnSpPr>
          <p:cNvPr id="22" name="Straight Connector 21">
            <a:extLst>
              <a:ext uri="{FF2B5EF4-FFF2-40B4-BE49-F238E27FC236}">
                <a16:creationId xmlns:a16="http://schemas.microsoft.com/office/drawing/2014/main" id="{3E1A3FE8-41F1-6589-6459-10CA720ADDFC}"/>
              </a:ext>
            </a:extLst>
          </p:cNvPr>
          <p:cNvCxnSpPr>
            <a:cxnSpLocks/>
          </p:cNvCxnSpPr>
          <p:nvPr/>
        </p:nvCxnSpPr>
        <p:spPr>
          <a:xfrm>
            <a:off x="3810000" y="1808922"/>
            <a:ext cx="1955800" cy="0"/>
          </a:xfrm>
          <a:prstGeom prst="line">
            <a:avLst/>
          </a:prstGeom>
          <a:ln>
            <a:solidFill>
              <a:srgbClr val="2CADB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B056723-ACBC-8786-DA22-7FE84672F0A1}"/>
              </a:ext>
            </a:extLst>
          </p:cNvPr>
          <p:cNvCxnSpPr>
            <a:cxnSpLocks/>
          </p:cNvCxnSpPr>
          <p:nvPr/>
        </p:nvCxnSpPr>
        <p:spPr>
          <a:xfrm>
            <a:off x="5765800" y="1426369"/>
            <a:ext cx="296973" cy="0"/>
          </a:xfrm>
          <a:prstGeom prst="line">
            <a:avLst/>
          </a:prstGeom>
          <a:ln>
            <a:solidFill>
              <a:srgbClr val="2CADB2"/>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7618D0D-6E26-8B29-E1C0-FC43B0473AA8}"/>
              </a:ext>
            </a:extLst>
          </p:cNvPr>
          <p:cNvCxnSpPr>
            <a:cxnSpLocks/>
          </p:cNvCxnSpPr>
          <p:nvPr/>
        </p:nvCxnSpPr>
        <p:spPr>
          <a:xfrm>
            <a:off x="5765800" y="1808922"/>
            <a:ext cx="296973" cy="0"/>
          </a:xfrm>
          <a:prstGeom prst="line">
            <a:avLst/>
          </a:prstGeom>
          <a:ln>
            <a:solidFill>
              <a:srgbClr val="2CADB2"/>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A087A2C-E51C-E2FD-028E-BDD914B9D9B0}"/>
              </a:ext>
            </a:extLst>
          </p:cNvPr>
          <p:cNvCxnSpPr>
            <a:cxnSpLocks/>
          </p:cNvCxnSpPr>
          <p:nvPr/>
        </p:nvCxnSpPr>
        <p:spPr>
          <a:xfrm>
            <a:off x="5765800" y="2215322"/>
            <a:ext cx="296973" cy="0"/>
          </a:xfrm>
          <a:prstGeom prst="line">
            <a:avLst/>
          </a:prstGeom>
          <a:ln>
            <a:solidFill>
              <a:srgbClr val="2CADB2"/>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2829145-F3E9-0B41-0C45-9D0627A39A7E}"/>
              </a:ext>
            </a:extLst>
          </p:cNvPr>
          <p:cNvCxnSpPr>
            <a:cxnSpLocks/>
          </p:cNvCxnSpPr>
          <p:nvPr/>
        </p:nvCxnSpPr>
        <p:spPr>
          <a:xfrm>
            <a:off x="5765800" y="1426369"/>
            <a:ext cx="0" cy="788953"/>
          </a:xfrm>
          <a:prstGeom prst="line">
            <a:avLst/>
          </a:prstGeom>
          <a:ln>
            <a:solidFill>
              <a:srgbClr val="2CADB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341E66E-0E4D-7887-F22F-6AEE7BB47109}"/>
              </a:ext>
            </a:extLst>
          </p:cNvPr>
          <p:cNvCxnSpPr>
            <a:cxnSpLocks/>
          </p:cNvCxnSpPr>
          <p:nvPr/>
        </p:nvCxnSpPr>
        <p:spPr>
          <a:xfrm>
            <a:off x="3810000" y="2894772"/>
            <a:ext cx="1955800" cy="0"/>
          </a:xfrm>
          <a:prstGeom prst="line">
            <a:avLst/>
          </a:prstGeom>
          <a:ln>
            <a:solidFill>
              <a:srgbClr val="2CADB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EEC71BD-CF99-7EE0-0B7F-37CC67C09645}"/>
              </a:ext>
            </a:extLst>
          </p:cNvPr>
          <p:cNvCxnSpPr>
            <a:cxnSpLocks/>
          </p:cNvCxnSpPr>
          <p:nvPr/>
        </p:nvCxnSpPr>
        <p:spPr>
          <a:xfrm>
            <a:off x="5765800" y="2512219"/>
            <a:ext cx="296973" cy="0"/>
          </a:xfrm>
          <a:prstGeom prst="line">
            <a:avLst/>
          </a:prstGeom>
          <a:ln>
            <a:solidFill>
              <a:srgbClr val="2CADB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699D6F2-37F8-F8F1-7539-943BC5607F94}"/>
              </a:ext>
            </a:extLst>
          </p:cNvPr>
          <p:cNvCxnSpPr>
            <a:cxnSpLocks/>
          </p:cNvCxnSpPr>
          <p:nvPr/>
        </p:nvCxnSpPr>
        <p:spPr>
          <a:xfrm>
            <a:off x="5765800" y="2894772"/>
            <a:ext cx="296973" cy="0"/>
          </a:xfrm>
          <a:prstGeom prst="line">
            <a:avLst/>
          </a:prstGeom>
          <a:ln>
            <a:solidFill>
              <a:srgbClr val="2CADB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BB89852-DAF9-2BDA-E018-60745D3E53BD}"/>
              </a:ext>
            </a:extLst>
          </p:cNvPr>
          <p:cNvCxnSpPr>
            <a:cxnSpLocks/>
          </p:cNvCxnSpPr>
          <p:nvPr/>
        </p:nvCxnSpPr>
        <p:spPr>
          <a:xfrm>
            <a:off x="5765800" y="3301172"/>
            <a:ext cx="296973" cy="0"/>
          </a:xfrm>
          <a:prstGeom prst="line">
            <a:avLst/>
          </a:prstGeom>
          <a:ln>
            <a:solidFill>
              <a:srgbClr val="2CADB2"/>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CB89CB1-FC0A-E34F-D04E-5833CC9329C9}"/>
              </a:ext>
            </a:extLst>
          </p:cNvPr>
          <p:cNvCxnSpPr>
            <a:cxnSpLocks/>
          </p:cNvCxnSpPr>
          <p:nvPr/>
        </p:nvCxnSpPr>
        <p:spPr>
          <a:xfrm>
            <a:off x="5765800" y="2512219"/>
            <a:ext cx="0" cy="788953"/>
          </a:xfrm>
          <a:prstGeom prst="line">
            <a:avLst/>
          </a:prstGeom>
          <a:ln>
            <a:solidFill>
              <a:srgbClr val="2CADB2"/>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F3BACB72-1A30-62DB-ABA3-C4BD30412D3A}"/>
              </a:ext>
            </a:extLst>
          </p:cNvPr>
          <p:cNvCxnSpPr>
            <a:cxnSpLocks/>
          </p:cNvCxnSpPr>
          <p:nvPr/>
        </p:nvCxnSpPr>
        <p:spPr>
          <a:xfrm>
            <a:off x="3810000" y="3975860"/>
            <a:ext cx="1955800" cy="0"/>
          </a:xfrm>
          <a:prstGeom prst="line">
            <a:avLst/>
          </a:prstGeom>
          <a:ln>
            <a:solidFill>
              <a:srgbClr val="2CADB2"/>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9A3529A-EBDA-175C-9D65-45DAD9C7A025}"/>
              </a:ext>
            </a:extLst>
          </p:cNvPr>
          <p:cNvCxnSpPr>
            <a:cxnSpLocks/>
          </p:cNvCxnSpPr>
          <p:nvPr/>
        </p:nvCxnSpPr>
        <p:spPr>
          <a:xfrm>
            <a:off x="5765800" y="3686689"/>
            <a:ext cx="296973" cy="0"/>
          </a:xfrm>
          <a:prstGeom prst="line">
            <a:avLst/>
          </a:prstGeom>
          <a:ln>
            <a:solidFill>
              <a:srgbClr val="2CADB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F247CAA-C875-88A6-6575-0950C7DBFCC3}"/>
              </a:ext>
            </a:extLst>
          </p:cNvPr>
          <p:cNvCxnSpPr>
            <a:cxnSpLocks/>
          </p:cNvCxnSpPr>
          <p:nvPr/>
        </p:nvCxnSpPr>
        <p:spPr>
          <a:xfrm>
            <a:off x="5765800" y="3975860"/>
            <a:ext cx="296973" cy="0"/>
          </a:xfrm>
          <a:prstGeom prst="line">
            <a:avLst/>
          </a:prstGeom>
          <a:ln>
            <a:solidFill>
              <a:srgbClr val="2CADB2"/>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43E9D87-99A1-EF65-6ACA-82849E6B12A0}"/>
              </a:ext>
            </a:extLst>
          </p:cNvPr>
          <p:cNvCxnSpPr>
            <a:cxnSpLocks/>
          </p:cNvCxnSpPr>
          <p:nvPr/>
        </p:nvCxnSpPr>
        <p:spPr>
          <a:xfrm>
            <a:off x="5765800" y="4267215"/>
            <a:ext cx="296973" cy="0"/>
          </a:xfrm>
          <a:prstGeom prst="line">
            <a:avLst/>
          </a:prstGeom>
          <a:ln>
            <a:solidFill>
              <a:srgbClr val="2CADB2"/>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E4763B89-7A38-B321-39EB-E08848D98D58}"/>
              </a:ext>
            </a:extLst>
          </p:cNvPr>
          <p:cNvCxnSpPr>
            <a:cxnSpLocks/>
          </p:cNvCxnSpPr>
          <p:nvPr/>
        </p:nvCxnSpPr>
        <p:spPr>
          <a:xfrm>
            <a:off x="5765800" y="3686689"/>
            <a:ext cx="0" cy="580526"/>
          </a:xfrm>
          <a:prstGeom prst="line">
            <a:avLst/>
          </a:prstGeom>
          <a:ln>
            <a:solidFill>
              <a:srgbClr val="2CADB2"/>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937A7AF-91F6-0888-8233-6DD48C52B848}"/>
              </a:ext>
            </a:extLst>
          </p:cNvPr>
          <p:cNvCxnSpPr>
            <a:cxnSpLocks/>
          </p:cNvCxnSpPr>
          <p:nvPr/>
        </p:nvCxnSpPr>
        <p:spPr>
          <a:xfrm>
            <a:off x="3810000" y="4787867"/>
            <a:ext cx="1955800" cy="0"/>
          </a:xfrm>
          <a:prstGeom prst="line">
            <a:avLst/>
          </a:prstGeom>
          <a:ln>
            <a:solidFill>
              <a:srgbClr val="2CADB2"/>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C5810E3-2D2B-25BD-21AB-5F01A958E31E}"/>
              </a:ext>
            </a:extLst>
          </p:cNvPr>
          <p:cNvCxnSpPr>
            <a:cxnSpLocks/>
          </p:cNvCxnSpPr>
          <p:nvPr/>
        </p:nvCxnSpPr>
        <p:spPr>
          <a:xfrm>
            <a:off x="5765800" y="4562989"/>
            <a:ext cx="296973" cy="0"/>
          </a:xfrm>
          <a:prstGeom prst="line">
            <a:avLst/>
          </a:prstGeom>
          <a:ln>
            <a:solidFill>
              <a:srgbClr val="2CADB2"/>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5261D2E6-6958-6A79-4AA3-1FDFD5E2C9ED}"/>
              </a:ext>
            </a:extLst>
          </p:cNvPr>
          <p:cNvCxnSpPr>
            <a:cxnSpLocks/>
          </p:cNvCxnSpPr>
          <p:nvPr/>
        </p:nvCxnSpPr>
        <p:spPr>
          <a:xfrm>
            <a:off x="5765800" y="4984513"/>
            <a:ext cx="296973" cy="0"/>
          </a:xfrm>
          <a:prstGeom prst="line">
            <a:avLst/>
          </a:prstGeom>
          <a:ln>
            <a:solidFill>
              <a:srgbClr val="2CADB2"/>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77569B04-6D49-D836-C79E-EE56815FF46C}"/>
              </a:ext>
            </a:extLst>
          </p:cNvPr>
          <p:cNvCxnSpPr>
            <a:cxnSpLocks/>
          </p:cNvCxnSpPr>
          <p:nvPr/>
        </p:nvCxnSpPr>
        <p:spPr>
          <a:xfrm>
            <a:off x="5765800" y="4562989"/>
            <a:ext cx="0" cy="421524"/>
          </a:xfrm>
          <a:prstGeom prst="line">
            <a:avLst/>
          </a:prstGeom>
          <a:ln>
            <a:solidFill>
              <a:srgbClr val="2CADB2"/>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E5516AE9-3E0C-759F-C6AB-D58DA7C6D1B6}"/>
              </a:ext>
            </a:extLst>
          </p:cNvPr>
          <p:cNvCxnSpPr>
            <a:cxnSpLocks/>
          </p:cNvCxnSpPr>
          <p:nvPr/>
        </p:nvCxnSpPr>
        <p:spPr>
          <a:xfrm>
            <a:off x="3810000" y="5394425"/>
            <a:ext cx="2252773" cy="0"/>
          </a:xfrm>
          <a:prstGeom prst="line">
            <a:avLst/>
          </a:prstGeom>
          <a:ln>
            <a:solidFill>
              <a:srgbClr val="2CADB2"/>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091BC11D-FDDF-D59A-66A4-68E806CB8599}"/>
              </a:ext>
            </a:extLst>
          </p:cNvPr>
          <p:cNvCxnSpPr>
            <a:cxnSpLocks/>
          </p:cNvCxnSpPr>
          <p:nvPr/>
        </p:nvCxnSpPr>
        <p:spPr>
          <a:xfrm>
            <a:off x="3810000" y="6016725"/>
            <a:ext cx="2252773" cy="0"/>
          </a:xfrm>
          <a:prstGeom prst="line">
            <a:avLst/>
          </a:prstGeom>
          <a:ln>
            <a:solidFill>
              <a:srgbClr val="2CADB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70732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CADB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lstStyle/>
          <a:p>
            <a:r>
              <a:rPr lang="en-US" sz="4400" b="1" dirty="0">
                <a:solidFill>
                  <a:schemeClr val="bg1"/>
                </a:solidFill>
                <a:latin typeface="Arial" panose="020B0604020202020204" pitchFamily="34" charset="0"/>
                <a:cs typeface="Arial" panose="020B0604020202020204" pitchFamily="34" charset="0"/>
              </a:rPr>
              <a:t>Q &amp; A / Next steps</a:t>
            </a:r>
            <a:endParaRPr lang="en-US" dirty="0">
              <a:solidFill>
                <a:schemeClr val="bg1"/>
              </a:solidFill>
            </a:endParaRPr>
          </a:p>
        </p:txBody>
      </p:sp>
    </p:spTree>
    <p:extLst>
      <p:ext uri="{BB962C8B-B14F-4D97-AF65-F5344CB8AC3E}">
        <p14:creationId xmlns:p14="http://schemas.microsoft.com/office/powerpoint/2010/main" val="2052943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CADB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lstStyle/>
          <a:p>
            <a:r>
              <a:rPr lang="en-US" sz="4400" b="1">
                <a:solidFill>
                  <a:schemeClr val="bg1"/>
                </a:solidFill>
                <a:latin typeface="Arial" panose="020B0604020202020204" pitchFamily="34" charset="0"/>
                <a:cs typeface="Arial" panose="020B0604020202020204" pitchFamily="34" charset="0"/>
              </a:rPr>
              <a:t>Frequently Asked Questions</a:t>
            </a:r>
            <a:endParaRPr lang="en-US">
              <a:solidFill>
                <a:schemeClr val="bg1"/>
              </a:solidFill>
            </a:endParaRPr>
          </a:p>
        </p:txBody>
      </p:sp>
    </p:spTree>
    <p:extLst>
      <p:ext uri="{BB962C8B-B14F-4D97-AF65-F5344CB8AC3E}">
        <p14:creationId xmlns:p14="http://schemas.microsoft.com/office/powerpoint/2010/main" val="27205415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781050"/>
            <a:ext cx="10582656" cy="557722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indent="-342900">
              <a:spcBef>
                <a:spcPts val="500"/>
              </a:spcBef>
              <a:spcAft>
                <a:spcPts val="0"/>
              </a:spcAft>
              <a:buFont typeface="+mj-lt"/>
              <a:buAutoNum type="arabicPeriod"/>
            </a:pPr>
            <a:r>
              <a:rPr lang="en-US" sz="1400" b="1" dirty="0">
                <a:solidFill>
                  <a:srgbClr val="2CADB2"/>
                </a:solidFill>
                <a:effectLst/>
                <a:latin typeface="Arial" panose="020B0604020202020204" pitchFamily="34" charset="0"/>
                <a:ea typeface="MS Mincho" panose="02020609040205080304" pitchFamily="49" charset="-128"/>
                <a:cs typeface="Arial" panose="020B0604020202020204" pitchFamily="34" charset="0"/>
              </a:rPr>
              <a:t>Is sending a SMS text or email survey better to get reviews?</a:t>
            </a:r>
            <a:endParaRPr lang="en-US" sz="1400" dirty="0">
              <a:solidFill>
                <a:srgbClr val="2CADB2"/>
              </a:solidFill>
              <a:effectLst/>
              <a:latin typeface="Arial" panose="020B0604020202020204" pitchFamily="34" charset="0"/>
              <a:ea typeface="MS Mincho" panose="02020609040205080304" pitchFamily="49" charset="-128"/>
              <a:cs typeface="Arial" panose="020B0604020202020204" pitchFamily="34" charset="0"/>
            </a:endParaRPr>
          </a:p>
          <a:p>
            <a:pPr marL="0" marR="0" indent="0">
              <a:buNone/>
            </a:pPr>
            <a:r>
              <a:rPr lang="en-US"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Sending both will increase your chances of getting a review, however text messages are more likely to get you new reviews more quickly. Customers are more likely to click on the link in an SMS text than in an email. An SMS text has an average open rate of 98% while email has an average open rate of 15-25%.</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a:spcAft>
                <a:spcPts val="0"/>
              </a:spcAft>
              <a:buNone/>
            </a:pPr>
            <a:r>
              <a:rPr lang="en-US"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If you do not have a cell phone number and email address of customers, then you can still send a review request to the contact information they have provided. </a:t>
            </a:r>
          </a:p>
          <a:p>
            <a:pPr marL="0" marR="0" indent="0">
              <a:spcAft>
                <a:spcPts val="0"/>
              </a:spcAft>
              <a:buNone/>
            </a:pP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spcBef>
                <a:spcPts val="0"/>
              </a:spcBef>
              <a:spcAft>
                <a:spcPts val="0"/>
              </a:spcAft>
              <a:buNone/>
            </a:pPr>
            <a:r>
              <a:rPr lang="en-US" sz="1400" dirty="0">
                <a:effectLst/>
                <a:latin typeface="Arial" panose="020B0604020202020204" pitchFamily="34" charset="0"/>
                <a:ea typeface="Times New Roman" panose="02020603050405020304" pitchFamily="18" charset="0"/>
                <a:cs typeface="Arial" panose="020B0604020202020204" pitchFamily="34" charset="0"/>
              </a:rPr>
              <a:t> </a:t>
            </a:r>
          </a:p>
          <a:p>
            <a:pPr marL="342900" marR="0" indent="-342900" fontAlgn="base">
              <a:spcBef>
                <a:spcPts val="0"/>
              </a:spcBef>
              <a:spcAft>
                <a:spcPts val="0"/>
              </a:spcAft>
              <a:buFont typeface="+mj-lt"/>
              <a:buAutoNum type="arabicPeriod" startAt="2"/>
            </a:pPr>
            <a:r>
              <a:rPr lang="en-US" sz="1400" b="1" dirty="0">
                <a:solidFill>
                  <a:srgbClr val="2CADB2"/>
                </a:solidFill>
                <a:effectLst/>
                <a:latin typeface="Arial" panose="020B0604020202020204" pitchFamily="34" charset="0"/>
                <a:ea typeface="MS Mincho" panose="02020609040205080304" pitchFamily="49" charset="-128"/>
                <a:cs typeface="Arial" panose="020B0604020202020204" pitchFamily="34" charset="0"/>
              </a:rPr>
              <a:t>How often should I send a text and/or email to ask for a review?</a:t>
            </a:r>
            <a:endParaRPr lang="en-US" sz="1400" dirty="0">
              <a:solidFill>
                <a:srgbClr val="2CADB2"/>
              </a:solidFill>
              <a:effectLst/>
              <a:latin typeface="Arial" panose="020B0604020202020204" pitchFamily="34" charset="0"/>
              <a:ea typeface="MS Mincho" panose="02020609040205080304" pitchFamily="49" charset="-128"/>
              <a:cs typeface="Arial" panose="020B0604020202020204" pitchFamily="34" charset="0"/>
            </a:endParaRPr>
          </a:p>
          <a:p>
            <a:pPr marL="0" indent="0">
              <a:spcAft>
                <a:spcPts val="0"/>
              </a:spcAft>
              <a:buNone/>
            </a:pPr>
            <a:r>
              <a:rPr lang="en-US" sz="1400" dirty="0">
                <a:solidFill>
                  <a:srgbClr val="000000"/>
                </a:solidFill>
                <a:latin typeface="Arial" panose="020B0604020202020204" pitchFamily="34" charset="0"/>
                <a:cs typeface="Arial" panose="020B0604020202020204" pitchFamily="34" charset="0"/>
              </a:rPr>
              <a:t>You should send a text and/or email to ask for a review to a happy customer after each completed purchase. Then send a follow-up text and/or email a few days later.</a:t>
            </a:r>
          </a:p>
          <a:p>
            <a:pPr marL="0" indent="0">
              <a:spcAft>
                <a:spcPts val="0"/>
              </a:spcAft>
              <a:buNone/>
            </a:pPr>
            <a:r>
              <a:rPr lang="en-US" sz="1400" dirty="0">
                <a:solidFill>
                  <a:srgbClr val="000000"/>
                </a:solidFill>
                <a:latin typeface="Arial" panose="020B0604020202020204" pitchFamily="34" charset="0"/>
                <a:cs typeface="Arial" panose="020B0604020202020204" pitchFamily="34" charset="0"/>
              </a:rPr>
              <a:t>The dashboard has settings the customer can use to have the system automatically resend a text/email if the customer hasn't responded in X amount of days.  </a:t>
            </a:r>
          </a:p>
          <a:p>
            <a:pPr marL="0" indent="0">
              <a:spcAft>
                <a:spcPts val="0"/>
              </a:spcAft>
              <a:buNone/>
            </a:pPr>
            <a:endParaRPr lang="en-US" sz="1400" dirty="0">
              <a:solidFill>
                <a:srgbClr val="000000"/>
              </a:solidFill>
              <a:latin typeface="Arial" panose="020B0604020202020204" pitchFamily="34" charset="0"/>
              <a:cs typeface="Arial" panose="020B0604020202020204" pitchFamily="34" charset="0"/>
            </a:endParaRPr>
          </a:p>
          <a:p>
            <a:pPr marL="0" marR="0" indent="0">
              <a:spcBef>
                <a:spcPts val="500"/>
              </a:spcBef>
              <a:spcAft>
                <a:spcPts val="0"/>
              </a:spcAft>
              <a:buNone/>
            </a:pPr>
            <a:endParaRPr lang="en-US" sz="1400" dirty="0">
              <a:effectLst/>
              <a:latin typeface="Arial" panose="020B0604020202020204" pitchFamily="34" charset="0"/>
              <a:ea typeface="MS Mincho" panose="02020609040205080304" pitchFamily="49" charset="-128"/>
              <a:cs typeface="Arial" panose="020B0604020202020204" pitchFamily="34" charset="0"/>
            </a:endParaRPr>
          </a:p>
          <a:p>
            <a:pPr marL="0" marR="0" indent="0">
              <a:spcBef>
                <a:spcPts val="500"/>
              </a:spcBef>
              <a:spcAft>
                <a:spcPts val="0"/>
              </a:spcAft>
              <a:buNone/>
            </a:pPr>
            <a:r>
              <a:rPr lang="en-US" sz="1400" b="1" dirty="0">
                <a:solidFill>
                  <a:srgbClr val="2CADB2"/>
                </a:solidFill>
                <a:effectLst/>
                <a:latin typeface="Arial" panose="020B0604020202020204" pitchFamily="34" charset="0"/>
                <a:ea typeface="MS Mincho" panose="02020609040205080304" pitchFamily="49" charset="-128"/>
                <a:cs typeface="Arial" panose="020B0604020202020204" pitchFamily="34" charset="0"/>
              </a:rPr>
              <a:t>3. Can I remove negative reviews?</a:t>
            </a:r>
          </a:p>
          <a:p>
            <a:pPr marL="0" marR="0" indent="0">
              <a:buNone/>
            </a:pPr>
            <a:r>
              <a:rPr lang="en-US"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There is not currently a method to remove negative reviews from Google, Facebook, Yelp, Foursquare, </a:t>
            </a:r>
            <a:r>
              <a:rPr lang="en-US" sz="1400" dirty="0" err="1">
                <a:solidFill>
                  <a:srgbClr val="000000"/>
                </a:solidFill>
                <a:effectLst/>
                <a:latin typeface="Arial" panose="020B0604020202020204" pitchFamily="34" charset="0"/>
                <a:ea typeface="Times New Roman" panose="02020603050405020304" pitchFamily="18" charset="0"/>
                <a:cs typeface="Arial" panose="020B0604020202020204" pitchFamily="34" charset="0"/>
              </a:rPr>
              <a:t>etc</a:t>
            </a:r>
            <a:r>
              <a:rPr lang="en-US"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however you can request to remove a negative review but only based on certain criteria. These top review/social sites base their credibility on untainted, authentic reviews. Some of these sites will even blacklist businesses that are identified for writing false reviews and/or boosting reviews unfairly.</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a:buNone/>
            </a:pPr>
            <a:r>
              <a:rPr lang="en-US" sz="14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Negative reviews can be just as powerful as positive reviews if you manage them by responding quickly. When businesses don’t respond to negative reviews at all, it gives the impression that the business does not care.</a:t>
            </a:r>
            <a:endParaRPr lang="en-US" sz="14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a:spcBef>
                <a:spcPts val="500"/>
              </a:spcBef>
              <a:spcAft>
                <a:spcPts val="0"/>
              </a:spcAft>
              <a:buNone/>
            </a:pPr>
            <a:endParaRPr lang="en-US" sz="1400" dirty="0">
              <a:effectLst/>
              <a:latin typeface="Arial" panose="020B0604020202020204" pitchFamily="34" charset="0"/>
              <a:ea typeface="MS Mincho" panose="02020609040205080304" pitchFamily="49" charset="-128"/>
              <a:cs typeface="Arial" panose="020B0604020202020204" pitchFamily="34" charset="0"/>
            </a:endParaRPr>
          </a:p>
        </p:txBody>
      </p:sp>
    </p:spTree>
    <p:extLst>
      <p:ext uri="{BB962C8B-B14F-4D97-AF65-F5344CB8AC3E}">
        <p14:creationId xmlns:p14="http://schemas.microsoft.com/office/powerpoint/2010/main" val="16967605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CADB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dirty="0">
                <a:solidFill>
                  <a:schemeClr val="bg1"/>
                </a:solidFill>
                <a:latin typeface="Arial" panose="020B0604020202020204" pitchFamily="34" charset="0"/>
                <a:cs typeface="Arial" panose="020B0604020202020204" pitchFamily="34" charset="0"/>
              </a:rPr>
              <a:t>Probing Questions</a:t>
            </a:r>
            <a:endParaRPr lang="en-US" sz="3200" dirty="0">
              <a:solidFill>
                <a:schemeClr val="bg1"/>
              </a:solidFill>
            </a:endParaRPr>
          </a:p>
        </p:txBody>
      </p:sp>
    </p:spTree>
    <p:extLst>
      <p:ext uri="{BB962C8B-B14F-4D97-AF65-F5344CB8AC3E}">
        <p14:creationId xmlns:p14="http://schemas.microsoft.com/office/powerpoint/2010/main" val="10657000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744574"/>
            <a:ext cx="4702993" cy="631574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fontAlgn="base">
              <a:spcBef>
                <a:spcPts val="0"/>
              </a:spcBef>
              <a:spcAft>
                <a:spcPts val="0"/>
              </a:spcAft>
            </a:pPr>
            <a:endParaRPr lang="en-US" sz="1800" dirty="0">
              <a:effectLst/>
              <a:latin typeface="Arial" panose="020B0604020202020204" pitchFamily="34" charset="0"/>
              <a:ea typeface="MS Mincho" panose="02020609040205080304" pitchFamily="49" charset="-128"/>
            </a:endParaRPr>
          </a:p>
        </p:txBody>
      </p:sp>
      <p:sp>
        <p:nvSpPr>
          <p:cNvPr id="2" name="Content Placeholder 2">
            <a:extLst>
              <a:ext uri="{FF2B5EF4-FFF2-40B4-BE49-F238E27FC236}">
                <a16:creationId xmlns:a16="http://schemas.microsoft.com/office/drawing/2014/main" id="{964A6A1F-E180-469E-AAC1-916AFCB06DFD}"/>
              </a:ext>
            </a:extLst>
          </p:cNvPr>
          <p:cNvSpPr txBox="1">
            <a:spLocks/>
          </p:cNvSpPr>
          <p:nvPr/>
        </p:nvSpPr>
        <p:spPr>
          <a:xfrm>
            <a:off x="6578151" y="744574"/>
            <a:ext cx="4702993" cy="6220047"/>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spcBef>
                <a:spcPts val="0"/>
              </a:spcBef>
              <a:spcAft>
                <a:spcPts val="0"/>
              </a:spcAft>
              <a:buNone/>
            </a:pPr>
            <a:r>
              <a:rPr lang="en-US" sz="1100" b="1" dirty="0">
                <a:solidFill>
                  <a:srgbClr val="2CADB2"/>
                </a:solidFill>
                <a:effectLst/>
                <a:latin typeface="Arial" panose="020B0604020202020204" pitchFamily="34" charset="0"/>
                <a:ea typeface="Times New Roman" panose="02020603050405020304" pitchFamily="18" charset="0"/>
                <a:cs typeface="Arial" panose="020B0604020202020204" pitchFamily="34" charset="0"/>
              </a:rPr>
              <a:t>Are you currently asking customers for reviews and testimonials?</a:t>
            </a:r>
          </a:p>
          <a:p>
            <a:pPr marL="0" marR="0" indent="0" fontAlgn="base">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 </a:t>
            </a:r>
          </a:p>
          <a:p>
            <a:pPr marL="0" marR="0" indent="0" fontAlgn="base">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What tools are you using today? Is it easy to share reviews across platforms and embed on your website?</a:t>
            </a:r>
          </a:p>
          <a:p>
            <a:pPr marL="0" marR="0" indent="0" fontAlgn="base">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 </a:t>
            </a:r>
          </a:p>
          <a:p>
            <a:pPr marL="0" marR="0" indent="0" fontAlgn="base">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We have a fantastic online engagement tool called Reviews Promoter that allows you to:</a:t>
            </a:r>
          </a:p>
          <a:p>
            <a:pPr marL="0" marR="0" indent="0" fontAlgn="base">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View and respond to reviews from over 15 review sources in a single dashboard.</a:t>
            </a:r>
          </a:p>
          <a:p>
            <a:pPr marL="0" marR="0" indent="0" fontAlgn="base">
              <a:spcBef>
                <a:spcPts val="0"/>
              </a:spcBef>
              <a:spcAft>
                <a:spcPts val="0"/>
              </a:spcAft>
              <a:buNone/>
            </a:pP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Set up sharing of a single review to multiple social platforms. </a:t>
            </a:r>
          </a:p>
          <a:p>
            <a:pPr marL="0" marR="0" indent="0" fontAlgn="base">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Embed a live feed of reviews on your website based on rules. </a:t>
            </a:r>
          </a:p>
          <a:p>
            <a:pPr marL="0" marR="0" indent="0" fontAlgn="base">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Plus, the tool also includes an amazing social calendar feature that will automatically generate social content for your business.</a:t>
            </a:r>
          </a:p>
          <a:p>
            <a:pPr marL="0" marR="0" indent="0" fontAlgn="base">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 </a:t>
            </a:r>
          </a:p>
          <a:p>
            <a:pPr marL="0" marR="0" indent="0" fontAlgn="base">
              <a:spcBef>
                <a:spcPts val="0"/>
              </a:spcBef>
              <a:spcAft>
                <a:spcPts val="0"/>
              </a:spcAft>
              <a:buNone/>
            </a:pPr>
            <a:r>
              <a:rPr lang="en-US" sz="1100" b="1" dirty="0">
                <a:solidFill>
                  <a:srgbClr val="2CADB2"/>
                </a:solidFill>
                <a:effectLst/>
                <a:latin typeface="Arial" panose="020B0604020202020204" pitchFamily="34" charset="0"/>
                <a:ea typeface="Times New Roman" panose="02020603050405020304" pitchFamily="18" charset="0"/>
                <a:cs typeface="Arial" panose="020B0604020202020204" pitchFamily="34" charset="0"/>
              </a:rPr>
              <a:t> </a:t>
            </a:r>
          </a:p>
          <a:p>
            <a:pPr marL="0" marR="0" indent="0" fontAlgn="base">
              <a:spcBef>
                <a:spcPts val="0"/>
              </a:spcBef>
              <a:spcAft>
                <a:spcPts val="0"/>
              </a:spcAft>
              <a:buNone/>
            </a:pPr>
            <a:r>
              <a:rPr lang="en-US" sz="1100" b="1" dirty="0">
                <a:solidFill>
                  <a:srgbClr val="2CADB2"/>
                </a:solidFill>
                <a:effectLst/>
                <a:latin typeface="Arial" panose="020B0604020202020204" pitchFamily="34" charset="0"/>
                <a:ea typeface="Times New Roman" panose="02020603050405020304" pitchFamily="18" charset="0"/>
                <a:cs typeface="Arial" panose="020B0604020202020204" pitchFamily="34" charset="0"/>
              </a:rPr>
              <a:t>Are negative reviews hurting your business? </a:t>
            </a:r>
          </a:p>
          <a:p>
            <a:pPr marL="0" marR="0" indent="0" fontAlgn="base">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 </a:t>
            </a:r>
            <a:br>
              <a:rPr lang="en-US" sz="1100" dirty="0">
                <a:effectLst/>
                <a:latin typeface="Arial" panose="020B0604020202020204" pitchFamily="34" charset="0"/>
                <a:ea typeface="Times New Roman" panose="02020603050405020304" pitchFamily="18" charset="0"/>
                <a:cs typeface="Arial" panose="020B0604020202020204" pitchFamily="34" charset="0"/>
              </a:rPr>
            </a:br>
            <a:r>
              <a:rPr lang="en-US" sz="1100" dirty="0">
                <a:effectLst/>
                <a:latin typeface="Arial" panose="020B0604020202020204" pitchFamily="34" charset="0"/>
                <a:ea typeface="Times New Roman" panose="02020603050405020304" pitchFamily="18" charset="0"/>
                <a:cs typeface="Arial" panose="020B0604020202020204" pitchFamily="34" charset="0"/>
              </a:rPr>
              <a:t>Remember that not everyone will have a positive experience with your business, but that doesn’t mean you have to let it damage your online reputation. The more reviews you gather, the less prominent the negative reviews will be. A negative review also gives you the opportunity to quickly respond and make things right with a customer which is just as powerful as a 5-star review. With Reviews Promoter, we give you the tools to easily gather more 5-star reviews by sending out surveys via text or email and respond to your reviews all in one place. </a:t>
            </a:r>
          </a:p>
          <a:p>
            <a:pPr marL="0" marR="0" indent="0" fontAlgn="base">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 </a:t>
            </a:r>
          </a:p>
          <a:p>
            <a:pPr marL="0" marR="0" indent="0" fontAlgn="base">
              <a:spcBef>
                <a:spcPts val="0"/>
              </a:spcBef>
              <a:spcAft>
                <a:spcPts val="0"/>
              </a:spcAft>
              <a:buNone/>
            </a:pPr>
            <a:r>
              <a:rPr lang="en-US" sz="1100" b="1" dirty="0">
                <a:solidFill>
                  <a:srgbClr val="2CADB2"/>
                </a:solidFill>
                <a:effectLst/>
                <a:latin typeface="Arial" panose="020B0604020202020204" pitchFamily="34" charset="0"/>
                <a:ea typeface="Times New Roman" panose="02020603050405020304" pitchFamily="18" charset="0"/>
                <a:cs typeface="Arial" panose="020B0604020202020204" pitchFamily="34" charset="0"/>
              </a:rPr>
              <a:t>How many social review channels are you listed in? </a:t>
            </a:r>
          </a:p>
          <a:p>
            <a:pPr marL="0" marR="0" indent="0" fontAlgn="base">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 </a:t>
            </a:r>
          </a:p>
          <a:p>
            <a:pPr marL="0" marR="0" indent="0" fontAlgn="base">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When it comes to researching a business, customers have different preferences on the platforms they use. In order for customers to find more information on your business, it’s important to have a profile on as many platforms as possible and to ensure that your business information is consistent. With Reputation Manager, you will see comments across Google Reviews, Yelp, Facebook, Twitter, Foursquare, Trustpilot, OpenTable, TripAdvisor, and more. </a:t>
            </a:r>
          </a:p>
        </p:txBody>
      </p:sp>
      <p:sp>
        <p:nvSpPr>
          <p:cNvPr id="3" name="Content Placeholder 2">
            <a:extLst>
              <a:ext uri="{FF2B5EF4-FFF2-40B4-BE49-F238E27FC236}">
                <a16:creationId xmlns:a16="http://schemas.microsoft.com/office/drawing/2014/main" id="{1E3E736E-02FD-5C00-7E1F-0B7E4E121E12}"/>
              </a:ext>
            </a:extLst>
          </p:cNvPr>
          <p:cNvSpPr txBox="1">
            <a:spLocks/>
          </p:cNvSpPr>
          <p:nvPr/>
        </p:nvSpPr>
        <p:spPr>
          <a:xfrm>
            <a:off x="910856" y="744574"/>
            <a:ext cx="4702993" cy="6220047"/>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spcBef>
                <a:spcPts val="0"/>
              </a:spcBef>
              <a:spcAft>
                <a:spcPts val="0"/>
              </a:spcAft>
              <a:buNone/>
            </a:pPr>
            <a:r>
              <a:rPr lang="en-US" sz="1100" b="1" dirty="0">
                <a:solidFill>
                  <a:srgbClr val="2CADB2"/>
                </a:solidFill>
                <a:effectLst/>
                <a:latin typeface="Arial" panose="020B0604020202020204" pitchFamily="34" charset="0"/>
                <a:ea typeface="Times New Roman" panose="02020603050405020304" pitchFamily="18" charset="0"/>
                <a:cs typeface="Arial" panose="020B0604020202020204" pitchFamily="34" charset="0"/>
              </a:rPr>
              <a:t>How many online reviews does your business have on Google?</a:t>
            </a:r>
          </a:p>
          <a:p>
            <a:pPr marL="0" marR="0" indent="0" fontAlgn="base">
              <a:spcBef>
                <a:spcPts val="0"/>
              </a:spcBef>
              <a:spcAft>
                <a:spcPts val="0"/>
              </a:spcAft>
              <a:buNone/>
            </a:pPr>
            <a:endParaRPr lang="en-US" sz="1100" b="1" dirty="0">
              <a:solidFill>
                <a:srgbClr val="2CADB2"/>
              </a:solidFill>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31% of consumers read more than 10 reviews before they trust a business (Statista 2023).</a:t>
            </a:r>
          </a:p>
          <a:p>
            <a:pPr marL="0" marR="0" indent="0" fontAlgn="base">
              <a:spcBef>
                <a:spcPts val="0"/>
              </a:spcBef>
              <a:spcAft>
                <a:spcPts val="0"/>
              </a:spcAft>
              <a:buNone/>
            </a:pPr>
            <a:endParaRPr lang="en-US" sz="1100" dirty="0">
              <a:latin typeface="Arial" panose="020B0604020202020204" pitchFamily="34" charset="0"/>
              <a:ea typeface="Times New Roman" panose="02020603050405020304" pitchFamily="18" charset="0"/>
              <a:cs typeface="Arial" panose="020B0604020202020204" pitchFamily="34" charset="0"/>
            </a:endParaRPr>
          </a:p>
          <a:p>
            <a:pPr marL="0" marR="0" indent="0" fontAlgn="base">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Reviews are critical for your business in a few ways:</a:t>
            </a:r>
          </a:p>
          <a:p>
            <a:pPr marL="0" marR="0" indent="0" fontAlgn="base">
              <a:spcBef>
                <a:spcPts val="0"/>
              </a:spcBef>
              <a:spcAft>
                <a:spcPts val="0"/>
              </a:spcAft>
              <a:buNone/>
            </a:pP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Potential customers want to read testimonials to trust your business. The number of reviews, average star rating and how recent these reviews are, are all important. You should also be responding to reviews across platforms, it shows you are credible, engaged and care about your customers’ experience.</a:t>
            </a:r>
          </a:p>
          <a:p>
            <a:pPr marL="0" marR="0" indent="0" fontAlgn="base">
              <a:spcBef>
                <a:spcPts val="0"/>
              </a:spcBef>
              <a:spcAft>
                <a:spcPts val="0"/>
              </a:spcAft>
              <a:buNone/>
            </a:pP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Search engines like Google use online reviews as a ranking factor in determining how your business ranks in search results. Online reviews are now an important part of local SEO.</a:t>
            </a:r>
          </a:p>
          <a:p>
            <a:pPr marL="0" marR="0" indent="0" fontAlgn="base">
              <a:spcBef>
                <a:spcPts val="0"/>
              </a:spcBef>
              <a:spcAft>
                <a:spcPts val="0"/>
              </a:spcAft>
              <a:buNone/>
            </a:pP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We have a very simple solution called Reviews Promoter that makes it easy to collect customer reviews, respond to reviews posted on different platforms, and allows you to embed positive reviews onto your website.</a:t>
            </a:r>
          </a:p>
          <a:p>
            <a:pPr marL="0" marR="0" indent="0" fontAlgn="base">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 </a:t>
            </a:r>
          </a:p>
          <a:p>
            <a:pPr marL="0" marR="0" indent="0" fontAlgn="base">
              <a:spcBef>
                <a:spcPts val="0"/>
              </a:spcBef>
              <a:spcAft>
                <a:spcPts val="0"/>
              </a:spcAft>
              <a:buNone/>
            </a:pPr>
            <a:r>
              <a:rPr lang="en-US" sz="1100" b="1" dirty="0">
                <a:solidFill>
                  <a:srgbClr val="2CADB2"/>
                </a:solidFill>
                <a:effectLst/>
                <a:latin typeface="Arial" panose="020B0604020202020204" pitchFamily="34" charset="0"/>
                <a:ea typeface="Times New Roman" panose="02020603050405020304" pitchFamily="18" charset="0"/>
                <a:cs typeface="Arial" panose="020B0604020202020204" pitchFamily="34" charset="0"/>
              </a:rPr>
              <a:t> </a:t>
            </a:r>
          </a:p>
          <a:p>
            <a:pPr marL="0" marR="0" indent="0" fontAlgn="base">
              <a:spcBef>
                <a:spcPts val="0"/>
              </a:spcBef>
              <a:spcAft>
                <a:spcPts val="0"/>
              </a:spcAft>
              <a:buNone/>
            </a:pPr>
            <a:r>
              <a:rPr lang="en-US" sz="1100" b="1" dirty="0">
                <a:solidFill>
                  <a:srgbClr val="2CADB2"/>
                </a:solidFill>
                <a:effectLst/>
                <a:latin typeface="Arial" panose="020B0604020202020204" pitchFamily="34" charset="0"/>
                <a:ea typeface="Times New Roman" panose="02020603050405020304" pitchFamily="18" charset="0"/>
                <a:cs typeface="Arial" panose="020B0604020202020204" pitchFamily="34" charset="0"/>
              </a:rPr>
              <a:t>What online marketing is your business doing today?</a:t>
            </a:r>
          </a:p>
          <a:p>
            <a:pPr marL="0" marR="0" indent="0" fontAlgn="base">
              <a:spcBef>
                <a:spcPts val="0"/>
              </a:spcBef>
              <a:spcAft>
                <a:spcPts val="0"/>
              </a:spcAft>
              <a:buNone/>
            </a:pPr>
            <a:endParaRPr lang="en-US" sz="1100" b="1" dirty="0">
              <a:solidFill>
                <a:srgbClr val="2CADB2"/>
              </a:solidFill>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Online reviews have become one of the most important elements in your online presence. Did you know 98% of consumers read online reviews for local businesses (</a:t>
            </a:r>
            <a:r>
              <a:rPr lang="en-US" sz="1100" dirty="0" err="1">
                <a:effectLst/>
                <a:latin typeface="Arial" panose="020B0604020202020204" pitchFamily="34" charset="0"/>
                <a:ea typeface="Times New Roman" panose="02020603050405020304" pitchFamily="18" charset="0"/>
                <a:cs typeface="Arial" panose="020B0604020202020204" pitchFamily="34" charset="0"/>
              </a:rPr>
              <a:t>BrightLocal</a:t>
            </a:r>
            <a:r>
              <a:rPr lang="en-US" sz="1100" dirty="0">
                <a:effectLst/>
                <a:latin typeface="Arial" panose="020B0604020202020204" pitchFamily="34" charset="0"/>
                <a:ea typeface="Times New Roman" panose="02020603050405020304" pitchFamily="18" charset="0"/>
                <a:cs typeface="Arial" panose="020B0604020202020204" pitchFamily="34" charset="0"/>
              </a:rPr>
              <a:t>, 2023)?</a:t>
            </a:r>
          </a:p>
          <a:p>
            <a:pPr marL="0" marR="0" indent="0" fontAlgn="base">
              <a:spcBef>
                <a:spcPts val="0"/>
              </a:spcBef>
              <a:spcAft>
                <a:spcPts val="0"/>
              </a:spcAft>
              <a:buNone/>
            </a:pP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Having more reviews leads to higher potential online conversion and helps to improve local SEO.</a:t>
            </a:r>
          </a:p>
          <a:p>
            <a:pPr marL="0" marR="0" indent="0" fontAlgn="base">
              <a:spcBef>
                <a:spcPts val="0"/>
              </a:spcBef>
              <a:spcAft>
                <a:spcPts val="0"/>
              </a:spcAft>
              <a:buNone/>
            </a:pP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It can be challenging to collect reviews, stay on top of managing your online reputation and respond to customer reviews online. We have a very simple solution called Reviews Promoter. </a:t>
            </a:r>
          </a:p>
          <a:p>
            <a:pPr marL="0" marR="0" indent="0" fontAlgn="base">
              <a:spcBef>
                <a:spcPts val="0"/>
              </a:spcBef>
              <a:spcAft>
                <a:spcPts val="0"/>
              </a:spcAft>
              <a:buNone/>
            </a:pPr>
            <a:endParaRPr lang="en-US" sz="1100" dirty="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It’s an all-in-one online engagement platform that helps you grow your business through four main features:</a:t>
            </a:r>
          </a:p>
          <a:p>
            <a:pPr marL="0" marR="0" indent="0" fontAlgn="base">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 </a:t>
            </a:r>
          </a:p>
          <a:p>
            <a:pPr marL="0" marR="0" indent="0" fontAlgn="base">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1. Gather Reviews </a:t>
            </a:r>
          </a:p>
          <a:p>
            <a:pPr marL="0" marR="0" indent="0" fontAlgn="base">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2. Social Content &amp; Engagement </a:t>
            </a:r>
          </a:p>
          <a:p>
            <a:pPr marL="0" marR="0" indent="0" fontAlgn="base">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3. Reputation Management </a:t>
            </a:r>
          </a:p>
          <a:p>
            <a:pPr marL="0" marR="0" indent="0" fontAlgn="base">
              <a:spcBef>
                <a:spcPts val="0"/>
              </a:spcBef>
              <a:spcAft>
                <a:spcPts val="0"/>
              </a:spcAft>
              <a:buNone/>
            </a:pPr>
            <a:r>
              <a:rPr lang="en-US" sz="1100" dirty="0">
                <a:effectLst/>
                <a:latin typeface="Arial" panose="020B0604020202020204" pitchFamily="34" charset="0"/>
                <a:ea typeface="Times New Roman" panose="02020603050405020304" pitchFamily="18" charset="0"/>
                <a:cs typeface="Arial" panose="020B0604020202020204" pitchFamily="34" charset="0"/>
              </a:rPr>
              <a:t>4. Competition Tracker </a:t>
            </a:r>
          </a:p>
          <a:p>
            <a:pPr marL="0" marR="0" indent="0" fontAlgn="base">
              <a:spcBef>
                <a:spcPts val="0"/>
              </a:spcBef>
              <a:spcAft>
                <a:spcPts val="0"/>
              </a:spcAft>
              <a:buNone/>
            </a:pPr>
            <a:r>
              <a:rPr lang="en-US" sz="1100" b="1" dirty="0">
                <a:solidFill>
                  <a:srgbClr val="2CADB2"/>
                </a:solidFill>
                <a:effectLst/>
                <a:latin typeface="Arial" panose="020B0604020202020204" pitchFamily="34" charset="0"/>
                <a:ea typeface="Times New Roman" panose="02020603050405020304" pitchFamily="18" charset="0"/>
                <a:cs typeface="Arial" panose="020B0604020202020204" pitchFamily="34" charset="0"/>
              </a:rPr>
              <a:t> </a:t>
            </a:r>
          </a:p>
          <a:p>
            <a:pPr marL="0" marR="0" indent="0" fontAlgn="base">
              <a:spcBef>
                <a:spcPts val="0"/>
              </a:spcBef>
              <a:spcAft>
                <a:spcPts val="0"/>
              </a:spcAft>
              <a:buNone/>
            </a:pPr>
            <a:r>
              <a:rPr lang="en-US" sz="1100" b="1" dirty="0">
                <a:solidFill>
                  <a:srgbClr val="2CADB2"/>
                </a:solidFill>
                <a:effectLst/>
                <a:latin typeface="Arial" panose="020B0604020202020204" pitchFamily="34" charset="0"/>
                <a:ea typeface="Times New Roman" panose="02020603050405020304" pitchFamily="18" charset="0"/>
                <a:cs typeface="Arial" panose="020B0604020202020204" pitchFamily="34" charset="0"/>
              </a:rPr>
              <a:t> </a:t>
            </a:r>
          </a:p>
        </p:txBody>
      </p:sp>
    </p:spTree>
    <p:extLst>
      <p:ext uri="{BB962C8B-B14F-4D97-AF65-F5344CB8AC3E}">
        <p14:creationId xmlns:p14="http://schemas.microsoft.com/office/powerpoint/2010/main" val="6667505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CADB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dirty="0">
                <a:solidFill>
                  <a:schemeClr val="bg1"/>
                </a:solidFill>
                <a:latin typeface="Arial" panose="020B0604020202020204" pitchFamily="34" charset="0"/>
                <a:cs typeface="Arial" panose="020B0604020202020204" pitchFamily="34" charset="0"/>
              </a:rPr>
              <a:t>Objection Handlers</a:t>
            </a:r>
            <a:endParaRPr lang="en-US" sz="3200" dirty="0">
              <a:solidFill>
                <a:schemeClr val="bg1"/>
              </a:solidFill>
            </a:endParaRPr>
          </a:p>
        </p:txBody>
      </p:sp>
    </p:spTree>
    <p:extLst>
      <p:ext uri="{BB962C8B-B14F-4D97-AF65-F5344CB8AC3E}">
        <p14:creationId xmlns:p14="http://schemas.microsoft.com/office/powerpoint/2010/main" val="5061680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744574"/>
            <a:ext cx="4702993" cy="440144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20000"/>
              </a:lnSpc>
              <a:spcBef>
                <a:spcPts val="0"/>
              </a:spcBef>
              <a:spcAft>
                <a:spcPts val="0"/>
              </a:spcAft>
              <a:buNone/>
            </a:pPr>
            <a:r>
              <a:rPr lang="en-US" sz="1000" b="1" dirty="0">
                <a:solidFill>
                  <a:srgbClr val="2CADB2"/>
                </a:solidFill>
                <a:effectLst/>
                <a:latin typeface="Arial"/>
                <a:ea typeface="Times New Roman" panose="02020603050405020304" pitchFamily="18" charset="0"/>
                <a:cs typeface="Arial"/>
              </a:rPr>
              <a:t>I am not interested. </a:t>
            </a:r>
            <a:endParaRPr lang="en-US" sz="1000" dirty="0">
              <a:solidFill>
                <a:srgbClr val="2CADB2"/>
              </a:solidFill>
              <a:effectLst/>
              <a:latin typeface="Arial"/>
              <a:ea typeface="MS Mincho" panose="02020609040205080304" pitchFamily="49" charset="-128"/>
              <a:cs typeface="Arial"/>
            </a:endParaRPr>
          </a:p>
          <a:p>
            <a:pPr marL="0" marR="0" indent="0" fontAlgn="base">
              <a:lnSpc>
                <a:spcPct val="120000"/>
              </a:lnSpc>
              <a:spcBef>
                <a:spcPts val="0"/>
              </a:spcBef>
              <a:spcAft>
                <a:spcPts val="0"/>
              </a:spcAft>
              <a:buNone/>
            </a:pPr>
            <a:endParaRPr lang="en-US" sz="1000" dirty="0">
              <a:effectLst/>
              <a:latin typeface="Arial"/>
              <a:ea typeface="MS Mincho" panose="02020609040205080304" pitchFamily="49" charset="-128"/>
              <a:cs typeface="Arial"/>
            </a:endParaRPr>
          </a:p>
          <a:p>
            <a:pPr marL="0" marR="0" indent="0" fontAlgn="base">
              <a:lnSpc>
                <a:spcPct val="120000"/>
              </a:lnSpc>
              <a:spcBef>
                <a:spcPts val="0"/>
              </a:spcBef>
              <a:spcAft>
                <a:spcPts val="0"/>
              </a:spcAft>
              <a:buNone/>
            </a:pPr>
            <a:r>
              <a:rPr lang="en-US" sz="1000" i="1" dirty="0">
                <a:effectLst/>
                <a:latin typeface="Arial"/>
                <a:ea typeface="Times New Roman" panose="02020603050405020304" pitchFamily="18" charset="0"/>
                <a:cs typeface="Arial"/>
              </a:rPr>
              <a:t>[Check the business’ Google Business Profile account and note the number of reviews and whether the owner responds to reviews.]</a:t>
            </a:r>
            <a:endParaRPr lang="en-US" sz="1000" dirty="0">
              <a:effectLst/>
              <a:latin typeface="Arial"/>
              <a:ea typeface="MS Mincho" panose="02020609040205080304" pitchFamily="49" charset="-128"/>
              <a:cs typeface="Arial"/>
            </a:endParaRPr>
          </a:p>
          <a:p>
            <a:pPr marL="0" marR="0" indent="0" fontAlgn="base">
              <a:lnSpc>
                <a:spcPct val="120000"/>
              </a:lnSpc>
              <a:spcBef>
                <a:spcPts val="0"/>
              </a:spcBef>
              <a:spcAft>
                <a:spcPts val="0"/>
              </a:spcAft>
              <a:buNone/>
            </a:pPr>
            <a:endParaRPr lang="en-US" sz="1000" dirty="0">
              <a:effectLst/>
              <a:latin typeface="Arial"/>
              <a:ea typeface="MS Mincho" panose="02020609040205080304" pitchFamily="49" charset="-128"/>
              <a:cs typeface="Arial"/>
            </a:endParaRPr>
          </a:p>
          <a:p>
            <a:pPr marL="0" marR="0" indent="0" fontAlgn="base">
              <a:lnSpc>
                <a:spcPct val="120000"/>
              </a:lnSpc>
              <a:spcBef>
                <a:spcPts val="0"/>
              </a:spcBef>
              <a:spcAft>
                <a:spcPts val="0"/>
              </a:spcAft>
              <a:buNone/>
            </a:pPr>
            <a:r>
              <a:rPr lang="en-US" sz="1000" dirty="0">
                <a:effectLst/>
                <a:latin typeface="Arial"/>
                <a:ea typeface="Times New Roman" panose="02020603050405020304" pitchFamily="18" charset="0"/>
                <a:cs typeface="Arial"/>
              </a:rPr>
              <a:t>I notice that your business today has X reviews on Google </a:t>
            </a:r>
            <a:r>
              <a:rPr lang="en-US" sz="1000" b="1" dirty="0">
                <a:effectLst/>
                <a:latin typeface="Arial"/>
                <a:ea typeface="Times New Roman" panose="02020603050405020304" pitchFamily="18" charset="0"/>
                <a:cs typeface="Arial"/>
              </a:rPr>
              <a:t>OR</a:t>
            </a:r>
            <a:r>
              <a:rPr lang="en-US" sz="1000" dirty="0">
                <a:effectLst/>
                <a:latin typeface="Arial"/>
                <a:ea typeface="Times New Roman" panose="02020603050405020304" pitchFamily="18" charset="0"/>
                <a:cs typeface="Arial"/>
              </a:rPr>
              <a:t> How many online reviews does your business have today?</a:t>
            </a:r>
            <a:endParaRPr lang="en-US" sz="1000" dirty="0">
              <a:effectLst/>
              <a:latin typeface="Arial"/>
              <a:ea typeface="MS Mincho" panose="02020609040205080304" pitchFamily="49" charset="-128"/>
              <a:cs typeface="Arial"/>
            </a:endParaRPr>
          </a:p>
          <a:p>
            <a:pPr marL="0" marR="0" indent="0" fontAlgn="base">
              <a:lnSpc>
                <a:spcPct val="120000"/>
              </a:lnSpc>
              <a:spcBef>
                <a:spcPts val="0"/>
              </a:spcBef>
              <a:spcAft>
                <a:spcPts val="0"/>
              </a:spcAft>
              <a:buNone/>
            </a:pPr>
            <a:endParaRPr lang="en-US" sz="1000" dirty="0">
              <a:effectLst/>
              <a:latin typeface="Arial"/>
              <a:ea typeface="MS Mincho" panose="02020609040205080304" pitchFamily="49" charset="-128"/>
              <a:cs typeface="Arial"/>
            </a:endParaRPr>
          </a:p>
          <a:p>
            <a:pPr marL="0" marR="0" indent="0" fontAlgn="base">
              <a:lnSpc>
                <a:spcPct val="120000"/>
              </a:lnSpc>
              <a:spcBef>
                <a:spcPts val="0"/>
              </a:spcBef>
              <a:spcAft>
                <a:spcPts val="0"/>
              </a:spcAft>
              <a:buNone/>
            </a:pPr>
            <a:r>
              <a:rPr lang="en-US" sz="1000" dirty="0">
                <a:latin typeface="Arial"/>
                <a:cs typeface="Arial"/>
              </a:rPr>
              <a:t>I’m asking because Reviews have become an important factor in SEO; search engines like Google reward businesses that have more reviews and are engaging with reviews and social media. Plus, consumers themselves are checking your reviews when deciding to do business, and the number of reviews, the rating, and how recent they are all matter as part of that decision-making process. This is something I can highly recommend that can have an impact on your business this year.</a:t>
            </a:r>
          </a:p>
          <a:p>
            <a:pPr marL="0" marR="0" indent="0" fontAlgn="base">
              <a:lnSpc>
                <a:spcPct val="120000"/>
              </a:lnSpc>
              <a:spcBef>
                <a:spcPts val="0"/>
              </a:spcBef>
              <a:spcAft>
                <a:spcPts val="0"/>
              </a:spcAft>
              <a:buNone/>
            </a:pPr>
            <a:endParaRPr lang="en-US" sz="1000" dirty="0">
              <a:effectLst/>
              <a:latin typeface="Arial"/>
              <a:ea typeface="MS Mincho" panose="02020609040205080304" pitchFamily="49" charset="-128"/>
              <a:cs typeface="Arial"/>
            </a:endParaRPr>
          </a:p>
          <a:p>
            <a:pPr marL="0" marR="0" indent="0" fontAlgn="base">
              <a:lnSpc>
                <a:spcPct val="120000"/>
              </a:lnSpc>
              <a:spcBef>
                <a:spcPts val="0"/>
              </a:spcBef>
              <a:spcAft>
                <a:spcPts val="0"/>
              </a:spcAft>
              <a:buNone/>
            </a:pPr>
            <a:r>
              <a:rPr lang="en-US" sz="1000" b="1" dirty="0">
                <a:solidFill>
                  <a:srgbClr val="2CADB2"/>
                </a:solidFill>
                <a:effectLst/>
                <a:latin typeface="Arial"/>
                <a:ea typeface="Times New Roman" panose="02020603050405020304" pitchFamily="18" charset="0"/>
                <a:cs typeface="Arial"/>
              </a:rPr>
              <a:t>I don’t really have the money for it right now. </a:t>
            </a:r>
            <a:endParaRPr lang="en-US" sz="1000" dirty="0">
              <a:solidFill>
                <a:srgbClr val="2CADB2"/>
              </a:solidFill>
              <a:effectLst/>
              <a:latin typeface="Arial"/>
              <a:ea typeface="MS Mincho" panose="02020609040205080304" pitchFamily="49" charset="-128"/>
              <a:cs typeface="Arial"/>
            </a:endParaRPr>
          </a:p>
          <a:p>
            <a:pPr marL="0" marR="0" indent="0" fontAlgn="base">
              <a:lnSpc>
                <a:spcPct val="120000"/>
              </a:lnSpc>
              <a:spcBef>
                <a:spcPts val="0"/>
              </a:spcBef>
              <a:spcAft>
                <a:spcPts val="0"/>
              </a:spcAft>
              <a:buNone/>
            </a:pPr>
            <a:endParaRPr lang="en-US" sz="1000" dirty="0">
              <a:effectLst/>
              <a:latin typeface="Arial"/>
              <a:ea typeface="MS Mincho" panose="02020609040205080304" pitchFamily="49" charset="-128"/>
              <a:cs typeface="Arial"/>
            </a:endParaRPr>
          </a:p>
          <a:p>
            <a:pPr marL="0" marR="0" indent="0" fontAlgn="base">
              <a:lnSpc>
                <a:spcPct val="120000"/>
              </a:lnSpc>
              <a:spcBef>
                <a:spcPts val="0"/>
              </a:spcBef>
              <a:spcAft>
                <a:spcPts val="0"/>
              </a:spcAft>
              <a:buNone/>
            </a:pPr>
            <a:r>
              <a:rPr lang="en-US" sz="1000" dirty="0">
                <a:latin typeface="Arial"/>
                <a:cs typeface="Arial"/>
              </a:rPr>
              <a:t>How much is a new customer worth to you? I understand every investment in your business has to be carefully considered. Are you investing in other digital or traditional marketing today? With so much of our time spent online, Google is the first-place potential customers are going to measure your business. Growing and managing your reviews has become one of the top ROI marketing activities you can do</a:t>
            </a:r>
            <a:r>
              <a:rPr lang="en-US" sz="1000" dirty="0">
                <a:effectLst/>
                <a:latin typeface="Arial"/>
                <a:ea typeface="Times New Roman" panose="02020603050405020304" pitchFamily="18" charset="0"/>
                <a:cs typeface="Arial"/>
              </a:rPr>
              <a:t>.</a:t>
            </a:r>
            <a:endParaRPr lang="en-US" sz="1000" dirty="0">
              <a:effectLst/>
              <a:latin typeface="Arial"/>
              <a:ea typeface="MS Mincho" panose="02020609040205080304" pitchFamily="49" charset="-128"/>
              <a:cs typeface="Arial"/>
            </a:endParaRPr>
          </a:p>
          <a:p>
            <a:pPr marL="0" marR="0" indent="0" fontAlgn="base">
              <a:lnSpc>
                <a:spcPct val="120000"/>
              </a:lnSpc>
              <a:spcBef>
                <a:spcPts val="0"/>
              </a:spcBef>
              <a:spcAft>
                <a:spcPts val="0"/>
              </a:spcAft>
              <a:buNone/>
            </a:pPr>
            <a:endParaRPr lang="en-US" sz="1000" dirty="0">
              <a:effectLst/>
              <a:latin typeface="Arial"/>
              <a:ea typeface="Times New Roman" panose="02020603050405020304" pitchFamily="18" charset="0"/>
              <a:cs typeface="Arial"/>
            </a:endParaRPr>
          </a:p>
          <a:p>
            <a:pPr marL="0" indent="0" fontAlgn="base">
              <a:spcBef>
                <a:spcPts val="0"/>
              </a:spcBef>
              <a:buNone/>
            </a:pPr>
            <a:r>
              <a:rPr lang="en-US" sz="1000" b="1" dirty="0">
                <a:solidFill>
                  <a:srgbClr val="2CADB2"/>
                </a:solidFill>
                <a:effectLst/>
                <a:latin typeface="Arial"/>
                <a:ea typeface="Times New Roman" panose="02020603050405020304" pitchFamily="18" charset="0"/>
                <a:cs typeface="Arial"/>
              </a:rPr>
              <a:t>Why do I need to be on a contract?</a:t>
            </a:r>
            <a:r>
              <a:rPr lang="en-US" sz="1000" b="1" dirty="0">
                <a:solidFill>
                  <a:srgbClr val="2CADB2"/>
                </a:solidFill>
                <a:latin typeface="Arial"/>
                <a:ea typeface="Times New Roman" panose="02020603050405020304" pitchFamily="18" charset="0"/>
                <a:cs typeface="Arial"/>
              </a:rPr>
              <a:t> </a:t>
            </a:r>
            <a:endParaRPr lang="en-US" sz="1000" dirty="0">
              <a:solidFill>
                <a:srgbClr val="2CADB2"/>
              </a:solidFill>
              <a:effectLst/>
              <a:latin typeface="Arial" panose="020B0604020202020204" pitchFamily="34" charset="0"/>
              <a:ea typeface="MS Mincho" panose="02020609040205080304" pitchFamily="49" charset="-128"/>
            </a:endParaRPr>
          </a:p>
          <a:p>
            <a:pPr marL="0" marR="0" indent="0" fontAlgn="base">
              <a:spcBef>
                <a:spcPts val="0"/>
              </a:spcBef>
              <a:spcAft>
                <a:spcPts val="0"/>
              </a:spcAft>
              <a:buNone/>
            </a:pPr>
            <a:endParaRPr lang="en-US" sz="1000" dirty="0">
              <a:effectLst/>
              <a:latin typeface="Arial"/>
              <a:ea typeface="MS Mincho" panose="02020609040205080304" pitchFamily="49" charset="-128"/>
              <a:cs typeface="Arial"/>
            </a:endParaRPr>
          </a:p>
          <a:p>
            <a:pPr marL="0" marR="0" indent="0" fontAlgn="base">
              <a:spcBef>
                <a:spcPts val="0"/>
              </a:spcBef>
              <a:spcAft>
                <a:spcPts val="0"/>
              </a:spcAft>
              <a:buNone/>
            </a:pPr>
            <a:r>
              <a:rPr lang="en-US" sz="1000" dirty="0">
                <a:effectLst/>
                <a:latin typeface="Arial"/>
                <a:ea typeface="Times New Roman" panose="02020603050405020304" pitchFamily="18" charset="0"/>
                <a:cs typeface="Arial"/>
              </a:rPr>
              <a:t>Being on a contract secures that we provide you with services that I mentioned to you for your business, and it secures the monthly payment that I committed to you. With access to Reviews Promoter there is no need to navigate multiple sites gathering reviews, posting content, responding to comments and checking on competitors. One dashboard gets it all done!</a:t>
            </a:r>
            <a:endParaRPr lang="en-US" sz="1000" dirty="0">
              <a:effectLst/>
              <a:latin typeface="Arial"/>
              <a:ea typeface="MS Mincho" panose="02020609040205080304" pitchFamily="49" charset="-128"/>
              <a:cs typeface="Arial"/>
            </a:endParaRPr>
          </a:p>
          <a:p>
            <a:pPr marL="0" marR="0" indent="0" fontAlgn="base">
              <a:lnSpc>
                <a:spcPct val="120000"/>
              </a:lnSpc>
              <a:spcBef>
                <a:spcPts val="0"/>
              </a:spcBef>
              <a:spcAft>
                <a:spcPts val="0"/>
              </a:spcAft>
              <a:buNone/>
            </a:pPr>
            <a:endParaRPr lang="en-US" sz="1000" dirty="0">
              <a:effectLst/>
              <a:latin typeface="Arial" panose="020B0604020202020204" pitchFamily="34" charset="0"/>
              <a:ea typeface="MS Mincho" panose="02020609040205080304" pitchFamily="49" charset="-128"/>
            </a:endParaRPr>
          </a:p>
          <a:p>
            <a:pPr marL="0" indent="0">
              <a:lnSpc>
                <a:spcPct val="120000"/>
              </a:lnSpc>
              <a:spcBef>
                <a:spcPts val="500"/>
              </a:spcBef>
              <a:buNone/>
            </a:pPr>
            <a:endParaRPr lang="en-US" sz="1000" dirty="0">
              <a:effectLst/>
              <a:latin typeface="Arial" panose="020B0604020202020204" pitchFamily="34" charset="0"/>
              <a:ea typeface="MS Mincho" panose="02020609040205080304" pitchFamily="49" charset="-128"/>
              <a:cs typeface="Arial" panose="020B0604020202020204" pitchFamily="34" charset="0"/>
            </a:endParaRPr>
          </a:p>
        </p:txBody>
      </p:sp>
      <p:sp>
        <p:nvSpPr>
          <p:cNvPr id="2" name="Content Placeholder 2">
            <a:extLst>
              <a:ext uri="{FF2B5EF4-FFF2-40B4-BE49-F238E27FC236}">
                <a16:creationId xmlns:a16="http://schemas.microsoft.com/office/drawing/2014/main" id="{964A6A1F-E180-469E-AAC1-916AFCB06DFD}"/>
              </a:ext>
            </a:extLst>
          </p:cNvPr>
          <p:cNvSpPr txBox="1">
            <a:spLocks/>
          </p:cNvSpPr>
          <p:nvPr/>
        </p:nvSpPr>
        <p:spPr>
          <a:xfrm>
            <a:off x="6578151" y="744574"/>
            <a:ext cx="4702993" cy="6089949"/>
          </a:xfrm>
          <a:prstGeom prst="rect">
            <a:avLst/>
          </a:prstGeom>
        </p:spPr>
        <p:txBody>
          <a:bodyPr vert="horz" lIns="91440" tIns="45720" rIns="91440" bIns="45720" rtlCol="0" anchor="t">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 </a:t>
            </a:r>
            <a:endParaRPr lang="en-US" sz="1100">
              <a:effectLst/>
              <a:latin typeface="Arial" panose="020B0604020202020204" pitchFamily="34" charset="0"/>
              <a:ea typeface="MS Mincho" panose="02020609040205080304" pitchFamily="49" charset="-128"/>
            </a:endParaRPr>
          </a:p>
          <a:p>
            <a:pPr marL="0" marR="0" indent="0" fontAlgn="base">
              <a:spcBef>
                <a:spcPts val="0"/>
              </a:spcBef>
              <a:spcAft>
                <a:spcPts val="0"/>
              </a:spcAft>
              <a:buNone/>
            </a:pPr>
            <a:r>
              <a:rPr lang="en-US" sz="1100" b="1">
                <a:solidFill>
                  <a:srgbClr val="2CADB2"/>
                </a:solidFill>
                <a:effectLst/>
                <a:latin typeface="Arial" panose="020B0604020202020204" pitchFamily="34" charset="0"/>
                <a:ea typeface="Times New Roman" panose="02020603050405020304" pitchFamily="18" charset="0"/>
                <a:cs typeface="Arial" panose="020B0604020202020204" pitchFamily="34" charset="0"/>
              </a:rPr>
              <a:t>We are too busy right now due to [X reason]. </a:t>
            </a:r>
            <a:endParaRPr lang="en-US" sz="1100">
              <a:solidFill>
                <a:srgbClr val="2CADB2"/>
              </a:solidFill>
              <a:effectLst/>
              <a:latin typeface="Arial" panose="020B0604020202020204" pitchFamily="34" charset="0"/>
              <a:ea typeface="MS Mincho" panose="02020609040205080304" pitchFamily="49" charset="-128"/>
            </a:endParaRPr>
          </a:p>
          <a:p>
            <a:pPr marL="0" marR="0" indent="0" fontAlgn="base">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 </a:t>
            </a:r>
            <a:endParaRPr lang="en-US" sz="1100">
              <a:effectLst/>
              <a:latin typeface="Arial" panose="020B0604020202020204" pitchFamily="34" charset="0"/>
              <a:ea typeface="MS Mincho" panose="02020609040205080304" pitchFamily="49" charset="-128"/>
            </a:endParaRPr>
          </a:p>
          <a:p>
            <a:pPr marL="0" marR="0" indent="0" fontAlgn="base">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I completely understand how busy you must be. That’s one of the great benefits of Reviews Promoter.  </a:t>
            </a:r>
            <a:endParaRPr lang="en-US" sz="1100">
              <a:effectLst/>
              <a:latin typeface="Arial" panose="020B0604020202020204" pitchFamily="34" charset="0"/>
              <a:ea typeface="MS Mincho" panose="02020609040205080304" pitchFamily="49" charset="-128"/>
            </a:endParaRPr>
          </a:p>
          <a:p>
            <a:pPr marL="0" marR="0" indent="0" fontAlgn="base">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 </a:t>
            </a:r>
            <a:endParaRPr lang="en-US" sz="1100">
              <a:effectLst/>
              <a:latin typeface="Arial" panose="020B0604020202020204" pitchFamily="34" charset="0"/>
              <a:ea typeface="MS Mincho" panose="02020609040205080304" pitchFamily="49" charset="-128"/>
            </a:endParaRPr>
          </a:p>
          <a:p>
            <a:pPr marL="0" marR="0" indent="0" fontAlgn="base">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Once it’s set up, it can save you tons of time. Our AI engine can automatically create and schedule social posts. Plus, you can increase the number of reviews by sending your customers texts and emails inviting them to join the reviews conversation. Most of our review competitors such as Podium and Trustpilot only allow customers to leave a Google and/or Facebook review. </a:t>
            </a:r>
            <a:endParaRPr lang="en-US" sz="1100">
              <a:effectLst/>
              <a:latin typeface="Arial" panose="020B0604020202020204" pitchFamily="34" charset="0"/>
              <a:ea typeface="MS Mincho" panose="02020609040205080304" pitchFamily="49" charset="-128"/>
            </a:endParaRPr>
          </a:p>
          <a:p>
            <a:pPr marL="0" marR="0" indent="0" fontAlgn="base">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 </a:t>
            </a:r>
            <a:endParaRPr lang="en-US" sz="1100">
              <a:effectLst/>
              <a:latin typeface="Arial" panose="020B0604020202020204" pitchFamily="34" charset="0"/>
              <a:ea typeface="MS Mincho" panose="02020609040205080304" pitchFamily="49" charset="-128"/>
            </a:endParaRPr>
          </a:p>
          <a:p>
            <a:pPr marL="0" marR="0" indent="0" fontAlgn="base">
              <a:lnSpc>
                <a:spcPct val="100000"/>
              </a:lnSpc>
              <a:spcBef>
                <a:spcPts val="0"/>
              </a:spcBef>
              <a:spcAft>
                <a:spcPts val="0"/>
              </a:spcAft>
              <a:buNone/>
            </a:pPr>
            <a:r>
              <a:rPr lang="en-US" sz="1100" b="1">
                <a:solidFill>
                  <a:srgbClr val="2CADB2"/>
                </a:solidFill>
                <a:effectLst/>
                <a:latin typeface="Arial" panose="020B0604020202020204" pitchFamily="34" charset="0"/>
                <a:ea typeface="Times New Roman" panose="02020603050405020304" pitchFamily="18" charset="0"/>
                <a:cs typeface="Arial" panose="020B0604020202020204" pitchFamily="34" charset="0"/>
              </a:rPr>
              <a:t>We are waiting for [X person] to start before we start using your service. </a:t>
            </a:r>
            <a:endParaRPr lang="en-US" sz="1100">
              <a:solidFill>
                <a:srgbClr val="2CADB2"/>
              </a:solidFill>
              <a:effectLst/>
              <a:latin typeface="Arial" panose="020B0604020202020204" pitchFamily="34" charset="0"/>
              <a:ea typeface="MS Mincho" panose="02020609040205080304" pitchFamily="49" charset="-128"/>
            </a:endParaRPr>
          </a:p>
          <a:p>
            <a:pPr marL="0" marR="0" indent="0" fontAlgn="base">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 </a:t>
            </a:r>
            <a:endParaRPr lang="en-US" sz="1100">
              <a:effectLst/>
              <a:latin typeface="Arial" panose="020B0604020202020204" pitchFamily="34" charset="0"/>
              <a:ea typeface="MS Mincho" panose="02020609040205080304" pitchFamily="49" charset="-128"/>
            </a:endParaRPr>
          </a:p>
          <a:p>
            <a:pPr marL="0" marR="0" indent="0" fontAlgn="base">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I understand wanting to wait; but the best time to start was yesterday! This type of activity can take a bit of time to ramp up and collect reviews, and it takes time for Google and other search engines to re-rank your business. The sooner you start optimizing your online presence, the sooner you’ll see results.</a:t>
            </a:r>
            <a:endParaRPr lang="en-US" sz="1100">
              <a:effectLst/>
              <a:latin typeface="Arial" panose="020B0604020202020204" pitchFamily="34" charset="0"/>
              <a:ea typeface="MS Mincho" panose="02020609040205080304" pitchFamily="49" charset="-128"/>
            </a:endParaRPr>
          </a:p>
          <a:p>
            <a:pPr marL="0" marR="0" indent="0" fontAlgn="base">
              <a:spcBef>
                <a:spcPts val="0"/>
              </a:spcBef>
              <a:spcAft>
                <a:spcPts val="0"/>
              </a:spcAft>
              <a:buNone/>
            </a:pPr>
            <a:r>
              <a:rPr lang="en-US" sz="1100">
                <a:solidFill>
                  <a:srgbClr val="2CADB2"/>
                </a:solidFill>
                <a:effectLst/>
                <a:latin typeface="Arial" panose="020B0604020202020204" pitchFamily="34" charset="0"/>
                <a:ea typeface="Times New Roman" panose="02020603050405020304" pitchFamily="18" charset="0"/>
                <a:cs typeface="Arial" panose="020B0604020202020204" pitchFamily="34" charset="0"/>
              </a:rPr>
              <a:t> </a:t>
            </a:r>
            <a:endParaRPr lang="en-US" sz="1100">
              <a:solidFill>
                <a:srgbClr val="2CADB2"/>
              </a:solidFill>
              <a:effectLst/>
              <a:latin typeface="Arial" panose="020B0604020202020204" pitchFamily="34" charset="0"/>
              <a:ea typeface="MS Mincho" panose="02020609040205080304" pitchFamily="49" charset="-128"/>
            </a:endParaRPr>
          </a:p>
          <a:p>
            <a:pPr marL="0" indent="0">
              <a:spcBef>
                <a:spcPts val="500"/>
              </a:spcBef>
              <a:buNone/>
            </a:pPr>
            <a:endParaRPr lang="en-US" sz="1100">
              <a:effectLst/>
              <a:latin typeface="Arial" panose="020B0604020202020204" pitchFamily="34" charset="0"/>
              <a:ea typeface="MS Mincho" panose="02020609040205080304" pitchFamily="49" charset="-128"/>
              <a:cs typeface="Arial" panose="020B0604020202020204" pitchFamily="34" charset="0"/>
            </a:endParaRPr>
          </a:p>
          <a:p>
            <a:pPr marL="0" marR="0" indent="0" fontAlgn="base">
              <a:lnSpc>
                <a:spcPct val="120000"/>
              </a:lnSpc>
              <a:spcBef>
                <a:spcPts val="0"/>
              </a:spcBef>
              <a:spcAft>
                <a:spcPts val="0"/>
              </a:spcAft>
              <a:buNone/>
            </a:pPr>
            <a:r>
              <a:rPr lang="en-US" sz="1100" b="1">
                <a:solidFill>
                  <a:srgbClr val="2CADB2"/>
                </a:solidFill>
                <a:effectLst/>
                <a:latin typeface="Arial" panose="020B0604020202020204" pitchFamily="34" charset="0"/>
                <a:ea typeface="Times New Roman" panose="02020603050405020304" pitchFamily="18" charset="0"/>
                <a:cs typeface="Arial" panose="020B0604020202020204" pitchFamily="34" charset="0"/>
              </a:rPr>
              <a:t>I am already using [insert competitor] so I’m not interested. </a:t>
            </a:r>
            <a:endParaRPr lang="en-US" sz="1100">
              <a:solidFill>
                <a:srgbClr val="2CADB2"/>
              </a:solidFill>
              <a:effectLst/>
              <a:latin typeface="Arial" panose="020B0604020202020204" pitchFamily="34" charset="0"/>
              <a:ea typeface="MS Mincho" panose="02020609040205080304" pitchFamily="49" charset="-128"/>
            </a:endParaRP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 </a:t>
            </a:r>
            <a:endParaRPr lang="en-US" sz="1100">
              <a:effectLst/>
              <a:latin typeface="Arial" panose="020B0604020202020204" pitchFamily="34" charset="0"/>
              <a:ea typeface="MS Mincho" panose="02020609040205080304" pitchFamily="49" charset="-128"/>
            </a:endParaRP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It’s great that you’re already working with [insert competitor]. It shows that you see the value of increasing the number of reviews for your business and managing your social presence. </a:t>
            </a:r>
            <a:endParaRPr lang="en-US" sz="1100">
              <a:effectLst/>
              <a:latin typeface="Arial" panose="020B0604020202020204" pitchFamily="34" charset="0"/>
              <a:ea typeface="MS Mincho" panose="02020609040205080304" pitchFamily="49" charset="-128"/>
            </a:endParaRP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 </a:t>
            </a:r>
            <a:endParaRPr lang="en-US" sz="1100">
              <a:effectLst/>
              <a:latin typeface="Arial" panose="020B0604020202020204" pitchFamily="34" charset="0"/>
              <a:ea typeface="MS Mincho" panose="02020609040205080304" pitchFamily="49" charset="-128"/>
            </a:endParaRP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May I ask how much you are spending? How many new reviews you have received in the past month?</a:t>
            </a:r>
            <a:endParaRPr lang="en-US" sz="1100">
              <a:effectLst/>
              <a:latin typeface="Arial" panose="020B0604020202020204" pitchFamily="34" charset="0"/>
              <a:ea typeface="MS Mincho" panose="02020609040205080304" pitchFamily="49" charset="-128"/>
            </a:endParaRP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 </a:t>
            </a:r>
            <a:endParaRPr lang="en-US" sz="1100">
              <a:effectLst/>
              <a:latin typeface="Arial" panose="020B0604020202020204" pitchFamily="34" charset="0"/>
              <a:ea typeface="MS Mincho" panose="02020609040205080304" pitchFamily="49" charset="-128"/>
            </a:endParaRP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With Reviews Promoter, in addition to managing reviews and social presence all in one dashboard, we can help you increase the number of reviews displayed on your website, and your customers will also have the option to leave reviews on other platforms such as Google, Facebook, Yelp, Foursquare, and more. We have helped our customers substantially increase reviews. </a:t>
            </a:r>
            <a:endParaRPr lang="en-US" sz="1100">
              <a:effectLst/>
              <a:latin typeface="Arial" panose="020B0604020202020204" pitchFamily="34" charset="0"/>
              <a:ea typeface="MS Mincho" panose="02020609040205080304" pitchFamily="49" charset="-128"/>
            </a:endParaRP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 </a:t>
            </a:r>
            <a:endParaRPr lang="en-US" sz="1100">
              <a:effectLst/>
              <a:latin typeface="Arial" panose="020B0604020202020204" pitchFamily="34" charset="0"/>
              <a:ea typeface="MS Mincho" panose="02020609040205080304" pitchFamily="49" charset="-128"/>
            </a:endParaRPr>
          </a:p>
          <a:p>
            <a:pPr marL="0" indent="0">
              <a:spcBef>
                <a:spcPts val="500"/>
              </a:spcBef>
              <a:buNone/>
            </a:pPr>
            <a:endParaRPr lang="en-US" sz="1100">
              <a:effectLst/>
              <a:latin typeface="Arial" panose="020B0604020202020204" pitchFamily="34" charset="0"/>
              <a:ea typeface="MS Mincho" panose="02020609040205080304" pitchFamily="49" charset="-128"/>
              <a:cs typeface="Arial" panose="020B0604020202020204" pitchFamily="34" charset="0"/>
            </a:endParaRPr>
          </a:p>
        </p:txBody>
      </p:sp>
    </p:spTree>
    <p:extLst>
      <p:ext uri="{BB962C8B-B14F-4D97-AF65-F5344CB8AC3E}">
        <p14:creationId xmlns:p14="http://schemas.microsoft.com/office/powerpoint/2010/main" val="37524535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2CADB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7E3C2-DCAB-FD94-9203-29001E72E6DD}"/>
              </a:ext>
            </a:extLst>
          </p:cNvPr>
          <p:cNvSpPr>
            <a:spLocks noGrp="1"/>
          </p:cNvSpPr>
          <p:nvPr>
            <p:ph type="title"/>
          </p:nvPr>
        </p:nvSpPr>
        <p:spPr/>
        <p:txBody>
          <a:bodyPr>
            <a:normAutofit/>
          </a:bodyPr>
          <a:lstStyle/>
          <a:p>
            <a:r>
              <a:rPr lang="en-US" sz="3200" b="1" dirty="0">
                <a:solidFill>
                  <a:schemeClr val="bg1"/>
                </a:solidFill>
                <a:latin typeface="Arial" panose="020B0604020202020204" pitchFamily="34" charset="0"/>
                <a:cs typeface="Arial" panose="020B0604020202020204" pitchFamily="34" charset="0"/>
              </a:rPr>
              <a:t>Test Your Knowledge</a:t>
            </a:r>
            <a:endParaRPr lang="en-US" sz="3200" dirty="0">
              <a:solidFill>
                <a:schemeClr val="bg1"/>
              </a:solidFill>
            </a:endParaRPr>
          </a:p>
        </p:txBody>
      </p:sp>
    </p:spTree>
    <p:extLst>
      <p:ext uri="{BB962C8B-B14F-4D97-AF65-F5344CB8AC3E}">
        <p14:creationId xmlns:p14="http://schemas.microsoft.com/office/powerpoint/2010/main" val="31094880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6836735" y="744574"/>
            <a:ext cx="4885365" cy="592292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20000"/>
              </a:lnSpc>
              <a:spcBef>
                <a:spcPts val="0"/>
              </a:spcBef>
              <a:spcAft>
                <a:spcPts val="0"/>
              </a:spcAft>
              <a:buNone/>
            </a:pPr>
            <a:r>
              <a:rPr lang="en-US" sz="1050" b="1">
                <a:effectLst/>
                <a:latin typeface="Arial" panose="020B0604020202020204" pitchFamily="34" charset="0"/>
                <a:ea typeface="Times New Roman" panose="02020603050405020304" pitchFamily="18" charset="0"/>
                <a:cs typeface="Arial" panose="020B0604020202020204" pitchFamily="34" charset="0"/>
              </a:rPr>
              <a:t>6. How can small businesses respond to negative reviews?</a:t>
            </a:r>
          </a:p>
          <a:p>
            <a:pPr marL="0" marR="0" indent="0" fontAlgn="base">
              <a:lnSpc>
                <a:spcPct val="120000"/>
              </a:lnSpc>
              <a:spcBef>
                <a:spcPts val="0"/>
              </a:spcBef>
              <a:spcAft>
                <a:spcPts val="0"/>
              </a:spcAft>
              <a:buNone/>
            </a:pPr>
            <a:r>
              <a:rPr lang="en-US" sz="1050">
                <a:effectLst/>
                <a:latin typeface="Arial" panose="020B0604020202020204" pitchFamily="34" charset="0"/>
                <a:ea typeface="Times New Roman" panose="02020603050405020304" pitchFamily="18" charset="0"/>
                <a:cs typeface="Arial" panose="020B0604020202020204" pitchFamily="34" charset="0"/>
              </a:rPr>
              <a:t>A) By ignoring them</a:t>
            </a:r>
          </a:p>
          <a:p>
            <a:pPr marL="0" marR="0" indent="0" fontAlgn="base">
              <a:lnSpc>
                <a:spcPct val="120000"/>
              </a:lnSpc>
              <a:spcBef>
                <a:spcPts val="0"/>
              </a:spcBef>
              <a:spcAft>
                <a:spcPts val="0"/>
              </a:spcAft>
              <a:buNone/>
            </a:pPr>
            <a:r>
              <a:rPr lang="en-US" sz="1050">
                <a:effectLst/>
                <a:latin typeface="Arial" panose="020B0604020202020204" pitchFamily="34" charset="0"/>
                <a:ea typeface="Times New Roman" panose="02020603050405020304" pitchFamily="18" charset="0"/>
                <a:cs typeface="Arial" panose="020B0604020202020204" pitchFamily="34" charset="0"/>
              </a:rPr>
              <a:t>B) By apologizing and offering a solution</a:t>
            </a:r>
          </a:p>
          <a:p>
            <a:pPr marL="0" marR="0" indent="0" fontAlgn="base">
              <a:lnSpc>
                <a:spcPct val="120000"/>
              </a:lnSpc>
              <a:spcBef>
                <a:spcPts val="0"/>
              </a:spcBef>
              <a:spcAft>
                <a:spcPts val="0"/>
              </a:spcAft>
              <a:buNone/>
            </a:pPr>
            <a:r>
              <a:rPr lang="en-US" sz="1050">
                <a:effectLst/>
                <a:latin typeface="Arial" panose="020B0604020202020204" pitchFamily="34" charset="0"/>
                <a:ea typeface="Times New Roman" panose="02020603050405020304" pitchFamily="18" charset="0"/>
                <a:cs typeface="Arial" panose="020B0604020202020204" pitchFamily="34" charset="0"/>
              </a:rPr>
              <a:t>C) By arguing with the reviewer</a:t>
            </a:r>
          </a:p>
          <a:p>
            <a:pPr marL="0" marR="0" indent="0" fontAlgn="base">
              <a:lnSpc>
                <a:spcPct val="120000"/>
              </a:lnSpc>
              <a:spcBef>
                <a:spcPts val="0"/>
              </a:spcBef>
              <a:spcAft>
                <a:spcPts val="0"/>
              </a:spcAft>
              <a:buNone/>
            </a:pPr>
            <a:r>
              <a:rPr lang="en-US" sz="1050">
                <a:effectLst/>
                <a:latin typeface="Arial" panose="020B0604020202020204" pitchFamily="34" charset="0"/>
                <a:ea typeface="Times New Roman" panose="02020603050405020304" pitchFamily="18" charset="0"/>
                <a:cs typeface="Arial" panose="020B0604020202020204" pitchFamily="34" charset="0"/>
              </a:rPr>
              <a:t>D) By deleting the review</a:t>
            </a:r>
          </a:p>
          <a:p>
            <a:pPr marL="0" marR="0" indent="0" fontAlgn="base">
              <a:lnSpc>
                <a:spcPct val="120000"/>
              </a:lnSpc>
              <a:spcBef>
                <a:spcPts val="0"/>
              </a:spcBef>
              <a:spcAft>
                <a:spcPts val="0"/>
              </a:spcAft>
              <a:buNone/>
            </a:pPr>
            <a:endParaRPr lang="en-US" sz="105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050" b="1">
                <a:effectLst/>
                <a:latin typeface="Arial" panose="020B0604020202020204" pitchFamily="34" charset="0"/>
                <a:ea typeface="Times New Roman" panose="02020603050405020304" pitchFamily="18" charset="0"/>
                <a:cs typeface="Arial" panose="020B0604020202020204" pitchFamily="34" charset="0"/>
              </a:rPr>
              <a:t>7. What is the benefit of generating positive reviews?</a:t>
            </a:r>
          </a:p>
          <a:p>
            <a:pPr marL="0" marR="0" indent="0" fontAlgn="base">
              <a:lnSpc>
                <a:spcPct val="120000"/>
              </a:lnSpc>
              <a:spcBef>
                <a:spcPts val="0"/>
              </a:spcBef>
              <a:spcAft>
                <a:spcPts val="0"/>
              </a:spcAft>
              <a:buNone/>
            </a:pPr>
            <a:r>
              <a:rPr lang="en-US" sz="1050">
                <a:effectLst/>
                <a:latin typeface="Arial" panose="020B0604020202020204" pitchFamily="34" charset="0"/>
                <a:ea typeface="Times New Roman" panose="02020603050405020304" pitchFamily="18" charset="0"/>
                <a:cs typeface="Arial" panose="020B0604020202020204" pitchFamily="34" charset="0"/>
              </a:rPr>
              <a:t>A) Increase in customer trust</a:t>
            </a:r>
          </a:p>
          <a:p>
            <a:pPr marL="0" marR="0" indent="0" fontAlgn="base">
              <a:lnSpc>
                <a:spcPct val="120000"/>
              </a:lnSpc>
              <a:spcBef>
                <a:spcPts val="0"/>
              </a:spcBef>
              <a:spcAft>
                <a:spcPts val="0"/>
              </a:spcAft>
              <a:buNone/>
            </a:pPr>
            <a:r>
              <a:rPr lang="en-US" sz="1050">
                <a:effectLst/>
                <a:latin typeface="Arial" panose="020B0604020202020204" pitchFamily="34" charset="0"/>
                <a:ea typeface="Times New Roman" panose="02020603050405020304" pitchFamily="18" charset="0"/>
                <a:cs typeface="Arial" panose="020B0604020202020204" pitchFamily="34" charset="0"/>
              </a:rPr>
              <a:t>B) Increase in sales</a:t>
            </a:r>
          </a:p>
          <a:p>
            <a:pPr marL="0" marR="0" indent="0" fontAlgn="base">
              <a:lnSpc>
                <a:spcPct val="120000"/>
              </a:lnSpc>
              <a:spcBef>
                <a:spcPts val="0"/>
              </a:spcBef>
              <a:spcAft>
                <a:spcPts val="0"/>
              </a:spcAft>
              <a:buNone/>
            </a:pPr>
            <a:r>
              <a:rPr lang="en-US" sz="1050">
                <a:effectLst/>
                <a:latin typeface="Arial" panose="020B0604020202020204" pitchFamily="34" charset="0"/>
                <a:ea typeface="Times New Roman" panose="02020603050405020304" pitchFamily="18" charset="0"/>
                <a:cs typeface="Arial" panose="020B0604020202020204" pitchFamily="34" charset="0"/>
              </a:rPr>
              <a:t>C) Both A and B</a:t>
            </a:r>
          </a:p>
          <a:p>
            <a:pPr marL="0" marR="0" indent="0" fontAlgn="base">
              <a:lnSpc>
                <a:spcPct val="120000"/>
              </a:lnSpc>
              <a:spcBef>
                <a:spcPts val="0"/>
              </a:spcBef>
              <a:spcAft>
                <a:spcPts val="0"/>
              </a:spcAft>
              <a:buNone/>
            </a:pPr>
            <a:r>
              <a:rPr lang="en-US" sz="1050">
                <a:effectLst/>
                <a:latin typeface="Arial" panose="020B0604020202020204" pitchFamily="34" charset="0"/>
                <a:ea typeface="Times New Roman" panose="02020603050405020304" pitchFamily="18" charset="0"/>
                <a:cs typeface="Arial" panose="020B0604020202020204" pitchFamily="34" charset="0"/>
              </a:rPr>
              <a:t>D) Decrease in customer loyalty</a:t>
            </a:r>
          </a:p>
          <a:p>
            <a:pPr marL="0" marR="0" indent="0" fontAlgn="base">
              <a:lnSpc>
                <a:spcPct val="120000"/>
              </a:lnSpc>
              <a:spcBef>
                <a:spcPts val="0"/>
              </a:spcBef>
              <a:spcAft>
                <a:spcPts val="0"/>
              </a:spcAft>
              <a:buNone/>
            </a:pPr>
            <a:endParaRPr lang="en-US" sz="105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050" b="1">
                <a:effectLst/>
                <a:latin typeface="Arial" panose="020B0604020202020204" pitchFamily="34" charset="0"/>
                <a:ea typeface="Times New Roman" panose="02020603050405020304" pitchFamily="18" charset="0"/>
                <a:cs typeface="Arial" panose="020B0604020202020204" pitchFamily="34" charset="0"/>
              </a:rPr>
              <a:t>8. How can small businesses generate positive reviews?</a:t>
            </a:r>
          </a:p>
          <a:p>
            <a:pPr marL="0" marR="0" indent="0" fontAlgn="base">
              <a:lnSpc>
                <a:spcPct val="120000"/>
              </a:lnSpc>
              <a:spcBef>
                <a:spcPts val="0"/>
              </a:spcBef>
              <a:spcAft>
                <a:spcPts val="0"/>
              </a:spcAft>
              <a:buNone/>
            </a:pPr>
            <a:r>
              <a:rPr lang="en-US" sz="1050">
                <a:effectLst/>
                <a:latin typeface="Arial" panose="020B0604020202020204" pitchFamily="34" charset="0"/>
                <a:ea typeface="Times New Roman" panose="02020603050405020304" pitchFamily="18" charset="0"/>
                <a:cs typeface="Arial" panose="020B0604020202020204" pitchFamily="34" charset="0"/>
              </a:rPr>
              <a:t>A) By asking satisfied customers to leave a review</a:t>
            </a:r>
          </a:p>
          <a:p>
            <a:pPr marL="0" marR="0" indent="0" fontAlgn="base">
              <a:lnSpc>
                <a:spcPct val="120000"/>
              </a:lnSpc>
              <a:spcBef>
                <a:spcPts val="0"/>
              </a:spcBef>
              <a:spcAft>
                <a:spcPts val="0"/>
              </a:spcAft>
              <a:buNone/>
            </a:pPr>
            <a:r>
              <a:rPr lang="en-US" sz="1050">
                <a:effectLst/>
                <a:latin typeface="Arial" panose="020B0604020202020204" pitchFamily="34" charset="0"/>
                <a:ea typeface="Times New Roman" panose="02020603050405020304" pitchFamily="18" charset="0"/>
                <a:cs typeface="Arial" panose="020B0604020202020204" pitchFamily="34" charset="0"/>
              </a:rPr>
              <a:t>B) By incentivizing customers to leave a review</a:t>
            </a:r>
          </a:p>
          <a:p>
            <a:pPr marL="0" marR="0" indent="0" fontAlgn="base">
              <a:lnSpc>
                <a:spcPct val="120000"/>
              </a:lnSpc>
              <a:spcBef>
                <a:spcPts val="0"/>
              </a:spcBef>
              <a:spcAft>
                <a:spcPts val="0"/>
              </a:spcAft>
              <a:buNone/>
            </a:pPr>
            <a:r>
              <a:rPr lang="en-US" sz="1050">
                <a:effectLst/>
                <a:latin typeface="Arial" panose="020B0604020202020204" pitchFamily="34" charset="0"/>
                <a:ea typeface="Times New Roman" panose="02020603050405020304" pitchFamily="18" charset="0"/>
                <a:cs typeface="Arial" panose="020B0604020202020204" pitchFamily="34" charset="0"/>
              </a:rPr>
              <a:t>C) Both A and B</a:t>
            </a:r>
          </a:p>
          <a:p>
            <a:pPr marL="0" marR="0" indent="0" fontAlgn="base">
              <a:lnSpc>
                <a:spcPct val="120000"/>
              </a:lnSpc>
              <a:spcBef>
                <a:spcPts val="0"/>
              </a:spcBef>
              <a:spcAft>
                <a:spcPts val="0"/>
              </a:spcAft>
              <a:buNone/>
            </a:pPr>
            <a:r>
              <a:rPr lang="en-US" sz="1050">
                <a:effectLst/>
                <a:latin typeface="Arial" panose="020B0604020202020204" pitchFamily="34" charset="0"/>
                <a:ea typeface="Times New Roman" panose="02020603050405020304" pitchFamily="18" charset="0"/>
                <a:cs typeface="Arial" panose="020B0604020202020204" pitchFamily="34" charset="0"/>
              </a:rPr>
              <a:t>D) By paying for positive reviews</a:t>
            </a:r>
          </a:p>
          <a:p>
            <a:pPr marL="0" marR="0" indent="0" fontAlgn="base">
              <a:lnSpc>
                <a:spcPct val="120000"/>
              </a:lnSpc>
              <a:spcBef>
                <a:spcPts val="0"/>
              </a:spcBef>
              <a:spcAft>
                <a:spcPts val="0"/>
              </a:spcAft>
              <a:buNone/>
            </a:pPr>
            <a:endParaRPr lang="en-US" sz="105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050" b="1">
                <a:effectLst/>
                <a:latin typeface="Arial" panose="020B0604020202020204" pitchFamily="34" charset="0"/>
                <a:ea typeface="Times New Roman" panose="02020603050405020304" pitchFamily="18" charset="0"/>
                <a:cs typeface="Arial" panose="020B0604020202020204" pitchFamily="34" charset="0"/>
              </a:rPr>
              <a:t>9. How long does it take to see the effects of online reputation management?</a:t>
            </a:r>
          </a:p>
          <a:p>
            <a:pPr marL="0" marR="0" indent="0" fontAlgn="base">
              <a:lnSpc>
                <a:spcPct val="120000"/>
              </a:lnSpc>
              <a:spcBef>
                <a:spcPts val="0"/>
              </a:spcBef>
              <a:spcAft>
                <a:spcPts val="0"/>
              </a:spcAft>
              <a:buNone/>
            </a:pPr>
            <a:r>
              <a:rPr lang="en-US" sz="1050">
                <a:effectLst/>
                <a:latin typeface="Arial" panose="020B0604020202020204" pitchFamily="34" charset="0"/>
                <a:ea typeface="Times New Roman" panose="02020603050405020304" pitchFamily="18" charset="0"/>
                <a:cs typeface="Arial" panose="020B0604020202020204" pitchFamily="34" charset="0"/>
              </a:rPr>
              <a:t>A) Immediately</a:t>
            </a:r>
          </a:p>
          <a:p>
            <a:pPr marL="0" marR="0" indent="0" fontAlgn="base">
              <a:lnSpc>
                <a:spcPct val="120000"/>
              </a:lnSpc>
              <a:spcBef>
                <a:spcPts val="0"/>
              </a:spcBef>
              <a:spcAft>
                <a:spcPts val="0"/>
              </a:spcAft>
              <a:buNone/>
            </a:pPr>
            <a:r>
              <a:rPr lang="en-US" sz="1050">
                <a:effectLst/>
                <a:latin typeface="Arial" panose="020B0604020202020204" pitchFamily="34" charset="0"/>
                <a:ea typeface="Times New Roman" panose="02020603050405020304" pitchFamily="18" charset="0"/>
                <a:cs typeface="Arial" panose="020B0604020202020204" pitchFamily="34" charset="0"/>
              </a:rPr>
              <a:t>B) A few days</a:t>
            </a:r>
          </a:p>
          <a:p>
            <a:pPr marL="0" marR="0" indent="0" fontAlgn="base">
              <a:lnSpc>
                <a:spcPct val="120000"/>
              </a:lnSpc>
              <a:spcBef>
                <a:spcPts val="0"/>
              </a:spcBef>
              <a:spcAft>
                <a:spcPts val="0"/>
              </a:spcAft>
              <a:buNone/>
            </a:pPr>
            <a:r>
              <a:rPr lang="en-US" sz="1050">
                <a:effectLst/>
                <a:latin typeface="Arial" panose="020B0604020202020204" pitchFamily="34" charset="0"/>
                <a:ea typeface="Times New Roman" panose="02020603050405020304" pitchFamily="18" charset="0"/>
                <a:cs typeface="Arial" panose="020B0604020202020204" pitchFamily="34" charset="0"/>
              </a:rPr>
              <a:t>C) A few weeks</a:t>
            </a:r>
          </a:p>
          <a:p>
            <a:pPr marL="0" marR="0" indent="0" fontAlgn="base">
              <a:lnSpc>
                <a:spcPct val="120000"/>
              </a:lnSpc>
              <a:spcBef>
                <a:spcPts val="0"/>
              </a:spcBef>
              <a:spcAft>
                <a:spcPts val="0"/>
              </a:spcAft>
              <a:buNone/>
            </a:pPr>
            <a:r>
              <a:rPr lang="en-US" sz="1050">
                <a:effectLst/>
                <a:latin typeface="Arial" panose="020B0604020202020204" pitchFamily="34" charset="0"/>
                <a:ea typeface="Times New Roman" panose="02020603050405020304" pitchFamily="18" charset="0"/>
                <a:cs typeface="Arial" panose="020B0604020202020204" pitchFamily="34" charset="0"/>
              </a:rPr>
              <a:t>D) A few months</a:t>
            </a:r>
          </a:p>
          <a:p>
            <a:pPr marL="0" marR="0" indent="0" fontAlgn="base">
              <a:lnSpc>
                <a:spcPct val="120000"/>
              </a:lnSpc>
              <a:spcBef>
                <a:spcPts val="0"/>
              </a:spcBef>
              <a:spcAft>
                <a:spcPts val="0"/>
              </a:spcAft>
              <a:buNone/>
            </a:pPr>
            <a:endParaRPr lang="en-US" sz="105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050" b="1">
                <a:effectLst/>
                <a:latin typeface="Arial" panose="020B0604020202020204" pitchFamily="34" charset="0"/>
                <a:ea typeface="Times New Roman" panose="02020603050405020304" pitchFamily="18" charset="0"/>
                <a:cs typeface="Arial" panose="020B0604020202020204" pitchFamily="34" charset="0"/>
              </a:rPr>
              <a:t>10. How can small businesses choose an online reputation management tool?</a:t>
            </a:r>
          </a:p>
          <a:p>
            <a:pPr marL="0" marR="0" indent="0" fontAlgn="base">
              <a:lnSpc>
                <a:spcPct val="120000"/>
              </a:lnSpc>
              <a:spcBef>
                <a:spcPts val="0"/>
              </a:spcBef>
              <a:spcAft>
                <a:spcPts val="0"/>
              </a:spcAft>
              <a:buNone/>
            </a:pPr>
            <a:r>
              <a:rPr lang="en-US" sz="1050">
                <a:effectLst/>
                <a:latin typeface="Arial" panose="020B0604020202020204" pitchFamily="34" charset="0"/>
                <a:ea typeface="Times New Roman" panose="02020603050405020304" pitchFamily="18" charset="0"/>
                <a:cs typeface="Arial" panose="020B0604020202020204" pitchFamily="34" charset="0"/>
              </a:rPr>
              <a:t>A) By comparing features and pricing</a:t>
            </a:r>
          </a:p>
          <a:p>
            <a:pPr marL="0" marR="0" indent="0" fontAlgn="base">
              <a:lnSpc>
                <a:spcPct val="120000"/>
              </a:lnSpc>
              <a:spcBef>
                <a:spcPts val="0"/>
              </a:spcBef>
              <a:spcAft>
                <a:spcPts val="0"/>
              </a:spcAft>
              <a:buNone/>
            </a:pPr>
            <a:r>
              <a:rPr lang="en-US" sz="1050">
                <a:effectLst/>
                <a:latin typeface="Arial" panose="020B0604020202020204" pitchFamily="34" charset="0"/>
                <a:ea typeface="Times New Roman" panose="02020603050405020304" pitchFamily="18" charset="0"/>
                <a:cs typeface="Arial" panose="020B0604020202020204" pitchFamily="34" charset="0"/>
              </a:rPr>
              <a:t>B) By reading reviews from other businesses</a:t>
            </a:r>
          </a:p>
          <a:p>
            <a:pPr marL="0" marR="0" indent="0" fontAlgn="base">
              <a:lnSpc>
                <a:spcPct val="120000"/>
              </a:lnSpc>
              <a:spcBef>
                <a:spcPts val="0"/>
              </a:spcBef>
              <a:spcAft>
                <a:spcPts val="0"/>
              </a:spcAft>
              <a:buNone/>
            </a:pPr>
            <a:r>
              <a:rPr lang="en-US" sz="1050">
                <a:effectLst/>
                <a:latin typeface="Arial" panose="020B0604020202020204" pitchFamily="34" charset="0"/>
                <a:ea typeface="Times New Roman" panose="02020603050405020304" pitchFamily="18" charset="0"/>
                <a:cs typeface="Arial" panose="020B0604020202020204" pitchFamily="34" charset="0"/>
              </a:rPr>
              <a:t>C) By choosing the first tool they find</a:t>
            </a:r>
          </a:p>
          <a:p>
            <a:pPr marL="0" marR="0" indent="0" fontAlgn="base">
              <a:lnSpc>
                <a:spcPct val="120000"/>
              </a:lnSpc>
              <a:spcBef>
                <a:spcPts val="0"/>
              </a:spcBef>
              <a:spcAft>
                <a:spcPts val="0"/>
              </a:spcAft>
              <a:buNone/>
            </a:pPr>
            <a:r>
              <a:rPr lang="en-US" sz="1050">
                <a:effectLst/>
                <a:latin typeface="Arial" panose="020B0604020202020204" pitchFamily="34" charset="0"/>
                <a:ea typeface="Times New Roman" panose="02020603050405020304" pitchFamily="18" charset="0"/>
                <a:cs typeface="Arial" panose="020B0604020202020204" pitchFamily="34" charset="0"/>
              </a:rPr>
              <a:t>D) By choosing the most expensive tool available</a:t>
            </a:r>
            <a:endParaRPr lang="en-US" sz="1050">
              <a:effectLst/>
              <a:latin typeface="Arial" panose="020B0604020202020204" pitchFamily="34" charset="0"/>
              <a:ea typeface="MS Mincho" panose="02020609040205080304" pitchFamily="49" charset="-128"/>
              <a:cs typeface="Arial" panose="020B0604020202020204" pitchFamily="34" charset="0"/>
            </a:endParaRPr>
          </a:p>
        </p:txBody>
      </p:sp>
      <p:sp>
        <p:nvSpPr>
          <p:cNvPr id="3" name="Content Placeholder 2">
            <a:extLst>
              <a:ext uri="{FF2B5EF4-FFF2-40B4-BE49-F238E27FC236}">
                <a16:creationId xmlns:a16="http://schemas.microsoft.com/office/drawing/2014/main" id="{E8CC447A-EE98-AAA9-1D05-19E5CBB16F45}"/>
              </a:ext>
            </a:extLst>
          </p:cNvPr>
          <p:cNvSpPr txBox="1">
            <a:spLocks/>
          </p:cNvSpPr>
          <p:nvPr/>
        </p:nvSpPr>
        <p:spPr>
          <a:xfrm>
            <a:off x="652272" y="744574"/>
            <a:ext cx="4702993" cy="592292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fontAlgn="base">
              <a:lnSpc>
                <a:spcPct val="120000"/>
              </a:lnSpc>
              <a:spcBef>
                <a:spcPts val="0"/>
              </a:spcBef>
              <a:spcAft>
                <a:spcPts val="0"/>
              </a:spcAft>
              <a:buNone/>
            </a:pPr>
            <a:r>
              <a:rPr lang="en-US" sz="1100" b="1">
                <a:effectLst/>
                <a:latin typeface="Arial" panose="020B0604020202020204" pitchFamily="34" charset="0"/>
                <a:ea typeface="Times New Roman" panose="02020603050405020304" pitchFamily="18" charset="0"/>
                <a:cs typeface="Arial" panose="020B0604020202020204" pitchFamily="34" charset="0"/>
              </a:rPr>
              <a:t>1. What are some of the key features of Reviews Promoter?</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A) Reputation Manager</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B) Social Calendar</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C) Automate social posting</a:t>
            </a:r>
          </a:p>
          <a:p>
            <a:pPr marL="0" marR="0" indent="0" fontAlgn="base">
              <a:lnSpc>
                <a:spcPct val="120000"/>
              </a:lnSpc>
              <a:spcBef>
                <a:spcPts val="0"/>
              </a:spcBef>
              <a:spcAft>
                <a:spcPts val="0"/>
              </a:spcAft>
              <a:buNone/>
            </a:pPr>
            <a:r>
              <a:rPr lang="en-US" sz="1100">
                <a:latin typeface="Arial" panose="020B0604020202020204" pitchFamily="34" charset="0"/>
                <a:ea typeface="Times New Roman" panose="02020603050405020304" pitchFamily="18" charset="0"/>
                <a:cs typeface="Arial" panose="020B0604020202020204" pitchFamily="34" charset="0"/>
              </a:rPr>
              <a:t>D) All of the above</a:t>
            </a:r>
            <a:endParaRPr lang="en-US" sz="110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endParaRPr lang="en-US" sz="1100">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b="1">
                <a:effectLst/>
                <a:latin typeface="Arial" panose="020B0604020202020204" pitchFamily="34" charset="0"/>
                <a:ea typeface="Times New Roman" panose="02020603050405020304" pitchFamily="18" charset="0"/>
                <a:cs typeface="Arial" panose="020B0604020202020204" pitchFamily="34" charset="0"/>
              </a:rPr>
              <a:t>2. What is the benefit of online reputation management?</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A) Improve a business's image</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B) Increase sales</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C) Decrease customer satisfaction</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D) Decrease customer engagement</a:t>
            </a:r>
          </a:p>
          <a:p>
            <a:pPr marL="0" marR="0" indent="0" fontAlgn="base">
              <a:lnSpc>
                <a:spcPct val="120000"/>
              </a:lnSpc>
              <a:spcBef>
                <a:spcPts val="0"/>
              </a:spcBef>
              <a:spcAft>
                <a:spcPts val="0"/>
              </a:spcAft>
              <a:buNone/>
            </a:pPr>
            <a:endParaRPr lang="en-US" sz="1100" b="1">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b="1">
                <a:effectLst/>
                <a:latin typeface="Arial" panose="020B0604020202020204" pitchFamily="34" charset="0"/>
                <a:ea typeface="Times New Roman" panose="02020603050405020304" pitchFamily="18" charset="0"/>
                <a:cs typeface="Arial" panose="020B0604020202020204" pitchFamily="34" charset="0"/>
              </a:rPr>
              <a:t>3. What are the consequences of negative online reviews?</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A) Decreased customer trust</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B) Decreased sales</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C) All of the above</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D) None of the above</a:t>
            </a:r>
          </a:p>
          <a:p>
            <a:pPr marL="0" marR="0" indent="0" fontAlgn="base">
              <a:lnSpc>
                <a:spcPct val="120000"/>
              </a:lnSpc>
              <a:spcBef>
                <a:spcPts val="0"/>
              </a:spcBef>
              <a:spcAft>
                <a:spcPts val="0"/>
              </a:spcAft>
              <a:buNone/>
            </a:pPr>
            <a:endParaRPr lang="en-US" sz="1100" b="1">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b="1">
                <a:effectLst/>
                <a:latin typeface="Arial" panose="020B0604020202020204" pitchFamily="34" charset="0"/>
                <a:ea typeface="Times New Roman" panose="02020603050405020304" pitchFamily="18" charset="0"/>
                <a:cs typeface="Arial" panose="020B0604020202020204" pitchFamily="34" charset="0"/>
              </a:rPr>
              <a:t>4. How can online reputation management help small businesses?</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A) By monitoring online reviews</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B) By responding to negative reviews</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C) By generating positive reviews</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D) All of the above</a:t>
            </a:r>
          </a:p>
          <a:p>
            <a:pPr marL="0" marR="0" indent="0" fontAlgn="base">
              <a:lnSpc>
                <a:spcPct val="120000"/>
              </a:lnSpc>
              <a:spcBef>
                <a:spcPts val="0"/>
              </a:spcBef>
              <a:spcAft>
                <a:spcPts val="0"/>
              </a:spcAft>
              <a:buNone/>
            </a:pPr>
            <a:endParaRPr lang="en-US" sz="1100" b="1">
              <a:effectLst/>
              <a:latin typeface="Arial" panose="020B0604020202020204" pitchFamily="34" charset="0"/>
              <a:ea typeface="Times New Roman" panose="02020603050405020304" pitchFamily="18" charset="0"/>
              <a:cs typeface="Arial" panose="020B0604020202020204" pitchFamily="34" charset="0"/>
            </a:endParaRPr>
          </a:p>
          <a:p>
            <a:pPr marL="0" marR="0" indent="0" fontAlgn="base">
              <a:lnSpc>
                <a:spcPct val="120000"/>
              </a:lnSpc>
              <a:spcBef>
                <a:spcPts val="0"/>
              </a:spcBef>
              <a:spcAft>
                <a:spcPts val="0"/>
              </a:spcAft>
              <a:buNone/>
            </a:pPr>
            <a:r>
              <a:rPr lang="en-US" sz="1100" b="1">
                <a:effectLst/>
                <a:latin typeface="Arial" panose="020B0604020202020204" pitchFamily="34" charset="0"/>
                <a:ea typeface="Times New Roman" panose="02020603050405020304" pitchFamily="18" charset="0"/>
                <a:cs typeface="Arial" panose="020B0604020202020204" pitchFamily="34" charset="0"/>
              </a:rPr>
              <a:t>5. How can small businesses monitor their online reputation?</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A) By checking online review sites</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B) By using an online reputation management tool</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C) Both A and B</a:t>
            </a:r>
          </a:p>
          <a:p>
            <a:pPr marL="0" marR="0" indent="0" fontAlgn="base">
              <a:lnSpc>
                <a:spcPct val="120000"/>
              </a:lnSpc>
              <a:spcBef>
                <a:spcPts val="0"/>
              </a:spcBef>
              <a:spcAft>
                <a:spcPts val="0"/>
              </a:spcAft>
              <a:buNone/>
            </a:pPr>
            <a:r>
              <a:rPr lang="en-US" sz="1100">
                <a:effectLst/>
                <a:latin typeface="Arial" panose="020B0604020202020204" pitchFamily="34" charset="0"/>
                <a:ea typeface="Times New Roman" panose="02020603050405020304" pitchFamily="18" charset="0"/>
                <a:cs typeface="Arial" panose="020B0604020202020204" pitchFamily="34" charset="0"/>
              </a:rPr>
              <a:t>D) By asking customers for feedback via email</a:t>
            </a:r>
            <a:endParaRPr lang="en-US" sz="1100">
              <a:effectLst/>
              <a:latin typeface="Arial" panose="020B0604020202020204" pitchFamily="34" charset="0"/>
              <a:ea typeface="MS Mincho" panose="02020609040205080304" pitchFamily="49" charset="-128"/>
              <a:cs typeface="Arial" panose="020B0604020202020204" pitchFamily="34" charset="0"/>
            </a:endParaRPr>
          </a:p>
        </p:txBody>
      </p:sp>
    </p:spTree>
    <p:extLst>
      <p:ext uri="{BB962C8B-B14F-4D97-AF65-F5344CB8AC3E}">
        <p14:creationId xmlns:p14="http://schemas.microsoft.com/office/powerpoint/2010/main" val="25342053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68B852A-32EF-6B1E-B4D7-1EFB8581EB20}"/>
              </a:ext>
            </a:extLst>
          </p:cNvPr>
          <p:cNvSpPr txBox="1">
            <a:spLocks/>
          </p:cNvSpPr>
          <p:nvPr/>
        </p:nvSpPr>
        <p:spPr>
          <a:xfrm>
            <a:off x="804672" y="744574"/>
            <a:ext cx="4702993" cy="592292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buFont typeface="+mj-lt"/>
              <a:buAutoNum type="arabicPeriod"/>
            </a:pPr>
            <a:endParaRPr lang="en-US" sz="800" b="0" i="0">
              <a:solidFill>
                <a:srgbClr val="374151"/>
              </a:solidFill>
              <a:effectLst/>
              <a:latin typeface="Söhne"/>
            </a:endParaRPr>
          </a:p>
        </p:txBody>
      </p:sp>
      <p:sp>
        <p:nvSpPr>
          <p:cNvPr id="3" name="Content Placeholder 2">
            <a:extLst>
              <a:ext uri="{FF2B5EF4-FFF2-40B4-BE49-F238E27FC236}">
                <a16:creationId xmlns:a16="http://schemas.microsoft.com/office/drawing/2014/main" id="{E8CC447A-EE98-AAA9-1D05-19E5CBB16F45}"/>
              </a:ext>
            </a:extLst>
          </p:cNvPr>
          <p:cNvSpPr txBox="1">
            <a:spLocks/>
          </p:cNvSpPr>
          <p:nvPr/>
        </p:nvSpPr>
        <p:spPr>
          <a:xfrm>
            <a:off x="1223772" y="1468474"/>
            <a:ext cx="6231128" cy="5922926"/>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fontAlgn="base">
              <a:lnSpc>
                <a:spcPct val="200000"/>
              </a:lnSpc>
              <a:spcBef>
                <a:spcPts val="0"/>
              </a:spcBef>
              <a:spcAft>
                <a:spcPts val="0"/>
              </a:spcAft>
              <a:buFont typeface="+mj-lt"/>
              <a:buAutoNum type="arabicPeriod"/>
            </a:pPr>
            <a:r>
              <a:rPr lang="en-US" sz="1200">
                <a:effectLst/>
                <a:latin typeface="Arial" panose="020B0604020202020204" pitchFamily="34" charset="0"/>
                <a:ea typeface="Times New Roman" panose="02020603050405020304" pitchFamily="18" charset="0"/>
                <a:cs typeface="Arial" panose="020B0604020202020204" pitchFamily="34" charset="0"/>
              </a:rPr>
              <a:t>D) All of the above</a:t>
            </a:r>
          </a:p>
          <a:p>
            <a:pPr marR="0" fontAlgn="base">
              <a:lnSpc>
                <a:spcPct val="200000"/>
              </a:lnSpc>
              <a:spcBef>
                <a:spcPts val="0"/>
              </a:spcBef>
              <a:spcAft>
                <a:spcPts val="0"/>
              </a:spcAft>
              <a:buFont typeface="+mj-lt"/>
              <a:buAutoNum type="arabicPeriod"/>
            </a:pPr>
            <a:r>
              <a:rPr lang="en-US" sz="1200">
                <a:effectLst/>
                <a:latin typeface="Arial" panose="020B0604020202020204" pitchFamily="34" charset="0"/>
                <a:ea typeface="Times New Roman" panose="02020603050405020304" pitchFamily="18" charset="0"/>
                <a:cs typeface="Arial" panose="020B0604020202020204" pitchFamily="34" charset="0"/>
              </a:rPr>
              <a:t>B) Increase sales</a:t>
            </a:r>
          </a:p>
          <a:p>
            <a:pPr marR="0" fontAlgn="base">
              <a:lnSpc>
                <a:spcPct val="200000"/>
              </a:lnSpc>
              <a:spcBef>
                <a:spcPts val="0"/>
              </a:spcBef>
              <a:spcAft>
                <a:spcPts val="0"/>
              </a:spcAft>
              <a:buFont typeface="+mj-lt"/>
              <a:buAutoNum type="arabicPeriod"/>
            </a:pPr>
            <a:r>
              <a:rPr lang="en-US" sz="1200">
                <a:effectLst/>
                <a:latin typeface="Arial" panose="020B0604020202020204" pitchFamily="34" charset="0"/>
                <a:ea typeface="Times New Roman" panose="02020603050405020304" pitchFamily="18" charset="0"/>
                <a:cs typeface="Arial" panose="020B0604020202020204" pitchFamily="34" charset="0"/>
              </a:rPr>
              <a:t>C) All of the above</a:t>
            </a:r>
          </a:p>
          <a:p>
            <a:pPr marR="0" fontAlgn="base">
              <a:lnSpc>
                <a:spcPct val="200000"/>
              </a:lnSpc>
              <a:spcBef>
                <a:spcPts val="0"/>
              </a:spcBef>
              <a:spcAft>
                <a:spcPts val="0"/>
              </a:spcAft>
              <a:buFont typeface="+mj-lt"/>
              <a:buAutoNum type="arabicPeriod"/>
            </a:pPr>
            <a:r>
              <a:rPr lang="en-US" sz="1200">
                <a:effectLst/>
                <a:latin typeface="Arial" panose="020B0604020202020204" pitchFamily="34" charset="0"/>
                <a:ea typeface="Times New Roman" panose="02020603050405020304" pitchFamily="18" charset="0"/>
                <a:cs typeface="Arial" panose="020B0604020202020204" pitchFamily="34" charset="0"/>
              </a:rPr>
              <a:t>D) All of the above</a:t>
            </a:r>
          </a:p>
          <a:p>
            <a:pPr marR="0" fontAlgn="base">
              <a:lnSpc>
                <a:spcPct val="200000"/>
              </a:lnSpc>
              <a:spcBef>
                <a:spcPts val="0"/>
              </a:spcBef>
              <a:spcAft>
                <a:spcPts val="0"/>
              </a:spcAft>
              <a:buFont typeface="+mj-lt"/>
              <a:buAutoNum type="arabicPeriod"/>
            </a:pPr>
            <a:r>
              <a:rPr lang="en-US" sz="1200">
                <a:effectLst/>
                <a:latin typeface="Arial" panose="020B0604020202020204" pitchFamily="34" charset="0"/>
                <a:ea typeface="Times New Roman" panose="02020603050405020304" pitchFamily="18" charset="0"/>
                <a:cs typeface="Arial" panose="020B0604020202020204" pitchFamily="34" charset="0"/>
              </a:rPr>
              <a:t>C) Both A and B</a:t>
            </a:r>
          </a:p>
          <a:p>
            <a:pPr marR="0" fontAlgn="base">
              <a:lnSpc>
                <a:spcPct val="200000"/>
              </a:lnSpc>
              <a:spcBef>
                <a:spcPts val="0"/>
              </a:spcBef>
              <a:spcAft>
                <a:spcPts val="0"/>
              </a:spcAft>
              <a:buFont typeface="+mj-lt"/>
              <a:buAutoNum type="arabicPeriod"/>
            </a:pPr>
            <a:r>
              <a:rPr lang="en-US" sz="1200">
                <a:effectLst/>
                <a:latin typeface="Arial" panose="020B0604020202020204" pitchFamily="34" charset="0"/>
                <a:ea typeface="Times New Roman" panose="02020603050405020304" pitchFamily="18" charset="0"/>
                <a:cs typeface="Arial" panose="020B0604020202020204" pitchFamily="34" charset="0"/>
              </a:rPr>
              <a:t>B) By apologizing and offering a solution</a:t>
            </a:r>
          </a:p>
          <a:p>
            <a:pPr marR="0" fontAlgn="base">
              <a:lnSpc>
                <a:spcPct val="200000"/>
              </a:lnSpc>
              <a:spcBef>
                <a:spcPts val="0"/>
              </a:spcBef>
              <a:spcAft>
                <a:spcPts val="0"/>
              </a:spcAft>
              <a:buFont typeface="+mj-lt"/>
              <a:buAutoNum type="arabicPeriod"/>
            </a:pPr>
            <a:r>
              <a:rPr lang="en-US" sz="1200">
                <a:effectLst/>
                <a:latin typeface="Arial" panose="020B0604020202020204" pitchFamily="34" charset="0"/>
                <a:ea typeface="Times New Roman" panose="02020603050405020304" pitchFamily="18" charset="0"/>
                <a:cs typeface="Arial" panose="020B0604020202020204" pitchFamily="34" charset="0"/>
              </a:rPr>
              <a:t>C) Both A and B</a:t>
            </a:r>
          </a:p>
          <a:p>
            <a:pPr marR="0" fontAlgn="base">
              <a:lnSpc>
                <a:spcPct val="200000"/>
              </a:lnSpc>
              <a:spcBef>
                <a:spcPts val="0"/>
              </a:spcBef>
              <a:spcAft>
                <a:spcPts val="0"/>
              </a:spcAft>
              <a:buFont typeface="+mj-lt"/>
              <a:buAutoNum type="arabicPeriod"/>
            </a:pPr>
            <a:r>
              <a:rPr lang="en-US" sz="1200">
                <a:effectLst/>
                <a:latin typeface="Arial" panose="020B0604020202020204" pitchFamily="34" charset="0"/>
                <a:ea typeface="Times New Roman" panose="02020603050405020304" pitchFamily="18" charset="0"/>
                <a:cs typeface="Arial" panose="020B0604020202020204" pitchFamily="34" charset="0"/>
              </a:rPr>
              <a:t>C) Both A and B</a:t>
            </a:r>
          </a:p>
          <a:p>
            <a:pPr marR="0" fontAlgn="base">
              <a:lnSpc>
                <a:spcPct val="200000"/>
              </a:lnSpc>
              <a:spcBef>
                <a:spcPts val="0"/>
              </a:spcBef>
              <a:spcAft>
                <a:spcPts val="0"/>
              </a:spcAft>
              <a:buFont typeface="+mj-lt"/>
              <a:buAutoNum type="arabicPeriod"/>
            </a:pPr>
            <a:r>
              <a:rPr lang="en-US" sz="1200">
                <a:effectLst/>
                <a:latin typeface="Arial" panose="020B0604020202020204" pitchFamily="34" charset="0"/>
                <a:ea typeface="Times New Roman" panose="02020603050405020304" pitchFamily="18" charset="0"/>
                <a:cs typeface="Arial" panose="020B0604020202020204" pitchFamily="34" charset="0"/>
              </a:rPr>
              <a:t>C) A few weeks</a:t>
            </a:r>
          </a:p>
          <a:p>
            <a:pPr marR="0" fontAlgn="base">
              <a:lnSpc>
                <a:spcPct val="200000"/>
              </a:lnSpc>
              <a:spcBef>
                <a:spcPts val="0"/>
              </a:spcBef>
              <a:spcAft>
                <a:spcPts val="0"/>
              </a:spcAft>
              <a:buFont typeface="+mj-lt"/>
              <a:buAutoNum type="arabicPeriod"/>
            </a:pPr>
            <a:r>
              <a:rPr lang="en-US" sz="1200">
                <a:effectLst/>
                <a:latin typeface="Arial" panose="020B0604020202020204" pitchFamily="34" charset="0"/>
                <a:ea typeface="Times New Roman" panose="02020603050405020304" pitchFamily="18" charset="0"/>
                <a:cs typeface="Arial" panose="020B0604020202020204" pitchFamily="34" charset="0"/>
              </a:rPr>
              <a:t>A) By comparing features and pricing</a:t>
            </a:r>
            <a:endParaRPr lang="en-US" sz="1200">
              <a:effectLst/>
              <a:latin typeface="Arial" panose="020B0604020202020204" pitchFamily="34" charset="0"/>
              <a:ea typeface="MS Mincho" panose="02020609040205080304" pitchFamily="49" charset="-128"/>
              <a:cs typeface="Arial" panose="020B0604020202020204" pitchFamily="34" charset="0"/>
            </a:endParaRPr>
          </a:p>
        </p:txBody>
      </p:sp>
      <p:sp>
        <p:nvSpPr>
          <p:cNvPr id="6" name="Title 1">
            <a:extLst>
              <a:ext uri="{FF2B5EF4-FFF2-40B4-BE49-F238E27FC236}">
                <a16:creationId xmlns:a16="http://schemas.microsoft.com/office/drawing/2014/main" id="{4EC76ECD-341B-9003-FACB-F170EE7B8AD1}"/>
              </a:ext>
            </a:extLst>
          </p:cNvPr>
          <p:cNvSpPr>
            <a:spLocks noGrp="1"/>
          </p:cNvSpPr>
          <p:nvPr>
            <p:ph type="title"/>
          </p:nvPr>
        </p:nvSpPr>
        <p:spPr>
          <a:xfrm>
            <a:off x="838200" y="365125"/>
            <a:ext cx="10515600" cy="1325563"/>
          </a:xfrm>
        </p:spPr>
        <p:txBody>
          <a:bodyPr>
            <a:normAutofit/>
          </a:bodyPr>
          <a:lstStyle/>
          <a:p>
            <a:r>
              <a:rPr lang="en-US" sz="2800" b="1">
                <a:solidFill>
                  <a:srgbClr val="2CADB2"/>
                </a:solidFill>
                <a:latin typeface="Arial" panose="020B0604020202020204" pitchFamily="34" charset="0"/>
                <a:ea typeface="MS Mincho" panose="02020609040205080304" pitchFamily="49" charset="-128"/>
              </a:rPr>
              <a:t>Correct Answers</a:t>
            </a:r>
            <a:endParaRPr lang="en-US" sz="6000" b="1">
              <a:solidFill>
                <a:srgbClr val="2CADB2"/>
              </a:solidFill>
            </a:endParaRPr>
          </a:p>
        </p:txBody>
      </p:sp>
    </p:spTree>
    <p:extLst>
      <p:ext uri="{BB962C8B-B14F-4D97-AF65-F5344CB8AC3E}">
        <p14:creationId xmlns:p14="http://schemas.microsoft.com/office/powerpoint/2010/main" val="42666426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3096</Words>
  <Application>Microsoft Office PowerPoint</Application>
  <PresentationFormat>Widescreen</PresentationFormat>
  <Paragraphs>298</Paragraphs>
  <Slides>25</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Söhne</vt:lpstr>
      <vt:lpstr>Symbol</vt:lpstr>
      <vt:lpstr>Office Theme</vt:lpstr>
      <vt:lpstr>Reviews Promoter</vt:lpstr>
      <vt:lpstr>Agenda</vt:lpstr>
      <vt:lpstr>Customers are talking online</vt:lpstr>
      <vt:lpstr>PowerPoint Presentation</vt:lpstr>
      <vt:lpstr>Online reviews impact reputation and bottom line</vt:lpstr>
      <vt:lpstr>PowerPoint Presentation</vt:lpstr>
      <vt:lpstr>PowerPoint Presentation</vt:lpstr>
      <vt:lpstr>PowerPoint Presentation</vt:lpstr>
      <vt:lpstr>PowerPoint Presentation</vt:lpstr>
      <vt:lpstr>PowerPoint Presentation</vt:lpstr>
      <vt:lpstr>PowerPoint Presentation</vt:lpstr>
      <vt:lpstr>How it works</vt:lpstr>
      <vt:lpstr>First step is to connect social and review accounts</vt:lpstr>
      <vt:lpstr>Dashboard that puts everything you need right at your fingertips</vt:lpstr>
      <vt:lpstr>Benefits</vt:lpstr>
      <vt:lpstr>Q &amp; A / Next steps</vt:lpstr>
      <vt:lpstr>Frequently Asked Questions</vt:lpstr>
      <vt:lpstr>PowerPoint Presentation</vt:lpstr>
      <vt:lpstr>Probing Questions</vt:lpstr>
      <vt:lpstr>PowerPoint Presentation</vt:lpstr>
      <vt:lpstr>Objection Handlers</vt:lpstr>
      <vt:lpstr>PowerPoint Presentation</vt:lpstr>
      <vt:lpstr>Test Your Knowledge</vt:lpstr>
      <vt:lpstr>PowerPoint Presentation</vt:lpstr>
      <vt:lpstr>Correct Answers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Shujaat, Faizan</dc:creator>
  <cp:lastModifiedBy>Shujaat, Faizan</cp:lastModifiedBy>
  <cp:revision>3</cp:revision>
  <dcterms:created xsi:type="dcterms:W3CDTF">2023-04-30T02:03:07Z</dcterms:created>
  <dcterms:modified xsi:type="dcterms:W3CDTF">2023-07-09T19:33:07Z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9208c94-c58f-41ad-a867-99d88e16cd43_Enabled">
    <vt:lpwstr>true</vt:lpwstr>
  </property>
  <property fmtid="{D5CDD505-2E9C-101B-9397-08002B2CF9AE}" pid="3" name="MSIP_Label_59208c94-c58f-41ad-a867-99d88e16cd43_SetDate">
    <vt:lpwstr>2023-04-30T03:22:51Z</vt:lpwstr>
  </property>
  <property fmtid="{D5CDD505-2E9C-101B-9397-08002B2CF9AE}" pid="4" name="MSIP_Label_59208c94-c58f-41ad-a867-99d88e16cd43_Method">
    <vt:lpwstr>Privileged</vt:lpwstr>
  </property>
  <property fmtid="{D5CDD505-2E9C-101B-9397-08002B2CF9AE}" pid="5" name="MSIP_Label_59208c94-c58f-41ad-a867-99d88e16cd43_Name">
    <vt:lpwstr>Internal</vt:lpwstr>
  </property>
  <property fmtid="{D5CDD505-2E9C-101B-9397-08002B2CF9AE}" pid="6" name="MSIP_Label_59208c94-c58f-41ad-a867-99d88e16cd43_SiteId">
    <vt:lpwstr>1f7c1878-7408-4f86-b429-cf17f96a717c</vt:lpwstr>
  </property>
  <property fmtid="{D5CDD505-2E9C-101B-9397-08002B2CF9AE}" pid="7" name="MSIP_Label_59208c94-c58f-41ad-a867-99d88e16cd43_ActionId">
    <vt:lpwstr>b44f87c0-6469-451b-ac3d-007cb8ff9e8d</vt:lpwstr>
  </property>
  <property fmtid="{D5CDD505-2E9C-101B-9397-08002B2CF9AE}" pid="8" name="MSIP_Label_59208c94-c58f-41ad-a867-99d88e16cd43_ContentBits">
    <vt:lpwstr>2</vt:lpwstr>
  </property>
  <property fmtid="{D5CDD505-2E9C-101B-9397-08002B2CF9AE}" pid="9" name="ClassificationContentMarkingFooterLocations">
    <vt:lpwstr>Office Theme:8</vt:lpwstr>
  </property>
  <property fmtid="{D5CDD505-2E9C-101B-9397-08002B2CF9AE}" pid="10" name="ClassificationContentMarkingFooterText">
    <vt:lpwstr>Internal </vt:lpwstr>
  </property>
</Properties>
</file>