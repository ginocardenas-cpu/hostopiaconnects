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69" r:id="rId4"/>
    <p:sldId id="259" r:id="rId5"/>
    <p:sldId id="272" r:id="rId6"/>
    <p:sldId id="260" r:id="rId7"/>
    <p:sldId id="270" r:id="rId8"/>
    <p:sldId id="273" r:id="rId9"/>
    <p:sldId id="281" r:id="rId10"/>
    <p:sldId id="280" r:id="rId11"/>
    <p:sldId id="267" r:id="rId12"/>
    <p:sldId id="265" r:id="rId13"/>
    <p:sldId id="268" r:id="rId14"/>
    <p:sldId id="266"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6D3259-CF3E-D329-B8C3-F2B7395A897E}" name="Vargas, Cortney" initials="VC" userId="S::T439940@deluxe.com::ba41c71c-9a45-47f0-95f7-0967895932d5" providerId="AD"/>
  <p188:author id="{A880EFBF-274D-51B0-A953-351C793B2B3C}" name="Wrona, Stephanie" initials="WS" userId="S::t432519@deluxe.com::0ab473a4-c78a-452f-9b46-bdfce4a952fb" providerId="AD"/>
  <p188:author id="{AF5DB4CA-26AF-87BE-6D7D-5BFB296D56B9}" name="Shujaat, Faizan" initials="SF" userId="S::t466308@deluxe.com::59b06e4e-8241-483d-8369-73d547e8d72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2CAD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5997A9-43AE-8F29-36A8-CEA95F588CEF}" v="30" dt="2023-05-12T16:16:39.703"/>
    <p1510:client id="{969A999B-5338-ACE9-5605-2C58962F6CEC}" v="66" dt="2023-05-19T17:07:44.111"/>
    <p1510:client id="{D30B84AC-E482-B27F-4123-CA0232B88344}" v="13" dt="2023-05-11T18:21:18.434"/>
    <p1510:client id="{EEEE0878-FF50-40B3-B023-4745FF0E76E5}" v="15" dt="2023-05-11T17:38:14.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63D6E-FC6B-476C-B7EA-3A5019901561}" type="datetimeFigureOut">
              <a:rPr lang="en-US" smtClean="0"/>
              <a:t>7/9/2023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21D89-F7BE-4A30-B883-9740DAD80204}" type="slidenum">
              <a:rPr lang="en-US" smtClean="0"/>
              <a:t>‹#›</a:t>
            </a:fld>
            <a:endParaRPr lang="en-US"/>
          </a:p>
        </p:txBody>
      </p:sp>
    </p:spTree>
    <p:extLst>
      <p:ext uri="{BB962C8B-B14F-4D97-AF65-F5344CB8AC3E}">
        <p14:creationId xmlns:p14="http://schemas.microsoft.com/office/powerpoint/2010/main" val="162599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14</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16</a:t>
            </a:fld>
            <a:endParaRPr lang="en-US"/>
          </a:p>
        </p:txBody>
      </p:sp>
    </p:spTree>
    <p:extLst>
      <p:ext uri="{BB962C8B-B14F-4D97-AF65-F5344CB8AC3E}">
        <p14:creationId xmlns:p14="http://schemas.microsoft.com/office/powerpoint/2010/main" val="670546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D5FA-7430-A0E9-9204-2DA9271086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AE264-5292-10AF-E868-2E032F927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B35EF2-B302-B5B9-8B9F-727F6EDC15C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A3EE28E0-5A6A-1748-CB59-AC2A11E19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329AA-A0E3-6824-E151-05EC9C03070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025570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FBC72-4898-C9E1-D71E-69FEECCD2F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199CBB-4C28-A03A-FB74-67FA943059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BE389D-DC7E-8813-BB52-6EBE37E85F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0443E-1020-96BD-CE62-19C06EF8EB9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A816DB42-C9BF-932A-9FE8-6A8C963389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CEFB8-0FC9-A74B-F7CC-065508ED89AC}"/>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24582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5F8C-F35A-841B-48D4-299E2B3AE6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DB4A19-1C71-0405-F9C0-3E5DE1614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2E7BD-45AE-1354-D3EA-488BD4C6CC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F36374-CEE3-F022-C133-33DF7C42B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C7106-FD18-1FCC-2308-F0951857C0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7333EF-42DA-D9AD-8308-BF943E9AA54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8" name="Footer Placeholder 7">
            <a:extLst>
              <a:ext uri="{FF2B5EF4-FFF2-40B4-BE49-F238E27FC236}">
                <a16:creationId xmlns:a16="http://schemas.microsoft.com/office/drawing/2014/main" id="{CFAE569B-3F07-0041-197E-8C9A5F01E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4F6900-B4B0-5602-44B9-A4E3E7A5C596}"/>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0705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EFD0-76AD-B4D5-C4EE-A1DF38D323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7EDE83-CF83-FFCE-51A3-DD09BB6A0BCD}"/>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4" name="Footer Placeholder 3">
            <a:extLst>
              <a:ext uri="{FF2B5EF4-FFF2-40B4-BE49-F238E27FC236}">
                <a16:creationId xmlns:a16="http://schemas.microsoft.com/office/drawing/2014/main" id="{BD123C39-995E-B7FD-4658-2CB460DCC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1B6DB-0B7C-762F-CA25-4A0D9877418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79123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DCEAA-A644-4994-2E63-F30C8FC4169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3" name="Footer Placeholder 2">
            <a:extLst>
              <a:ext uri="{FF2B5EF4-FFF2-40B4-BE49-F238E27FC236}">
                <a16:creationId xmlns:a16="http://schemas.microsoft.com/office/drawing/2014/main" id="{4A6C8464-0B34-4462-2E9D-F254D7DE60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8FFE00-F847-3BC3-F773-E8B82FB44F0E}"/>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538922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C7BC-D35E-771A-E398-3FE3C2522A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BDAE3-10B8-7EAF-F45F-6FDC991B7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5F1857-D357-A4D5-0A9E-E55166583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05924F-1805-02A0-5538-BD6163026710}"/>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0870AA4A-0D75-31F1-6A94-9859F72E7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51255-A517-36F3-5AD6-4DE890E481FA}"/>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55558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DC71-BA24-422E-CCA0-C2CDFAE9C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476F5-7A92-DB79-1B6E-EC2060F70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A7ECC-4591-D76B-62CF-97C00E2B7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384F8-CCAF-C3E2-2FCB-35F802C952C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8E6C3DC7-38B8-709D-D73C-78CB667A8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081AF-88A8-AC00-A035-D1B0009B0A54}"/>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56347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A0A4-60C5-EEF5-3F9B-9D5719568D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55DB7-8070-FC0F-DB07-05FBF8732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B21CD-DAFB-645F-4B8A-FC8E0B4888B3}"/>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E62D2747-3AD4-AA39-CFE1-68B0D98E2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DCF72-FC75-7385-FE90-36BC526B1035}"/>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3723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F7A0C-450F-2157-43E8-B1552F78B0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71BF46-1889-2DC0-2B0B-6BFCF6B822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6DCFC0-D57B-7E00-A7AA-A05C4BE9E7C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3EC197E6-5990-2B10-9EF9-010F13555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2C436-797C-25BB-FB7B-4862DB21B1FD}"/>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641922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userDrawn="1">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rightlocal.com/research/local-consumer-review-surve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forbes.com/advisor/business/software/website-statistics/" TargetMode="External"/><Relationship Id="rId4" Type="http://schemas.openxmlformats.org/officeDocument/2006/relationships/hyperlink" Target="https://www.prnewswire.com/news-releases/first-impressions-are-94-design-related--infinityhr-upgrades-their-user-interface-to-match-todays-technological-beauty-standards-300617678.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cxl.com/blog/first-impressions-matter-the-importance-of-great-visual-desig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datachieve.com/website-statistics-to-know-in-20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sz="4800" b="1" dirty="0">
                <a:solidFill>
                  <a:srgbClr val="ED7D31"/>
                </a:solidFill>
                <a:latin typeface="Arial" panose="020B0604020202020204" pitchFamily="34" charset="0"/>
                <a:cs typeface="Arial" panose="020B0604020202020204" pitchFamily="34" charset="0"/>
              </a:rPr>
              <a:t>Professional</a:t>
            </a:r>
            <a:br>
              <a:rPr lang="en-US" sz="4800" b="1" dirty="0">
                <a:solidFill>
                  <a:srgbClr val="ED7D31"/>
                </a:solidFill>
                <a:latin typeface="Arial" panose="020B0604020202020204" pitchFamily="34" charset="0"/>
                <a:cs typeface="Arial" panose="020B0604020202020204" pitchFamily="34" charset="0"/>
              </a:rPr>
            </a:br>
            <a:r>
              <a:rPr lang="en-US" sz="4800" b="1" dirty="0">
                <a:solidFill>
                  <a:srgbClr val="ED7D31"/>
                </a:solidFill>
                <a:latin typeface="Arial" panose="020B0604020202020204" pitchFamily="34" charset="0"/>
                <a:cs typeface="Arial" panose="020B0604020202020204" pitchFamily="34" charset="0"/>
              </a:rPr>
              <a:t>Website Design</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dirty="0">
                <a:effectLst/>
                <a:latin typeface="Arial" panose="020B0604020202020204" pitchFamily="34" charset="0"/>
                <a:ea typeface="MS Mincho" panose="02020609040205080304" pitchFamily="49" charset="-128"/>
              </a:rPr>
              <a:t>A professionally designed website to help your business stand-out.</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ED7D31"/>
                </a:solidFill>
                <a:effectLst/>
                <a:latin typeface="Arial" panose="020B0604020202020204" pitchFamily="34" charset="0"/>
                <a:cs typeface="Arial" panose="020B0604020202020204" pitchFamily="34" charset="0"/>
              </a:rPr>
              <a:t>Agenda</a:t>
            </a:r>
          </a:p>
        </p:txBody>
      </p:sp>
      <p:grpSp>
        <p:nvGrpSpPr>
          <p:cNvPr id="15" name="Group 14">
            <a:extLst>
              <a:ext uri="{FF2B5EF4-FFF2-40B4-BE49-F238E27FC236}">
                <a16:creationId xmlns:a16="http://schemas.microsoft.com/office/drawing/2014/main" id="{330CC5C3-C35C-56DD-1CCB-213E8B1CBF58}"/>
              </a:ext>
            </a:extLst>
          </p:cNvPr>
          <p:cNvGrpSpPr/>
          <p:nvPr/>
        </p:nvGrpSpPr>
        <p:grpSpPr>
          <a:xfrm>
            <a:off x="845421" y="3919603"/>
            <a:ext cx="2370489" cy="720000"/>
            <a:chOff x="100682" y="2684598"/>
            <a:chExt cx="2370489" cy="720000"/>
          </a:xfrm>
        </p:grpSpPr>
        <p:sp>
          <p:nvSpPr>
            <p:cNvPr id="25" name="Rectangle 24">
              <a:extLst>
                <a:ext uri="{FF2B5EF4-FFF2-40B4-BE49-F238E27FC236}">
                  <a16:creationId xmlns:a16="http://schemas.microsoft.com/office/drawing/2014/main" id="{4277FBCA-71F5-7367-917F-E2269C3668EE}"/>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57C0549D-AF63-37B6-B3E4-6D02D78A6195}"/>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algn="ctr" defTabSz="711200">
                <a:spcBef>
                  <a:spcPct val="0"/>
                </a:spcBef>
                <a:spcAft>
                  <a:spcPct val="35000"/>
                </a:spcAft>
                <a:defRPr cap="all"/>
              </a:pPr>
              <a:r>
                <a:rPr lang="en-US" sz="1600" b="0" i="0" kern="1200" cap="none" dirty="0">
                  <a:solidFill>
                    <a:srgbClr val="374151"/>
                  </a:solidFill>
                  <a:effectLst/>
                  <a:latin typeface="Arial"/>
                  <a:cs typeface="Arial"/>
                </a:rPr>
                <a:t>Importance of a professional website</a:t>
              </a:r>
              <a:endParaRPr lang="en-US" sz="1600" kern="1200" cap="none" dirty="0">
                <a:solidFill>
                  <a:srgbClr val="24282B"/>
                </a:solidFill>
                <a:latin typeface="Arial"/>
                <a:cs typeface="Arial"/>
              </a:endParaRPr>
            </a:p>
          </p:txBody>
        </p:sp>
      </p:grpSp>
      <p:grpSp>
        <p:nvGrpSpPr>
          <p:cNvPr id="16" name="Group 15">
            <a:extLst>
              <a:ext uri="{FF2B5EF4-FFF2-40B4-BE49-F238E27FC236}">
                <a16:creationId xmlns:a16="http://schemas.microsoft.com/office/drawing/2014/main" id="{EB97E42A-2168-EE60-127E-A86C139A183F}"/>
              </a:ext>
            </a:extLst>
          </p:cNvPr>
          <p:cNvGrpSpPr/>
          <p:nvPr/>
        </p:nvGrpSpPr>
        <p:grpSpPr>
          <a:xfrm>
            <a:off x="3630746" y="3919603"/>
            <a:ext cx="2370489" cy="720000"/>
            <a:chOff x="2886007" y="2684598"/>
            <a:chExt cx="2370489" cy="720000"/>
          </a:xfrm>
        </p:grpSpPr>
        <p:sp>
          <p:nvSpPr>
            <p:cNvPr id="23" name="Rectangle 22">
              <a:extLst>
                <a:ext uri="{FF2B5EF4-FFF2-40B4-BE49-F238E27FC236}">
                  <a16:creationId xmlns:a16="http://schemas.microsoft.com/office/drawing/2014/main" id="{C72990FB-DE43-7032-61F9-AF5F76786CE5}"/>
                </a:ext>
              </a:extLst>
            </p:cNvPr>
            <p:cNvSpPr/>
            <p:nvPr/>
          </p:nvSpPr>
          <p:spPr>
            <a:xfrm>
              <a:off x="288600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TextBox 23">
              <a:extLst>
                <a:ext uri="{FF2B5EF4-FFF2-40B4-BE49-F238E27FC236}">
                  <a16:creationId xmlns:a16="http://schemas.microsoft.com/office/drawing/2014/main" id="{63D9458C-0C1C-9C20-5BA4-9099C59553B4}"/>
                </a:ext>
              </a:extLst>
            </p:cNvPr>
            <p:cNvSpPr txBox="1"/>
            <p:nvPr/>
          </p:nvSpPr>
          <p:spPr>
            <a:xfrm>
              <a:off x="288600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0" i="0" kern="1200" cap="none" dirty="0">
                  <a:solidFill>
                    <a:srgbClr val="374151"/>
                  </a:solidFill>
                  <a:effectLst/>
                  <a:latin typeface="Arial" panose="020B0604020202020204" pitchFamily="34" charset="0"/>
                  <a:cs typeface="Arial" panose="020B0604020202020204" pitchFamily="34" charset="0"/>
                </a:rPr>
                <a:t>DIFM Website</a:t>
              </a:r>
              <a:endParaRPr lang="en-US" sz="1600" kern="1200" cap="none" dirty="0">
                <a:solidFill>
                  <a:srgbClr val="24282B"/>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8A31DEB8-F1B1-BAE8-1DA4-464C5D05B17C}"/>
              </a:ext>
            </a:extLst>
          </p:cNvPr>
          <p:cNvGrpSpPr/>
          <p:nvPr/>
        </p:nvGrpSpPr>
        <p:grpSpPr>
          <a:xfrm>
            <a:off x="6416071" y="3919603"/>
            <a:ext cx="2370489" cy="720000"/>
            <a:chOff x="5671332" y="2684598"/>
            <a:chExt cx="2370489" cy="720000"/>
          </a:xfrm>
        </p:grpSpPr>
        <p:sp>
          <p:nvSpPr>
            <p:cNvPr id="21" name="Rectangle 20">
              <a:extLst>
                <a:ext uri="{FF2B5EF4-FFF2-40B4-BE49-F238E27FC236}">
                  <a16:creationId xmlns:a16="http://schemas.microsoft.com/office/drawing/2014/main" id="{5EA074DA-D237-1567-4FD7-E70D2422830C}"/>
                </a:ext>
              </a:extLst>
            </p:cNvPr>
            <p:cNvSpPr/>
            <p:nvPr/>
          </p:nvSpPr>
          <p:spPr>
            <a:xfrm>
              <a:off x="567133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128AD731-A601-285D-7B77-31A59D8B3508}"/>
                </a:ext>
              </a:extLst>
            </p:cNvPr>
            <p:cNvSpPr txBox="1"/>
            <p:nvPr/>
          </p:nvSpPr>
          <p:spPr>
            <a:xfrm>
              <a:off x="567133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rgbClr val="24282B"/>
                  </a:solidFill>
                  <a:latin typeface="Arial" panose="020B0604020202020204" pitchFamily="34" charset="0"/>
                  <a:cs typeface="Arial" panose="020B0604020202020204" pitchFamily="34" charset="0"/>
                </a:rPr>
                <a:t>Features &amp; Benefits</a:t>
              </a:r>
            </a:p>
          </p:txBody>
        </p:sp>
      </p:grpSp>
      <p:grpSp>
        <p:nvGrpSpPr>
          <p:cNvPr id="18" name="Group 17">
            <a:extLst>
              <a:ext uri="{FF2B5EF4-FFF2-40B4-BE49-F238E27FC236}">
                <a16:creationId xmlns:a16="http://schemas.microsoft.com/office/drawing/2014/main" id="{A0D0ECE9-0E5B-1647-7D76-0029E5F11159}"/>
              </a:ext>
            </a:extLst>
          </p:cNvPr>
          <p:cNvGrpSpPr/>
          <p:nvPr/>
        </p:nvGrpSpPr>
        <p:grpSpPr>
          <a:xfrm>
            <a:off x="9201396" y="3919603"/>
            <a:ext cx="2370489" cy="720000"/>
            <a:chOff x="8456657" y="2684598"/>
            <a:chExt cx="2370489" cy="720000"/>
          </a:xfrm>
        </p:grpSpPr>
        <p:sp>
          <p:nvSpPr>
            <p:cNvPr id="19" name="Rectangle 18">
              <a:extLst>
                <a:ext uri="{FF2B5EF4-FFF2-40B4-BE49-F238E27FC236}">
                  <a16:creationId xmlns:a16="http://schemas.microsoft.com/office/drawing/2014/main" id="{09A63A92-4674-1FF0-F1CC-F3F721EDFC6C}"/>
                </a:ext>
              </a:extLst>
            </p:cNvPr>
            <p:cNvSpPr/>
            <p:nvPr/>
          </p:nvSpPr>
          <p:spPr>
            <a:xfrm>
              <a:off x="845665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4FD23377-1110-4CA3-823F-5065983DE0D1}"/>
                </a:ext>
              </a:extLst>
            </p:cNvPr>
            <p:cNvSpPr txBox="1"/>
            <p:nvPr/>
          </p:nvSpPr>
          <p:spPr>
            <a:xfrm>
              <a:off x="845665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rgbClr val="24282B"/>
                  </a:solidFill>
                  <a:latin typeface="Arial" panose="020B0604020202020204" pitchFamily="34" charset="0"/>
                  <a:cs typeface="Arial" panose="020B0604020202020204" pitchFamily="34" charset="0"/>
                </a:rPr>
                <a:t>Addressing common concerns</a:t>
              </a:r>
            </a:p>
          </p:txBody>
        </p:sp>
      </p:gr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1</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3</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4</a:t>
              </a:r>
              <a:endParaRPr lang="en-US" sz="7200" b="1" kern="1200" cap="none">
                <a:solidFill>
                  <a:srgbClr val="24282B"/>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dirty="0">
                <a:solidFill>
                  <a:srgbClr val="ED7D31"/>
                </a:solidFill>
                <a:latin typeface="Arial" panose="020B0604020202020204" pitchFamily="34" charset="0"/>
                <a:cs typeface="Arial" panose="020B0604020202020204" pitchFamily="34" charset="0"/>
              </a:rPr>
              <a:t>C</a:t>
            </a:r>
            <a:r>
              <a:rPr lang="en-US" sz="3200" b="1" i="0" dirty="0">
                <a:solidFill>
                  <a:srgbClr val="ED7D31"/>
                </a:solidFill>
                <a:effectLst/>
                <a:latin typeface="Arial" panose="020B0604020202020204" pitchFamily="34" charset="0"/>
                <a:cs typeface="Arial" panose="020B0604020202020204" pitchFamily="34" charset="0"/>
              </a:rPr>
              <a:t>ustomers are searching online</a:t>
            </a: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825624"/>
            <a:ext cx="10515600" cy="1245045"/>
          </a:xfrm>
        </p:spPr>
        <p:txBody>
          <a:bodyPr>
            <a:noAutofit/>
          </a:bodyPr>
          <a:lstStyle/>
          <a:p>
            <a:pPr marL="0" indent="0">
              <a:buNone/>
            </a:pPr>
            <a:r>
              <a:rPr lang="en-US" sz="1600" b="1" dirty="0">
                <a:latin typeface="Arial" panose="020B0604020202020204" pitchFamily="34" charset="0"/>
                <a:cs typeface="Arial" panose="020B0604020202020204" pitchFamily="34" charset="0"/>
              </a:rPr>
              <a:t>Did you know that a staggering 63% of customer now make their purchases online?</a:t>
            </a:r>
          </a:p>
          <a:p>
            <a:pPr marL="0" indent="0">
              <a:buNone/>
            </a:pPr>
            <a:r>
              <a:rPr lang="en-US" sz="1600" dirty="0">
                <a:latin typeface="Arial" panose="020B0604020202020204" pitchFamily="34" charset="0"/>
                <a:cs typeface="Arial" panose="020B0604020202020204" pitchFamily="34" charset="0"/>
              </a:rPr>
              <a:t>A professional website is crucial for small businesses as it serves as a digital storefront and a key marketing tool.</a:t>
            </a:r>
          </a:p>
          <a:p>
            <a:pPr marL="0" indent="0">
              <a:buNone/>
            </a:pPr>
            <a:r>
              <a:rPr lang="en-US" sz="1600" dirty="0">
                <a:latin typeface="Arial" panose="020B0604020202020204" pitchFamily="34" charset="0"/>
                <a:cs typeface="Arial" panose="020B0604020202020204" pitchFamily="34" charset="0"/>
              </a:rPr>
              <a:t>A well-designed website plays a vital role in building brand awareness, trust, and customer engagement, ultimately contributing to growth and success.</a:t>
            </a:r>
          </a:p>
          <a:p>
            <a:pPr marL="0" indent="0">
              <a:buNone/>
            </a:pPr>
            <a:r>
              <a:rPr lang="en-US" sz="1600" dirty="0">
                <a:latin typeface="Arial" panose="020B0604020202020204" pitchFamily="34" charset="0"/>
                <a:cs typeface="Arial" panose="020B0604020202020204" pitchFamily="34" charset="0"/>
              </a:rPr>
              <a:t>As per </a:t>
            </a:r>
            <a:r>
              <a:rPr lang="en-US" sz="1600" dirty="0" err="1">
                <a:latin typeface="Arial" panose="020B0604020202020204" pitchFamily="34" charset="0"/>
                <a:cs typeface="Arial" panose="020B0604020202020204" pitchFamily="34" charset="0"/>
                <a:hlinkClick r:id="rId3"/>
              </a:rPr>
              <a:t>BrightLocal</a:t>
            </a:r>
            <a:r>
              <a:rPr lang="en-US" sz="1600" dirty="0">
                <a:latin typeface="Arial" panose="020B0604020202020204" pitchFamily="34" charset="0"/>
                <a:cs typeface="Arial" panose="020B0604020202020204" pitchFamily="34" charset="0"/>
                <a:hlinkClick r:id="rId3"/>
              </a:rPr>
              <a:t> Survey 2023.</a:t>
            </a:r>
            <a:endParaRPr lang="en-US" sz="16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rgbClr val="ED7D31"/>
                </a:solidFill>
                <a:latin typeface="Arial" panose="020B0604020202020204" pitchFamily="34" charset="0"/>
                <a:cs typeface="Arial" panose="020B0604020202020204" pitchFamily="34" charset="0"/>
              </a:rPr>
              <a:t>98%</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803844" cy="747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panose="020B0604020202020204" pitchFamily="34" charset="0"/>
                <a:cs typeface="Arial" panose="020B0604020202020204" pitchFamily="34" charset="0"/>
              </a:rPr>
              <a:t>of consumers used the internet to find information about local businesses in 2022.</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Customer review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2363" y="2764460"/>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420369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ED7D31"/>
                </a:solidFill>
                <a:latin typeface="Arial" panose="020B0604020202020204" pitchFamily="34" charset="0"/>
                <a:cs typeface="Arial" panose="020B0604020202020204" pitchFamily="34" charset="0"/>
              </a:rPr>
              <a:t>Cost of neglecting a professional website</a:t>
            </a:r>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7784240" y="1952496"/>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Competitive Disadvantage</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  Neglecting your website puts a business at a significant disadvantage compared to competitors who invest in their online presence, potentially losing customers to them.</a:t>
            </a:r>
          </a:p>
        </p:txBody>
      </p:sp>
      <p:sp>
        <p:nvSpPr>
          <p:cNvPr id="181" name="Rectangle 180">
            <a:extLst>
              <a:ext uri="{FF2B5EF4-FFF2-40B4-BE49-F238E27FC236}">
                <a16:creationId xmlns:a16="http://schemas.microsoft.com/office/drawing/2014/main" id="{D0810BD6-288B-932D-83A8-4A48272470FA}"/>
              </a:ext>
            </a:extLst>
          </p:cNvPr>
          <p:cNvSpPr/>
          <p:nvPr/>
        </p:nvSpPr>
        <p:spPr>
          <a:xfrm>
            <a:off x="4367516"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4359348" y="1955481"/>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Poor User Experience</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Users may struggle to navigate the site, find information, or complete desired actions, resulting in frustration and a higher bounce rate.</a:t>
            </a:r>
            <a:endParaRPr lang="en-US" sz="1100" dirty="0">
              <a:solidFill>
                <a:schemeClr val="bg1"/>
              </a:solidFill>
            </a:endParaRPr>
          </a:p>
        </p:txBody>
      </p:sp>
      <p:sp>
        <p:nvSpPr>
          <p:cNvPr id="183" name="Rectangle 182">
            <a:extLst>
              <a:ext uri="{FF2B5EF4-FFF2-40B4-BE49-F238E27FC236}">
                <a16:creationId xmlns:a16="http://schemas.microsoft.com/office/drawing/2014/main" id="{3FD716A6-9474-1C35-F39F-3819F3BE7406}"/>
              </a:ext>
            </a:extLst>
          </p:cNvPr>
          <p:cNvSpPr/>
          <p:nvPr/>
        </p:nvSpPr>
        <p:spPr>
          <a:xfrm>
            <a:off x="1006936"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998768" y="1955481"/>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Damage to Brand Reputation</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Website is often the first point of contact for potential customers. Neglecting it can harm brand's reputation, making it challenging to attract and retain customers in the long run.</a:t>
            </a:r>
          </a:p>
        </p:txBody>
      </p:sp>
      <p:sp>
        <p:nvSpPr>
          <p:cNvPr id="185" name="Rectangle 184">
            <a:extLst>
              <a:ext uri="{FF2B5EF4-FFF2-40B4-BE49-F238E27FC236}">
                <a16:creationId xmlns:a16="http://schemas.microsoft.com/office/drawing/2014/main" id="{72F73396-FE1E-9327-116C-307515ACE0D5}"/>
              </a:ext>
            </a:extLst>
          </p:cNvPr>
          <p:cNvSpPr/>
          <p:nvPr/>
        </p:nvSpPr>
        <p:spPr>
          <a:xfrm>
            <a:off x="998768"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Google Shape;3082;p148">
            <a:extLst>
              <a:ext uri="{FF2B5EF4-FFF2-40B4-BE49-F238E27FC236}">
                <a16:creationId xmlns:a16="http://schemas.microsoft.com/office/drawing/2014/main" id="{5C2ACC82-3763-242C-E90A-459633A8EF08}"/>
              </a:ext>
            </a:extLst>
          </p:cNvPr>
          <p:cNvSpPr txBox="1">
            <a:spLocks/>
          </p:cNvSpPr>
          <p:nvPr/>
        </p:nvSpPr>
        <p:spPr>
          <a:xfrm>
            <a:off x="990600" y="4205672"/>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Negative impact on SEO</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 Search engines prioritize websites with good design, user experience, and relevant content.</a:t>
            </a:r>
          </a:p>
        </p:txBody>
      </p:sp>
      <p:sp>
        <p:nvSpPr>
          <p:cNvPr id="187" name="Rectangle 186">
            <a:extLst>
              <a:ext uri="{FF2B5EF4-FFF2-40B4-BE49-F238E27FC236}">
                <a16:creationId xmlns:a16="http://schemas.microsoft.com/office/drawing/2014/main" id="{94179762-3842-2E4B-DB8D-CA87A0141BA9}"/>
              </a:ext>
            </a:extLst>
          </p:cNvPr>
          <p:cNvSpPr/>
          <p:nvPr/>
        </p:nvSpPr>
        <p:spPr>
          <a:xfrm>
            <a:off x="4367516"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4359348" y="4205672"/>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a:cs typeface="Arial"/>
              </a:rPr>
              <a:t>Limited Access to Analytics</a:t>
            </a:r>
          </a:p>
          <a:p>
            <a:pPr marL="171450" indent="-171450" algn="ctr">
              <a:spcBef>
                <a:spcPts val="0"/>
              </a:spcBef>
              <a:buClr>
                <a:srgbClr val="47464B"/>
              </a:buClr>
              <a:buFont typeface="Arial"/>
              <a:buNone/>
            </a:pPr>
            <a:r>
              <a:rPr lang="en-US" sz="1100" dirty="0">
                <a:solidFill>
                  <a:schemeClr val="bg1"/>
                </a:solidFill>
                <a:latin typeface="Arial"/>
                <a:cs typeface="Arial"/>
              </a:rPr>
              <a:t>Neglecting the website may result in not having access to valuable analytics and data.</a:t>
            </a:r>
          </a:p>
        </p:txBody>
      </p:sp>
      <p:sp>
        <p:nvSpPr>
          <p:cNvPr id="189" name="Rectangle 188">
            <a:extLst>
              <a:ext uri="{FF2B5EF4-FFF2-40B4-BE49-F238E27FC236}">
                <a16:creationId xmlns:a16="http://schemas.microsoft.com/office/drawing/2014/main" id="{D53809F8-608A-6D93-A12E-71BDD41E2F61}"/>
              </a:ext>
            </a:extLst>
          </p:cNvPr>
          <p:cNvSpPr/>
          <p:nvPr/>
        </p:nvSpPr>
        <p:spPr>
          <a:xfrm>
            <a:off x="7792408"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Google Shape;3082;p148">
            <a:extLst>
              <a:ext uri="{FF2B5EF4-FFF2-40B4-BE49-F238E27FC236}">
                <a16:creationId xmlns:a16="http://schemas.microsoft.com/office/drawing/2014/main" id="{D50F87BB-A654-CFE3-E802-76DBD2A7B8C0}"/>
              </a:ext>
            </a:extLst>
          </p:cNvPr>
          <p:cNvSpPr txBox="1">
            <a:spLocks/>
          </p:cNvSpPr>
          <p:nvPr/>
        </p:nvSpPr>
        <p:spPr>
          <a:xfrm>
            <a:off x="7784240" y="4205672"/>
            <a:ext cx="2889596" cy="1947576"/>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a:cs typeface="Arial"/>
              </a:rPr>
              <a:t>Security Risks</a:t>
            </a:r>
          </a:p>
          <a:p>
            <a:pPr marL="171450" indent="-171450" algn="ctr">
              <a:spcBef>
                <a:spcPts val="0"/>
              </a:spcBef>
              <a:buClr>
                <a:srgbClr val="47464B"/>
              </a:buClr>
              <a:buFont typeface="Arial"/>
              <a:buNone/>
            </a:pPr>
            <a:r>
              <a:rPr lang="en-US" sz="1100" dirty="0">
                <a:solidFill>
                  <a:schemeClr val="bg1"/>
                </a:solidFill>
                <a:latin typeface="Arial"/>
                <a:cs typeface="Arial"/>
              </a:rPr>
              <a:t>Outdated website software or plugins can pose security vulnerabilities, making the website more susceptible to hacking or malware attacks. </a:t>
            </a: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83;p148">
            <a:extLst>
              <a:ext uri="{FF2B5EF4-FFF2-40B4-BE49-F238E27FC236}">
                <a16:creationId xmlns:a16="http://schemas.microsoft.com/office/drawing/2014/main" id="{15263A38-9837-2A37-21C5-FF083DE2CD41}"/>
              </a:ext>
            </a:extLst>
          </p:cNvPr>
          <p:cNvPicPr preferRelativeResize="0"/>
          <p:nvPr/>
        </p:nvPicPr>
        <p:blipFill rotWithShape="1">
          <a:blip r:embed="rId3">
            <a:alphaModFix/>
            <a:duotone>
              <a:schemeClr val="accent2">
                <a:shade val="45000"/>
                <a:satMod val="135000"/>
              </a:schemeClr>
              <a:prstClr val="white"/>
            </a:duotone>
          </a:blip>
          <a:srcRect/>
          <a:stretch/>
        </p:blipFill>
        <p:spPr>
          <a:xfrm rot="1800000">
            <a:off x="4992571" y="1762680"/>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ED7D31"/>
                </a:solidFill>
                <a:effectLst/>
                <a:latin typeface="Arial"/>
                <a:cs typeface="Arial"/>
              </a:rPr>
              <a:t>Professional website </a:t>
            </a:r>
            <a:r>
              <a:rPr lang="en-US" sz="3200" b="1" dirty="0">
                <a:solidFill>
                  <a:srgbClr val="ED7D31"/>
                </a:solidFill>
                <a:latin typeface="Arial"/>
                <a:cs typeface="Arial"/>
              </a:rPr>
              <a:t>increase</a:t>
            </a:r>
            <a:r>
              <a:rPr lang="en-US" sz="3200" b="1" i="0" dirty="0">
                <a:solidFill>
                  <a:srgbClr val="ED7D31"/>
                </a:solidFill>
                <a:effectLst/>
                <a:latin typeface="Arial"/>
                <a:cs typeface="Arial"/>
              </a:rPr>
              <a:t> visibility and accessibility</a:t>
            </a:r>
            <a:endParaRPr lang="en-US" sz="3200" b="1" dirty="0">
              <a:solidFill>
                <a:srgbClr val="ED7D31"/>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1260528" y="4940291"/>
            <a:ext cx="3023319"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of first impressions of a website are design-related.</a:t>
            </a:r>
          </a:p>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hlinkClick r:id="rId4"/>
              </a:rPr>
              <a:t>Newswire</a:t>
            </a:r>
            <a:endParaRPr lang="en-US" sz="1200" dirty="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3">
            <a:alphaModFix/>
            <a:duotone>
              <a:schemeClr val="accent2">
                <a:shade val="45000"/>
                <a:satMod val="135000"/>
              </a:schemeClr>
              <a:prstClr val="white"/>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Arial" panose="020B0604020202020204" pitchFamily="34" charset="0"/>
                <a:ea typeface="Calibri"/>
                <a:cs typeface="Arial" panose="020B0604020202020204" pitchFamily="34" charset="0"/>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94%</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4659523"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online users will return to a website that is mobile-friendly.</a:t>
            </a:r>
          </a:p>
          <a:p>
            <a:pPr marL="171450" indent="-171450" algn="ctr">
              <a:spcBef>
                <a:spcPts val="0"/>
              </a:spcBef>
              <a:buClr>
                <a:srgbClr val="47464B"/>
              </a:buClr>
              <a:buFont typeface="Arial"/>
              <a:buNone/>
            </a:pPr>
            <a:r>
              <a:rPr lang="en-US" sz="1200" dirty="0">
                <a:latin typeface="Arial"/>
                <a:cs typeface="Arial"/>
                <a:hlinkClick r:id="rId5"/>
              </a:rPr>
              <a:t>Forbes</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8343249"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i="0" dirty="0">
                <a:effectLst/>
                <a:latin typeface="Arial" panose="020B0604020202020204" pitchFamily="34" charset="0"/>
                <a:cs typeface="Arial" panose="020B0604020202020204" pitchFamily="34" charset="0"/>
              </a:rPr>
              <a:t>of businesses invest in unique design.</a:t>
            </a:r>
          </a:p>
          <a:p>
            <a:pPr marL="0" indent="0" algn="ctr">
              <a:lnSpc>
                <a:spcPct val="100000"/>
              </a:lnSpc>
              <a:spcBef>
                <a:spcPts val="0"/>
              </a:spcBef>
              <a:buNone/>
            </a:pPr>
            <a:r>
              <a:rPr lang="en-US" sz="1200" dirty="0">
                <a:latin typeface="Arial"/>
                <a:cs typeface="Arial"/>
                <a:hlinkClick r:id="rId5"/>
              </a:rPr>
              <a:t>Forbes</a:t>
            </a:r>
            <a:endParaRPr lang="en-US" sz="1200" i="0" dirty="0">
              <a:solidFill>
                <a:srgbClr val="313636"/>
              </a:solidFill>
              <a:effectLst/>
              <a:latin typeface="Arial" panose="020B0604020202020204" pitchFamily="34" charset="0"/>
              <a:cs typeface="Arial" panose="020B0604020202020204" pitchFamily="34" charset="0"/>
            </a:endParaRPr>
          </a:p>
          <a:p>
            <a:pPr marL="0" indent="0" algn="l">
              <a:lnSpc>
                <a:spcPct val="100000"/>
              </a:lnSpc>
              <a:spcBef>
                <a:spcPts val="0"/>
              </a:spcBef>
              <a:buNone/>
            </a:pPr>
            <a:endParaRPr lang="en-US" sz="1200" i="0" dirty="0">
              <a:solidFill>
                <a:srgbClr val="313636"/>
              </a:solidFill>
              <a:effectLst/>
              <a:latin typeface="Arial" panose="020B0604020202020204" pitchFamily="34" charset="0"/>
              <a:cs typeface="Arial" panose="020B0604020202020204" pitchFamily="34" charset="0"/>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3">
            <a:alphaModFix/>
            <a:duotone>
              <a:schemeClr val="accent2">
                <a:shade val="45000"/>
                <a:satMod val="135000"/>
              </a:schemeClr>
              <a:prstClr val="white"/>
            </a:duotone>
          </a:blip>
          <a:srcRect/>
          <a:stretch/>
        </p:blipFill>
        <p:spPr>
          <a:xfrm rot="1800000">
            <a:off x="8446227" y="176268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73%</a:t>
            </a:r>
            <a:endParaRPr lang="en-US" sz="2400" b="1" dirty="0">
              <a:solidFill>
                <a:srgbClr val="47464B"/>
              </a:solidFill>
              <a:latin typeface="Arial" panose="020B0604020202020204" pitchFamily="34" charset="0"/>
              <a:ea typeface="Calibri"/>
              <a:cs typeface="Arial" panose="020B0604020202020204" pitchFamily="34" charset="0"/>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54578" y="315402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74%</a:t>
            </a:r>
            <a:endParaRPr lang="en-US" sz="2400" b="1" dirty="0">
              <a:solidFill>
                <a:srgbClr val="47464B"/>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800" dirty="0">
                <a:latin typeface="Arial" panose="020B0604020202020204" pitchFamily="34" charset="0"/>
              </a:rPr>
              <a:t>Modern designs tailored to your industry.</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Mobile responsive and search friendly. </a:t>
            </a:r>
          </a:p>
          <a:p>
            <a:pPr marL="342900" indent="-342900">
              <a:lnSpc>
                <a:spcPct val="100000"/>
              </a:lnSpc>
              <a:spcBef>
                <a:spcPts val="1800"/>
              </a:spcBef>
              <a:buFont typeface="Symbol" panose="05050102010706020507" pitchFamily="18" charset="2"/>
              <a:buChar char=""/>
            </a:pPr>
            <a:r>
              <a:rPr lang="en-US" sz="1800" dirty="0">
                <a:effectLst/>
                <a:latin typeface="Arial" panose="020B0604020202020204" pitchFamily="34" charset="0"/>
                <a:ea typeface="Arial" panose="020B0604020202020204" pitchFamily="34" charset="0"/>
              </a:rPr>
              <a:t>Personalized consultation with an expert. </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Flexible add on features such as lead forms, interactive photo gallery, appointment scheduler, coupons and more.</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Have a designer create an Online Store for your business, and set up your products, tax, shipping and more.</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Annual maintenance to ensure your website remains up-to-date.</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ED7D31"/>
                </a:solidFill>
                <a:latin typeface="Arial" panose="020B0604020202020204" pitchFamily="34" charset="0"/>
                <a:cs typeface="Arial" panose="020B0604020202020204" pitchFamily="34" charset="0"/>
              </a:rPr>
              <a:t>Website Design</a:t>
            </a:r>
          </a:p>
        </p:txBody>
      </p:sp>
      <p:pic>
        <p:nvPicPr>
          <p:cNvPr id="2" name="Picture 1" descr="A picture containing text, building, outdoor&#10;&#10;Description automatically generated">
            <a:extLst>
              <a:ext uri="{FF2B5EF4-FFF2-40B4-BE49-F238E27FC236}">
                <a16:creationId xmlns:a16="http://schemas.microsoft.com/office/drawing/2014/main" id="{402221A2-8837-C891-4018-CA0D554376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1359" y="2387259"/>
            <a:ext cx="4558628" cy="2569752"/>
          </a:xfrm>
          <a:prstGeom prst="rect">
            <a:avLst/>
          </a:prstGeom>
        </p:spPr>
      </p:pic>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dirty="0">
                <a:solidFill>
                  <a:schemeClr val="bg1"/>
                </a:solidFill>
                <a:latin typeface="Arial" panose="020B0604020202020204" pitchFamily="34" charset="0"/>
                <a:cs typeface="Arial" panose="020B0604020202020204" pitchFamily="34" charset="0"/>
              </a:rPr>
              <a:t>How it works</a:t>
            </a:r>
            <a:endParaRPr lang="en-US" dirty="0">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2800" b="1" dirty="0">
                <a:solidFill>
                  <a:srgbClr val="ED7D31"/>
                </a:solidFill>
                <a:latin typeface="Arial" panose="020B0604020202020204" pitchFamily="34" charset="0"/>
                <a:ea typeface="MS Mincho" panose="02020609040205080304" pitchFamily="49" charset="-128"/>
              </a:rPr>
              <a:t>First step is to connect with our website coordinator</a:t>
            </a:r>
          </a:p>
        </p:txBody>
      </p:sp>
      <p:sp>
        <p:nvSpPr>
          <p:cNvPr id="5" name="Content Placeholder 2">
            <a:extLst>
              <a:ext uri="{FF2B5EF4-FFF2-40B4-BE49-F238E27FC236}">
                <a16:creationId xmlns:a16="http://schemas.microsoft.com/office/drawing/2014/main" id="{1D8B62A5-CAF7-DA8F-08AD-5FAC2C84E8EB}"/>
              </a:ext>
            </a:extLst>
          </p:cNvPr>
          <p:cNvSpPr txBox="1">
            <a:spLocks/>
          </p:cNvSpPr>
          <p:nvPr/>
        </p:nvSpPr>
        <p:spPr>
          <a:xfrm>
            <a:off x="862366" y="2194102"/>
            <a:ext cx="3427001" cy="3908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400" dirty="0">
                <a:effectLst/>
                <a:latin typeface="Arial" panose="020B0604020202020204" pitchFamily="34" charset="0"/>
                <a:cs typeface="Arial" panose="020B0604020202020204" pitchFamily="34" charset="0"/>
              </a:rPr>
              <a:t>Within 2 business days, a website Coordinator will call you to book your 1-on-1 consultation to discuss your business needs and help determine your website goals. Your website coordinator will manage the design of your website with a team to build, design, and write professional copy.</a:t>
            </a:r>
          </a:p>
          <a:p>
            <a:pPr marL="0" indent="0">
              <a:spcBef>
                <a:spcPts val="0"/>
              </a:spcBef>
              <a:spcAft>
                <a:spcPts val="600"/>
              </a:spcAft>
              <a:buNone/>
            </a:pPr>
            <a:endParaRPr lang="en-US" sz="1400" dirty="0">
              <a:effectLst/>
              <a:latin typeface="Arial" panose="020B0604020202020204" pitchFamily="34" charset="0"/>
              <a:cs typeface="Arial" panose="020B0604020202020204" pitchFamily="34" charset="0"/>
            </a:endParaRPr>
          </a:p>
          <a:p>
            <a:pPr marL="0" indent="0">
              <a:spcBef>
                <a:spcPts val="0"/>
              </a:spcBef>
              <a:spcAft>
                <a:spcPts val="600"/>
              </a:spcAft>
              <a:buNone/>
            </a:pPr>
            <a:r>
              <a:rPr lang="en-US" sz="1400" dirty="0">
                <a:effectLst/>
                <a:latin typeface="Arial" panose="020B0604020202020204" pitchFamily="34" charset="0"/>
                <a:cs typeface="Arial" panose="020B0604020202020204" pitchFamily="34" charset="0"/>
              </a:rPr>
              <a:t>Submit any images or content to be included on your website directly to your dedicated website coordinator. </a:t>
            </a:r>
          </a:p>
        </p:txBody>
      </p:sp>
      <p:pic>
        <p:nvPicPr>
          <p:cNvPr id="4" name="Picture 3">
            <a:extLst>
              <a:ext uri="{FF2B5EF4-FFF2-40B4-BE49-F238E27FC236}">
                <a16:creationId xmlns:a16="http://schemas.microsoft.com/office/drawing/2014/main" id="{A875599B-820F-4DDA-E256-A311DF3AFCB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 b="50235"/>
          <a:stretch/>
        </p:blipFill>
        <p:spPr bwMode="auto">
          <a:xfrm>
            <a:off x="5949950" y="640715"/>
            <a:ext cx="5759450" cy="5576570"/>
          </a:xfrm>
          <a:prstGeom prst="rect">
            <a:avLst/>
          </a:prstGeom>
          <a:noFill/>
          <a:ln>
            <a:noFill/>
          </a:ln>
          <a:effectLst/>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el="http://schemas.microsoft.com/office/2019/extlst"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arto="http://schemas.microsoft.com/office/word/2006/arto" xmlns:o="urn:schemas-microsoft-com:office:office" xmlns:v="urn:schemas-microsoft-com:vml" xmlns:w10="urn:schemas-microsoft-com:office:word" xmlns:w="http://schemas.openxmlformats.org/wordprocessingml/2006/main" xmlns:a14="http://schemas.microsoft.com/office/drawing/2010/main" xmlns="" xmlns:lc="http://schemas.openxmlformats.org/drawingml/2006/lockedCanvas">
                <a:blipFill dpi="0" rotWithShape="0">
                  <a:blip/>
                  <a:srcRect/>
                  <a:stretch>
                    <a:fillRect/>
                  </a:stretch>
                </a:blip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el="http://schemas.microsoft.com/office/2019/extlst"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arto="http://schemas.microsoft.com/office/word/2006/arto" xmlns:o="urn:schemas-microsoft-com:office:office" xmlns:v="urn:schemas-microsoft-com:vml" xmlns:w10="urn:schemas-microsoft-com:office:word" xmlns:w="http://schemas.openxmlformats.org/wordprocessingml/2006/main" xmlns:a14="http://schemas.microsoft.com/office/drawing/2010/main" xmlns="" xmlns:lc="http://schemas.openxmlformats.org/drawingml/2006/lockedCanvas" w="9525" cap="flat">
                <a:solidFill>
                  <a:srgbClr val="808080"/>
                </a:solidFill>
                <a:round/>
                <a:headEnd/>
                <a:tailEnd/>
              </a14:hiddenLine>
            </a:ext>
          </a:extLst>
        </p:spPr>
      </p:pic>
    </p:spTree>
    <p:extLst>
      <p:ext uri="{BB962C8B-B14F-4D97-AF65-F5344CB8AC3E}">
        <p14:creationId xmlns:p14="http://schemas.microsoft.com/office/powerpoint/2010/main" val="1019586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2800" b="1" dirty="0">
                <a:solidFill>
                  <a:srgbClr val="ED7D31"/>
                </a:solidFill>
                <a:effectLst/>
                <a:latin typeface="Arial" panose="020B0604020202020204" pitchFamily="34" charset="0"/>
                <a:ea typeface="MS Mincho" panose="02020609040205080304" pitchFamily="49" charset="-128"/>
              </a:rPr>
              <a:t>Benefits</a:t>
            </a:r>
            <a:endParaRPr lang="en-US" sz="6000" b="1" dirty="0">
              <a:solidFill>
                <a:srgbClr val="ED7D31"/>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096000" y="1559374"/>
            <a:ext cx="5823098" cy="520996"/>
          </a:xfrm>
        </p:spPr>
        <p:txBody>
          <a:bodyPr vert="horz" lIns="91440" tIns="45720" rIns="91440" bIns="45720" rtlCol="0" anchor="t">
            <a:normAutofit/>
          </a:bodyPr>
          <a:lstStyle/>
          <a:p>
            <a:pPr marL="0" indent="0">
              <a:buNone/>
            </a:pPr>
            <a:r>
              <a:rPr lang="en-US" sz="1400" b="0" i="0" u="none" strike="noStrike" baseline="0" dirty="0">
                <a:solidFill>
                  <a:srgbClr val="000000"/>
                </a:solidFill>
                <a:latin typeface="Arial" panose="020B0604020202020204" pitchFamily="34" charset="0"/>
              </a:rPr>
              <a:t>With the help of an expert, get a website that works for your business, so you can focus on your day-to-day.</a:t>
            </a: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38200" y="1658534"/>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i="0" u="none" strike="noStrike" baseline="0" dirty="0">
                <a:solidFill>
                  <a:srgbClr val="000000"/>
                </a:solidFill>
                <a:latin typeface="Arial" panose="020B0604020202020204" pitchFamily="34" charset="0"/>
              </a:rPr>
              <a:t>Work with experts</a:t>
            </a:r>
            <a:endParaRPr lang="en-US" sz="2400" dirty="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38200" y="2734800"/>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Be mobile ready</a:t>
            </a:r>
            <a:endParaRPr lang="en-US" sz="2400" dirty="0"/>
          </a:p>
        </p:txBody>
      </p:sp>
      <p:sp>
        <p:nvSpPr>
          <p:cNvPr id="14" name="Content Placeholder 3">
            <a:extLst>
              <a:ext uri="{FF2B5EF4-FFF2-40B4-BE49-F238E27FC236}">
                <a16:creationId xmlns:a16="http://schemas.microsoft.com/office/drawing/2014/main" id="{8396E9FF-5F8B-43DB-1CF8-1A60B7140E27}"/>
              </a:ext>
            </a:extLst>
          </p:cNvPr>
          <p:cNvSpPr txBox="1">
            <a:spLocks/>
          </p:cNvSpPr>
          <p:nvPr/>
        </p:nvSpPr>
        <p:spPr>
          <a:xfrm>
            <a:off x="838200" y="3841303"/>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24/7 Access </a:t>
            </a:r>
            <a:endParaRPr lang="en-US" sz="2400" dirty="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38200" y="4934398"/>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Ongoing updates</a:t>
            </a:r>
            <a:endParaRPr lang="en-US" sz="2400" dirty="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810000" y="1808922"/>
            <a:ext cx="2104286"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810000" y="2894772"/>
            <a:ext cx="2104286"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6" name="Content Placeholder 3">
            <a:extLst>
              <a:ext uri="{FF2B5EF4-FFF2-40B4-BE49-F238E27FC236}">
                <a16:creationId xmlns:a16="http://schemas.microsoft.com/office/drawing/2014/main" id="{805404A5-6A36-BB3B-B297-EC693455D71F}"/>
              </a:ext>
            </a:extLst>
          </p:cNvPr>
          <p:cNvSpPr txBox="1">
            <a:spLocks/>
          </p:cNvSpPr>
          <p:nvPr/>
        </p:nvSpPr>
        <p:spPr>
          <a:xfrm>
            <a:off x="6096000" y="2386510"/>
            <a:ext cx="5823098" cy="8070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sz="1400" b="0" i="0" u="none" strike="noStrike" baseline="0" dirty="0">
              <a:solidFill>
                <a:srgbClr val="000000"/>
              </a:solidFill>
              <a:latin typeface="Arial" panose="020B0604020202020204" pitchFamily="34" charset="0"/>
            </a:endParaRPr>
          </a:p>
          <a:p>
            <a:pPr marL="0" indent="0">
              <a:buNone/>
            </a:pPr>
            <a:r>
              <a:rPr lang="en-US" sz="1400" b="0" i="0" u="none" strike="noStrike" baseline="0" dirty="0">
                <a:solidFill>
                  <a:srgbClr val="000000"/>
                </a:solidFill>
                <a:latin typeface="Arial" panose="020B0604020202020204" pitchFamily="34" charset="0"/>
              </a:rPr>
              <a:t>Automatically optimizes your website across devices, including desktops, tablets, and smartphones. </a:t>
            </a:r>
            <a:endParaRPr lang="en-US" sz="1400" dirty="0">
              <a:solidFill>
                <a:srgbClr val="000000"/>
              </a:solidFill>
              <a:latin typeface="Arial" panose="020B0604020202020204" pitchFamily="34" charset="0"/>
            </a:endParaRPr>
          </a:p>
        </p:txBody>
      </p:sp>
      <p:sp>
        <p:nvSpPr>
          <p:cNvPr id="9" name="Content Placeholder 3">
            <a:extLst>
              <a:ext uri="{FF2B5EF4-FFF2-40B4-BE49-F238E27FC236}">
                <a16:creationId xmlns:a16="http://schemas.microsoft.com/office/drawing/2014/main" id="{D9A6271D-660F-2D32-E9DB-B385A0C6C20E}"/>
              </a:ext>
            </a:extLst>
          </p:cNvPr>
          <p:cNvSpPr txBox="1">
            <a:spLocks/>
          </p:cNvSpPr>
          <p:nvPr/>
        </p:nvSpPr>
        <p:spPr>
          <a:xfrm>
            <a:off x="6096000" y="3740103"/>
            <a:ext cx="5823098" cy="8070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400" b="0" i="0" u="none" strike="noStrike" baseline="0" dirty="0">
                <a:solidFill>
                  <a:srgbClr val="000000"/>
                </a:solidFill>
                <a:latin typeface="Arial" panose="020B0604020202020204" pitchFamily="34" charset="0"/>
              </a:rPr>
              <a:t>Anytime, anywhere access. Manage your website from anywhere that has an Internet connection.</a:t>
            </a:r>
            <a:endParaRPr lang="en-US" sz="1400" dirty="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5015A268-2FDC-4873-CD65-B9FD1440F6A5}"/>
              </a:ext>
            </a:extLst>
          </p:cNvPr>
          <p:cNvCxnSpPr>
            <a:cxnSpLocks/>
          </p:cNvCxnSpPr>
          <p:nvPr/>
        </p:nvCxnSpPr>
        <p:spPr>
          <a:xfrm>
            <a:off x="3810000" y="3953551"/>
            <a:ext cx="2104286"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A4BC30C9-7865-2BD6-C11A-F7B6C2F49FEE}"/>
              </a:ext>
            </a:extLst>
          </p:cNvPr>
          <p:cNvSpPr txBox="1">
            <a:spLocks/>
          </p:cNvSpPr>
          <p:nvPr/>
        </p:nvSpPr>
        <p:spPr>
          <a:xfrm>
            <a:off x="6096000" y="4468271"/>
            <a:ext cx="5823098" cy="101909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sz="1400" b="0" i="0" u="none" strike="noStrike" baseline="0" dirty="0">
              <a:solidFill>
                <a:srgbClr val="000000"/>
              </a:solidFill>
              <a:latin typeface="Arial" panose="020B0604020202020204" pitchFamily="34" charset="0"/>
            </a:endParaRPr>
          </a:p>
          <a:p>
            <a:pPr marL="0" indent="0">
              <a:buNone/>
            </a:pPr>
            <a:r>
              <a:rPr lang="en-US" sz="1400" b="0" i="0" u="none" strike="noStrike" baseline="0" dirty="0">
                <a:solidFill>
                  <a:srgbClr val="000000"/>
                </a:solidFill>
                <a:latin typeface="Arial" panose="020B0604020202020204" pitchFamily="34" charset="0"/>
              </a:rPr>
              <a:t>Monthly maintenance time with our website packages means you can call or email to request edits and updates to keep your website up-to-date and stay credible, with no extra work or investment.</a:t>
            </a:r>
          </a:p>
        </p:txBody>
      </p:sp>
      <p:cxnSp>
        <p:nvCxnSpPr>
          <p:cNvPr id="18" name="Straight Connector 17">
            <a:extLst>
              <a:ext uri="{FF2B5EF4-FFF2-40B4-BE49-F238E27FC236}">
                <a16:creationId xmlns:a16="http://schemas.microsoft.com/office/drawing/2014/main" id="{EA49A005-60C4-17B3-70F0-9ECCD2184E10}"/>
              </a:ext>
            </a:extLst>
          </p:cNvPr>
          <p:cNvCxnSpPr>
            <a:cxnSpLocks/>
          </p:cNvCxnSpPr>
          <p:nvPr/>
        </p:nvCxnSpPr>
        <p:spPr>
          <a:xfrm>
            <a:off x="3810000" y="5059850"/>
            <a:ext cx="2104286"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dirty="0">
                <a:solidFill>
                  <a:schemeClr val="bg1"/>
                </a:solidFill>
                <a:latin typeface="Arial" panose="020B0604020202020204" pitchFamily="34" charset="0"/>
                <a:cs typeface="Arial" panose="020B0604020202020204" pitchFamily="34" charset="0"/>
              </a:rPr>
              <a:t>Q &amp; A / Next steps</a:t>
            </a:r>
            <a:endParaRPr lang="en-US"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dirty="0">
                <a:solidFill>
                  <a:schemeClr val="bg1"/>
                </a:solidFill>
                <a:latin typeface="Arial" panose="020B0604020202020204" pitchFamily="34" charset="0"/>
                <a:cs typeface="Arial" panose="020B0604020202020204" pitchFamily="34" charset="0"/>
              </a:rPr>
              <a:t>Frequently Asked Questions</a:t>
            </a:r>
            <a:endParaRPr lang="en-US"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81050"/>
            <a:ext cx="10582656" cy="55772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a:spcBef>
                <a:spcPts val="500"/>
              </a:spcBef>
              <a:spcAft>
                <a:spcPts val="0"/>
              </a:spcAft>
              <a:buFont typeface="+mj-lt"/>
              <a:buAutoNum type="arabicPeriod"/>
            </a:pPr>
            <a:r>
              <a:rPr lang="en-US" sz="1050" b="1" dirty="0">
                <a:effectLst/>
                <a:latin typeface="Arial" panose="020B0604020202020204" pitchFamily="34" charset="0"/>
                <a:ea typeface="MS Mincho" panose="02020609040205080304" pitchFamily="49" charset="-128"/>
              </a:rPr>
              <a:t>What is included in a professional website design package?</a:t>
            </a: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Included in your package, you will have access to all the tools you need to manage and market an effective online presence. Most of our plans include a domain, business email and a website customized to your business and marketed by our team of experts.</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Your subscription will give you access to a website Coordinator, who will liaise with a designer, copywriter and quality assurance team on the delivery of your website.</a:t>
            </a:r>
          </a:p>
          <a:p>
            <a:pPr marL="0" marR="0" indent="0">
              <a:spcBef>
                <a:spcPts val="500"/>
              </a:spcBef>
              <a:spcAft>
                <a:spcPts val="0"/>
              </a:spcAft>
              <a:buNone/>
            </a:pP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b="1" dirty="0">
                <a:effectLst/>
                <a:latin typeface="Arial" panose="020B0604020202020204" pitchFamily="34" charset="0"/>
                <a:ea typeface="MS Mincho" panose="02020609040205080304" pitchFamily="49" charset="-128"/>
              </a:rPr>
              <a:t>2. Does the plan include hosting?</a:t>
            </a: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Yes, all professional website design packages include hosting, as well as access to an account management dashboard to manage your domain, website and additional online marketing tools.</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Your package also includes business-class email. You can create and manage email accounts in your dashboard and use Webmail to access your email anywhere.</a:t>
            </a:r>
          </a:p>
          <a:p>
            <a:pPr marL="0" marR="0" indent="0">
              <a:spcBef>
                <a:spcPts val="500"/>
              </a:spcBef>
              <a:spcAft>
                <a:spcPts val="0"/>
              </a:spcAft>
              <a:buNone/>
            </a:pP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b="1" dirty="0">
                <a:effectLst/>
                <a:latin typeface="Arial" panose="020B0604020202020204" pitchFamily="34" charset="0"/>
                <a:ea typeface="MS Mincho" panose="02020609040205080304" pitchFamily="49" charset="-128"/>
              </a:rPr>
              <a:t>3. What is the design process?</a:t>
            </a: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After your purchase, you will receive a Welcome email with login credentials to a Project Center so you can review your website’s design.</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Your design process starts with a creative brief, where you provide your website Coordinator with details about your business and branding, including your logo, colors, font preferences and more. You will also discuss your website requirements and design preferences in your 1-on-1 phone consultation with your website Coordinator. Your website Coordinator will manage the design of your website with a professional designer, copywriter and quality assurance team.</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Throughout the process, you will get emails prompting you to log in to the Project Center and review drafts of your website. You will also have the chance to review your finished website before it is published online. </a:t>
            </a:r>
          </a:p>
          <a:p>
            <a:pPr marL="0" marR="0" indent="0">
              <a:spcBef>
                <a:spcPts val="500"/>
              </a:spcBef>
              <a:spcAft>
                <a:spcPts val="0"/>
              </a:spcAft>
              <a:buNone/>
            </a:pP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b="1" dirty="0">
                <a:effectLst/>
                <a:latin typeface="Arial" panose="020B0604020202020204" pitchFamily="34" charset="0"/>
                <a:ea typeface="MS Mincho" panose="02020609040205080304" pitchFamily="49" charset="-128"/>
              </a:rPr>
              <a:t>4. How much input will I have into the design of my website?</a:t>
            </a: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Your design process starts with a modern, professionally designed template selection. You can provide your website Coordinator details about your business and branding, including your logo, colors, font preferences and more through a creative brief. You will also discuss your website requirements and design preferences in your 1-on-1 phone consultation with your website Coordinator.</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 will also have the chance to review your finished website before it is published online.</a:t>
            </a:r>
          </a:p>
          <a:p>
            <a:pPr marL="0" marR="0" indent="0">
              <a:spcBef>
                <a:spcPts val="500"/>
              </a:spcBef>
              <a:spcAft>
                <a:spcPts val="0"/>
              </a:spcAft>
              <a:buNone/>
            </a:pPr>
            <a:endParaRPr lang="en-US" sz="1050" b="1"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b="1" dirty="0">
                <a:effectLst/>
                <a:latin typeface="Arial" panose="020B0604020202020204" pitchFamily="34" charset="0"/>
                <a:ea typeface="MS Mincho" panose="02020609040205080304" pitchFamily="49" charset="-128"/>
              </a:rPr>
              <a:t>5. Do I own my website? </a:t>
            </a:r>
            <a:endParaRPr lang="en-US" sz="1050" dirty="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While you are subscribed to your plan, you have access to your website, but you do not own the website in its entirety. </a:t>
            </a:r>
          </a:p>
          <a:p>
            <a:pPr marL="0" marR="0" indent="0">
              <a:spcBef>
                <a:spcPts val="500"/>
              </a:spcBef>
              <a:spcAft>
                <a:spcPts val="0"/>
              </a:spcAft>
              <a:buNone/>
            </a:pPr>
            <a:r>
              <a:rPr lang="en-US" sz="1050" dirty="0">
                <a:effectLst/>
                <a:latin typeface="Arial" panose="020B0604020202020204" pitchFamily="34" charset="0"/>
                <a:ea typeface="MS Mincho" panose="02020609040205080304" pitchFamily="49" charset="-128"/>
              </a:rPr>
              <a:t>You will retain ownership of any images or content that you provide. Any assets provided by your designer including templates, images and content will remain under our ownership.</a:t>
            </a:r>
          </a:p>
        </p:txBody>
      </p:sp>
    </p:spTree>
    <p:extLst>
      <p:ext uri="{BB962C8B-B14F-4D97-AF65-F5344CB8AC3E}">
        <p14:creationId xmlns:p14="http://schemas.microsoft.com/office/powerpoint/2010/main" val="169676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Probing Questions</a:t>
            </a:r>
            <a:endParaRPr lang="en-US">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523193"/>
            <a:ext cx="4702993" cy="62200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100" b="1" dirty="0">
                <a:solidFill>
                  <a:srgbClr val="ED7D31"/>
                </a:solidFill>
                <a:effectLst/>
                <a:latin typeface="Arial" panose="020B0604020202020204" pitchFamily="34" charset="0"/>
                <a:ea typeface="Times New Roman" panose="02020603050405020304" pitchFamily="18" charset="0"/>
                <a:cs typeface="Arial" panose="020B0604020202020204" pitchFamily="34" charset="0"/>
              </a:rPr>
              <a:t>Is your website mobile responsive? Are you aware that Google will only show mobile-friendly websites to users searching on their smartphones?</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72% of consumers who search on a computer/tablet go to a store within 5 miles of their location. (SMA Marketing, 2022)</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88% of consumers visit a store within a day after conducting a local search on their smartphone. (Finances Online, 2023) </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Your professionally designed website will perform perfectly across devices.</a:t>
            </a:r>
          </a:p>
          <a:p>
            <a:pPr marL="0" marR="0" indent="0" fontAlgn="base">
              <a:lnSpc>
                <a:spcPct val="100000"/>
              </a:lnSpc>
              <a:spcBef>
                <a:spcPts val="0"/>
              </a:spcBef>
              <a:spcAft>
                <a:spcPts val="0"/>
              </a:spcAft>
              <a:buNone/>
            </a:pPr>
            <a:endParaRPr lang="en-US" sz="1100" dirty="0">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910856" y="523193"/>
            <a:ext cx="4702993" cy="62200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100" b="1" dirty="0">
                <a:solidFill>
                  <a:srgbClr val="ED7D31"/>
                </a:solidFill>
                <a:effectLst/>
                <a:latin typeface="Arial" panose="020B0604020202020204" pitchFamily="34" charset="0"/>
                <a:ea typeface="Times New Roman" panose="02020603050405020304" pitchFamily="18" charset="0"/>
                <a:cs typeface="Arial" panose="020B0604020202020204" pitchFamily="34" charset="0"/>
              </a:rPr>
              <a:t>What would happen if I Googled what your business offers, in your city? Would your business show up?</a:t>
            </a:r>
          </a:p>
          <a:p>
            <a:pPr marL="0" marR="0" indent="0" fontAlgn="base">
              <a:lnSpc>
                <a:spcPct val="100000"/>
              </a:lnSpc>
              <a:spcBef>
                <a:spcPts val="0"/>
              </a:spcBef>
              <a:spcAft>
                <a:spcPts val="0"/>
              </a:spcAft>
              <a:buNone/>
            </a:pPr>
            <a:endPar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Do you know that 9 out of 10 purchases start online? You need to get found online, and have your professional website come up when customers are searching.  </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We have an option where we can build a professional website that gets your business online.  Plus, features that drive your visitors to action.</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 can have a website Coordinator call you to get started tomorrow. What do you think?</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Do you have a website?</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r>
              <a:rPr lang="en-US" sz="1100" b="1" dirty="0">
                <a:effectLst/>
                <a:latin typeface="Arial" panose="020B0604020202020204" pitchFamily="34" charset="0"/>
                <a:ea typeface="Times New Roman" panose="02020603050405020304" pitchFamily="18" charset="0"/>
                <a:cs typeface="Arial" panose="020B0604020202020204" pitchFamily="34" charset="0"/>
              </a:rPr>
              <a:t>Yes? </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How could your website be improved: design, mobile-friendly, selling online, attract new customers?</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 No? </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Great, don’t lose any more time waiting! It’s important to have a professional online presence, so customers can trust your business’ credibility.</a:t>
            </a:r>
          </a:p>
          <a:p>
            <a:pPr marL="0" marR="0" indent="0" fontAlgn="base">
              <a:lnSpc>
                <a:spcPct val="100000"/>
              </a:lnSpc>
              <a:spcBef>
                <a:spcPts val="0"/>
              </a:spcBef>
              <a:spcAft>
                <a:spcPts val="0"/>
              </a:spcAft>
              <a:buNone/>
            </a:pPr>
            <a:endParaRPr lang="en-US" sz="1100" dirty="0">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 have a solution that won’t take up your time or cost you an arm and a leg. We offer Professional Design website packages, where you work with a website coordinator to build your business a website that will work for you.</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7D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Objection Handlers</a:t>
            </a:r>
            <a:endParaRPr lang="en-US">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301812"/>
            <a:ext cx="4702993" cy="55274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000" b="1" dirty="0">
                <a:solidFill>
                  <a:srgbClr val="ED7D31"/>
                </a:solidFill>
                <a:effectLst/>
                <a:latin typeface="Arial"/>
                <a:ea typeface="Times New Roman" panose="02020603050405020304" pitchFamily="18" charset="0"/>
                <a:cs typeface="Arial"/>
              </a:rPr>
              <a:t>I already have a website / happy with my current provider.</a:t>
            </a:r>
          </a:p>
          <a:p>
            <a:pPr marL="0" marR="0" indent="0" fontAlgn="base">
              <a:lnSpc>
                <a:spcPct val="100000"/>
              </a:lnSpc>
              <a:spcBef>
                <a:spcPts val="0"/>
              </a:spcBef>
              <a:spcAft>
                <a:spcPts val="0"/>
              </a:spcAft>
              <a:buNone/>
            </a:pPr>
            <a:endParaRPr lang="en-US" sz="10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000" b="1" dirty="0">
                <a:effectLst/>
                <a:latin typeface="Arial"/>
                <a:ea typeface="Times New Roman" panose="02020603050405020304" pitchFamily="18" charset="0"/>
                <a:cs typeface="Arial"/>
              </a:rPr>
              <a:t>Is your design modern? Is your website up to date? Is it mobile-friendly? </a:t>
            </a:r>
          </a:p>
          <a:p>
            <a:pPr marL="0" marR="0" indent="0" fontAlgn="base">
              <a:lnSpc>
                <a:spcPct val="100000"/>
              </a:lnSpc>
              <a:spcBef>
                <a:spcPts val="0"/>
              </a:spcBef>
              <a:spcAft>
                <a:spcPts val="0"/>
              </a:spcAft>
              <a:buNone/>
            </a:pPr>
            <a:endParaRPr lang="en-US" sz="1000" b="1" dirty="0">
              <a:effectLst/>
              <a:latin typeface="Arial"/>
              <a:ea typeface="Times New Roman" panose="02020603050405020304" pitchFamily="18" charset="0"/>
              <a:cs typeface="Arial"/>
            </a:endParaRPr>
          </a:p>
          <a:p>
            <a:pPr marL="0" marR="0" indent="0">
              <a:spcBef>
                <a:spcPts val="600"/>
              </a:spcBef>
              <a:spcAft>
                <a:spcPts val="600"/>
              </a:spcAft>
              <a:buNone/>
            </a:pPr>
            <a:r>
              <a:rPr lang="en-CA" sz="1000" dirty="0">
                <a:effectLst/>
                <a:latin typeface="Arial" panose="020B0604020202020204" pitchFamily="34" charset="0"/>
                <a:ea typeface="Calibri" panose="020F0502020204030204" pitchFamily="34" charset="0"/>
                <a:cs typeface="Arial" panose="020B0604020202020204" pitchFamily="34" charset="0"/>
              </a:rPr>
              <a:t>First impressions are extremely important. It takes no more than a split second (50 to 500 milliseconds) for users to form an opinion about your website (</a:t>
            </a:r>
            <a:r>
              <a:rPr lang="en-CA" sz="1000" u="sng" dirty="0">
                <a:effectLst/>
                <a:latin typeface="Arial" panose="020B0604020202020204" pitchFamily="34"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CXL, 2022</a:t>
            </a:r>
            <a:r>
              <a:rPr lang="en-CA" sz="1000" dirty="0">
                <a:effectLst/>
                <a:latin typeface="Arial" panose="020B0604020202020204" pitchFamily="34" charset="0"/>
                <a:ea typeface="Calibri" panose="020F0502020204030204" pitchFamily="34" charset="0"/>
                <a:cs typeface="Arial" panose="020B0604020202020204" pitchFamily="34" charset="0"/>
              </a:rPr>
              <a:t>).</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CA" sz="1000" dirty="0">
                <a:effectLst/>
                <a:latin typeface="Arial" panose="020B0604020202020204" pitchFamily="34" charset="0"/>
                <a:ea typeface="Calibri" panose="020F0502020204030204" pitchFamily="34" charset="0"/>
                <a:cs typeface="Arial" panose="020B0604020202020204" pitchFamily="34" charset="0"/>
              </a:rPr>
              <a:t>First impressions are 94% design-related. (</a:t>
            </a:r>
            <a:r>
              <a:rPr lang="en-CA" sz="1000" u="sng" dirty="0" err="1">
                <a:effectLst/>
                <a:latin typeface="Arial" panose="020B0604020202020204" pitchFamily="34" charset="0"/>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DatAchieve</a:t>
            </a:r>
            <a:r>
              <a:rPr lang="en-CA" sz="1000" u="sng" dirty="0">
                <a:effectLst/>
                <a:latin typeface="Arial" panose="020B0604020202020204" pitchFamily="34" charset="0"/>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Digital, 2022)</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CA" sz="1000" dirty="0">
                <a:effectLst/>
                <a:latin typeface="Arial" panose="020B0604020202020204" pitchFamily="34" charset="0"/>
                <a:ea typeface="Calibri" panose="020F0502020204030204" pitchFamily="34" charset="0"/>
                <a:cs typeface="Arial" panose="020B0604020202020204" pitchFamily="34" charset="0"/>
              </a:rPr>
              <a:t>Your new website will be modern, professionally designed, and will be built responsive, so it looks great on every device.</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indent="0" fontAlgn="base">
              <a:lnSpc>
                <a:spcPct val="100000"/>
              </a:lnSpc>
              <a:spcBef>
                <a:spcPts val="0"/>
              </a:spcBef>
              <a:spcAft>
                <a:spcPts val="0"/>
              </a:spcAft>
              <a:buNone/>
            </a:pPr>
            <a:endParaRPr lang="en-US" sz="1000" dirty="0">
              <a:latin typeface="Arial"/>
              <a:ea typeface="Times New Roman" panose="02020603050405020304" pitchFamily="18" charset="0"/>
              <a:cs typeface="Arial"/>
            </a:endParaRPr>
          </a:p>
          <a:p>
            <a:pPr marL="0" indent="0" fontAlgn="base">
              <a:lnSpc>
                <a:spcPct val="100000"/>
              </a:lnSpc>
              <a:spcBef>
                <a:spcPts val="0"/>
              </a:spcBef>
              <a:buNone/>
            </a:pPr>
            <a:r>
              <a:rPr lang="en-US" sz="1000" b="1" dirty="0">
                <a:latin typeface="Arial"/>
                <a:cs typeface="Arial"/>
              </a:rPr>
              <a:t>If someone else makes changes for you, do they charge and are they able to make changes quickly?</a:t>
            </a:r>
          </a:p>
          <a:p>
            <a:pPr marL="0" indent="0" fontAlgn="base">
              <a:lnSpc>
                <a:spcPct val="100000"/>
              </a:lnSpc>
              <a:spcBef>
                <a:spcPts val="0"/>
              </a:spcBef>
              <a:buNone/>
            </a:pPr>
            <a:endParaRPr lang="en-US" sz="1000" b="1" dirty="0">
              <a:latin typeface="Arial"/>
              <a:cs typeface="Arial"/>
            </a:endParaRPr>
          </a:p>
          <a:p>
            <a:pPr marL="0" indent="0" fontAlgn="base">
              <a:lnSpc>
                <a:spcPct val="100000"/>
              </a:lnSpc>
              <a:spcBef>
                <a:spcPts val="0"/>
              </a:spcBef>
              <a:buNone/>
            </a:pPr>
            <a:r>
              <a:rPr lang="en-US" sz="1000" b="1" dirty="0">
                <a:latin typeface="Arial"/>
                <a:cs typeface="Arial"/>
              </a:rPr>
              <a:t>Can you easily make changes to your website yourself?</a:t>
            </a:r>
          </a:p>
          <a:p>
            <a:pPr marL="0" indent="0" fontAlgn="base">
              <a:lnSpc>
                <a:spcPct val="100000"/>
              </a:lnSpc>
              <a:spcBef>
                <a:spcPts val="0"/>
              </a:spcBef>
              <a:buNone/>
            </a:pPr>
            <a:endParaRPr lang="en-US" sz="1000" b="1" dirty="0">
              <a:latin typeface="Arial"/>
              <a:cs typeface="Arial"/>
            </a:endParaRPr>
          </a:p>
          <a:p>
            <a:pPr marL="0" indent="0" fontAlgn="base">
              <a:lnSpc>
                <a:spcPct val="100000"/>
              </a:lnSpc>
              <a:spcBef>
                <a:spcPts val="0"/>
              </a:spcBef>
              <a:buNone/>
            </a:pPr>
            <a:r>
              <a:rPr lang="en-US" sz="1000" dirty="0">
                <a:latin typeface="Arial"/>
                <a:cs typeface="Arial"/>
              </a:rPr>
              <a:t>Our plans include ongoing monthly maintenance, so you can call in to make updates whenever you need to keep your website fresh and credible with your customers, at no extra cost.</a:t>
            </a:r>
          </a:p>
          <a:p>
            <a:pPr marL="0" indent="0" fontAlgn="base">
              <a:lnSpc>
                <a:spcPct val="100000"/>
              </a:lnSpc>
              <a:spcBef>
                <a:spcPts val="0"/>
              </a:spcBef>
              <a:buNone/>
            </a:pPr>
            <a:endParaRPr lang="en-US" sz="1000" dirty="0">
              <a:latin typeface="Arial"/>
              <a:cs typeface="Arial"/>
            </a:endParaRPr>
          </a:p>
          <a:p>
            <a:pPr marL="0" indent="0" fontAlgn="base">
              <a:lnSpc>
                <a:spcPct val="100000"/>
              </a:lnSpc>
              <a:spcBef>
                <a:spcPts val="0"/>
              </a:spcBef>
              <a:buNone/>
            </a:pPr>
            <a:r>
              <a:rPr lang="en-US" sz="1000" dirty="0">
                <a:latin typeface="Arial"/>
                <a:cs typeface="Arial"/>
              </a:rPr>
              <a:t>You can also make changes to your website yourself, through our easy-to-use editor, Online Presence Builder, so you can make quick, easy edits or updates on the fly, anytime 24/7.</a:t>
            </a:r>
          </a:p>
          <a:p>
            <a:pPr marL="0" indent="0" fontAlgn="base">
              <a:lnSpc>
                <a:spcPct val="100000"/>
              </a:lnSpc>
              <a:spcBef>
                <a:spcPts val="0"/>
              </a:spcBef>
              <a:buNone/>
            </a:pPr>
            <a:endParaRPr lang="en-US" sz="1000" b="1" dirty="0">
              <a:latin typeface="Arial"/>
              <a:cs typeface="Arial"/>
            </a:endParaRPr>
          </a:p>
          <a:p>
            <a:pPr marL="0" indent="0" fontAlgn="base">
              <a:lnSpc>
                <a:spcPct val="100000"/>
              </a:lnSpc>
              <a:spcBef>
                <a:spcPts val="0"/>
              </a:spcBef>
              <a:buNone/>
            </a:pPr>
            <a:r>
              <a:rPr lang="en-US" sz="1000" b="1" dirty="0">
                <a:latin typeface="Arial"/>
                <a:cs typeface="Arial"/>
              </a:rPr>
              <a:t>Does your website get found by customers searching online? Does it have an impact on your business and help drive sales and prospects? Does it include marketing tools to help promote your business?</a:t>
            </a:r>
          </a:p>
          <a:p>
            <a:pPr marL="0" indent="0" fontAlgn="base">
              <a:lnSpc>
                <a:spcPct val="100000"/>
              </a:lnSpc>
              <a:spcBef>
                <a:spcPts val="0"/>
              </a:spcBef>
              <a:buNone/>
            </a:pPr>
            <a:endParaRPr lang="en-US" sz="1000" b="1" dirty="0">
              <a:latin typeface="Arial"/>
              <a:cs typeface="Arial"/>
            </a:endParaRPr>
          </a:p>
          <a:p>
            <a:pPr marL="0" indent="0" fontAlgn="base">
              <a:lnSpc>
                <a:spcPct val="100000"/>
              </a:lnSpc>
              <a:spcBef>
                <a:spcPts val="0"/>
              </a:spcBef>
              <a:buNone/>
            </a:pPr>
            <a:r>
              <a:rPr lang="en-US" sz="1000" dirty="0">
                <a:latin typeface="Arial"/>
                <a:cs typeface="Arial"/>
              </a:rPr>
              <a:t>Our plans include a full offering of marketing support and tools such as:</a:t>
            </a:r>
          </a:p>
          <a:p>
            <a:pPr fontAlgn="base">
              <a:lnSpc>
                <a:spcPct val="100000"/>
              </a:lnSpc>
              <a:spcBef>
                <a:spcPts val="0"/>
              </a:spcBef>
            </a:pPr>
            <a:r>
              <a:rPr lang="en-US" sz="1000" dirty="0">
                <a:latin typeface="Arial"/>
                <a:cs typeface="Arial"/>
              </a:rPr>
              <a:t>Optimizing your web pages for SEO and submitting your website to search listings.</a:t>
            </a:r>
          </a:p>
          <a:p>
            <a:pPr fontAlgn="base">
              <a:lnSpc>
                <a:spcPct val="100000"/>
              </a:lnSpc>
              <a:spcBef>
                <a:spcPts val="0"/>
              </a:spcBef>
            </a:pPr>
            <a:r>
              <a:rPr lang="en-US" sz="1000" dirty="0">
                <a:latin typeface="Arial"/>
                <a:cs typeface="Arial"/>
              </a:rPr>
              <a:t>Leveraging email marketing to promote your products or services and driving traffic to your new website.</a:t>
            </a:r>
          </a:p>
          <a:p>
            <a:pPr fontAlgn="base">
              <a:lnSpc>
                <a:spcPct val="100000"/>
              </a:lnSpc>
              <a:spcBef>
                <a:spcPts val="0"/>
              </a:spcBef>
            </a:pPr>
            <a:r>
              <a:rPr lang="en-US" sz="1000" dirty="0">
                <a:latin typeface="Arial"/>
                <a:cs typeface="Arial"/>
              </a:rPr>
              <a:t>Social media tools make it easy to post one time with one login, to Twitter, Facebook and LinkedIn.</a:t>
            </a:r>
          </a:p>
          <a:p>
            <a:pPr fontAlgn="base">
              <a:lnSpc>
                <a:spcPct val="100000"/>
              </a:lnSpc>
              <a:spcBef>
                <a:spcPts val="0"/>
              </a:spcBef>
            </a:pPr>
            <a:r>
              <a:rPr lang="en-US" sz="1000" dirty="0">
                <a:latin typeface="Arial"/>
                <a:cs typeface="Arial"/>
              </a:rPr>
              <a:t>Website analytics to measure visitors and what pages are most popular.</a:t>
            </a:r>
          </a:p>
          <a:p>
            <a:pPr marL="0" indent="0" fontAlgn="base">
              <a:lnSpc>
                <a:spcPct val="100000"/>
              </a:lnSpc>
              <a:spcBef>
                <a:spcPts val="0"/>
              </a:spcBef>
              <a:buNone/>
            </a:pPr>
            <a:endParaRPr lang="en-US" sz="1000" dirty="0">
              <a:latin typeface="Arial"/>
              <a:cs typeface="Arial"/>
            </a:endParaRPr>
          </a:p>
          <a:p>
            <a:pPr marL="0" indent="0" fontAlgn="base">
              <a:lnSpc>
                <a:spcPct val="100000"/>
              </a:lnSpc>
              <a:spcBef>
                <a:spcPts val="0"/>
              </a:spcBef>
              <a:buNone/>
            </a:pPr>
            <a:r>
              <a:rPr lang="en-US" sz="1000" dirty="0">
                <a:latin typeface="Arial"/>
                <a:cs typeface="Arial"/>
              </a:rPr>
              <a:t>Your website should do more than be there for existing business, it should help your business get found by new customers.</a:t>
            </a:r>
          </a:p>
          <a:p>
            <a:pPr marL="0" marR="0" indent="0" fontAlgn="base">
              <a:lnSpc>
                <a:spcPct val="100000"/>
              </a:lnSpc>
              <a:spcBef>
                <a:spcPts val="0"/>
              </a:spcBef>
              <a:spcAft>
                <a:spcPts val="0"/>
              </a:spcAft>
              <a:buNone/>
            </a:pPr>
            <a:endParaRPr lang="en-US" sz="1000" dirty="0">
              <a:effectLst/>
              <a:latin typeface="Arial"/>
              <a:ea typeface="Times New Roman" panose="02020603050405020304" pitchFamily="18" charset="0"/>
              <a:cs typeface="Arial"/>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301812"/>
            <a:ext cx="4702993" cy="608994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10000"/>
              </a:lnSpc>
              <a:spcBef>
                <a:spcPts val="0"/>
              </a:spcBef>
              <a:spcAft>
                <a:spcPts val="0"/>
              </a:spcAft>
              <a:buNone/>
            </a:pPr>
            <a:r>
              <a:rPr lang="en-US" sz="1000" b="1" dirty="0">
                <a:solidFill>
                  <a:srgbClr val="ED7D31"/>
                </a:solidFill>
                <a:latin typeface="Arial" panose="020B0604020202020204" pitchFamily="34" charset="0"/>
                <a:cs typeface="Arial" panose="020B0604020202020204" pitchFamily="34" charset="0"/>
              </a:rPr>
              <a:t>It’s too expensive.</a:t>
            </a:r>
          </a:p>
          <a:p>
            <a:pPr marL="0" marR="0" indent="0">
              <a:spcBef>
                <a:spcPts val="1200"/>
              </a:spcBef>
              <a:spcAft>
                <a:spcPts val="600"/>
              </a:spcAft>
              <a:buNone/>
            </a:pPr>
            <a:r>
              <a:rPr lang="en-US" sz="1000" b="1" dirty="0">
                <a:effectLst/>
                <a:latin typeface="Arial" panose="020B0604020202020204" pitchFamily="34" charset="0"/>
                <a:ea typeface="MS Mincho" panose="02020609040205080304" pitchFamily="49" charset="-128"/>
                <a:cs typeface="Arial" panose="020B0604020202020204" pitchFamily="34" charset="0"/>
              </a:rPr>
              <a:t>How many new customers a month would it take to handle the cost?</a:t>
            </a:r>
          </a:p>
          <a:p>
            <a:pPr marL="0" marR="0" indent="0">
              <a:spcBef>
                <a:spcPts val="1200"/>
              </a:spcBef>
              <a:spcAft>
                <a:spcPts val="600"/>
              </a:spcAft>
              <a:buNone/>
            </a:pPr>
            <a:r>
              <a:rPr lang="en-US" sz="1000" dirty="0">
                <a:effectLst/>
                <a:latin typeface="Arial" panose="020B0604020202020204" pitchFamily="34" charset="0"/>
                <a:ea typeface="MS Mincho" panose="02020609040205080304" pitchFamily="49" charset="-128"/>
                <a:cs typeface="Arial" panose="020B0604020202020204" pitchFamily="34" charset="0"/>
              </a:rPr>
              <a:t>Our Professional plans are much more affordable than hiring a designer or boutique agency, which can cost you thousands of dollars up front. We finance the design of your website and have developed a process to keep our costs low.</a:t>
            </a:r>
          </a:p>
          <a:p>
            <a:pPr marL="0" marR="228600" indent="0">
              <a:spcBef>
                <a:spcPts val="600"/>
              </a:spcBef>
              <a:spcAft>
                <a:spcPts val="600"/>
              </a:spcAft>
              <a:buNone/>
            </a:pPr>
            <a:r>
              <a:rPr lang="en-CA" sz="1000" dirty="0">
                <a:effectLst/>
                <a:latin typeface="Arial" panose="020B0604020202020204" pitchFamily="34" charset="0"/>
                <a:ea typeface="Calibri" panose="020F0502020204030204" pitchFamily="34" charset="0"/>
                <a:cs typeface="Arial" panose="020B0604020202020204" pitchFamily="34" charset="0"/>
              </a:rPr>
              <a:t>A website is an investment – drive new business and stay competitive.</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228600" lvl="0" indent="0">
              <a:spcBef>
                <a:spcPts val="600"/>
              </a:spcBef>
              <a:spcAft>
                <a:spcPts val="600"/>
              </a:spcAft>
              <a:buNone/>
            </a:pPr>
            <a:r>
              <a:rPr lang="en-CA" sz="1000" dirty="0">
                <a:effectLst/>
                <a:latin typeface="Arial" panose="020B0604020202020204" pitchFamily="34" charset="0"/>
                <a:ea typeface="Calibri" panose="020F0502020204030204" pitchFamily="34" charset="0"/>
                <a:cs typeface="Arial" panose="020B0604020202020204" pitchFamily="34" charset="0"/>
              </a:rPr>
              <a:t>Our plans include more than a website – you’ll get free professional email addresses using your domain; email marketing tools to market and communicate to customers; social media tools, and more.</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indent="0">
              <a:spcBef>
                <a:spcPts val="1200"/>
              </a:spcBef>
              <a:spcAft>
                <a:spcPts val="600"/>
              </a:spcAft>
              <a:buNone/>
            </a:pPr>
            <a:r>
              <a:rPr lang="en-US" sz="1000" b="1" dirty="0">
                <a:effectLst/>
                <a:latin typeface="Arial" panose="020B0604020202020204" pitchFamily="34" charset="0"/>
                <a:ea typeface="MS Mincho" panose="02020609040205080304" pitchFamily="49" charset="-128"/>
                <a:cs typeface="Arial" panose="020B0604020202020204" pitchFamily="34" charset="0"/>
              </a:rPr>
              <a:t>How much do you spend on print advertising?</a:t>
            </a:r>
          </a:p>
          <a:p>
            <a:pPr marL="0" marR="0" indent="0">
              <a:spcBef>
                <a:spcPts val="1200"/>
              </a:spcBef>
              <a:spcAft>
                <a:spcPts val="600"/>
              </a:spcAft>
              <a:buNone/>
            </a:pPr>
            <a:r>
              <a:rPr lang="en-US" sz="1000" dirty="0">
                <a:effectLst/>
                <a:latin typeface="Arial" panose="020B0604020202020204" pitchFamily="34" charset="0"/>
                <a:ea typeface="MS Mincho" panose="02020609040205080304" pitchFamily="49" charset="-128"/>
                <a:cs typeface="Arial" panose="020B0604020202020204" pitchFamily="34" charset="0"/>
              </a:rPr>
              <a:t>Customers are turning to the Internet to search for businesses – especially local services. To compete, you need to consider how you’re being found.</a:t>
            </a:r>
          </a:p>
          <a:p>
            <a:pPr marL="0" marR="0" indent="0">
              <a:spcBef>
                <a:spcPts val="1200"/>
              </a:spcBef>
              <a:spcAft>
                <a:spcPts val="600"/>
              </a:spcAft>
              <a:buNone/>
            </a:pPr>
            <a:r>
              <a:rPr lang="en-US" sz="1000" b="1" dirty="0">
                <a:solidFill>
                  <a:srgbClr val="ED7D31"/>
                </a:solidFill>
                <a:effectLst/>
                <a:latin typeface="Arial" panose="020B0604020202020204" pitchFamily="34" charset="0"/>
                <a:ea typeface="MS Mincho" panose="02020609040205080304" pitchFamily="49" charset="-128"/>
              </a:rPr>
              <a:t>I don’t have/need a website.</a:t>
            </a:r>
            <a:endParaRPr lang="en-US" sz="1000" dirty="0">
              <a:solidFill>
                <a:srgbClr val="ED7D31"/>
              </a:solidFill>
              <a:effectLst/>
              <a:latin typeface="Arial" panose="020B0604020202020204" pitchFamily="34" charset="0"/>
              <a:ea typeface="MS Mincho" panose="02020609040205080304" pitchFamily="49" charset="-128"/>
            </a:endParaRPr>
          </a:p>
          <a:p>
            <a:pPr marL="0" marR="0" indent="0" fontAlgn="base">
              <a:spcBef>
                <a:spcPts val="600"/>
              </a:spcBef>
              <a:spcAft>
                <a:spcPts val="600"/>
              </a:spcAft>
              <a:buNone/>
            </a:pPr>
            <a:r>
              <a:rPr lang="en-US" sz="1000" dirty="0">
                <a:solidFill>
                  <a:srgbClr val="000000"/>
                </a:solidFill>
                <a:effectLst/>
                <a:latin typeface="Arial" panose="020B0604020202020204" pitchFamily="34" charset="0"/>
                <a:ea typeface="Times New Roman" panose="02020603050405020304" pitchFamily="18" charset="0"/>
              </a:rPr>
              <a:t>Customers are searching online for local businesses, at home and on their mobile devices. A website will help you reach new customers and grow your sales.</a:t>
            </a:r>
            <a:endParaRPr lang="en-US" sz="1000" dirty="0">
              <a:effectLst/>
              <a:latin typeface="Arial" panose="020B0604020202020204" pitchFamily="34" charset="0"/>
              <a:ea typeface="MS Mincho" panose="02020609040205080304" pitchFamily="49" charset="-128"/>
            </a:endParaRPr>
          </a:p>
          <a:p>
            <a:pPr marL="0" marR="0" indent="0" fontAlgn="base">
              <a:spcBef>
                <a:spcPts val="600"/>
              </a:spcBef>
              <a:spcAft>
                <a:spcPts val="600"/>
              </a:spcAft>
              <a:buNone/>
            </a:pPr>
            <a:r>
              <a:rPr lang="en-US" sz="1000" dirty="0">
                <a:solidFill>
                  <a:srgbClr val="000000"/>
                </a:solidFill>
                <a:effectLst/>
                <a:latin typeface="Arial" panose="020B0604020202020204" pitchFamily="34" charset="0"/>
                <a:ea typeface="Times New Roman" panose="02020603050405020304" pitchFamily="18" charset="0"/>
              </a:rPr>
              <a:t>Having a professional, modern, up-to-date website builds your credibility and professionalism. Customers will trust your brand.</a:t>
            </a:r>
            <a:endParaRPr lang="en-US" sz="1000" dirty="0">
              <a:effectLst/>
              <a:latin typeface="Arial" panose="020B0604020202020204" pitchFamily="34" charset="0"/>
              <a:ea typeface="MS Mincho" panose="02020609040205080304" pitchFamily="49" charset="-128"/>
            </a:endParaRPr>
          </a:p>
          <a:p>
            <a:pPr marL="0" marR="0" indent="0" fontAlgn="base">
              <a:spcBef>
                <a:spcPts val="600"/>
              </a:spcBef>
              <a:spcAft>
                <a:spcPts val="600"/>
              </a:spcAft>
              <a:buNone/>
            </a:pPr>
            <a:r>
              <a:rPr lang="en-US" sz="1000" dirty="0">
                <a:solidFill>
                  <a:srgbClr val="000000"/>
                </a:solidFill>
                <a:effectLst/>
                <a:latin typeface="Arial" panose="020B0604020202020204" pitchFamily="34" charset="0"/>
                <a:ea typeface="Times New Roman" panose="02020603050405020304" pitchFamily="18" charset="0"/>
              </a:rPr>
              <a:t>A good website will lighten your load – providing company information including your hours, contact information, products and services, and where to find you. Reduce repeat calls on general inquiries about your business.</a:t>
            </a:r>
            <a:endParaRPr lang="en-US" sz="1000" dirty="0">
              <a:effectLst/>
              <a:latin typeface="Arial" panose="020B0604020202020204" pitchFamily="34" charset="0"/>
              <a:ea typeface="MS Mincho" panose="02020609040205080304" pitchFamily="49" charset="-128"/>
            </a:endParaRPr>
          </a:p>
          <a:p>
            <a:pPr marL="0" marR="0" indent="0" fontAlgn="base">
              <a:spcBef>
                <a:spcPts val="600"/>
              </a:spcBef>
              <a:spcAft>
                <a:spcPts val="600"/>
              </a:spcAft>
              <a:buNone/>
            </a:pPr>
            <a:r>
              <a:rPr lang="en-US" sz="1000" dirty="0">
                <a:solidFill>
                  <a:srgbClr val="000000"/>
                </a:solidFill>
                <a:effectLst/>
                <a:latin typeface="Arial" panose="020B0604020202020204" pitchFamily="34" charset="0"/>
                <a:ea typeface="Times New Roman" panose="02020603050405020304" pitchFamily="18" charset="0"/>
              </a:rPr>
              <a:t>If you’re not online, your customers could be finding your competition instead.</a:t>
            </a:r>
            <a:endParaRPr lang="en-US" sz="1000" dirty="0">
              <a:effectLst/>
              <a:latin typeface="Arial" panose="020B0604020202020204" pitchFamily="34" charset="0"/>
              <a:ea typeface="MS Mincho" panose="02020609040205080304" pitchFamily="49" charset="-128"/>
            </a:endParaRPr>
          </a:p>
          <a:p>
            <a:pPr marL="0" marR="0" indent="0">
              <a:spcBef>
                <a:spcPts val="1200"/>
              </a:spcBef>
              <a:spcAft>
                <a:spcPts val="600"/>
              </a:spcAft>
              <a:buNone/>
            </a:pPr>
            <a:endParaRPr lang="en-US" sz="1000" dirty="0">
              <a:effectLst/>
              <a:latin typeface="Arial" panose="020B0604020202020204" pitchFamily="34" charset="0"/>
              <a:ea typeface="MS Mincho" panose="02020609040205080304" pitchFamily="49" charset="-128"/>
              <a:cs typeface="Arial" panose="020B0604020202020204" pitchFamily="34" charset="0"/>
            </a:endParaRPr>
          </a:p>
          <a:p>
            <a:pPr marL="0" marR="0" indent="0" fontAlgn="base">
              <a:lnSpc>
                <a:spcPct val="110000"/>
              </a:lnSpc>
              <a:spcBef>
                <a:spcPts val="0"/>
              </a:spcBef>
              <a:spcAft>
                <a:spcPts val="0"/>
              </a:spcAft>
              <a:buNone/>
            </a:pPr>
            <a:endParaRPr lang="en-US" sz="10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1937</Words>
  <Application>Microsoft Office PowerPoint</Application>
  <PresentationFormat>Widescreen</PresentationFormat>
  <Paragraphs>159</Paragraphs>
  <Slides>16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Symbol</vt:lpstr>
      <vt:lpstr>Office Theme</vt:lpstr>
      <vt:lpstr>Professional Website Design</vt:lpstr>
      <vt:lpstr>Agenda</vt:lpstr>
      <vt:lpstr>Customers are searching online</vt:lpstr>
      <vt:lpstr>PowerPoint Presentation</vt:lpstr>
      <vt:lpstr>Professional website increase visibility and accessibility</vt:lpstr>
      <vt:lpstr>PowerPoint Presentation</vt:lpstr>
      <vt:lpstr>How it works</vt:lpstr>
      <vt:lpstr>First step is to connect with our website coordinator</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Shujaat, Faizan</dc:creator>
  <cp:lastModifiedBy>Shujaat, Faizan</cp:lastModifiedBy>
  <cp:revision>18</cp:revision>
  <dcterms:created xsi:type="dcterms:W3CDTF">2023-04-30T02:03:07Z</dcterms:created>
  <dcterms:modified xsi:type="dcterms:W3CDTF">2023-07-09T18:25:08Z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2023-04-30T03:22:51Z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b44f87c0-6469-451b-ac3d-007cb8ff9e8d</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