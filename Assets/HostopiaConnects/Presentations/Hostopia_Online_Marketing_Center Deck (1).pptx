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000"/>
    <a:srgbClr val="66BC29"/>
    <a:srgbClr val="F8CF41"/>
    <a:srgbClr val="2CADB2"/>
    <a:srgbClr val="9799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05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80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0995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16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0"/>
          <p:cNvSpPr/>
          <p:nvPr/>
        </p:nvSpPr>
        <p:spPr>
          <a:xfrm>
            <a:off x="10473692" y="0"/>
            <a:ext cx="7814307" cy="10325623"/>
          </a:xfrm>
          <a:prstGeom prst="rect">
            <a:avLst/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73692" y="0"/>
            <a:ext cx="7814308" cy="1221105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0473692" y="-1"/>
            <a:ext cx="7814308" cy="12651445"/>
          </a:xfrm>
          <a:prstGeom prst="rect">
            <a:avLst/>
          </a:prstGeom>
          <a:solidFill>
            <a:srgbClr val="25282A">
              <a:alpha val="8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" name="Shape 0"/>
          <p:cNvSpPr/>
          <p:nvPr/>
        </p:nvSpPr>
        <p:spPr>
          <a:xfrm>
            <a:off x="1143000" y="1095375"/>
            <a:ext cx="76200" cy="76200"/>
          </a:xfrm>
          <a:prstGeom prst="ellipse">
            <a:avLst/>
          </a:prstGeom>
          <a:solidFill>
            <a:srgbClr val="2CAD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52550" y="1047750"/>
            <a:ext cx="33163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294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HOSTOPIA · PARTNER BRIEFING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2454473"/>
            <a:ext cx="8633460" cy="3329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0" b="1" kern="0" dirty="0">
                <a:solidFill>
                  <a:srgbClr val="25282A"/>
                </a:solidFill>
                <a:latin typeface="Montserrat Black" panose="00000A00000000000000" pitchFamily="50" charset="0"/>
                <a:ea typeface="Montserrat" pitchFamily="34" charset="-122"/>
                <a:cs typeface="Montserrat" pitchFamily="34" charset="-120"/>
              </a:rPr>
              <a:t>Online Marketing Center.</a:t>
            </a:r>
            <a:endParaRPr lang="en-US" sz="9000" dirty="0">
              <a:latin typeface="Montserrat Black" panose="00000A00000000000000" pitchFamily="50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43000" y="6145100"/>
            <a:ext cx="609600" cy="28575"/>
          </a:xfrm>
          <a:prstGeom prst="roundRect">
            <a:avLst>
              <a:gd name="adj" fmla="val 50000"/>
            </a:avLst>
          </a:prstGeom>
          <a:solidFill>
            <a:srgbClr val="2CAD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6536531"/>
            <a:ext cx="8001000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2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White-label digital marketing products for service providers who want to grow revenue and retain customers.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8851702"/>
            <a:ext cx="2476500" cy="67329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72500" y="9410700"/>
            <a:ext cx="114300" cy="114300"/>
          </a:xfrm>
          <a:prstGeom prst="ellipse">
            <a:avLst/>
          </a:prstGeom>
          <a:solidFill>
            <a:srgbClr val="9799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782050" y="9410700"/>
            <a:ext cx="114300" cy="114300"/>
          </a:xfrm>
          <a:prstGeom prst="ellipse">
            <a:avLst/>
          </a:prstGeom>
          <a:solidFill>
            <a:srgbClr val="2CAD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991600" y="9410700"/>
            <a:ext cx="114300" cy="114300"/>
          </a:xfrm>
          <a:prstGeom prst="ellipse">
            <a:avLst/>
          </a:prstGeom>
          <a:solidFill>
            <a:srgbClr val="F8CF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201150" y="9410700"/>
            <a:ext cx="114300" cy="114300"/>
          </a:xfrm>
          <a:prstGeom prst="ellipse">
            <a:avLst/>
          </a:prstGeom>
          <a:solidFill>
            <a:srgbClr val="66BC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410700" y="9410700"/>
            <a:ext cx="114300" cy="114300"/>
          </a:xfrm>
          <a:prstGeom prst="ellipse">
            <a:avLst/>
          </a:prstGeom>
          <a:solidFill>
            <a:srgbClr val="FF8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11305468" y="9219158"/>
            <a:ext cx="6789039" cy="420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550" b="1" kern="0" spc="-2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that power small business.</a:t>
            </a:r>
            <a:r>
              <a:rPr lang="en-US" sz="1200" b="1" kern="0" spc="-25" baseline="30000" dirty="0">
                <a:solidFill>
                  <a:srgbClr val="FFFFFF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™</a:t>
            </a:r>
            <a:endParaRPr lang="en-US" sz="25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4797D5-EB54-D509-5AD8-580A9C820E3B}"/>
              </a:ext>
            </a:extLst>
          </p:cNvPr>
          <p:cNvSpPr txBox="1"/>
          <p:nvPr/>
        </p:nvSpPr>
        <p:spPr>
          <a:xfrm>
            <a:off x="11237227" y="8851702"/>
            <a:ext cx="67890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50" b="1" spc="300" dirty="0">
                <a:solidFill>
                  <a:schemeClr val="bg1"/>
                </a:solidFill>
                <a:latin typeface="Montserrat" panose="00000500000000000000" pitchFamily="50" charset="0"/>
              </a:rPr>
              <a:t>BEHIND THE BRANDS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514350"/>
            <a:ext cx="57150" cy="57150"/>
          </a:xfrm>
          <a:prstGeom prst="ellipse">
            <a:avLst/>
          </a:prstGeom>
          <a:solidFill>
            <a:srgbClr val="2CAD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14450" y="457200"/>
            <a:ext cx="15135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519327" y="457200"/>
            <a:ext cx="7018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/ 24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43000" y="1333836"/>
            <a:ext cx="609600" cy="28575"/>
          </a:xfrm>
          <a:prstGeom prst="roundRect">
            <a:avLst>
              <a:gd name="adj" fmla="val 50000"/>
            </a:avLst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164743"/>
            <a:ext cx="7750492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400" b="1" kern="0" spc="-151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About Hostopia.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143000" y="3654662"/>
            <a:ext cx="7750492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2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leading provider of private-label web services and digital marketing tools, built for service providers who want to grow their business and retain customers.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620250" y="3375928"/>
            <a:ext cx="752475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20250" y="2285316"/>
            <a:ext cx="990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99" dirty="0">
                <a:solidFill>
                  <a:srgbClr val="25282A">
                    <a:alpha val="3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0877550" y="2285316"/>
            <a:ext cx="645547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22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White-label platform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877550" y="2732991"/>
            <a:ext cx="645547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Resell under your own brand, end-to-end.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9620250" y="4895166"/>
            <a:ext cx="752475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20250" y="3804553"/>
            <a:ext cx="990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99" dirty="0">
                <a:solidFill>
                  <a:srgbClr val="25282A">
                    <a:alpha val="3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0877550" y="3804553"/>
            <a:ext cx="645547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22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Partner-focused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877550" y="4252228"/>
            <a:ext cx="645547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Built for telcos, MSPs, cablecos, and service providers.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9620250" y="6414403"/>
            <a:ext cx="752475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20250" y="5323791"/>
            <a:ext cx="990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99" dirty="0">
                <a:solidFill>
                  <a:srgbClr val="25282A">
                    <a:alpha val="3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10877550" y="5323791"/>
            <a:ext cx="645547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22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growth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877550" y="5771466"/>
            <a:ext cx="645547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Drive incremental revenue with value-added services.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9620250" y="6843028"/>
            <a:ext cx="990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99" dirty="0">
                <a:solidFill>
                  <a:srgbClr val="25282A">
                    <a:alpha val="3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0877550" y="6843028"/>
            <a:ext cx="645547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22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retention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877550" y="7290703"/>
            <a:ext cx="645547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Increase stickiness and reduce churn.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14713148" y="9725025"/>
            <a:ext cx="250805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ONLINE MARKETING CENTER</a:t>
            </a:r>
            <a:endParaRPr lang="en-US" sz="975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B71AA3E-28A4-AC7C-A443-068E7E88F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713" y="9238634"/>
            <a:ext cx="467957" cy="5671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514350"/>
            <a:ext cx="57150" cy="57150"/>
          </a:xfrm>
          <a:prstGeom prst="ellipse">
            <a:avLst/>
          </a:prstGeom>
          <a:solidFill>
            <a:srgbClr val="2CAD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14450" y="457200"/>
            <a:ext cx="18341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OPPORTUNITY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492240" y="457200"/>
            <a:ext cx="7289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/ 24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43000" y="1333500"/>
            <a:ext cx="609600" cy="28575"/>
          </a:xfrm>
          <a:prstGeom prst="roundRect">
            <a:avLst>
              <a:gd name="adj" fmla="val 50000"/>
            </a:avLst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164407"/>
            <a:ext cx="10791825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400" b="1" kern="0" spc="-151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partner opportunity.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143000" y="3894832"/>
            <a:ext cx="10791825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Four ways Hostopia creates value for your business and the SMBs you serve.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5541831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2CADB2">
              <a:alpha val="6000"/>
            </a:srgbClr>
          </a:solidFill>
          <a:ln w="9525">
            <a:solidFill>
              <a:srgbClr val="2CADB2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5694231"/>
            <a:ext cx="247650" cy="2476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6284781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143000" y="6646731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generation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143000" y="7083839"/>
            <a:ext cx="3708464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 high-margin digital marketing services to your portfolio without development cost.</a:t>
            </a:r>
            <a:endParaRPr lang="en-US" sz="1575" dirty="0"/>
          </a:p>
        </p:txBody>
      </p:sp>
      <p:sp>
        <p:nvSpPr>
          <p:cNvPr id="13" name="Shape 10"/>
          <p:cNvSpPr/>
          <p:nvPr/>
        </p:nvSpPr>
        <p:spPr>
          <a:xfrm>
            <a:off x="5276850" y="5541831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2CADB2">
              <a:alpha val="6000"/>
            </a:srgbClr>
          </a:solidFill>
          <a:ln w="9525">
            <a:solidFill>
              <a:srgbClr val="2CADB2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0" y="5694231"/>
            <a:ext cx="247650" cy="2476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76850" y="6284781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276850" y="6646731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retention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5276850" y="7083839"/>
            <a:ext cx="3708464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Increase customer lifetime value and reduce churn with essential business tools.</a:t>
            </a:r>
            <a:endParaRPr lang="en-US" sz="1575" dirty="0"/>
          </a:p>
        </p:txBody>
      </p:sp>
      <p:sp>
        <p:nvSpPr>
          <p:cNvPr id="18" name="Shape 14"/>
          <p:cNvSpPr/>
          <p:nvPr/>
        </p:nvSpPr>
        <p:spPr>
          <a:xfrm>
            <a:off x="9410700" y="5541831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2CADB2">
              <a:alpha val="6000"/>
            </a:srgbClr>
          </a:solidFill>
          <a:ln w="9525">
            <a:solidFill>
              <a:srgbClr val="2CADB2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3100" y="5694231"/>
            <a:ext cx="247650" cy="2476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410700" y="6284781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9410700" y="6646731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brand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9410700" y="7083839"/>
            <a:ext cx="3708464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100% white-label solution — your identity shows up at every customer touchpoint.</a:t>
            </a:r>
            <a:endParaRPr lang="en-US" sz="1575" dirty="0"/>
          </a:p>
        </p:txBody>
      </p:sp>
      <p:sp>
        <p:nvSpPr>
          <p:cNvPr id="23" name="Shape 18"/>
          <p:cNvSpPr/>
          <p:nvPr/>
        </p:nvSpPr>
        <p:spPr>
          <a:xfrm>
            <a:off x="13544550" y="5541831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2CADB2">
              <a:alpha val="6000"/>
            </a:srgbClr>
          </a:solidFill>
          <a:ln w="9525">
            <a:solidFill>
              <a:srgbClr val="2CADB2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96950" y="5694231"/>
            <a:ext cx="247650" cy="24765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544550" y="6284781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13544550" y="6646731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Competitive edge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13544550" y="7083839"/>
            <a:ext cx="3708464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Differentiate with a comprehensive marketing solution your competitors don't have.</a:t>
            </a:r>
            <a:endParaRPr lang="en-US" sz="1575" dirty="0"/>
          </a:p>
        </p:txBody>
      </p:sp>
      <p:sp>
        <p:nvSpPr>
          <p:cNvPr id="28" name="Text 22"/>
          <p:cNvSpPr/>
          <p:nvPr/>
        </p:nvSpPr>
        <p:spPr>
          <a:xfrm>
            <a:off x="1143000" y="9696450"/>
            <a:ext cx="23723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-27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14713148" y="9725025"/>
            <a:ext cx="250805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ONLINE MARKETING CENTER</a:t>
            </a:r>
            <a:endParaRPr lang="en-US" sz="975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8314F0D-A7CD-8E49-4153-E97472F1FB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713" y="9238634"/>
            <a:ext cx="467957" cy="5671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514350"/>
            <a:ext cx="57150" cy="57150"/>
          </a:xfrm>
          <a:prstGeom prst="ellipse">
            <a:avLst/>
          </a:prstGeom>
          <a:solidFill>
            <a:srgbClr val="2CAD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14450" y="457200"/>
            <a:ext cx="19021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PRODUCT LINE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493728" y="457200"/>
            <a:ext cx="72747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/ 24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43000" y="1333500"/>
            <a:ext cx="609600" cy="28575"/>
          </a:xfrm>
          <a:prstGeom prst="roundRect">
            <a:avLst>
              <a:gd name="adj" fmla="val 50000"/>
            </a:avLst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164407"/>
            <a:ext cx="16482060" cy="1437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400" b="1" kern="0" spc="-151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Five products, one upgrade path.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143000" y="3912154"/>
            <a:ext cx="11542486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Each tier builds on the last — so partners can upsell customers as their needs grow.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5581125"/>
            <a:ext cx="3048000" cy="38100"/>
          </a:xfrm>
          <a:prstGeom prst="rect">
            <a:avLst/>
          </a:prstGeom>
          <a:solidFill>
            <a:srgbClr val="9799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5809725"/>
            <a:ext cx="313944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247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· STARTER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143000" y="6181200"/>
            <a:ext cx="313944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&amp; competitor monitoring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6958381"/>
            <a:ext cx="3139440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7A7D7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alerts for mentions, reviews, and competitor moves.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81500" y="5581125"/>
            <a:ext cx="3048000" cy="38100"/>
          </a:xfrm>
          <a:prstGeom prst="rect">
            <a:avLst/>
          </a:prstGeom>
          <a:solidFill>
            <a:srgbClr val="2CAD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1500" y="5809725"/>
            <a:ext cx="313944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247" dirty="0">
                <a:solidFill>
                  <a:srgbClr val="208A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· ESSENTIALS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381500" y="6181200"/>
            <a:ext cx="283210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+ 3-directory sync &amp; AI posting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81500" y="6958381"/>
            <a:ext cx="3139440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7A7D7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Google, Facebook, Instagram + AI-generated content.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20000" y="5581125"/>
            <a:ext cx="3048000" cy="38100"/>
          </a:xfrm>
          <a:prstGeom prst="rect">
            <a:avLst/>
          </a:prstGeom>
          <a:solidFill>
            <a:srgbClr val="F8CF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20000" y="5809725"/>
            <a:ext cx="313944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247" dirty="0">
                <a:solidFill>
                  <a:srgbClr val="A886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· TRUST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7620000" y="6181200"/>
            <a:ext cx="304800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 up to 30 directories &amp; reputation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620000" y="6958381"/>
            <a:ext cx="3139440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7A7D7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Full local listings plus review management tools.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858500" y="5581125"/>
            <a:ext cx="3048000" cy="38100"/>
          </a:xfrm>
          <a:prstGeom prst="rect">
            <a:avLst/>
          </a:prstGeom>
          <a:solidFill>
            <a:srgbClr val="66BC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858500" y="5809725"/>
            <a:ext cx="313944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247" dirty="0">
                <a:solidFill>
                  <a:srgbClr val="4A8E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· BOOST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0858500" y="6181200"/>
            <a:ext cx="313944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 full social media management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858500" y="6958381"/>
            <a:ext cx="3139440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7A7D7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AI-driven posting and ads across Meta, LinkedIn, X.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4097000" y="5581125"/>
            <a:ext cx="3048000" cy="38100"/>
          </a:xfrm>
          <a:prstGeom prst="rect">
            <a:avLst/>
          </a:prstGeom>
          <a:solidFill>
            <a:srgbClr val="FF8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4097000" y="5809725"/>
            <a:ext cx="313944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247" dirty="0">
                <a:solidFill>
                  <a:srgbClr val="D96E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· 360 SUITE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14097000" y="6181200"/>
            <a:ext cx="313944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 paid ad management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097000" y="6958381"/>
            <a:ext cx="3139440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7A7D7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Google Ads and SEA for complete coverage.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43000" y="9696450"/>
            <a:ext cx="23723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-27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4713148" y="9725025"/>
            <a:ext cx="250805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ONLINE MARKETING CENTER</a:t>
            </a:r>
            <a:endParaRPr lang="en-US" sz="975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78AEB60-98AF-F174-527D-DF8F566F5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713" y="9238634"/>
            <a:ext cx="467957" cy="5671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77000" cy="10287000"/>
          </a:xfrm>
          <a:prstGeom prst="rect">
            <a:avLst/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933450" y="0"/>
            <a:ext cx="741045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6477000" cy="10287000"/>
          </a:xfrm>
          <a:prstGeom prst="rect">
            <a:avLst/>
          </a:prstGeom>
          <a:solidFill>
            <a:srgbClr val="25282A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571500"/>
            <a:ext cx="1484858" cy="409575"/>
          </a:xfrm>
          <a:prstGeom prst="roundRect">
            <a:avLst>
              <a:gd name="adj" fmla="val 50000"/>
            </a:avLst>
          </a:prstGeom>
          <a:solidFill>
            <a:srgbClr val="97999B">
              <a:alpha val="9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42950" y="719138"/>
            <a:ext cx="114300" cy="11430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90600" y="685800"/>
            <a:ext cx="95145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STARTER</a:t>
            </a:r>
            <a:endParaRPr lang="en-US" sz="1125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71500" y="8627418"/>
            <a:ext cx="5101590" cy="112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550" b="1" kern="0" spc="-2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awareness of brand, reviews, and competitors.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7238428" y="514350"/>
            <a:ext cx="57150" cy="57150"/>
          </a:xfrm>
          <a:prstGeom prst="ellipse">
            <a:avLst/>
          </a:prstGeom>
          <a:solidFill>
            <a:srgbClr val="9799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409878" y="457200"/>
            <a:ext cx="20329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OVERVIEW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6479441" y="457200"/>
            <a:ext cx="7417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/ 24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239000" y="1090613"/>
            <a:ext cx="95250" cy="95250"/>
          </a:xfrm>
          <a:prstGeom prst="ellipse">
            <a:avLst/>
          </a:prstGeom>
          <a:solidFill>
            <a:srgbClr val="9799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429500" y="1047750"/>
            <a:ext cx="95696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239000" y="1547813"/>
            <a:ext cx="4826889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105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&amp; competitor monitoring.</a:t>
            </a:r>
            <a:endParaRPr lang="en-US" sz="5400" dirty="0"/>
          </a:p>
        </p:txBody>
      </p:sp>
      <p:sp>
        <p:nvSpPr>
          <p:cNvPr id="16" name="Text 13"/>
          <p:cNvSpPr/>
          <p:nvPr/>
        </p:nvSpPr>
        <p:spPr>
          <a:xfrm>
            <a:off x="7239001" y="4466771"/>
            <a:ext cx="4826888" cy="2396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2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real-time awareness layer — so customers always know when their business, their reviews, or their competitors move.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7239000" y="6917821"/>
            <a:ext cx="4686300" cy="1976884"/>
          </a:xfrm>
          <a:prstGeom prst="roundRect">
            <a:avLst>
              <a:gd name="adj" fmla="val 1927"/>
            </a:avLst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 rot="10800000">
            <a:off x="7486650" y="7125213"/>
            <a:ext cx="9525" cy="15621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 rot="10800000">
            <a:off x="7486650" y="6748529"/>
            <a:ext cx="257174" cy="1976884"/>
          </a:xfrm>
          <a:prstGeom prst="rect">
            <a:avLst/>
          </a:prstGeom>
          <a:noFill/>
          <a:ln/>
        </p:spPr>
        <p:txBody>
          <a:bodyPr vert="vert"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 VALUE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094685" y="7127371"/>
            <a:ext cx="3620167" cy="1595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>
                    <a:alpha val="82000"/>
                  </a:srgb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perfect entry-level bundle. Offer free or low-cost to spark customer engagement and awareness of their online presence.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2458700" y="1333500"/>
            <a:ext cx="468630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2458700" y="1047750"/>
            <a:ext cx="482688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7A7D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WHAT'S INCLUDED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2458700" y="1619250"/>
            <a:ext cx="22669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-7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Monitoring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4820899" y="1609725"/>
            <a:ext cx="2464689" cy="497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Track online mentions and business activity.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458700" y="2650331"/>
            <a:ext cx="22669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-7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Competitor Insights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4820899" y="2640806"/>
            <a:ext cx="2464689" cy="497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 competitor rankings, ads, and promotions.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2458700" y="3986213"/>
            <a:ext cx="22669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-7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Notifications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14820899" y="3976688"/>
            <a:ext cx="2464689" cy="497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Get alerted the moment new reviews appear.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2458700" y="5131594"/>
            <a:ext cx="22669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-7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Instant Alerts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14820899" y="5122069"/>
            <a:ext cx="2464689" cy="497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Email and in-app notifications for all activities.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7429500" y="9696450"/>
            <a:ext cx="23723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14451211" y="9725025"/>
            <a:ext cx="277460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STARTER · PRODUCT OVERVIEW</a:t>
            </a:r>
            <a:endParaRPr lang="en-US" sz="975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C661842-16F1-21EE-5009-38273F03B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5661" y="9336152"/>
            <a:ext cx="467957" cy="5671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BE785194-06F0-A9F7-478C-C5D797A7ECDF}"/>
              </a:ext>
            </a:extLst>
          </p:cNvPr>
          <p:cNvSpPr txBox="1"/>
          <p:nvPr/>
        </p:nvSpPr>
        <p:spPr>
          <a:xfrm>
            <a:off x="506539" y="8299524"/>
            <a:ext cx="67890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50" b="1" spc="300" dirty="0">
                <a:solidFill>
                  <a:schemeClr val="bg1"/>
                </a:solidFill>
                <a:latin typeface="Montserrat" panose="00000500000000000000" pitchFamily="50" charset="0"/>
              </a:rPr>
              <a:t>PRODUCT 01 • STARTER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514350"/>
            <a:ext cx="57150" cy="57150"/>
          </a:xfrm>
          <a:prstGeom prst="ellipse">
            <a:avLst/>
          </a:prstGeom>
          <a:solidFill>
            <a:srgbClr val="9799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14450" y="457200"/>
            <a:ext cx="22480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01 · STARTER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492240" y="457200"/>
            <a:ext cx="7289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/ 24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43000" y="1333500"/>
            <a:ext cx="609600" cy="28575"/>
          </a:xfrm>
          <a:prstGeom prst="roundRect">
            <a:avLst>
              <a:gd name="adj" fmla="val 50000"/>
            </a:avLst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164407"/>
            <a:ext cx="1648206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400" b="1" kern="0" spc="-151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 what matters.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1143000" y="4685958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F4F4F3"/>
          </a:solidFill>
          <a:ln w="9525">
            <a:solidFill>
              <a:srgbClr val="E6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4838358"/>
            <a:ext cx="247650" cy="2476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5428908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43000" y="5790858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Instant notifications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143000" y="6227966"/>
            <a:ext cx="3708464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Customers are alerted the moment their business or competitors are mentioned, ranked, or reviewed.</a:t>
            </a:r>
            <a:endParaRPr lang="en-US" sz="1575" dirty="0"/>
          </a:p>
        </p:txBody>
      </p:sp>
      <p:sp>
        <p:nvSpPr>
          <p:cNvPr id="12" name="Shape 9"/>
          <p:cNvSpPr/>
          <p:nvPr/>
        </p:nvSpPr>
        <p:spPr>
          <a:xfrm>
            <a:off x="5276850" y="4685958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F4F4F3"/>
          </a:solidFill>
          <a:ln w="9525">
            <a:solidFill>
              <a:srgbClr val="E6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0" y="4838358"/>
            <a:ext cx="247650" cy="2476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76850" y="5428908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UNIFIED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276850" y="5790858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Customized dashboard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5276850" y="6227966"/>
            <a:ext cx="3708464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single feed across search, social, directories, and web mentions — everything in one place.</a:t>
            </a:r>
            <a:endParaRPr lang="en-US" sz="1575" dirty="0"/>
          </a:p>
        </p:txBody>
      </p:sp>
      <p:sp>
        <p:nvSpPr>
          <p:cNvPr id="17" name="Shape 13"/>
          <p:cNvSpPr/>
          <p:nvPr/>
        </p:nvSpPr>
        <p:spPr>
          <a:xfrm>
            <a:off x="9410700" y="4685958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F4F4F3"/>
          </a:solidFill>
          <a:ln w="9525">
            <a:solidFill>
              <a:srgbClr val="E6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3100" y="4838358"/>
            <a:ext cx="247650" cy="2476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410700" y="5428908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9410700" y="5790858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Competitor tracking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9410700" y="6227966"/>
            <a:ext cx="3708464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Track up to three competitors to stay ahead of rankings, pricing, and campaign moves.</a:t>
            </a:r>
            <a:endParaRPr lang="en-US" sz="1575" dirty="0"/>
          </a:p>
        </p:txBody>
      </p:sp>
      <p:sp>
        <p:nvSpPr>
          <p:cNvPr id="22" name="Shape 17"/>
          <p:cNvSpPr/>
          <p:nvPr/>
        </p:nvSpPr>
        <p:spPr>
          <a:xfrm>
            <a:off x="13544550" y="4685958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F4F4F3"/>
          </a:solidFill>
          <a:ln w="9525">
            <a:solidFill>
              <a:srgbClr val="E6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96950" y="4838358"/>
            <a:ext cx="247650" cy="2476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544550" y="5428908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GROWTH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13544550" y="5790858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Upgrade triggers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13544550" y="6227966"/>
            <a:ext cx="3708464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In-app prompts encourage users to upgrade to higher tiers for deeper functionality.</a:t>
            </a:r>
            <a:endParaRPr lang="en-US" sz="1575" dirty="0"/>
          </a:p>
        </p:txBody>
      </p:sp>
      <p:sp>
        <p:nvSpPr>
          <p:cNvPr id="27" name="Text 21"/>
          <p:cNvSpPr/>
          <p:nvPr/>
        </p:nvSpPr>
        <p:spPr>
          <a:xfrm>
            <a:off x="1143000" y="9696450"/>
            <a:ext cx="23723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-27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14041785" y="9725025"/>
            <a:ext cx="319631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STARTER · MONITOR WHAT MATTERS</a:t>
            </a:r>
            <a:endParaRPr lang="en-US" sz="975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A7C8105-6141-50BF-0ED3-7B4B7228AB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713" y="9238634"/>
            <a:ext cx="467957" cy="5671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77000" cy="10287000"/>
          </a:xfrm>
          <a:prstGeom prst="rect">
            <a:avLst/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933450" y="0"/>
            <a:ext cx="741045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6477000" cy="10287000"/>
          </a:xfrm>
          <a:prstGeom prst="rect">
            <a:avLst/>
          </a:prstGeom>
          <a:solidFill>
            <a:srgbClr val="25282A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571500"/>
            <a:ext cx="1806476" cy="409575"/>
          </a:xfrm>
          <a:prstGeom prst="roundRect">
            <a:avLst>
              <a:gd name="adj" fmla="val 50000"/>
            </a:avLst>
          </a:prstGeom>
          <a:solidFill>
            <a:srgbClr val="2CADB2">
              <a:alpha val="9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42950" y="719138"/>
            <a:ext cx="114300" cy="11430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90600" y="685800"/>
            <a:ext cx="127307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ESSENTIALS</a:t>
            </a:r>
            <a:endParaRPr lang="en-US" sz="1125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71500" y="8990112"/>
            <a:ext cx="5101590" cy="763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550" b="1" kern="0" spc="-2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first real digital presence — profiles, SEO, AI posting.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7224780" y="514350"/>
            <a:ext cx="57150" cy="57150"/>
          </a:xfrm>
          <a:prstGeom prst="ellipse">
            <a:avLst/>
          </a:prstGeom>
          <a:solidFill>
            <a:srgbClr val="2CAD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396230" y="457200"/>
            <a:ext cx="20329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OVERVIEW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6486436" y="457200"/>
            <a:ext cx="73476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 / 24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239000" y="1090613"/>
            <a:ext cx="95250" cy="95250"/>
          </a:xfrm>
          <a:prstGeom prst="ellipse">
            <a:avLst/>
          </a:prstGeom>
          <a:solidFill>
            <a:srgbClr val="2CAD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429500" y="1047750"/>
            <a:ext cx="253201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208A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MARKETING ESSENTIALS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239000" y="1528763"/>
            <a:ext cx="468630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105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Establish a digital footprint.</a:t>
            </a:r>
            <a:endParaRPr lang="en-US" sz="5400" dirty="0"/>
          </a:p>
        </p:txBody>
      </p:sp>
      <p:sp>
        <p:nvSpPr>
          <p:cNvPr id="16" name="Text 13"/>
          <p:cNvSpPr/>
          <p:nvPr/>
        </p:nvSpPr>
        <p:spPr>
          <a:xfrm>
            <a:off x="7239000" y="4381500"/>
            <a:ext cx="4826889" cy="9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2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Everything in Starter, plus profile management, essential SEO, and social tools that get customers live on day one.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7239000" y="6737300"/>
            <a:ext cx="4686300" cy="1976884"/>
          </a:xfrm>
          <a:prstGeom prst="roundRect">
            <a:avLst>
              <a:gd name="adj" fmla="val 1927"/>
            </a:avLst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 rot="10800000">
            <a:off x="7486650" y="6944692"/>
            <a:ext cx="9525" cy="15621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 rot="10800000">
            <a:off x="7486650" y="6944692"/>
            <a:ext cx="247650" cy="1600200"/>
          </a:xfrm>
          <a:prstGeom prst="rect">
            <a:avLst/>
          </a:prstGeom>
          <a:noFill/>
          <a:ln/>
        </p:spPr>
        <p:txBody>
          <a:bodyPr vert="vert"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 VALUE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121981" y="6946850"/>
            <a:ext cx="3620167" cy="1595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>
                    <a:alpha val="82000"/>
                  </a:srgb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Ideal for bundling with hosting or website builder packages. Gets customers live quickly and builds their presence immediately.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2458700" y="1333500"/>
            <a:ext cx="468630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2458700" y="1047750"/>
            <a:ext cx="482688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7A7D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WHAT'S ADDED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2458700" y="1619249"/>
            <a:ext cx="2266950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-7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Business Profile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4820900" y="1609725"/>
            <a:ext cx="2400300" cy="497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Connect and manage Google Business listings.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458700" y="2859880"/>
            <a:ext cx="2266950" cy="702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-7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Directory Sync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4820900" y="2850356"/>
            <a:ext cx="2400300" cy="497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Sync profiles to Google, Facebook, and Instagram.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2458700" y="3967163"/>
            <a:ext cx="2266950" cy="4881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-7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SEO Essentials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14820900" y="3957638"/>
            <a:ext cx="2400300" cy="497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Track key SEO metrics with integrated scoring.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2458700" y="4998244"/>
            <a:ext cx="2266950" cy="833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-7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Post Generator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14820900" y="4988719"/>
            <a:ext cx="2400300" cy="497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Create AI-generated content for Meta and Google.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14174391" y="9725025"/>
            <a:ext cx="305972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ESSENTIALS · PRODUCT OVERVIEW</a:t>
            </a:r>
            <a:endParaRPr lang="en-US" sz="975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C87A32F-67F6-5361-4AB5-844E6326C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4780" y="9238634"/>
            <a:ext cx="467957" cy="56712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5B65E40-7147-8106-8986-A82725E57E88}"/>
              </a:ext>
            </a:extLst>
          </p:cNvPr>
          <p:cNvSpPr txBox="1"/>
          <p:nvPr/>
        </p:nvSpPr>
        <p:spPr>
          <a:xfrm>
            <a:off x="506539" y="8657393"/>
            <a:ext cx="67890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50" b="1" spc="300" dirty="0">
                <a:solidFill>
                  <a:schemeClr val="bg1"/>
                </a:solidFill>
                <a:latin typeface="Montserrat" panose="00000500000000000000" pitchFamily="50" charset="0"/>
              </a:rPr>
              <a:t>PRODUCT 02 • ESSENTIALS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514350"/>
            <a:ext cx="57150" cy="57150"/>
          </a:xfrm>
          <a:prstGeom prst="ellipse">
            <a:avLst/>
          </a:prstGeom>
          <a:solidFill>
            <a:srgbClr val="2CAD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14450" y="457200"/>
            <a:ext cx="25812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02 · ESSENTIALS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489859" y="457200"/>
            <a:ext cx="73134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 / 24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43000" y="1333500"/>
            <a:ext cx="609600" cy="28575"/>
          </a:xfrm>
          <a:prstGeom prst="roundRect">
            <a:avLst>
              <a:gd name="adj" fmla="val 50000"/>
            </a:avLst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164407"/>
            <a:ext cx="1648206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400" b="1" kern="0" spc="-151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digital presence.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1143000" y="4685957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2CADB2">
              <a:alpha val="6000"/>
            </a:srgbClr>
          </a:solidFill>
          <a:ln w="9525">
            <a:solidFill>
              <a:srgbClr val="2CADB2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4838357"/>
            <a:ext cx="247650" cy="2476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5428907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LISTINGS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43000" y="5790857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Top-listings management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143000" y="6227965"/>
            <a:ext cx="3708464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Coordinate business info across Google, Facebook, and Instagram from one dashboard.</a:t>
            </a:r>
            <a:endParaRPr lang="en-US" sz="1575" dirty="0"/>
          </a:p>
        </p:txBody>
      </p:sp>
      <p:sp>
        <p:nvSpPr>
          <p:cNvPr id="12" name="Shape 9"/>
          <p:cNvSpPr/>
          <p:nvPr/>
        </p:nvSpPr>
        <p:spPr>
          <a:xfrm>
            <a:off x="5276850" y="4685957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2CADB2">
              <a:alpha val="6000"/>
            </a:srgbClr>
          </a:solidFill>
          <a:ln w="9525">
            <a:solidFill>
              <a:srgbClr val="2CADB2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0" y="4838357"/>
            <a:ext cx="247650" cy="2476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76850" y="5428907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ANALYTICS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276850" y="5790857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SEO performance tracking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5276850" y="6227965"/>
            <a:ext cx="3708464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 website performance with integrated Google Analytics and SEO scoring.</a:t>
            </a:r>
            <a:endParaRPr lang="en-US" sz="1575" dirty="0"/>
          </a:p>
        </p:txBody>
      </p:sp>
      <p:sp>
        <p:nvSpPr>
          <p:cNvPr id="17" name="Shape 13"/>
          <p:cNvSpPr/>
          <p:nvPr/>
        </p:nvSpPr>
        <p:spPr>
          <a:xfrm>
            <a:off x="9410700" y="4685957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2CADB2">
              <a:alpha val="6000"/>
            </a:srgbClr>
          </a:solidFill>
          <a:ln w="9525">
            <a:solidFill>
              <a:srgbClr val="2CADB2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3100" y="4838357"/>
            <a:ext cx="247650" cy="2476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410700" y="5428907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9410700" y="5790857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AI-powered content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9410700" y="6227965"/>
            <a:ext cx="370846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Generate social posts and Google Business updates with AI assistance.</a:t>
            </a:r>
            <a:endParaRPr lang="en-US" sz="1575" dirty="0"/>
          </a:p>
        </p:txBody>
      </p:sp>
      <p:sp>
        <p:nvSpPr>
          <p:cNvPr id="22" name="Shape 17"/>
          <p:cNvSpPr/>
          <p:nvPr/>
        </p:nvSpPr>
        <p:spPr>
          <a:xfrm>
            <a:off x="13544550" y="4685957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2CADB2">
              <a:alpha val="6000"/>
            </a:srgbClr>
          </a:solidFill>
          <a:ln w="9525">
            <a:solidFill>
              <a:srgbClr val="2CADB2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96950" y="4838357"/>
            <a:ext cx="247650" cy="2476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544550" y="5428907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REVIEWS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13544550" y="5790857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management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13544550" y="6227965"/>
            <a:ext cx="3708464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 reviews and use AI to auto-reply on Facebook, Instagram, and Google.</a:t>
            </a:r>
            <a:endParaRPr lang="en-US" sz="1575" dirty="0"/>
          </a:p>
        </p:txBody>
      </p:sp>
      <p:sp>
        <p:nvSpPr>
          <p:cNvPr id="28" name="Text 22"/>
          <p:cNvSpPr/>
          <p:nvPr/>
        </p:nvSpPr>
        <p:spPr>
          <a:xfrm>
            <a:off x="13734306" y="9725025"/>
            <a:ext cx="351301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ESSENTIALS · BUILD DIGITAL PRESENCE</a:t>
            </a:r>
            <a:endParaRPr lang="en-US" sz="975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8929DE0-B8F3-B787-5159-0373849E2A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713" y="9238634"/>
            <a:ext cx="467957" cy="5671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77000" cy="10287000"/>
          </a:xfrm>
          <a:prstGeom prst="rect">
            <a:avLst/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5994400" y="0"/>
            <a:ext cx="124714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6477000" cy="10287000"/>
          </a:xfrm>
          <a:prstGeom prst="rect">
            <a:avLst/>
          </a:prstGeom>
          <a:solidFill>
            <a:srgbClr val="25282A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571500"/>
            <a:ext cx="1236464" cy="409575"/>
          </a:xfrm>
          <a:prstGeom prst="roundRect">
            <a:avLst>
              <a:gd name="adj" fmla="val 50000"/>
            </a:avLst>
          </a:prstGeom>
          <a:solidFill>
            <a:srgbClr val="F8CF41">
              <a:alpha val="9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42950" y="719138"/>
            <a:ext cx="114300" cy="11430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90600" y="685800"/>
            <a:ext cx="70306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</a:t>
            </a:r>
            <a:endParaRPr lang="en-US" sz="1125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71500" y="8627418"/>
            <a:ext cx="5101590" cy="112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550" b="1" kern="0" spc="-2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 directory coverage and reputation management at scale.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7224780" y="514350"/>
            <a:ext cx="57150" cy="57150"/>
          </a:xfrm>
          <a:prstGeom prst="ellipse">
            <a:avLst/>
          </a:prstGeom>
          <a:solidFill>
            <a:srgbClr val="F8CF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396230" y="457200"/>
            <a:ext cx="20329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OVERVIEW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6482864" y="457200"/>
            <a:ext cx="73833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 / 24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239000" y="1090613"/>
            <a:ext cx="95250" cy="95250"/>
          </a:xfrm>
          <a:prstGeom prst="ellipse">
            <a:avLst/>
          </a:prstGeom>
          <a:solidFill>
            <a:srgbClr val="F8CF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429500" y="1047750"/>
            <a:ext cx="70767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A886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239000" y="1528763"/>
            <a:ext cx="4826889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105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trust in local search.</a:t>
            </a:r>
            <a:endParaRPr lang="en-US" sz="5400" dirty="0"/>
          </a:p>
        </p:txBody>
      </p:sp>
      <p:sp>
        <p:nvSpPr>
          <p:cNvPr id="16" name="Text 13"/>
          <p:cNvSpPr/>
          <p:nvPr/>
        </p:nvSpPr>
        <p:spPr>
          <a:xfrm>
            <a:off x="7239000" y="3543300"/>
            <a:ext cx="4826889" cy="2114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2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Everything in Essentials, plus comprehensive local directory listings and advanced reputation management.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7239000" y="6146750"/>
            <a:ext cx="4686300" cy="1976884"/>
          </a:xfrm>
          <a:prstGeom prst="roundRect">
            <a:avLst>
              <a:gd name="adj" fmla="val 1927"/>
            </a:avLst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 rot="10800000">
            <a:off x="7486650" y="6354142"/>
            <a:ext cx="9525" cy="15621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 rot="10800000">
            <a:off x="7486650" y="6354142"/>
            <a:ext cx="247650" cy="1600200"/>
          </a:xfrm>
          <a:prstGeom prst="rect">
            <a:avLst/>
          </a:prstGeom>
          <a:noFill/>
          <a:ln/>
        </p:spPr>
        <p:txBody>
          <a:bodyPr vert="vert"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 VALUE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121981" y="6356300"/>
            <a:ext cx="3620167" cy="1595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>
                    <a:alpha val="82000"/>
                  </a:srgb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strong standalone product or marketing bundle — helps customers dominate local search and build trust through reviews.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2458700" y="1333500"/>
            <a:ext cx="468630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2458700" y="1047750"/>
            <a:ext cx="482688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7A7D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WHAT'S ADDED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2458700" y="1619250"/>
            <a:ext cx="22669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-7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Extended Directory Sync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4820900" y="1609725"/>
            <a:ext cx="2400300" cy="5325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1-click publishing to 30+ relevant local directories.</a:t>
            </a:r>
            <a:r>
              <a:rPr lang="en-US" sz="1500" baseline="30000" dirty="0">
                <a:solidFill>
                  <a:srgbClr val="97999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*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458700" y="2628007"/>
            <a:ext cx="22669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-7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Booster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4820900" y="2618482"/>
            <a:ext cx="2400300" cy="497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Send bulk invitations to collect customer feedback.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2458700" y="3868638"/>
            <a:ext cx="22669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-7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Reputation Widget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14820900" y="3859113"/>
            <a:ext cx="2400300" cy="497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Display live reviews on customer websites.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2458700" y="4842570"/>
            <a:ext cx="22669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-7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Reputation Benchmarking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14820900" y="4833045"/>
            <a:ext cx="2400300" cy="497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Compare ratings against local competitors.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12458700" y="5749826"/>
            <a:ext cx="482688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7D7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*Directory coverage varies by country.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14660761" y="9725025"/>
            <a:ext cx="25604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 · PRODUCT OVERVIEW</a:t>
            </a:r>
            <a:endParaRPr lang="en-US" sz="975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6C8B8B88-94C2-C3AF-18A0-8DB7556A6F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4780" y="9238634"/>
            <a:ext cx="467957" cy="56712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13B8742-E451-4665-4147-47E4E8E525E6}"/>
              </a:ext>
            </a:extLst>
          </p:cNvPr>
          <p:cNvSpPr txBox="1"/>
          <p:nvPr/>
        </p:nvSpPr>
        <p:spPr>
          <a:xfrm>
            <a:off x="506539" y="8342391"/>
            <a:ext cx="67890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50" b="1" spc="300" dirty="0">
                <a:solidFill>
                  <a:schemeClr val="bg1"/>
                </a:solidFill>
                <a:latin typeface="Montserrat" panose="00000500000000000000" pitchFamily="50" charset="0"/>
              </a:rPr>
              <a:t>PRODUCT 03 • TRUST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514350"/>
            <a:ext cx="57150" cy="57150"/>
          </a:xfrm>
          <a:prstGeom prst="ellipse">
            <a:avLst/>
          </a:prstGeom>
          <a:solidFill>
            <a:srgbClr val="F8CF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14450" y="457200"/>
            <a:ext cx="20425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03 · TRUST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486436" y="457200"/>
            <a:ext cx="73476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 / 24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43000" y="1333500"/>
            <a:ext cx="609600" cy="28575"/>
          </a:xfrm>
          <a:prstGeom prst="roundRect">
            <a:avLst>
              <a:gd name="adj" fmla="val 50000"/>
            </a:avLst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1704975"/>
            <a:ext cx="1079182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294" dirty="0">
                <a:solidFill>
                  <a:srgbClr val="A886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 DIRECTORY POWER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43000" y="2602557"/>
            <a:ext cx="10791825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400" b="1" kern="0" spc="-151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Dominate the local map.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143000" y="4057209"/>
            <a:ext cx="10791825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Sync business information to every relevant online directory with a single click.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143000" y="5620640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F8CF41">
              <a:alpha val="10000"/>
            </a:srgbClr>
          </a:solidFill>
          <a:ln w="9525">
            <a:solidFill>
              <a:srgbClr val="F8CF4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5773040"/>
            <a:ext cx="247650" cy="2476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3000" y="6363590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ONBOARD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143000" y="6725540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 profile creation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143000" y="7162648"/>
            <a:ext cx="370846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Step-by-step prompts guide users to a compelling business profile.</a:t>
            </a:r>
            <a:endParaRPr lang="en-US" sz="1575" dirty="0"/>
          </a:p>
        </p:txBody>
      </p:sp>
      <p:sp>
        <p:nvSpPr>
          <p:cNvPr id="14" name="Shape 11"/>
          <p:cNvSpPr/>
          <p:nvPr/>
        </p:nvSpPr>
        <p:spPr>
          <a:xfrm>
            <a:off x="5276850" y="5620640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F8CF41">
              <a:alpha val="10000"/>
            </a:srgbClr>
          </a:solidFill>
          <a:ln w="9525">
            <a:solidFill>
              <a:srgbClr val="F8CF4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0" y="5773040"/>
            <a:ext cx="247650" cy="2476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76850" y="6363590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REACH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276850" y="6725540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Extensive coverage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5276850" y="7162648"/>
            <a:ext cx="370846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Publish automatically to directories tailored by location and industry.</a:t>
            </a:r>
            <a:endParaRPr lang="en-US" sz="1575" dirty="0"/>
          </a:p>
        </p:txBody>
      </p:sp>
      <p:sp>
        <p:nvSpPr>
          <p:cNvPr id="19" name="Shape 15"/>
          <p:cNvSpPr/>
          <p:nvPr/>
        </p:nvSpPr>
        <p:spPr>
          <a:xfrm>
            <a:off x="9410700" y="5620640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F8CF41">
              <a:alpha val="10000"/>
            </a:srgbClr>
          </a:solidFill>
          <a:ln w="9525">
            <a:solidFill>
              <a:srgbClr val="F8CF4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3100" y="5773040"/>
            <a:ext cx="247650" cy="24765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410700" y="6363590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RANKING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9410700" y="6725540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SEO boost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9410700" y="7162648"/>
            <a:ext cx="370846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Well-maintained directories improve local SEO rankings over time.</a:t>
            </a:r>
            <a:endParaRPr lang="en-US" sz="1575" dirty="0"/>
          </a:p>
        </p:txBody>
      </p:sp>
      <p:sp>
        <p:nvSpPr>
          <p:cNvPr id="24" name="Shape 19"/>
          <p:cNvSpPr/>
          <p:nvPr/>
        </p:nvSpPr>
        <p:spPr>
          <a:xfrm>
            <a:off x="13544550" y="5620640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F8CF41">
              <a:alpha val="10000"/>
            </a:srgbClr>
          </a:solidFill>
          <a:ln w="9525">
            <a:solidFill>
              <a:srgbClr val="F8CF4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96950" y="5773040"/>
            <a:ext cx="247650" cy="24765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544550" y="6363590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SIGNAL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13544550" y="6725540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monitoring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13544550" y="7162648"/>
            <a:ext cx="370846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Track local events and get competitor insights via instant alerts.</a:t>
            </a:r>
            <a:endParaRPr lang="en-US" sz="1575" dirty="0"/>
          </a:p>
        </p:txBody>
      </p:sp>
      <p:sp>
        <p:nvSpPr>
          <p:cNvPr id="30" name="Text 24"/>
          <p:cNvSpPr/>
          <p:nvPr/>
        </p:nvSpPr>
        <p:spPr>
          <a:xfrm>
            <a:off x="14179748" y="9725025"/>
            <a:ext cx="305420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 · LOCAL DIRECTORY POWER</a:t>
            </a:r>
            <a:endParaRPr lang="en-US" sz="975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743C2A5-6CA6-0018-880A-E72A0D9D1E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713" y="9238634"/>
            <a:ext cx="467957" cy="5671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514350"/>
            <a:ext cx="57150" cy="57150"/>
          </a:xfrm>
          <a:prstGeom prst="ellipse">
            <a:avLst/>
          </a:prstGeom>
          <a:solidFill>
            <a:srgbClr val="F8CF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14450" y="457200"/>
            <a:ext cx="20425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03 · TRUST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519327" y="457200"/>
            <a:ext cx="7018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/ 24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43000" y="1333500"/>
            <a:ext cx="609600" cy="28575"/>
          </a:xfrm>
          <a:prstGeom prst="roundRect">
            <a:avLst>
              <a:gd name="adj" fmla="val 50000"/>
            </a:avLst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1704975"/>
            <a:ext cx="1079182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294" dirty="0">
                <a:solidFill>
                  <a:srgbClr val="A886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REPUTATION MANAGEMENT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43000" y="2602557"/>
            <a:ext cx="10791825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400" b="1" kern="0" spc="-151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Protect and grow the brand.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143000" y="4057213"/>
            <a:ext cx="12553950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Intelligent review management and customer feedback tools that shape how a business is seen.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143000" y="5601243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F8CF41">
              <a:alpha val="10000"/>
            </a:srgbClr>
          </a:solidFill>
          <a:ln w="9525">
            <a:solidFill>
              <a:srgbClr val="F8CF4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5753643"/>
            <a:ext cx="247650" cy="2476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3000" y="6344193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HUB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143000" y="6706143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centralization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143000" y="7143251"/>
            <a:ext cx="3708464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Manage reviews from Google, Facebook, and more in one unified view.</a:t>
            </a:r>
            <a:endParaRPr lang="en-US" sz="1575" dirty="0"/>
          </a:p>
        </p:txBody>
      </p:sp>
      <p:sp>
        <p:nvSpPr>
          <p:cNvPr id="14" name="Shape 11"/>
          <p:cNvSpPr/>
          <p:nvPr/>
        </p:nvSpPr>
        <p:spPr>
          <a:xfrm>
            <a:off x="5276850" y="5601243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F8CF41">
              <a:alpha val="10000"/>
            </a:srgbClr>
          </a:solidFill>
          <a:ln w="9525">
            <a:solidFill>
              <a:srgbClr val="F8CF4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0" y="5753643"/>
            <a:ext cx="247650" cy="2476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76850" y="6344193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276850" y="6706143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Tone-matched replies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5276850" y="7143251"/>
            <a:ext cx="370846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AI-drafted responses save hours while keeping the brand voice consistent.</a:t>
            </a:r>
            <a:endParaRPr lang="en-US" sz="1575" dirty="0"/>
          </a:p>
        </p:txBody>
      </p:sp>
      <p:sp>
        <p:nvSpPr>
          <p:cNvPr id="19" name="Shape 15"/>
          <p:cNvSpPr/>
          <p:nvPr/>
        </p:nvSpPr>
        <p:spPr>
          <a:xfrm>
            <a:off x="9410700" y="5601243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F8CF41">
              <a:alpha val="10000"/>
            </a:srgbClr>
          </a:solidFill>
          <a:ln w="9525">
            <a:solidFill>
              <a:srgbClr val="F8CF4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3100" y="5753643"/>
            <a:ext cx="247650" cy="24765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410700" y="6344193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WIDGET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9410700" y="6706143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collection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9410700" y="7143251"/>
            <a:ext cx="370846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 embeddable widget displays live reviews directly on customer websites.</a:t>
            </a:r>
            <a:endParaRPr lang="en-US" sz="1575" dirty="0"/>
          </a:p>
        </p:txBody>
      </p:sp>
      <p:sp>
        <p:nvSpPr>
          <p:cNvPr id="24" name="Shape 19"/>
          <p:cNvSpPr/>
          <p:nvPr/>
        </p:nvSpPr>
        <p:spPr>
          <a:xfrm>
            <a:off x="13544550" y="5601243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F8CF41">
              <a:alpha val="10000"/>
            </a:srgbClr>
          </a:solidFill>
          <a:ln w="9525">
            <a:solidFill>
              <a:srgbClr val="F8CF4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96950" y="5753643"/>
            <a:ext cx="247650" cy="24765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544550" y="6344193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BENCHMARK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13544550" y="6706143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Competitor comparison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13544550" y="7143251"/>
            <a:ext cx="370846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Benchmark ratings against local competition with reputation insights.</a:t>
            </a:r>
            <a:endParaRPr lang="en-US" sz="1575" dirty="0"/>
          </a:p>
        </p:txBody>
      </p:sp>
      <p:sp>
        <p:nvSpPr>
          <p:cNvPr id="30" name="Text 24"/>
          <p:cNvSpPr/>
          <p:nvPr/>
        </p:nvSpPr>
        <p:spPr>
          <a:xfrm>
            <a:off x="14104888" y="9725025"/>
            <a:ext cx="313131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 · REPUTATION MANAGEMENT</a:t>
            </a:r>
            <a:endParaRPr lang="en-US" sz="975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653B8FB-7F9E-4160-5960-B840E35801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713" y="9238634"/>
            <a:ext cx="467957" cy="5671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77000" cy="10287000"/>
          </a:xfrm>
          <a:prstGeom prst="rect">
            <a:avLst/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477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6477000" cy="10287000"/>
          </a:xfrm>
          <a:prstGeom prst="rect">
            <a:avLst/>
          </a:prstGeom>
          <a:solidFill>
            <a:srgbClr val="25282A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571500"/>
            <a:ext cx="1281113" cy="409575"/>
          </a:xfrm>
          <a:prstGeom prst="roundRect">
            <a:avLst>
              <a:gd name="adj" fmla="val 50000"/>
            </a:avLst>
          </a:prstGeom>
          <a:solidFill>
            <a:srgbClr val="66BC29">
              <a:alpha val="9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42950" y="719138"/>
            <a:ext cx="114300" cy="11430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90600" y="685800"/>
            <a:ext cx="74771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BOOST</a:t>
            </a:r>
            <a:endParaRPr lang="en-US" sz="1125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71500" y="8990112"/>
            <a:ext cx="5101590" cy="763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550" b="1" kern="0" spc="-2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Full-stack social — posting, ads, and audience growth.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7238428" y="514350"/>
            <a:ext cx="57150" cy="57150"/>
          </a:xfrm>
          <a:prstGeom prst="ellipse">
            <a:avLst/>
          </a:prstGeom>
          <a:solidFill>
            <a:srgbClr val="66BC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409878" y="457200"/>
            <a:ext cx="20329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OVERVIEW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6558915" y="457200"/>
            <a:ext cx="6622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/ 24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239000" y="1090613"/>
            <a:ext cx="95250" cy="95250"/>
          </a:xfrm>
          <a:prstGeom prst="ellipse">
            <a:avLst/>
          </a:prstGeom>
          <a:solidFill>
            <a:srgbClr val="66BC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429500" y="1047750"/>
            <a:ext cx="7569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4A8E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BOOST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239000" y="1528763"/>
            <a:ext cx="4826889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105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Full-stack social media.</a:t>
            </a:r>
            <a:endParaRPr lang="en-US" sz="5400" dirty="0"/>
          </a:p>
        </p:txBody>
      </p:sp>
      <p:sp>
        <p:nvSpPr>
          <p:cNvPr id="16" name="Text 13"/>
          <p:cNvSpPr/>
          <p:nvPr/>
        </p:nvSpPr>
        <p:spPr>
          <a:xfrm>
            <a:off x="7239000" y="3543300"/>
            <a:ext cx="4826889" cy="9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2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Everything in Trust, plus AI-driven social management across Meta, LinkedIn, and X to drive engagement and growth.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7239000" y="5880050"/>
            <a:ext cx="4686300" cy="1976884"/>
          </a:xfrm>
          <a:prstGeom prst="roundRect">
            <a:avLst>
              <a:gd name="adj" fmla="val 1927"/>
            </a:avLst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 rot="10800000">
            <a:off x="7486650" y="6087442"/>
            <a:ext cx="9525" cy="15621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 rot="10800000">
            <a:off x="7486650" y="6087442"/>
            <a:ext cx="247650" cy="1600200"/>
          </a:xfrm>
          <a:prstGeom prst="rect">
            <a:avLst/>
          </a:prstGeom>
          <a:noFill/>
          <a:ln/>
        </p:spPr>
        <p:txBody>
          <a:bodyPr vert="vert"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 VALUE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108333" y="6089600"/>
            <a:ext cx="3620167" cy="1595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>
                    <a:alpha val="82000"/>
                  </a:srgb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Standalone or bundled. For customers ready to actively engage audiences and grow social media presence professionally.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2458700" y="1333500"/>
            <a:ext cx="468630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2458700" y="1047750"/>
            <a:ext cx="482688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7A7D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WHAT'S ADDED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2458700" y="1619250"/>
            <a:ext cx="22669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-7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Multi-Platform Posting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4820900" y="1609725"/>
            <a:ext cx="2400300" cy="72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Schedule to Facebook, Instagram, LinkedIn, and X from one view.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458700" y="2861072"/>
            <a:ext cx="22669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-7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Content Creation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4820900" y="2851547"/>
            <a:ext cx="2400300" cy="497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Generate posts and eye-catching visuals with AI.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2458700" y="3815953"/>
            <a:ext cx="22669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-7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Social Media Ads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14820900" y="3806428"/>
            <a:ext cx="2400300" cy="497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Turn top-performing posts into ads instantly.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2458700" y="4732734"/>
            <a:ext cx="22669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-7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Analytics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14820900" y="4723209"/>
            <a:ext cx="2400300" cy="72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Track engagement and content performance across channels.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14619684" y="9725025"/>
            <a:ext cx="260151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BOOST · PRODUCT OVERVIEW</a:t>
            </a:r>
            <a:endParaRPr lang="en-US" sz="975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6975B08-A3FB-1620-C694-5C40801A2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428" y="9238634"/>
            <a:ext cx="467957" cy="56712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9711B46-342D-1BCD-1F6D-1E6ADF0F9665}"/>
              </a:ext>
            </a:extLst>
          </p:cNvPr>
          <p:cNvSpPr txBox="1"/>
          <p:nvPr/>
        </p:nvSpPr>
        <p:spPr>
          <a:xfrm>
            <a:off x="506539" y="8693395"/>
            <a:ext cx="67890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50" b="1" spc="300" dirty="0">
                <a:solidFill>
                  <a:schemeClr val="bg1"/>
                </a:solidFill>
                <a:latin typeface="Montserrat" panose="00000500000000000000" pitchFamily="50" charset="0"/>
              </a:rPr>
              <a:t>PRODUCT 04 • BOOST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514350"/>
            <a:ext cx="57150" cy="57150"/>
          </a:xfrm>
          <a:prstGeom prst="ellipse">
            <a:avLst/>
          </a:prstGeom>
          <a:solidFill>
            <a:srgbClr val="66BC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14450" y="457200"/>
            <a:ext cx="21011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04 · BOOST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531828" y="457200"/>
            <a:ext cx="68937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/ 24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43000" y="1333500"/>
            <a:ext cx="609600" cy="28575"/>
          </a:xfrm>
          <a:prstGeom prst="roundRect">
            <a:avLst>
              <a:gd name="adj" fmla="val 50000"/>
            </a:avLst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135379"/>
            <a:ext cx="1648206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400" b="1" kern="0" spc="-151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 social media management.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1143000" y="4714986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66BC29">
              <a:alpha val="8000"/>
            </a:srgbClr>
          </a:solidFill>
          <a:ln w="9525">
            <a:solidFill>
              <a:srgbClr val="66BC29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4867386"/>
            <a:ext cx="247650" cy="2476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5457936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43000" y="5819886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AI-powered publishing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143000" y="6256994"/>
            <a:ext cx="370846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Plan, schedule, and get instant content ideas for every major platform.</a:t>
            </a:r>
            <a:endParaRPr lang="en-US" sz="1575" dirty="0"/>
          </a:p>
        </p:txBody>
      </p:sp>
      <p:sp>
        <p:nvSpPr>
          <p:cNvPr id="12" name="Shape 9"/>
          <p:cNvSpPr/>
          <p:nvPr/>
        </p:nvSpPr>
        <p:spPr>
          <a:xfrm>
            <a:off x="5276850" y="4714986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66BC29">
              <a:alpha val="8000"/>
            </a:srgbClr>
          </a:solidFill>
          <a:ln w="9525">
            <a:solidFill>
              <a:srgbClr val="66BC29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0" y="4867386"/>
            <a:ext cx="247650" cy="2476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76850" y="5457936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INBOX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276850" y="5819886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Comment management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5276850" y="6256994"/>
            <a:ext cx="370846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View and respond to comments across platforms with AI-assisted replies.</a:t>
            </a:r>
            <a:endParaRPr lang="en-US" sz="1575" dirty="0"/>
          </a:p>
        </p:txBody>
      </p:sp>
      <p:sp>
        <p:nvSpPr>
          <p:cNvPr id="17" name="Shape 13"/>
          <p:cNvSpPr/>
          <p:nvPr/>
        </p:nvSpPr>
        <p:spPr>
          <a:xfrm>
            <a:off x="9410700" y="4714986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66BC29">
              <a:alpha val="8000"/>
            </a:srgbClr>
          </a:solidFill>
          <a:ln w="9525">
            <a:solidFill>
              <a:srgbClr val="66BC29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3100" y="4867386"/>
            <a:ext cx="247650" cy="2476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410700" y="5457936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CALENDAR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9410700" y="5819886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calendar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9410700" y="6256994"/>
            <a:ext cx="3708464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 multiple posts in advance with a calendar view and automated scheduling.</a:t>
            </a:r>
            <a:endParaRPr lang="en-US" sz="1575" dirty="0"/>
          </a:p>
        </p:txBody>
      </p:sp>
      <p:sp>
        <p:nvSpPr>
          <p:cNvPr id="22" name="Shape 17"/>
          <p:cNvSpPr/>
          <p:nvPr/>
        </p:nvSpPr>
        <p:spPr>
          <a:xfrm>
            <a:off x="13544550" y="4714986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66BC29">
              <a:alpha val="8000"/>
            </a:srgbClr>
          </a:solidFill>
          <a:ln w="9525">
            <a:solidFill>
              <a:srgbClr val="66BC29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96950" y="4867386"/>
            <a:ext cx="247650" cy="2476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544550" y="5457936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13544550" y="5819886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Boost campaigns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13544550" y="6256994"/>
            <a:ext cx="370846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Launch social ads with best-performing posts in just a few clicks.</a:t>
            </a:r>
            <a:endParaRPr lang="en-US" sz="1575" dirty="0"/>
          </a:p>
        </p:txBody>
      </p:sp>
      <p:sp>
        <p:nvSpPr>
          <p:cNvPr id="28" name="Text 22"/>
          <p:cNvSpPr/>
          <p:nvPr/>
        </p:nvSpPr>
        <p:spPr>
          <a:xfrm>
            <a:off x="13556307" y="9725025"/>
            <a:ext cx="369635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BOOST · COMPLETE SOCIAL MANAGEMENT</a:t>
            </a:r>
            <a:endParaRPr lang="en-US" sz="975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D179602-3C1F-F186-C4C4-28C2BE64AF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713" y="9238634"/>
            <a:ext cx="467957" cy="56712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77000" cy="10287000"/>
          </a:xfrm>
          <a:prstGeom prst="rect">
            <a:avLst/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066800" y="0"/>
            <a:ext cx="75438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6477000" cy="10287000"/>
          </a:xfrm>
          <a:prstGeom prst="rect">
            <a:avLst/>
          </a:prstGeom>
          <a:solidFill>
            <a:srgbClr val="25282A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571500"/>
            <a:ext cx="1614636" cy="409575"/>
          </a:xfrm>
          <a:prstGeom prst="roundRect">
            <a:avLst>
              <a:gd name="adj" fmla="val 50000"/>
            </a:avLst>
          </a:prstGeom>
          <a:solidFill>
            <a:srgbClr val="FF8000">
              <a:alpha val="9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42950" y="719138"/>
            <a:ext cx="114300" cy="11430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90600" y="685800"/>
            <a:ext cx="108123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360</a:t>
            </a:r>
            <a:r>
              <a:rPr lang="en-US" sz="1125" b="1" kern="0" spc="225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125" b="1" kern="0" spc="225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SUITE</a:t>
            </a:r>
            <a:endParaRPr lang="en-US" sz="1125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71500" y="8990112"/>
            <a:ext cx="5101590" cy="763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550" b="1" kern="0" spc="-2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complete marketing stack, including paid search.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7224780" y="514350"/>
            <a:ext cx="57150" cy="57150"/>
          </a:xfrm>
          <a:prstGeom prst="ellipse">
            <a:avLst/>
          </a:prstGeom>
          <a:solidFill>
            <a:srgbClr val="FF8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396230" y="457200"/>
            <a:ext cx="20329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OVERVIEW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6532126" y="457200"/>
            <a:ext cx="68907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 / 24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239000" y="1090613"/>
            <a:ext cx="95250" cy="95250"/>
          </a:xfrm>
          <a:prstGeom prst="ellipse">
            <a:avLst/>
          </a:prstGeom>
          <a:solidFill>
            <a:srgbClr val="FF8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429500" y="1047750"/>
            <a:ext cx="108317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D96E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360 SUITE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239000" y="1414463"/>
            <a:ext cx="502920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105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complete marketing stack.</a:t>
            </a:r>
            <a:endParaRPr lang="en-US" sz="5400" dirty="0"/>
          </a:p>
        </p:txBody>
      </p:sp>
      <p:sp>
        <p:nvSpPr>
          <p:cNvPr id="16" name="Text 13"/>
          <p:cNvSpPr/>
          <p:nvPr/>
        </p:nvSpPr>
        <p:spPr>
          <a:xfrm>
            <a:off x="7239000" y="4305300"/>
            <a:ext cx="5029200" cy="9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2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Everything in Boost, plus search engine advertising for complete digital marketing coverage — the flagship tier.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7239000" y="6680150"/>
            <a:ext cx="4686300" cy="1976884"/>
          </a:xfrm>
          <a:prstGeom prst="roundRect">
            <a:avLst>
              <a:gd name="adj" fmla="val 1927"/>
            </a:avLst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 rot="10800000">
            <a:off x="7486650" y="6887542"/>
            <a:ext cx="9525" cy="15621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 rot="10800000">
            <a:off x="7486650" y="6887542"/>
            <a:ext cx="247650" cy="1600200"/>
          </a:xfrm>
          <a:prstGeom prst="rect">
            <a:avLst/>
          </a:prstGeom>
          <a:noFill/>
          <a:ln/>
        </p:spPr>
        <p:txBody>
          <a:bodyPr vert="vert"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 VALUE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094685" y="6889700"/>
            <a:ext cx="3620167" cy="1595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>
                    <a:alpha val="82000"/>
                  </a:srgb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premium offering. For customers who want maximum visibility, traffic, and growth — your highest revenue potential.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2458700" y="1333500"/>
            <a:ext cx="468630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2458700" y="1047750"/>
            <a:ext cx="482688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7A7D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WHAT'S ADDED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2458700" y="1619250"/>
            <a:ext cx="22669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-7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Ads Setup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4820900" y="1609725"/>
            <a:ext cx="2400300" cy="497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Launch paid search campaigns in a few easy steps.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458700" y="2840831"/>
            <a:ext cx="22669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-7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AI-Generated Ads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4820900" y="2831306"/>
            <a:ext cx="2400300" cy="72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Automatically create compelling headlines and descriptions.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2458700" y="4158853"/>
            <a:ext cx="22669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-7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Budget Control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14820900" y="4149328"/>
            <a:ext cx="2400300" cy="497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Full spending control — adjust, pause, or scale at any time.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2458700" y="5494734"/>
            <a:ext cx="22669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-7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Competitor Analytics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14820900" y="5485209"/>
            <a:ext cx="2400300" cy="497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AI-driven insights into competitor advertising tactics.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14338697" y="9725025"/>
            <a:ext cx="28904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360 SUITE · PRODUCT OVERVIEW</a:t>
            </a:r>
            <a:endParaRPr lang="en-US" sz="975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1347D2C-69D2-F1D0-C6F5-48BCC2BE0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2670" y="9238634"/>
            <a:ext cx="467957" cy="56712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6D4F230-4308-66BA-E31C-5E26B9307EAD}"/>
              </a:ext>
            </a:extLst>
          </p:cNvPr>
          <p:cNvSpPr txBox="1"/>
          <p:nvPr/>
        </p:nvSpPr>
        <p:spPr>
          <a:xfrm>
            <a:off x="506539" y="8705085"/>
            <a:ext cx="67890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50" b="1" spc="300" dirty="0">
                <a:solidFill>
                  <a:schemeClr val="bg1"/>
                </a:solidFill>
                <a:latin typeface="Montserrat" panose="00000500000000000000" pitchFamily="50" charset="0"/>
              </a:rPr>
              <a:t>PRODUCT 05 • 360 SUITE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514350"/>
            <a:ext cx="57150" cy="57150"/>
          </a:xfrm>
          <a:prstGeom prst="ellipse">
            <a:avLst/>
          </a:prstGeom>
          <a:solidFill>
            <a:srgbClr val="FF8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14450" y="457200"/>
            <a:ext cx="24016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05 · 360 SUITE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519178" y="457200"/>
            <a:ext cx="70202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 / 24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43000" y="1333500"/>
            <a:ext cx="609600" cy="28575"/>
          </a:xfrm>
          <a:prstGeom prst="roundRect">
            <a:avLst>
              <a:gd name="adj" fmla="val 50000"/>
            </a:avLst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1704975"/>
            <a:ext cx="117729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294" dirty="0">
                <a:solidFill>
                  <a:srgbClr val="D96E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 ENGINE ADVERTISING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43000" y="2602557"/>
            <a:ext cx="117729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400" b="1" kern="0" spc="-151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Targeted traffic, top placement.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143000" y="4057214"/>
            <a:ext cx="11557000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Strategic paid ads on Google that put customers above the fold, where the clicks are.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143000" y="5630265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FF8000">
              <a:alpha val="7000"/>
            </a:srgbClr>
          </a:solidFill>
          <a:ln w="9525">
            <a:solidFill>
              <a:srgbClr val="FF8000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5782665"/>
            <a:ext cx="247650" cy="2476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3000" y="6373215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SETUP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143000" y="6735165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 campaign launch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143000" y="7172273"/>
            <a:ext cx="370846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Launch Google Ads campaigns in minutes with guided workflows.</a:t>
            </a:r>
            <a:endParaRPr lang="en-US" sz="1575" dirty="0"/>
          </a:p>
        </p:txBody>
      </p:sp>
      <p:sp>
        <p:nvSpPr>
          <p:cNvPr id="14" name="Shape 11"/>
          <p:cNvSpPr/>
          <p:nvPr/>
        </p:nvSpPr>
        <p:spPr>
          <a:xfrm>
            <a:off x="5276850" y="5630265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FF8000">
              <a:alpha val="7000"/>
            </a:srgbClr>
          </a:solidFill>
          <a:ln w="9525">
            <a:solidFill>
              <a:srgbClr val="FF8000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0" y="5782665"/>
            <a:ext cx="247650" cy="2476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76850" y="6373215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VISIBILITY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276850" y="6735165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Enhanced reach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5276850" y="7172273"/>
            <a:ext cx="370846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Boost visibility for events, posts, and offers with targeted campaigns.</a:t>
            </a:r>
            <a:endParaRPr lang="en-US" sz="1575" dirty="0"/>
          </a:p>
        </p:txBody>
      </p:sp>
      <p:sp>
        <p:nvSpPr>
          <p:cNvPr id="19" name="Shape 15"/>
          <p:cNvSpPr/>
          <p:nvPr/>
        </p:nvSpPr>
        <p:spPr>
          <a:xfrm>
            <a:off x="9410700" y="5630265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FF8000">
              <a:alpha val="7000"/>
            </a:srgbClr>
          </a:solidFill>
          <a:ln w="9525">
            <a:solidFill>
              <a:srgbClr val="FF8000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3100" y="5782665"/>
            <a:ext cx="247650" cy="24765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410700" y="6373215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9410700" y="6735165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Optimized creative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9410700" y="7172273"/>
            <a:ext cx="3708464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generates and selects top-performing ad headlines and descriptions.</a:t>
            </a:r>
            <a:endParaRPr lang="en-US" sz="1575" dirty="0"/>
          </a:p>
        </p:txBody>
      </p:sp>
      <p:sp>
        <p:nvSpPr>
          <p:cNvPr id="24" name="Shape 19"/>
          <p:cNvSpPr/>
          <p:nvPr/>
        </p:nvSpPr>
        <p:spPr>
          <a:xfrm>
            <a:off x="13544550" y="5630265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FF8000">
              <a:alpha val="7000"/>
            </a:srgbClr>
          </a:solidFill>
          <a:ln w="9525">
            <a:solidFill>
              <a:srgbClr val="FF8000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96950" y="5782665"/>
            <a:ext cx="247650" cy="24765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544550" y="6373215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REPORTING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13544550" y="6735165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Detailed analytics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13544550" y="7172273"/>
            <a:ext cx="370846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In-depth insights on ad performance and overall campaign effectiveness.</a:t>
            </a:r>
            <a:endParaRPr lang="en-US" sz="1575" dirty="0"/>
          </a:p>
        </p:txBody>
      </p:sp>
      <p:sp>
        <p:nvSpPr>
          <p:cNvPr id="30" name="Text 24"/>
          <p:cNvSpPr/>
          <p:nvPr/>
        </p:nvSpPr>
        <p:spPr>
          <a:xfrm>
            <a:off x="13529221" y="9725025"/>
            <a:ext cx="372425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360 SUITE · SEARCH ENGINE ADVERTISING</a:t>
            </a:r>
            <a:endParaRPr lang="en-US" sz="975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35A6DEB-9F51-EF89-CE66-D0BA3D20F7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713" y="9238634"/>
            <a:ext cx="467957" cy="56712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514350"/>
            <a:ext cx="57150" cy="57150"/>
          </a:xfrm>
          <a:prstGeom prst="ellipse">
            <a:avLst/>
          </a:prstGeom>
          <a:solidFill>
            <a:srgbClr val="2CAD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14450" y="457200"/>
            <a:ext cx="17374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MATRIX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531828" y="457200"/>
            <a:ext cx="68937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/ 24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43000" y="1331683"/>
            <a:ext cx="609600" cy="28575"/>
          </a:xfrm>
          <a:prstGeom prst="roundRect">
            <a:avLst>
              <a:gd name="adj" fmla="val 50000"/>
            </a:avLst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1973907"/>
            <a:ext cx="10791825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400" b="1" kern="0" spc="-151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comparison.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143000" y="3602734"/>
            <a:ext cx="10791825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Capabilities at a glance — part one of two.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5156648"/>
            <a:ext cx="5760690" cy="19050"/>
          </a:xfrm>
          <a:prstGeom prst="rect">
            <a:avLst/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4766123"/>
            <a:ext cx="580016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Capability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903690" y="5156648"/>
            <a:ext cx="2051298" cy="19050"/>
          </a:xfrm>
          <a:prstGeom prst="rect">
            <a:avLst/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07325" y="4797080"/>
            <a:ext cx="104388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5" b="1" kern="0" spc="158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STARTER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8954988" y="5156648"/>
            <a:ext cx="2543026" cy="19050"/>
          </a:xfrm>
          <a:prstGeom prst="rect">
            <a:avLst/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556552" y="4797080"/>
            <a:ext cx="133975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5" b="1" kern="0" spc="158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ESSENTIALS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11498014" y="5156648"/>
            <a:ext cx="1666875" cy="19050"/>
          </a:xfrm>
          <a:prstGeom prst="rect">
            <a:avLst/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925151" y="4797080"/>
            <a:ext cx="81260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5" b="1" kern="0" spc="158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13164889" y="5156648"/>
            <a:ext cx="1741140" cy="19050"/>
          </a:xfrm>
          <a:prstGeom prst="rect">
            <a:avLst/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606760" y="4797080"/>
            <a:ext cx="85725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5" b="1" kern="0" spc="158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BOOST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14906030" y="5156648"/>
            <a:ext cx="2238970" cy="19050"/>
          </a:xfrm>
          <a:prstGeom prst="rect">
            <a:avLst/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5447169" y="4797080"/>
            <a:ext cx="115654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5" b="1" kern="0" spc="158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360 SUITE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1143000" y="5609086"/>
            <a:ext cx="576069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43000" y="5261423"/>
            <a:ext cx="580016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Monitoring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903690" y="5609086"/>
            <a:ext cx="2051298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98940" y="5261423"/>
            <a:ext cx="186079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8954988" y="5609086"/>
            <a:ext cx="2543026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050193" y="5261423"/>
            <a:ext cx="23526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1498014" y="5609086"/>
            <a:ext cx="1666875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593264" y="5261423"/>
            <a:ext cx="147637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3164889" y="5609086"/>
            <a:ext cx="174114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3260139" y="5261423"/>
            <a:ext cx="155064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4906030" y="5609086"/>
            <a:ext cx="223897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5001280" y="5261423"/>
            <a:ext cx="204847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143000" y="6047236"/>
            <a:ext cx="576069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143000" y="5704336"/>
            <a:ext cx="580016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Competitor Insights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903690" y="6047236"/>
            <a:ext cx="2051298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98940" y="5704336"/>
            <a:ext cx="18607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8954988" y="6047236"/>
            <a:ext cx="2543026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050193" y="5704336"/>
            <a:ext cx="23526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1498014" y="6047236"/>
            <a:ext cx="1666875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1593264" y="5704336"/>
            <a:ext cx="14763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3164889" y="6047236"/>
            <a:ext cx="174114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3260139" y="5704336"/>
            <a:ext cx="15506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14906030" y="6047236"/>
            <a:ext cx="223897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5001280" y="5704336"/>
            <a:ext cx="20484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143000" y="6485386"/>
            <a:ext cx="576069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143000" y="6142486"/>
            <a:ext cx="580016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Monitoring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903690" y="6485386"/>
            <a:ext cx="2051298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998940" y="6142486"/>
            <a:ext cx="18607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8954988" y="6485386"/>
            <a:ext cx="2543026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050193" y="6142486"/>
            <a:ext cx="23526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50" name="Shape 48"/>
          <p:cNvSpPr/>
          <p:nvPr/>
        </p:nvSpPr>
        <p:spPr>
          <a:xfrm>
            <a:off x="11498014" y="6485386"/>
            <a:ext cx="1666875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1593264" y="6142486"/>
            <a:ext cx="14763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52" name="Shape 50"/>
          <p:cNvSpPr/>
          <p:nvPr/>
        </p:nvSpPr>
        <p:spPr>
          <a:xfrm>
            <a:off x="13164889" y="6485386"/>
            <a:ext cx="174114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3260139" y="6142486"/>
            <a:ext cx="15506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14906030" y="6485386"/>
            <a:ext cx="223897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5001280" y="6142486"/>
            <a:ext cx="20484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56" name="Shape 54"/>
          <p:cNvSpPr/>
          <p:nvPr/>
        </p:nvSpPr>
        <p:spPr>
          <a:xfrm>
            <a:off x="1143000" y="6923536"/>
            <a:ext cx="576069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143000" y="6580636"/>
            <a:ext cx="580016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Business Profile Sync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6903690" y="6923536"/>
            <a:ext cx="2051298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998940" y="6580636"/>
            <a:ext cx="18607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7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8954988" y="6923536"/>
            <a:ext cx="2543026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050193" y="6580636"/>
            <a:ext cx="23526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62" name="Shape 60"/>
          <p:cNvSpPr/>
          <p:nvPr/>
        </p:nvSpPr>
        <p:spPr>
          <a:xfrm>
            <a:off x="11498014" y="6923536"/>
            <a:ext cx="1666875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1593264" y="6580636"/>
            <a:ext cx="14763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64" name="Shape 62"/>
          <p:cNvSpPr/>
          <p:nvPr/>
        </p:nvSpPr>
        <p:spPr>
          <a:xfrm>
            <a:off x="13164889" y="6923536"/>
            <a:ext cx="174114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13260139" y="6580636"/>
            <a:ext cx="15506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66" name="Shape 64"/>
          <p:cNvSpPr/>
          <p:nvPr/>
        </p:nvSpPr>
        <p:spPr>
          <a:xfrm>
            <a:off x="14906030" y="6923536"/>
            <a:ext cx="223897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5001280" y="6580636"/>
            <a:ext cx="20484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68" name="Shape 66"/>
          <p:cNvSpPr/>
          <p:nvPr/>
        </p:nvSpPr>
        <p:spPr>
          <a:xfrm>
            <a:off x="1143000" y="7361686"/>
            <a:ext cx="576069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1143000" y="7018786"/>
            <a:ext cx="580016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SEO Reports &amp; Analytics</a:t>
            </a: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>
            <a:off x="6903690" y="7361686"/>
            <a:ext cx="2051298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998940" y="7018786"/>
            <a:ext cx="18607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7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</a:t>
            </a:r>
            <a:endParaRPr lang="en-US" sz="1500" dirty="0"/>
          </a:p>
        </p:txBody>
      </p:sp>
      <p:sp>
        <p:nvSpPr>
          <p:cNvPr id="72" name="Shape 70"/>
          <p:cNvSpPr/>
          <p:nvPr/>
        </p:nvSpPr>
        <p:spPr>
          <a:xfrm>
            <a:off x="8954988" y="7361686"/>
            <a:ext cx="2543026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9050193" y="7018786"/>
            <a:ext cx="23526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kern="0" spc="26" dirty="0">
                <a:solidFill>
                  <a:srgbClr val="7A7D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LIMITED</a:t>
            </a:r>
            <a:endParaRPr lang="en-US" sz="1275" dirty="0"/>
          </a:p>
        </p:txBody>
      </p:sp>
      <p:sp>
        <p:nvSpPr>
          <p:cNvPr id="74" name="Shape 72"/>
          <p:cNvSpPr/>
          <p:nvPr/>
        </p:nvSpPr>
        <p:spPr>
          <a:xfrm>
            <a:off x="11498014" y="7361686"/>
            <a:ext cx="1666875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11593264" y="7018786"/>
            <a:ext cx="14763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kern="0" spc="26" dirty="0">
                <a:solidFill>
                  <a:srgbClr val="7A7D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LIMITED</a:t>
            </a:r>
            <a:endParaRPr lang="en-US" sz="1275" dirty="0"/>
          </a:p>
        </p:txBody>
      </p:sp>
      <p:sp>
        <p:nvSpPr>
          <p:cNvPr id="76" name="Shape 74"/>
          <p:cNvSpPr/>
          <p:nvPr/>
        </p:nvSpPr>
        <p:spPr>
          <a:xfrm>
            <a:off x="13164889" y="7361686"/>
            <a:ext cx="174114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13260139" y="7018786"/>
            <a:ext cx="15506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78" name="Shape 76"/>
          <p:cNvSpPr/>
          <p:nvPr/>
        </p:nvSpPr>
        <p:spPr>
          <a:xfrm>
            <a:off x="14906030" y="7361686"/>
            <a:ext cx="223897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15001280" y="7018786"/>
            <a:ext cx="20484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80" name="Shape 78"/>
          <p:cNvSpPr/>
          <p:nvPr/>
        </p:nvSpPr>
        <p:spPr>
          <a:xfrm>
            <a:off x="1143000" y="7799836"/>
            <a:ext cx="576069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1143000" y="7456936"/>
            <a:ext cx="580016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AI-Driven SEO Tasks</a:t>
            </a:r>
            <a:endParaRPr lang="en-US" sz="1500" dirty="0"/>
          </a:p>
        </p:txBody>
      </p:sp>
      <p:sp>
        <p:nvSpPr>
          <p:cNvPr id="82" name="Shape 80"/>
          <p:cNvSpPr/>
          <p:nvPr/>
        </p:nvSpPr>
        <p:spPr>
          <a:xfrm>
            <a:off x="6903690" y="7799836"/>
            <a:ext cx="2051298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6998940" y="7456936"/>
            <a:ext cx="18607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7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</a:t>
            </a:r>
            <a:endParaRPr lang="en-US" sz="1500" dirty="0"/>
          </a:p>
        </p:txBody>
      </p:sp>
      <p:sp>
        <p:nvSpPr>
          <p:cNvPr id="84" name="Shape 82"/>
          <p:cNvSpPr/>
          <p:nvPr/>
        </p:nvSpPr>
        <p:spPr>
          <a:xfrm>
            <a:off x="8954988" y="7799836"/>
            <a:ext cx="2543026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9050193" y="7456936"/>
            <a:ext cx="23526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kern="0" spc="26" dirty="0">
                <a:solidFill>
                  <a:srgbClr val="7A7D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TEASER</a:t>
            </a:r>
            <a:endParaRPr lang="en-US" sz="1275" dirty="0"/>
          </a:p>
        </p:txBody>
      </p:sp>
      <p:sp>
        <p:nvSpPr>
          <p:cNvPr id="86" name="Shape 84"/>
          <p:cNvSpPr/>
          <p:nvPr/>
        </p:nvSpPr>
        <p:spPr>
          <a:xfrm>
            <a:off x="11498014" y="7799836"/>
            <a:ext cx="1666875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11593264" y="7456936"/>
            <a:ext cx="14763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kern="0" spc="26" dirty="0">
                <a:solidFill>
                  <a:srgbClr val="7A7D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TEASER</a:t>
            </a:r>
            <a:endParaRPr lang="en-US" sz="1275" dirty="0"/>
          </a:p>
        </p:txBody>
      </p:sp>
      <p:sp>
        <p:nvSpPr>
          <p:cNvPr id="88" name="Shape 86"/>
          <p:cNvSpPr/>
          <p:nvPr/>
        </p:nvSpPr>
        <p:spPr>
          <a:xfrm>
            <a:off x="13164889" y="7799836"/>
            <a:ext cx="174114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13260139" y="7456936"/>
            <a:ext cx="15506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90" name="Shape 88"/>
          <p:cNvSpPr/>
          <p:nvPr/>
        </p:nvSpPr>
        <p:spPr>
          <a:xfrm>
            <a:off x="14906030" y="7799836"/>
            <a:ext cx="223897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15001280" y="7456936"/>
            <a:ext cx="20484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92" name="Text 90"/>
          <p:cNvSpPr/>
          <p:nvPr/>
        </p:nvSpPr>
        <p:spPr>
          <a:xfrm>
            <a:off x="1143000" y="7895086"/>
            <a:ext cx="580016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Social Media Posts</a:t>
            </a:r>
            <a:endParaRPr lang="en-US" sz="1500" dirty="0"/>
          </a:p>
        </p:txBody>
      </p:sp>
      <p:sp>
        <p:nvSpPr>
          <p:cNvPr id="93" name="Text 91"/>
          <p:cNvSpPr/>
          <p:nvPr/>
        </p:nvSpPr>
        <p:spPr>
          <a:xfrm>
            <a:off x="6998940" y="7895086"/>
            <a:ext cx="186079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7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</a:t>
            </a:r>
            <a:endParaRPr lang="en-US" sz="1500" dirty="0"/>
          </a:p>
        </p:txBody>
      </p:sp>
      <p:sp>
        <p:nvSpPr>
          <p:cNvPr id="94" name="Text 92"/>
          <p:cNvSpPr/>
          <p:nvPr/>
        </p:nvSpPr>
        <p:spPr>
          <a:xfrm>
            <a:off x="9050193" y="7895086"/>
            <a:ext cx="23526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95" name="Text 93"/>
          <p:cNvSpPr/>
          <p:nvPr/>
        </p:nvSpPr>
        <p:spPr>
          <a:xfrm>
            <a:off x="11593264" y="7895086"/>
            <a:ext cx="147637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96" name="Text 94"/>
          <p:cNvSpPr/>
          <p:nvPr/>
        </p:nvSpPr>
        <p:spPr>
          <a:xfrm>
            <a:off x="13260139" y="7895086"/>
            <a:ext cx="155064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97" name="Text 95"/>
          <p:cNvSpPr/>
          <p:nvPr/>
        </p:nvSpPr>
        <p:spPr>
          <a:xfrm>
            <a:off x="15001280" y="7895086"/>
            <a:ext cx="204847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99" name="Text 97"/>
          <p:cNvSpPr/>
          <p:nvPr/>
        </p:nvSpPr>
        <p:spPr>
          <a:xfrm>
            <a:off x="14496752" y="9725025"/>
            <a:ext cx="272769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COMPARISON · 1 OF 2</a:t>
            </a:r>
            <a:endParaRPr lang="en-US" sz="975" dirty="0"/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E0F49284-6E29-C303-9BD3-AF242CC77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713" y="9238634"/>
            <a:ext cx="467957" cy="56712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514350"/>
            <a:ext cx="57150" cy="57150"/>
          </a:xfrm>
          <a:prstGeom prst="ellipse">
            <a:avLst/>
          </a:prstGeom>
          <a:solidFill>
            <a:srgbClr val="2CAD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14450" y="457200"/>
            <a:ext cx="17374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MATRIX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526024" y="457200"/>
            <a:ext cx="69517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 / 24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43000" y="1338036"/>
            <a:ext cx="609600" cy="28575"/>
          </a:xfrm>
          <a:prstGeom prst="roundRect">
            <a:avLst>
              <a:gd name="adj" fmla="val 50000"/>
            </a:avLst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1980255"/>
            <a:ext cx="10791825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400" b="1" kern="0" spc="-151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comparison, cont.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143000" y="3609082"/>
            <a:ext cx="10791825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Advanced capabilities unlocked at higher tiers.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4953893"/>
            <a:ext cx="5760690" cy="19050"/>
          </a:xfrm>
          <a:prstGeom prst="rect">
            <a:avLst/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4563368"/>
            <a:ext cx="580016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Capability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903690" y="4953893"/>
            <a:ext cx="2051298" cy="19050"/>
          </a:xfrm>
          <a:prstGeom prst="rect">
            <a:avLst/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07325" y="4594324"/>
            <a:ext cx="104388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5" b="1" kern="0" spc="158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STARTER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8954988" y="4953893"/>
            <a:ext cx="2543026" cy="19050"/>
          </a:xfrm>
          <a:prstGeom prst="rect">
            <a:avLst/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556552" y="4594324"/>
            <a:ext cx="133975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5" b="1" kern="0" spc="158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ESSENTIALS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11498014" y="4953893"/>
            <a:ext cx="1666875" cy="19050"/>
          </a:xfrm>
          <a:prstGeom prst="rect">
            <a:avLst/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925151" y="4594324"/>
            <a:ext cx="81260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5" b="1" kern="0" spc="158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13164889" y="4953893"/>
            <a:ext cx="1741140" cy="19050"/>
          </a:xfrm>
          <a:prstGeom prst="rect">
            <a:avLst/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606760" y="4594324"/>
            <a:ext cx="85725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5" b="1" kern="0" spc="158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BOOST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14906030" y="4953893"/>
            <a:ext cx="2238970" cy="19050"/>
          </a:xfrm>
          <a:prstGeom prst="rect">
            <a:avLst/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5447169" y="4594324"/>
            <a:ext cx="115654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5" b="1" kern="0" spc="158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360 SUITE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1143000" y="5406330"/>
            <a:ext cx="576069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43000" y="5058668"/>
            <a:ext cx="580016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Extended Directory Sync (30+)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903690" y="5406330"/>
            <a:ext cx="2051298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98940" y="5058668"/>
            <a:ext cx="186079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7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954988" y="5406330"/>
            <a:ext cx="2543026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050193" y="5058668"/>
            <a:ext cx="23526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7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1498014" y="5406330"/>
            <a:ext cx="1666875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593264" y="5058668"/>
            <a:ext cx="147637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3164889" y="5406330"/>
            <a:ext cx="174114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3260139" y="5058668"/>
            <a:ext cx="155064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4906030" y="5406330"/>
            <a:ext cx="223897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5001280" y="5058668"/>
            <a:ext cx="204847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143000" y="5844480"/>
            <a:ext cx="576069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143000" y="5501580"/>
            <a:ext cx="580016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Booster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903690" y="5844480"/>
            <a:ext cx="2051298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98940" y="5501580"/>
            <a:ext cx="18607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7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954988" y="5844480"/>
            <a:ext cx="2543026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050193" y="5501580"/>
            <a:ext cx="23526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7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11498014" y="5844480"/>
            <a:ext cx="1666875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1593264" y="5501580"/>
            <a:ext cx="14763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3164889" y="5844480"/>
            <a:ext cx="174114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3260139" y="5501580"/>
            <a:ext cx="15506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14906030" y="5844480"/>
            <a:ext cx="223897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5001280" y="5501580"/>
            <a:ext cx="20484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143000" y="6282630"/>
            <a:ext cx="576069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143000" y="5939730"/>
            <a:ext cx="580016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Reputation Widget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903690" y="6282630"/>
            <a:ext cx="2051298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998940" y="5939730"/>
            <a:ext cx="18607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7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8954988" y="6282630"/>
            <a:ext cx="2543026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050193" y="5939730"/>
            <a:ext cx="23526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7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11498014" y="6282630"/>
            <a:ext cx="1666875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1593264" y="5939730"/>
            <a:ext cx="14763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52" name="Shape 50"/>
          <p:cNvSpPr/>
          <p:nvPr/>
        </p:nvSpPr>
        <p:spPr>
          <a:xfrm>
            <a:off x="13164889" y="6282630"/>
            <a:ext cx="174114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3260139" y="5939730"/>
            <a:ext cx="15506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14906030" y="6282630"/>
            <a:ext cx="223897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5001280" y="5939730"/>
            <a:ext cx="20484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56" name="Shape 54"/>
          <p:cNvSpPr/>
          <p:nvPr/>
        </p:nvSpPr>
        <p:spPr>
          <a:xfrm>
            <a:off x="1143000" y="6720780"/>
            <a:ext cx="576069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143000" y="6377880"/>
            <a:ext cx="580016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Review Replies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6903690" y="6720780"/>
            <a:ext cx="2051298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998940" y="6377880"/>
            <a:ext cx="18607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7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8954988" y="6720780"/>
            <a:ext cx="2543026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050193" y="6377880"/>
            <a:ext cx="23526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7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11498014" y="6720780"/>
            <a:ext cx="1666875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1593264" y="6377880"/>
            <a:ext cx="14763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64" name="Shape 62"/>
          <p:cNvSpPr/>
          <p:nvPr/>
        </p:nvSpPr>
        <p:spPr>
          <a:xfrm>
            <a:off x="13164889" y="6720780"/>
            <a:ext cx="174114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13260139" y="6377880"/>
            <a:ext cx="15506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66" name="Shape 64"/>
          <p:cNvSpPr/>
          <p:nvPr/>
        </p:nvSpPr>
        <p:spPr>
          <a:xfrm>
            <a:off x="14906030" y="6720780"/>
            <a:ext cx="223897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5001280" y="6377880"/>
            <a:ext cx="20484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68" name="Shape 66"/>
          <p:cNvSpPr/>
          <p:nvPr/>
        </p:nvSpPr>
        <p:spPr>
          <a:xfrm>
            <a:off x="1143000" y="7158930"/>
            <a:ext cx="576069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1143000" y="6816030"/>
            <a:ext cx="580016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Multi-Platform Social Posting</a:t>
            </a: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>
            <a:off x="6903690" y="7158930"/>
            <a:ext cx="2051298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998940" y="6816030"/>
            <a:ext cx="18607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7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</a:t>
            </a:r>
            <a:endParaRPr lang="en-US" sz="1500" dirty="0"/>
          </a:p>
        </p:txBody>
      </p:sp>
      <p:sp>
        <p:nvSpPr>
          <p:cNvPr id="72" name="Shape 70"/>
          <p:cNvSpPr/>
          <p:nvPr/>
        </p:nvSpPr>
        <p:spPr>
          <a:xfrm>
            <a:off x="8954988" y="7158930"/>
            <a:ext cx="2543026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9050193" y="6816030"/>
            <a:ext cx="23526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7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</a:t>
            </a:r>
            <a:endParaRPr lang="en-US" sz="1500" dirty="0"/>
          </a:p>
        </p:txBody>
      </p:sp>
      <p:sp>
        <p:nvSpPr>
          <p:cNvPr id="74" name="Shape 72"/>
          <p:cNvSpPr/>
          <p:nvPr/>
        </p:nvSpPr>
        <p:spPr>
          <a:xfrm>
            <a:off x="11498014" y="7158930"/>
            <a:ext cx="1666875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11593264" y="6816030"/>
            <a:ext cx="14763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7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</a:t>
            </a:r>
            <a:endParaRPr lang="en-US" sz="1500" dirty="0"/>
          </a:p>
        </p:txBody>
      </p:sp>
      <p:sp>
        <p:nvSpPr>
          <p:cNvPr id="76" name="Shape 74"/>
          <p:cNvSpPr/>
          <p:nvPr/>
        </p:nvSpPr>
        <p:spPr>
          <a:xfrm>
            <a:off x="13164889" y="7158930"/>
            <a:ext cx="174114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13260139" y="6816030"/>
            <a:ext cx="15506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78" name="Shape 76"/>
          <p:cNvSpPr/>
          <p:nvPr/>
        </p:nvSpPr>
        <p:spPr>
          <a:xfrm>
            <a:off x="14906030" y="7158930"/>
            <a:ext cx="223897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15001280" y="6816030"/>
            <a:ext cx="20484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80" name="Shape 78"/>
          <p:cNvSpPr/>
          <p:nvPr/>
        </p:nvSpPr>
        <p:spPr>
          <a:xfrm>
            <a:off x="1143000" y="7597080"/>
            <a:ext cx="576069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1143000" y="7254180"/>
            <a:ext cx="580016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Image Generator</a:t>
            </a:r>
            <a:endParaRPr lang="en-US" sz="1500" dirty="0"/>
          </a:p>
        </p:txBody>
      </p:sp>
      <p:sp>
        <p:nvSpPr>
          <p:cNvPr id="82" name="Shape 80"/>
          <p:cNvSpPr/>
          <p:nvPr/>
        </p:nvSpPr>
        <p:spPr>
          <a:xfrm>
            <a:off x="6903690" y="7597080"/>
            <a:ext cx="2051298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6998940" y="7254180"/>
            <a:ext cx="18607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7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</a:t>
            </a:r>
            <a:endParaRPr lang="en-US" sz="1500" dirty="0"/>
          </a:p>
        </p:txBody>
      </p:sp>
      <p:sp>
        <p:nvSpPr>
          <p:cNvPr id="84" name="Shape 82"/>
          <p:cNvSpPr/>
          <p:nvPr/>
        </p:nvSpPr>
        <p:spPr>
          <a:xfrm>
            <a:off x="8954988" y="7597080"/>
            <a:ext cx="2543026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9050193" y="7254180"/>
            <a:ext cx="23526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7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</a:t>
            </a:r>
            <a:endParaRPr lang="en-US" sz="1500" dirty="0"/>
          </a:p>
        </p:txBody>
      </p:sp>
      <p:sp>
        <p:nvSpPr>
          <p:cNvPr id="86" name="Shape 84"/>
          <p:cNvSpPr/>
          <p:nvPr/>
        </p:nvSpPr>
        <p:spPr>
          <a:xfrm>
            <a:off x="11498014" y="7597080"/>
            <a:ext cx="1666875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11593264" y="7254180"/>
            <a:ext cx="14763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7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</a:t>
            </a:r>
            <a:endParaRPr lang="en-US" sz="1500" dirty="0"/>
          </a:p>
        </p:txBody>
      </p:sp>
      <p:sp>
        <p:nvSpPr>
          <p:cNvPr id="88" name="Shape 86"/>
          <p:cNvSpPr/>
          <p:nvPr/>
        </p:nvSpPr>
        <p:spPr>
          <a:xfrm>
            <a:off x="13164889" y="7597080"/>
            <a:ext cx="174114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13260139" y="7254180"/>
            <a:ext cx="15506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90" name="Shape 88"/>
          <p:cNvSpPr/>
          <p:nvPr/>
        </p:nvSpPr>
        <p:spPr>
          <a:xfrm>
            <a:off x="14906030" y="7597080"/>
            <a:ext cx="223897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15001280" y="7254180"/>
            <a:ext cx="20484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92" name="Shape 90"/>
          <p:cNvSpPr/>
          <p:nvPr/>
        </p:nvSpPr>
        <p:spPr>
          <a:xfrm>
            <a:off x="1143000" y="8035230"/>
            <a:ext cx="576069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1143000" y="7692330"/>
            <a:ext cx="580016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Social Media Ads</a:t>
            </a:r>
            <a:endParaRPr lang="en-US" sz="1500" dirty="0"/>
          </a:p>
        </p:txBody>
      </p:sp>
      <p:sp>
        <p:nvSpPr>
          <p:cNvPr id="94" name="Shape 92"/>
          <p:cNvSpPr/>
          <p:nvPr/>
        </p:nvSpPr>
        <p:spPr>
          <a:xfrm>
            <a:off x="6903690" y="8035230"/>
            <a:ext cx="2051298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6998940" y="7692330"/>
            <a:ext cx="18607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7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</a:t>
            </a:r>
            <a:endParaRPr lang="en-US" sz="1500" dirty="0"/>
          </a:p>
        </p:txBody>
      </p:sp>
      <p:sp>
        <p:nvSpPr>
          <p:cNvPr id="96" name="Shape 94"/>
          <p:cNvSpPr/>
          <p:nvPr/>
        </p:nvSpPr>
        <p:spPr>
          <a:xfrm>
            <a:off x="8954988" y="8035230"/>
            <a:ext cx="2543026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9050193" y="7692330"/>
            <a:ext cx="23526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7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</a:t>
            </a:r>
            <a:endParaRPr lang="en-US" sz="1500" dirty="0"/>
          </a:p>
        </p:txBody>
      </p:sp>
      <p:sp>
        <p:nvSpPr>
          <p:cNvPr id="98" name="Shape 96"/>
          <p:cNvSpPr/>
          <p:nvPr/>
        </p:nvSpPr>
        <p:spPr>
          <a:xfrm>
            <a:off x="11498014" y="8035230"/>
            <a:ext cx="1666875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11593264" y="7692330"/>
            <a:ext cx="14763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7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</a:t>
            </a:r>
            <a:endParaRPr lang="en-US" sz="1500" dirty="0"/>
          </a:p>
        </p:txBody>
      </p:sp>
      <p:sp>
        <p:nvSpPr>
          <p:cNvPr id="100" name="Shape 98"/>
          <p:cNvSpPr/>
          <p:nvPr/>
        </p:nvSpPr>
        <p:spPr>
          <a:xfrm>
            <a:off x="13164889" y="8035230"/>
            <a:ext cx="174114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13260139" y="7692330"/>
            <a:ext cx="15506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102" name="Shape 100"/>
          <p:cNvSpPr/>
          <p:nvPr/>
        </p:nvSpPr>
        <p:spPr>
          <a:xfrm>
            <a:off x="14906030" y="8035230"/>
            <a:ext cx="223897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15001280" y="7692330"/>
            <a:ext cx="20484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104" name="Text 102"/>
          <p:cNvSpPr/>
          <p:nvPr/>
        </p:nvSpPr>
        <p:spPr>
          <a:xfrm>
            <a:off x="1143000" y="8130480"/>
            <a:ext cx="580016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Ads Campaigns</a:t>
            </a:r>
            <a:endParaRPr lang="en-US" sz="1500" dirty="0"/>
          </a:p>
        </p:txBody>
      </p:sp>
      <p:sp>
        <p:nvSpPr>
          <p:cNvPr id="105" name="Text 103"/>
          <p:cNvSpPr/>
          <p:nvPr/>
        </p:nvSpPr>
        <p:spPr>
          <a:xfrm>
            <a:off x="6998940" y="8130480"/>
            <a:ext cx="186079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7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</a:t>
            </a:r>
            <a:endParaRPr lang="en-US" sz="1500" dirty="0"/>
          </a:p>
        </p:txBody>
      </p:sp>
      <p:sp>
        <p:nvSpPr>
          <p:cNvPr id="106" name="Text 104"/>
          <p:cNvSpPr/>
          <p:nvPr/>
        </p:nvSpPr>
        <p:spPr>
          <a:xfrm>
            <a:off x="9050193" y="8130480"/>
            <a:ext cx="23526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7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</a:t>
            </a:r>
            <a:endParaRPr lang="en-US" sz="1500" dirty="0"/>
          </a:p>
        </p:txBody>
      </p:sp>
      <p:sp>
        <p:nvSpPr>
          <p:cNvPr id="107" name="Text 105"/>
          <p:cNvSpPr/>
          <p:nvPr/>
        </p:nvSpPr>
        <p:spPr>
          <a:xfrm>
            <a:off x="11593264" y="8130480"/>
            <a:ext cx="147637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7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</a:t>
            </a:r>
            <a:endParaRPr lang="en-US" sz="1500" dirty="0"/>
          </a:p>
        </p:txBody>
      </p:sp>
      <p:sp>
        <p:nvSpPr>
          <p:cNvPr id="108" name="Text 106"/>
          <p:cNvSpPr/>
          <p:nvPr/>
        </p:nvSpPr>
        <p:spPr>
          <a:xfrm>
            <a:off x="13260139" y="8130480"/>
            <a:ext cx="155064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7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</a:t>
            </a:r>
            <a:endParaRPr lang="en-US" sz="1500" dirty="0"/>
          </a:p>
        </p:txBody>
      </p:sp>
      <p:sp>
        <p:nvSpPr>
          <p:cNvPr id="109" name="Text 107"/>
          <p:cNvSpPr/>
          <p:nvPr/>
        </p:nvSpPr>
        <p:spPr>
          <a:xfrm>
            <a:off x="15001280" y="8130480"/>
            <a:ext cx="204847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CADB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</a:t>
            </a:r>
            <a:endParaRPr lang="en-US" sz="1650" dirty="0"/>
          </a:p>
        </p:txBody>
      </p:sp>
      <p:sp>
        <p:nvSpPr>
          <p:cNvPr id="111" name="Text 109"/>
          <p:cNvSpPr/>
          <p:nvPr/>
        </p:nvSpPr>
        <p:spPr>
          <a:xfrm>
            <a:off x="14471452" y="9725025"/>
            <a:ext cx="27537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COMPARISON · 2 OF 2</a:t>
            </a:r>
            <a:endParaRPr lang="en-US" sz="975" dirty="0"/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A090B9AF-2D23-8C8E-B528-6B407BE1A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713" y="9238634"/>
            <a:ext cx="467957" cy="56712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514350"/>
            <a:ext cx="57150" cy="57150"/>
          </a:xfrm>
          <a:prstGeom prst="ellipse">
            <a:avLst/>
          </a:prstGeom>
          <a:solidFill>
            <a:srgbClr val="2CAD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14450" y="457200"/>
            <a:ext cx="203180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JOURNEY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528554" y="457200"/>
            <a:ext cx="69264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 / 24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43000" y="1331682"/>
            <a:ext cx="609600" cy="28575"/>
          </a:xfrm>
          <a:prstGeom prst="roundRect">
            <a:avLst>
              <a:gd name="adj" fmla="val 50000"/>
            </a:avLst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104534"/>
            <a:ext cx="117729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400" b="1" kern="0" spc="-151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</a:t>
            </a:r>
            <a:r>
              <a:rPr lang="en-US" sz="5800" b="1" kern="0" spc="-151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natural</a:t>
            </a:r>
            <a:r>
              <a:rPr lang="en-US" sz="5400" b="1" kern="0" spc="-151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upsell journey.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143000" y="3704332"/>
            <a:ext cx="10791825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Each tier builds on the last — a clear upgrade path as customers' businesses grow.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6308229"/>
            <a:ext cx="3017490" cy="2492330"/>
          </a:xfrm>
          <a:prstGeom prst="rect">
            <a:avLst/>
          </a:prstGeom>
          <a:solidFill>
            <a:srgbClr val="F4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43000" y="6308229"/>
            <a:ext cx="3017490" cy="28575"/>
          </a:xfrm>
          <a:prstGeom prst="rect">
            <a:avLst/>
          </a:prstGeom>
          <a:solidFill>
            <a:srgbClr val="9799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71600" y="6933307"/>
            <a:ext cx="263709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kern="0" spc="215" dirty="0">
                <a:solidFill>
                  <a:srgbClr val="7A7D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· STARTER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7200007"/>
            <a:ext cx="263709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33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7552432"/>
            <a:ext cx="2637099" cy="51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monitors their online presence and competition.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89090" y="5898653"/>
            <a:ext cx="3017490" cy="2901867"/>
          </a:xfrm>
          <a:prstGeom prst="rect">
            <a:avLst/>
          </a:prstGeom>
          <a:solidFill>
            <a:srgbClr val="F4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89090" y="5898654"/>
            <a:ext cx="3017490" cy="28575"/>
          </a:xfrm>
          <a:prstGeom prst="rect">
            <a:avLst/>
          </a:prstGeom>
          <a:solidFill>
            <a:srgbClr val="2CAD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17690" y="6857107"/>
            <a:ext cx="263709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kern="0" spc="215" dirty="0">
                <a:solidFill>
                  <a:srgbClr val="7A7D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· ESSENTIALS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690" y="7123807"/>
            <a:ext cx="263709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33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Activate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17690" y="7476232"/>
            <a:ext cx="2637099" cy="51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Ready to act — manage profiles and start basic SEO.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635180" y="5508129"/>
            <a:ext cx="3017490" cy="3311405"/>
          </a:xfrm>
          <a:prstGeom prst="rect">
            <a:avLst/>
          </a:prstGeom>
          <a:solidFill>
            <a:srgbClr val="F4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635180" y="5508129"/>
            <a:ext cx="3017490" cy="28575"/>
          </a:xfrm>
          <a:prstGeom prst="rect">
            <a:avLst/>
          </a:prstGeom>
          <a:solidFill>
            <a:srgbClr val="F8CF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63780" y="6560046"/>
            <a:ext cx="263709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kern="0" spc="215" dirty="0">
                <a:solidFill>
                  <a:srgbClr val="7A7D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· TRUST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63780" y="6826746"/>
            <a:ext cx="263709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33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Dominate locally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863780" y="7179171"/>
            <a:ext cx="2637099" cy="757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Wants to own local search and build reputation through reviews.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881271" y="5012829"/>
            <a:ext cx="3017490" cy="3779448"/>
          </a:xfrm>
          <a:prstGeom prst="rect">
            <a:avLst/>
          </a:prstGeom>
          <a:solidFill>
            <a:srgbClr val="F4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881271" y="5012829"/>
            <a:ext cx="3017490" cy="28575"/>
          </a:xfrm>
          <a:prstGeom prst="rect">
            <a:avLst/>
          </a:prstGeom>
          <a:solidFill>
            <a:srgbClr val="66BC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109871" y="6445746"/>
            <a:ext cx="263709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kern="0" spc="215" dirty="0">
                <a:solidFill>
                  <a:srgbClr val="7A7D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· BOOST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109871" y="6712446"/>
            <a:ext cx="263709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33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Engage &amp; grow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1109871" y="7064871"/>
            <a:ext cx="2637099" cy="757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Needs professional social management to engage and grow the audience.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4127361" y="4488953"/>
            <a:ext cx="3017490" cy="4305997"/>
          </a:xfrm>
          <a:prstGeom prst="rect">
            <a:avLst/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4127361" y="4488954"/>
            <a:ext cx="3017490" cy="28575"/>
          </a:xfrm>
          <a:prstGeom prst="rect">
            <a:avLst/>
          </a:prstGeom>
          <a:solidFill>
            <a:srgbClr val="FF8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4355961" y="6361807"/>
            <a:ext cx="263709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kern="0" spc="215" dirty="0">
                <a:solidFill>
                  <a:srgbClr val="FFFFFF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· 360 SUITE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4355961" y="6628507"/>
            <a:ext cx="263709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33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 all-in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4355961" y="6980932"/>
            <a:ext cx="2637099" cy="51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>
                    <a:alpha val="75000"/>
                  </a:srgb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Ready for complete digital marketing with paid advertising.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4422487" y="9725025"/>
            <a:ext cx="280418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NATURAL UPSELL JOURNEY</a:t>
            </a:r>
            <a:endParaRPr lang="en-US" sz="975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78F3F9F-2C61-5E27-A3C0-A56692D24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713" y="9238634"/>
            <a:ext cx="467957" cy="56712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52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" y="514350"/>
            <a:ext cx="57150" cy="57150"/>
          </a:xfrm>
          <a:prstGeom prst="ellipse">
            <a:avLst/>
          </a:prstGeom>
          <a:solidFill>
            <a:srgbClr val="2CAD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14450" y="457200"/>
            <a:ext cx="18131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FFFFFF">
                    <a:alpha val="5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PARTNERSHIP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6522452" y="457200"/>
            <a:ext cx="6987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FFFFFF">
                    <a:alpha val="5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 / 24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143000" y="1333500"/>
            <a:ext cx="609600" cy="28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2164407"/>
            <a:ext cx="1648206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400" b="1" kern="0" spc="-15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partner with Hostopia.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1143000" y="4706828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2CADB2">
              <a:alpha val="10000"/>
            </a:srgbClr>
          </a:solidFill>
          <a:ln w="9525">
            <a:solidFill>
              <a:srgbClr val="2CADB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4859228"/>
            <a:ext cx="247650" cy="2476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5449778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143000" y="5811728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White label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143000" y="6248836"/>
            <a:ext cx="3708464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FFFFFF">
                    <a:alpha val="70000"/>
                  </a:srgb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Resell under your own brand with complete customization — your logo, your colors, your identity.</a:t>
            </a:r>
            <a:endParaRPr lang="en-US" sz="1575" dirty="0"/>
          </a:p>
        </p:txBody>
      </p:sp>
      <p:sp>
        <p:nvSpPr>
          <p:cNvPr id="13" name="Shape 10"/>
          <p:cNvSpPr/>
          <p:nvPr/>
        </p:nvSpPr>
        <p:spPr>
          <a:xfrm>
            <a:off x="5276850" y="4706828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2CADB2">
              <a:alpha val="10000"/>
            </a:srgbClr>
          </a:solidFill>
          <a:ln w="9525">
            <a:solidFill>
              <a:srgbClr val="2CADB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0" y="4859228"/>
            <a:ext cx="247650" cy="2476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76850" y="5449778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$0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276850" y="5811728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development cost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5276850" y="6248836"/>
            <a:ext cx="3708464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FFFFFF">
                    <a:alpha val="70000"/>
                  </a:srgb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Launch sophisticated digital marketing services without building from scratch or hiring developers.</a:t>
            </a:r>
            <a:endParaRPr lang="en-US" sz="1575" dirty="0"/>
          </a:p>
        </p:txBody>
      </p:sp>
      <p:sp>
        <p:nvSpPr>
          <p:cNvPr id="18" name="Shape 14"/>
          <p:cNvSpPr/>
          <p:nvPr/>
        </p:nvSpPr>
        <p:spPr>
          <a:xfrm>
            <a:off x="9410700" y="4706828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2CADB2">
              <a:alpha val="10000"/>
            </a:srgbClr>
          </a:solidFill>
          <a:ln w="9525">
            <a:solidFill>
              <a:srgbClr val="2CADB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3100" y="4859228"/>
            <a:ext cx="247650" cy="2476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410700" y="5449778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TRUSTED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9410700" y="5811728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Proven platform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9410700" y="6248836"/>
            <a:ext cx="3708464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FFFFFF">
                    <a:alpha val="70000"/>
                  </a:srgb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Award-winning rankingCoach technology trusted by thousands of businesses worldwide.</a:t>
            </a:r>
            <a:endParaRPr lang="en-US" sz="1575" dirty="0"/>
          </a:p>
        </p:txBody>
      </p:sp>
      <p:sp>
        <p:nvSpPr>
          <p:cNvPr id="23" name="Shape 18"/>
          <p:cNvSpPr/>
          <p:nvPr/>
        </p:nvSpPr>
        <p:spPr>
          <a:xfrm>
            <a:off x="13544550" y="4706828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2CADB2">
              <a:alpha val="10000"/>
            </a:srgbClr>
          </a:solidFill>
          <a:ln w="9525">
            <a:solidFill>
              <a:srgbClr val="2CADB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96950" y="4859228"/>
            <a:ext cx="247650" cy="24765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544550" y="5449778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ALWAYS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13544550" y="5811728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Continuous innovation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13544550" y="6248836"/>
            <a:ext cx="3708464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FFFFFF">
                    <a:alpha val="70000"/>
                  </a:srgb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AI-powered features, regular updates, and new capabilities delivered automatically.</a:t>
            </a:r>
            <a:endParaRPr lang="en-US" sz="1575" dirty="0"/>
          </a:p>
        </p:txBody>
      </p:sp>
      <p:sp>
        <p:nvSpPr>
          <p:cNvPr id="29" name="Text 23"/>
          <p:cNvSpPr/>
          <p:nvPr/>
        </p:nvSpPr>
        <p:spPr>
          <a:xfrm>
            <a:off x="14478000" y="9725025"/>
            <a:ext cx="27470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FFFFFF">
                    <a:alpha val="4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PARTNER WITH HOSTOPIA</a:t>
            </a:r>
            <a:endParaRPr lang="en-US" sz="975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154B1EC-FEBE-A5C9-96EA-15ECAEBAF9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9220628"/>
            <a:ext cx="492289" cy="59661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514350"/>
            <a:ext cx="57150" cy="57150"/>
          </a:xfrm>
          <a:prstGeom prst="ellipse">
            <a:avLst/>
          </a:prstGeom>
          <a:solidFill>
            <a:srgbClr val="2CAD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14450" y="457200"/>
            <a:ext cx="18131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PARTNERSHIP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526024" y="457200"/>
            <a:ext cx="69517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 / 24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43000" y="1333500"/>
            <a:ext cx="609600" cy="28575"/>
          </a:xfrm>
          <a:prstGeom prst="roundRect">
            <a:avLst>
              <a:gd name="adj" fmla="val 50000"/>
            </a:avLst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164407"/>
            <a:ext cx="7652385" cy="1437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400" b="1" kern="0" spc="-151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you gain as a partner.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143000" y="4537174"/>
            <a:ext cx="7652385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2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Four strategic advantages that compound with every customer you onboard.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715500" y="3653062"/>
            <a:ext cx="742950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715500" y="2262412"/>
            <a:ext cx="990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99" dirty="0">
                <a:solidFill>
                  <a:srgbClr val="25282A">
                    <a:alpha val="3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0972800" y="2262412"/>
            <a:ext cx="635736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22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Recurring revenue stream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0" y="2710087"/>
            <a:ext cx="635736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subscription model creates predictable monthly revenue across your entire customer base.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9715500" y="5472337"/>
            <a:ext cx="742950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715500" y="4081687"/>
            <a:ext cx="990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99" dirty="0">
                <a:solidFill>
                  <a:srgbClr val="25282A">
                    <a:alpha val="3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0972800" y="4081687"/>
            <a:ext cx="635736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22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Higher lifetime value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0" y="4529362"/>
            <a:ext cx="635736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Essential business tools reduce churn and significantly increase customer retention.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9715500" y="7291612"/>
            <a:ext cx="742950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715500" y="5900962"/>
            <a:ext cx="990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99" dirty="0">
                <a:solidFill>
                  <a:srgbClr val="25282A">
                    <a:alpha val="3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10972800" y="5900962"/>
            <a:ext cx="635736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22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Competitive differentiation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0" y="6348637"/>
            <a:ext cx="635736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Stand out from competitors offering only basic hosting or communication services.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9715500" y="7720237"/>
            <a:ext cx="990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99" dirty="0">
                <a:solidFill>
                  <a:srgbClr val="25282A">
                    <a:alpha val="3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0972800" y="7720237"/>
            <a:ext cx="635736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22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Simplified operations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972800" y="8167912"/>
            <a:ext cx="635736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single platform integrates with your existing systems — minimal operational overhead.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14466243" y="9725025"/>
            <a:ext cx="27591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YOU GAIN AS A PARTNER</a:t>
            </a:r>
            <a:endParaRPr lang="en-US" sz="975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FBEC890-35AF-641C-639B-73EF179B9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713" y="9238634"/>
            <a:ext cx="467957" cy="56712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514350"/>
            <a:ext cx="57150" cy="57150"/>
          </a:xfrm>
          <a:prstGeom prst="ellipse">
            <a:avLst/>
          </a:prstGeom>
          <a:solidFill>
            <a:srgbClr val="2CAD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14450" y="457200"/>
            <a:ext cx="15171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GO-TO-MARKET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492240" y="457200"/>
            <a:ext cx="7289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 / 24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43000" y="1333500"/>
            <a:ext cx="609600" cy="28575"/>
          </a:xfrm>
          <a:prstGeom prst="roundRect">
            <a:avLst>
              <a:gd name="adj" fmla="val 50000"/>
            </a:avLst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164407"/>
            <a:ext cx="117729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400" b="1" kern="0" spc="-151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customers.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143000" y="3894832"/>
            <a:ext cx="15911286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Small and medium businesses across every industry who need to establish, manage, and grow their online presence.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5614393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F4F4F3"/>
          </a:solidFill>
          <a:ln w="9525">
            <a:solidFill>
              <a:srgbClr val="E6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5766793"/>
            <a:ext cx="247650" cy="2476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6357343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STARTER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143000" y="6719293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businesses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143000" y="7156401"/>
            <a:ext cx="3708464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Just getting started online — need brand awareness and basic digital presence.</a:t>
            </a:r>
            <a:endParaRPr lang="en-US" sz="1575" dirty="0"/>
          </a:p>
        </p:txBody>
      </p:sp>
      <p:sp>
        <p:nvSpPr>
          <p:cNvPr id="13" name="Shape 10"/>
          <p:cNvSpPr/>
          <p:nvPr/>
        </p:nvSpPr>
        <p:spPr>
          <a:xfrm>
            <a:off x="5276850" y="5614393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2CADB2">
              <a:alpha val="6000"/>
            </a:srgbClr>
          </a:solidFill>
          <a:ln w="9525">
            <a:solidFill>
              <a:srgbClr val="2CADB2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0" y="5766793"/>
            <a:ext cx="247650" cy="2476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76850" y="6357343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ESSENTIALS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276850" y="6719293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 businesses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5276850" y="7156401"/>
            <a:ext cx="370846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Restaurants, shops, services — want to be found locally and manage reviews.</a:t>
            </a:r>
            <a:endParaRPr lang="en-US" sz="1575" dirty="0"/>
          </a:p>
        </p:txBody>
      </p:sp>
      <p:sp>
        <p:nvSpPr>
          <p:cNvPr id="18" name="Shape 14"/>
          <p:cNvSpPr/>
          <p:nvPr/>
        </p:nvSpPr>
        <p:spPr>
          <a:xfrm>
            <a:off x="9410700" y="5614393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F8CF41">
              <a:alpha val="10000"/>
            </a:srgbClr>
          </a:solidFill>
          <a:ln w="9525">
            <a:solidFill>
              <a:srgbClr val="F8CF4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3100" y="5766793"/>
            <a:ext cx="247650" cy="2476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410700" y="6357343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A886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 / BOOST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9410700" y="6719293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Growing businesses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9410700" y="7156401"/>
            <a:ext cx="370846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Ready to invest in marketing — need social management and advertising.</a:t>
            </a:r>
            <a:endParaRPr lang="en-US" sz="1575" dirty="0"/>
          </a:p>
        </p:txBody>
      </p:sp>
      <p:sp>
        <p:nvSpPr>
          <p:cNvPr id="23" name="Shape 18"/>
          <p:cNvSpPr/>
          <p:nvPr/>
        </p:nvSpPr>
        <p:spPr>
          <a:xfrm>
            <a:off x="13544550" y="5614393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FF8000">
              <a:alpha val="7000"/>
            </a:srgbClr>
          </a:solidFill>
          <a:ln w="9525">
            <a:solidFill>
              <a:srgbClr val="FF8000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96950" y="5766793"/>
            <a:ext cx="247650" cy="24765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544550" y="6357343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D96E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360 SUITE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13544550" y="6719293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Established businesses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13544550" y="7156401"/>
            <a:ext cx="370846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Want a complete digital marketing solution to maximize growth and ROI.</a:t>
            </a:r>
            <a:endParaRPr lang="en-US" sz="1575" dirty="0"/>
          </a:p>
        </p:txBody>
      </p:sp>
      <p:sp>
        <p:nvSpPr>
          <p:cNvPr id="29" name="Text 23"/>
          <p:cNvSpPr/>
          <p:nvPr/>
        </p:nvSpPr>
        <p:spPr>
          <a:xfrm>
            <a:off x="15409664" y="9725025"/>
            <a:ext cx="181153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CUSTOMERS</a:t>
            </a:r>
            <a:endParaRPr lang="en-US" sz="975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7CFDF4B-EC7C-C590-9245-0D2331A0EE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713" y="9238634"/>
            <a:ext cx="467957" cy="56712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514350"/>
            <a:ext cx="57150" cy="57150"/>
          </a:xfrm>
          <a:prstGeom prst="ellipse">
            <a:avLst/>
          </a:prstGeom>
          <a:solidFill>
            <a:srgbClr val="2CAD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14450" y="457200"/>
            <a:ext cx="12785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531828" y="457200"/>
            <a:ext cx="68937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 / 24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43000" y="1333500"/>
            <a:ext cx="609600" cy="28575"/>
          </a:xfrm>
          <a:prstGeom prst="roundRect">
            <a:avLst>
              <a:gd name="adj" fmla="val 50000"/>
            </a:avLst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164407"/>
            <a:ext cx="7750492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400" b="1" kern="0" spc="-151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Seamless integration.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143000" y="3837682"/>
            <a:ext cx="7750492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2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Hostopia integrates with your existing systems so customers manage every marketing service in one place.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143000" y="5249168"/>
            <a:ext cx="7524750" cy="1957536"/>
          </a:xfrm>
          <a:prstGeom prst="rect">
            <a:avLst/>
          </a:prstGeom>
          <a:solidFill>
            <a:srgbClr val="F4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43000" y="5249167"/>
            <a:ext cx="45719" cy="1957535"/>
          </a:xfrm>
          <a:prstGeom prst="rect">
            <a:avLst/>
          </a:prstGeom>
          <a:solidFill>
            <a:srgbClr val="2CADB2"/>
          </a:solidFill>
          <a:ln/>
        </p:spPr>
        <p:txBody>
          <a:bodyPr/>
          <a:lstStyle/>
          <a:p>
            <a:endParaRPr lang="en-US" baseline="-25000" dirty="0"/>
          </a:p>
        </p:txBody>
      </p:sp>
      <p:sp>
        <p:nvSpPr>
          <p:cNvPr id="10" name="Text 8"/>
          <p:cNvSpPr/>
          <p:nvPr/>
        </p:nvSpPr>
        <p:spPr>
          <a:xfrm>
            <a:off x="1476375" y="5515868"/>
            <a:ext cx="709317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294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WHITE LABEL, TRULY INVISIBLE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476375" y="5801618"/>
            <a:ext cx="7093172" cy="1003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customers see your brand at every touchpoint. Hostopia works behind the scenes so you stay front and center.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620250" y="3667578"/>
            <a:ext cx="752475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20249" y="2276928"/>
            <a:ext cx="127066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99" dirty="0">
                <a:solidFill>
                  <a:srgbClr val="25282A">
                    <a:alpha val="3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SSO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1109278" y="2276928"/>
            <a:ext cx="622374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22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Single sign-on integration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109278" y="2724603"/>
            <a:ext cx="622374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Customers move from your platform to Online Marketing Center with one click.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9620250" y="5186816"/>
            <a:ext cx="752475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20249" y="4096203"/>
            <a:ext cx="127066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99" dirty="0">
                <a:solidFill>
                  <a:srgbClr val="25282A">
                    <a:alpha val="3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11109278" y="4096203"/>
            <a:ext cx="622374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22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Branded customer portal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109278" y="4543878"/>
            <a:ext cx="622374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Your logo, colors, and domain — fully white-labeled end to end.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9620250" y="7006091"/>
            <a:ext cx="7524750" cy="9525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20249" y="5615441"/>
            <a:ext cx="127066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99" dirty="0">
                <a:solidFill>
                  <a:srgbClr val="25282A">
                    <a:alpha val="3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11109278" y="5615441"/>
            <a:ext cx="622374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22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provisioning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109278" y="6063116"/>
            <a:ext cx="622374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New customers and plan changes flow through automatically, no manual work.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9620249" y="7434716"/>
            <a:ext cx="127066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99" dirty="0">
                <a:solidFill>
                  <a:srgbClr val="25282A">
                    <a:alpha val="3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</a:t>
            </a:r>
            <a:endParaRPr lang="en-US" sz="3300" dirty="0"/>
          </a:p>
        </p:txBody>
      </p:sp>
      <p:sp>
        <p:nvSpPr>
          <p:cNvPr id="25" name="Text 23"/>
          <p:cNvSpPr/>
          <p:nvPr/>
        </p:nvSpPr>
        <p:spPr>
          <a:xfrm>
            <a:off x="11109278" y="7434716"/>
            <a:ext cx="622374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22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access for custom work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1109278" y="7882391"/>
            <a:ext cx="622374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Integrate deeply with your internal tools, reporting, or billing stack.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15055155" y="9725025"/>
            <a:ext cx="216604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SEAMLESS INTEGRATION</a:t>
            </a:r>
            <a:endParaRPr lang="en-US" sz="975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D466931-6E6D-2A98-37D6-9484A9147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713" y="9238634"/>
            <a:ext cx="467957" cy="56712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514350"/>
            <a:ext cx="57150" cy="57150"/>
          </a:xfrm>
          <a:prstGeom prst="ellipse">
            <a:avLst/>
          </a:prstGeom>
          <a:solidFill>
            <a:srgbClr val="2CAD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14450" y="457200"/>
            <a:ext cx="12785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504593" y="457200"/>
            <a:ext cx="7166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 / 24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43000" y="1333500"/>
            <a:ext cx="609600" cy="28575"/>
          </a:xfrm>
          <a:prstGeom prst="roundRect">
            <a:avLst>
              <a:gd name="adj" fmla="val 50000"/>
            </a:avLst>
          </a:prstGeom>
          <a:solidFill>
            <a:srgbClr val="252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164407"/>
            <a:ext cx="117729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400" b="1" kern="0" spc="-151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support your success.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143000" y="3894832"/>
            <a:ext cx="15171057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Comprehensive partner support to help you sell and service these products with confidence.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5614392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2CADB2">
              <a:alpha val="6000"/>
            </a:srgbClr>
          </a:solidFill>
          <a:ln w="9525">
            <a:solidFill>
              <a:srgbClr val="2CADB2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5766792"/>
            <a:ext cx="247650" cy="2476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6357342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143000" y="6719292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Sales enablement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143000" y="7156400"/>
            <a:ext cx="370846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Training materials, product demos, and sales collateral for your team.</a:t>
            </a:r>
            <a:endParaRPr lang="en-US" sz="1575" dirty="0"/>
          </a:p>
        </p:txBody>
      </p:sp>
      <p:sp>
        <p:nvSpPr>
          <p:cNvPr id="13" name="Shape 10"/>
          <p:cNvSpPr/>
          <p:nvPr/>
        </p:nvSpPr>
        <p:spPr>
          <a:xfrm>
            <a:off x="5276850" y="5614392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2CADB2">
              <a:alpha val="6000"/>
            </a:srgbClr>
          </a:solidFill>
          <a:ln w="9525">
            <a:solidFill>
              <a:srgbClr val="2CADB2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0" y="5766792"/>
            <a:ext cx="247650" cy="2476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76850" y="6357342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276850" y="6719292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Marketing resources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5276850" y="7156400"/>
            <a:ext cx="370846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Co-branded marketing materials, email templates, and campaign assets.</a:t>
            </a:r>
            <a:endParaRPr lang="en-US" sz="1575" dirty="0"/>
          </a:p>
        </p:txBody>
      </p:sp>
      <p:sp>
        <p:nvSpPr>
          <p:cNvPr id="18" name="Shape 14"/>
          <p:cNvSpPr/>
          <p:nvPr/>
        </p:nvSpPr>
        <p:spPr>
          <a:xfrm>
            <a:off x="9410700" y="5614392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2CADB2">
              <a:alpha val="6000"/>
            </a:srgbClr>
          </a:solidFill>
          <a:ln w="9525">
            <a:solidFill>
              <a:srgbClr val="2CADB2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3100" y="5766792"/>
            <a:ext cx="247650" cy="2476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410700" y="6357342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9410700" y="6719292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support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9410700" y="7110905"/>
            <a:ext cx="3708464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dedicated partner support team and technical documentation for integration.</a:t>
            </a:r>
            <a:endParaRPr lang="en-US" sz="1575" dirty="0"/>
          </a:p>
        </p:txBody>
      </p:sp>
      <p:sp>
        <p:nvSpPr>
          <p:cNvPr id="23" name="Shape 18"/>
          <p:cNvSpPr/>
          <p:nvPr/>
        </p:nvSpPr>
        <p:spPr>
          <a:xfrm>
            <a:off x="13544550" y="5614392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2CADB2">
              <a:alpha val="6000"/>
            </a:srgbClr>
          </a:solidFill>
          <a:ln w="9525">
            <a:solidFill>
              <a:srgbClr val="2CADB2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96950" y="5766792"/>
            <a:ext cx="247650" cy="24765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544550" y="6357342"/>
            <a:ext cx="37084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03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13544550" y="6719292"/>
            <a:ext cx="370846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-10" dirty="0">
                <a:solidFill>
                  <a:srgbClr val="2528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Ongoing training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13544550" y="7156400"/>
            <a:ext cx="370846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A4D4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Regular webinars, product updates, and best-practice sharing sessions.</a:t>
            </a:r>
            <a:endParaRPr lang="en-US" sz="1575" dirty="0"/>
          </a:p>
        </p:txBody>
      </p:sp>
      <p:sp>
        <p:nvSpPr>
          <p:cNvPr id="29" name="Text 23"/>
          <p:cNvSpPr/>
          <p:nvPr/>
        </p:nvSpPr>
        <p:spPr>
          <a:xfrm>
            <a:off x="15512802" y="9725025"/>
            <a:ext cx="170839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799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 SUPPORT</a:t>
            </a:r>
            <a:endParaRPr lang="en-US" sz="975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8176CBC-F341-AC6F-2BA4-4A5E2AD3B8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713" y="9238634"/>
            <a:ext cx="467957" cy="56712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52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" y="514350"/>
            <a:ext cx="57150" cy="57150"/>
          </a:xfrm>
          <a:prstGeom prst="ellipse">
            <a:avLst/>
          </a:prstGeom>
          <a:solidFill>
            <a:srgbClr val="2CAD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14450" y="457200"/>
            <a:ext cx="10822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FFFFFF">
                    <a:alpha val="5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6504890" y="457200"/>
            <a:ext cx="7163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FFFFFF">
                    <a:alpha val="5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 / 24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333500" y="1344856"/>
            <a:ext cx="762000" cy="38100"/>
          </a:xfrm>
          <a:prstGeom prst="roundRect">
            <a:avLst>
              <a:gd name="adj" fmla="val 50000"/>
            </a:avLst>
          </a:prstGeom>
          <a:solidFill>
            <a:srgbClr val="2CAD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33500" y="1647842"/>
            <a:ext cx="137350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294" dirty="0">
                <a:solidFill>
                  <a:srgbClr val="2CAD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GET STARTED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33500" y="2519606"/>
            <a:ext cx="9682843" cy="2354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600" b="1" kern="0" dirty="0">
                <a:solidFill>
                  <a:srgbClr val="FFFFFF"/>
                </a:solidFill>
                <a:latin typeface="Montserrat Black" panose="00000A00000000000000" pitchFamily="50" charset="0"/>
                <a:ea typeface="Montserrat" pitchFamily="34" charset="-122"/>
                <a:cs typeface="Montserrat" pitchFamily="34" charset="-120"/>
              </a:rPr>
              <a:t>Let's book a demo today.</a:t>
            </a:r>
            <a:endParaRPr lang="en-US" sz="9600" dirty="0">
              <a:latin typeface="Montserrat Black" panose="00000A00000000000000" pitchFamily="50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33500" y="5775767"/>
            <a:ext cx="1079182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200" dirty="0">
                <a:solidFill>
                  <a:srgbClr val="FFFFFF">
                    <a:alpha val="78000"/>
                  </a:srgb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Partner with Hostopia to offer comprehensive white-label digital marketing solutions that drive revenue, retention, and growth.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333500" y="7309292"/>
            <a:ext cx="133350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33500" y="7930455"/>
            <a:ext cx="116324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294" dirty="0">
                <a:solidFill>
                  <a:srgbClr val="FFFFFF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25341" y="7830443"/>
            <a:ext cx="923443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Contact your Hostopia account manager to begin.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881818" y="9725025"/>
            <a:ext cx="439107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FFFFFF">
                    <a:alpha val="4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ONLINE MARKETING CENTER · PARTNER BRIEFING</a:t>
            </a:r>
            <a:endParaRPr lang="en-US" sz="975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91D70F-9CB0-6F18-5C2C-8A8E6E8AC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886" y="9210996"/>
            <a:ext cx="492289" cy="5966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2281</Words>
  <Application>Microsoft Office PowerPoint</Application>
  <PresentationFormat>Custom</PresentationFormat>
  <Paragraphs>515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Montserrat</vt:lpstr>
      <vt:lpstr>Montserrat Black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Dale king</cp:lastModifiedBy>
  <cp:revision>6</cp:revision>
  <dcterms:created xsi:type="dcterms:W3CDTF">2026-04-20T13:35:36Z</dcterms:created>
  <dcterms:modified xsi:type="dcterms:W3CDTF">2026-04-21T17:28:19Z</dcterms:modified>
</cp:coreProperties>
</file>